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1  •  LECTURE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MODEL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Entities, Attributes &amp; Entity Sets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blueprint of every database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4572000"/>
            <a:ext cx="1737360" cy="73152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4572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995160" y="3383280"/>
            <a:ext cx="137160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roll_no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66960" y="3383280"/>
            <a:ext cx="128016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0" y="3383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3931920"/>
            <a:ext cx="731520" cy="640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9692640" y="3931920"/>
            <a:ext cx="731520" cy="640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Lecture’s Question — Answered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97890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978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TABLE touches what SELECT never does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 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023360" y="1783080"/>
            <a:ext cx="7589520" cy="868680"/>
          </a:xfrm>
          <a:prstGeom prst="roundRect">
            <a:avLst>
              <a:gd name="adj" fmla="val 12632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8928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INTERPRETER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97680" y="22402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translates the CREATE statement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2834640"/>
            <a:ext cx="7589520" cy="868680"/>
          </a:xfrm>
          <a:prstGeom prst="roundRect">
            <a:avLst>
              <a:gd name="adj" fmla="val 12632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944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DICTIONARY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97680" y="32918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definition gets recorded here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3886200"/>
            <a:ext cx="7589520" cy="868680"/>
          </a:xfrm>
          <a:prstGeom prst="roundRect">
            <a:avLst>
              <a:gd name="adj" fmla="val 12632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MGR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297680" y="43434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the table’s owner &amp; rights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0" y="4937760"/>
            <a:ext cx="7589520" cy="868680"/>
          </a:xfrm>
          <a:prstGeom prst="roundRect">
            <a:avLst>
              <a:gd name="adj" fmla="val 12632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50474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MANAGER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97680" y="53949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allocates disk space for the table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 it right in the comments? Well done — you understood the architecture.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6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Wait… WHO Decides What Tables To Create?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97890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978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engineer lays bricks without a blueprint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HOUSE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 draws the blueprint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room planned before construction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bricks are laid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057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DATABASE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65176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draws the ER diagram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entity &amp; connection planned first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tables are created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 = the blueprint.  Tables = the bricks.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6 — Dr. Neha Nandal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Database Design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13766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137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stages — today we live in stage 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146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college need?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27248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520440" y="237744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6D5BC7"/>
          </a:solidFill>
          <a:ln w="12700">
            <a:solidFill>
              <a:srgbClr val="3B2E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5146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1188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3749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model ← YOU ARE HERE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07608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400800" y="237744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5146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9224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749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→ relational tables (Unit 2)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87968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9281160" y="237744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25146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37260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DESIGN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72600" y="3749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indexes &amp; storage (Unit 5)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stage 2 wrong → every later stage inherits the mistake.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6 — Dr. Neha Nandal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Entity?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08406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thing that exists — and is distinguishable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Entity: a real-world object that exists and can be distinguished from all other objects.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specific student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93008" y="33832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93008" y="4206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93008" y="4617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specific device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54496" y="33832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54496" y="4206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54496" y="4617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specific college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15984" y="338328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15984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15984" y="4206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course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15984" y="4617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specific course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“Distinguishable” = there is always a way to tell two entities apart.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6 — Dr. Neha Nandal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vs Entity Set — Don’t Mix These Up!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18922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189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 is an entity. STUDENT is the entity set.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specific member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48840" y="32004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3200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no. 21B81A0501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entities: Priya, Ahmed, Sneha…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9202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SET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09360" y="2560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collection of similar entities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3200400"/>
            <a:ext cx="2011680" cy="86868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32004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0" y="4389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students of the college — drawn as ONE rectangle in the ER diagram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notation: the RECTANGLE always represents an entity set — never one entity.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6 — Dr. Neha Nandal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 — Describing An Entity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45312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every member of the set has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74920" y="3108960"/>
            <a:ext cx="2011680" cy="86868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3108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463040" y="1737360"/>
            <a:ext cx="146304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roll_no 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235440" y="1737360"/>
            <a:ext cx="146304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0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4663440"/>
            <a:ext cx="146304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4663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35440" y="4663440"/>
            <a:ext cx="146304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4663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49240" y="1188720"/>
            <a:ext cx="146304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188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 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2286000"/>
            <a:ext cx="2286000" cy="9144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7040880" y="2286000"/>
            <a:ext cx="2286000" cy="9144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2834640" y="3840480"/>
            <a:ext cx="228600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3840480"/>
            <a:ext cx="228600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737360"/>
            <a:ext cx="914" cy="1371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7607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attribute is drawn as an ELLIPSE connected to the entity rectangle.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not all attributes are the same kind… there are 4 pairs you must know 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6 — Dr. Neha Nandal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Pair 1: Simple vs Composite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34797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3479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break it into smaller pieces?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be divided further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91740" y="3291840"/>
            <a:ext cx="160020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1740" y="3291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roll_no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21B81A0501 — splitting it makes no sense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9202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09360" y="2542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of smaller meaningful parts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9580" y="3108960"/>
            <a:ext cx="160020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9580" y="3108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4434840"/>
            <a:ext cx="155448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4434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first_name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26880" y="4434840"/>
            <a:ext cx="155448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4434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last_name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flipH="1">
            <a:off x="7863840" y="3657600"/>
            <a:ext cx="685800" cy="7772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3657600"/>
            <a:ext cx="685800" cy="7772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keyword: composite attributes “can be divided into sub-parts.”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6 — Dr. Neha Nandal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Pair 2: Single-valued vs Multivalued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values per student?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SINGLE-VALUED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one value per entity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91740" y="3291840"/>
            <a:ext cx="160020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1740" y="3291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student = one date of birth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9202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MULTIVALUED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09360" y="2542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hold MANY values — drawn as DOUBLE ellipse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5572" y="3273552"/>
            <a:ext cx="1728216" cy="6766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5B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9580" y="3337560"/>
            <a:ext cx="160020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9580" y="3337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4434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number + personal number + hostel number…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trick: two circles because there’s more than one value inside.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6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Pair 3: Stored vs Derived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92734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927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store what you can calculate?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542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physically saved in the database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91740" y="3291840"/>
            <a:ext cx="160020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1740" y="32918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15-Aug-2006 — never changes, safe to store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92024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103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09360" y="2542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from other attributes — DASHED ellipse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9580" y="3337560"/>
            <a:ext cx="160020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069580" y="3337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4434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= today − dob. It changes every day — let the DB compute it!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trick: dashed border = not really stored, only calculated.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6 — Dr. Neha Nandal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Pair 4: The Key Attribute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08406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attribute that makes every entity unique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331720" y="2651760"/>
            <a:ext cx="192024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roll_no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3749040"/>
            <a:ext cx="2011680" cy="86868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3749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931920" y="3200400"/>
            <a:ext cx="1508760" cy="640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657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UNDERLINED in the ER diagram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1945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name?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38160" y="288036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students CAN share a name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two students share a roll number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= guaranteed distinguishable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entity set MUST have a key — this idea becomes “primary key” in Unit 2.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6 — Dr. Neha Nandal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STUDENT Entity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71500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 type pairs in ONE diagram — screenshot this!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74920" y="3520440"/>
            <a:ext cx="2011680" cy="86868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35204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485900" y="2011680"/>
            <a:ext cx="160020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5900" y="2011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roll_no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0680" y="1508760"/>
            <a:ext cx="128016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508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06840" y="2011680"/>
            <a:ext cx="137160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06840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218420" y="3291840"/>
            <a:ext cx="150876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1842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first_name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852660" y="4389120"/>
            <a:ext cx="150876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52660" y="4389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last_name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421892" y="4599432"/>
            <a:ext cx="1728216" cy="6766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5B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4663440"/>
            <a:ext cx="160020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85900" y="46634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5212080"/>
            <a:ext cx="128016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440680" y="5212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0" y="2560320"/>
            <a:ext cx="2194560" cy="10515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2057400"/>
            <a:ext cx="914" cy="1463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7086600" y="2560320"/>
            <a:ext cx="1965960" cy="10515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66960" y="2743200"/>
            <a:ext cx="640080" cy="5943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29800" y="2788920"/>
            <a:ext cx="365760" cy="1600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2926080" y="4114800"/>
            <a:ext cx="2194560" cy="548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4389120"/>
            <a:ext cx="914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126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underline = key   •   double = multivalued   •   dashed = derived   •   branch = composite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6 — Dr. Neha Nandal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Notation — Your Symbol Dictionary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13766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137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symbols. Learn once, use forever.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06240" y="178308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178308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COURSE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79192"/>
            <a:ext cx="10698480" cy="749808"/>
          </a:xfrm>
          <a:prstGeom prst="roundRect">
            <a:avLst>
              <a:gd name="adj" fmla="val 14634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7919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Ellipse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267919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67919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roll_no, name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575304"/>
            <a:ext cx="106984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57530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ellipse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357530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Multivalued attribute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357530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10698480" cy="749808"/>
          </a:xfrm>
          <a:prstGeom prst="roundRect">
            <a:avLst>
              <a:gd name="adj" fmla="val 14634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71416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ellipse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06240" y="447141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attribute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447141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367528"/>
            <a:ext cx="106984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36752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Underline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536752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attribute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536752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roll_no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1956816"/>
            <a:ext cx="685800" cy="402336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2852928"/>
            <a:ext cx="731520" cy="402336"/>
          </a:xfrm>
          <a:prstGeom prst="ellipse">
            <a:avLst/>
          </a:prstGeom>
          <a:solidFill>
            <a:srgbClr val="F5F2FC"/>
          </a:solidFill>
          <a:ln w="15240">
            <a:solidFill>
              <a:srgbClr val="6D5B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63824" y="3712464"/>
            <a:ext cx="804672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36976" y="3767328"/>
            <a:ext cx="658368" cy="365760"/>
          </a:xfrm>
          <a:prstGeom prst="ellipse">
            <a:avLst/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626864"/>
            <a:ext cx="731520" cy="402336"/>
          </a:xfrm>
          <a:prstGeom prst="ellipse">
            <a:avLst/>
          </a:prstGeom>
          <a:solidFill>
            <a:srgbClr val="F5F2FC"/>
          </a:solidFill>
          <a:ln w="15240">
            <a:solidFill>
              <a:srgbClr val="6D5BC7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127248" y="548640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6 — Dr. Neha Nandal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THE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Draw the EMPLOYEE entity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56616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the unique identifier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33649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66160" y="33649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made of first name and last name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4078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66160" y="407822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one value per employee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47914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6160" y="479145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an employee can have many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55046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550468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can be computed from joining date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symbol does each one get? Answer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The EMPLOYEE Entity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24281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catch all four symbol types?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74920" y="3520440"/>
            <a:ext cx="2011680" cy="868680"/>
          </a:xfrm>
          <a:prstGeom prst="rect">
            <a:avLst/>
          </a:prstGeom>
          <a:solidFill>
            <a:srgbClr val="1F3A5F"/>
          </a:solidFill>
          <a:ln w="1905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35204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485900" y="2011680"/>
            <a:ext cx="160020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5900" y="2011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emp_id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06840" y="2011680"/>
            <a:ext cx="137160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06840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218420" y="3291840"/>
            <a:ext cx="150876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18420" y="32918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first_name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52660" y="4389120"/>
            <a:ext cx="150876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52660" y="4389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last_name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1508760"/>
            <a:ext cx="137160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421892" y="4599432"/>
            <a:ext cx="1728216" cy="6766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5B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4663440"/>
            <a:ext cx="160020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85900" y="46634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57800" y="5212080"/>
            <a:ext cx="1645920" cy="548640"/>
          </a:xfrm>
          <a:prstGeom prst="ellipse">
            <a:avLst/>
          </a:prstGeom>
          <a:solidFill>
            <a:srgbClr val="F5F2FC"/>
          </a:solidFill>
          <a:ln w="19050">
            <a:solidFill>
              <a:srgbClr val="6D5BC7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257800" y="5212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26080" y="2560320"/>
            <a:ext cx="2194560" cy="10515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2057400"/>
            <a:ext cx="914" cy="1463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7086600" y="2560320"/>
            <a:ext cx="1965960" cy="10515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66960" y="2743200"/>
            <a:ext cx="640080" cy="5943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29800" y="2788920"/>
            <a:ext cx="365760" cy="1600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2926080" y="4114800"/>
            <a:ext cx="2194560" cy="5486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4389120"/>
            <a:ext cx="914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126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emp_id → key (underline)  •  name → composite  •  skills → multivalued  •  experience → derived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6 — Dr. Neha Nandal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 — What This Lecture Is Worth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45312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453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from previous question papers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29968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29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types of attributes in the ER model with suitable examples.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852928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0540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0540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852928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entity and entity set. Give examples.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877056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4078224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07822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3877056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derived attribute? How is it represented?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901184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5102352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1023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4901184"/>
            <a:ext cx="8595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ER notation symbols with their meanings.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 for the 5-mark question, draw the STUDENT diagram from slide 12 — one diagram covers all four types.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1 • Lecture 6 — Dr. Neha Nandal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Before You Go…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TAKES a course.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professor TEACHES a course.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alone cannot express “takes” or “teaches.”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CONNECTS two entity sets?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IN THE COMMENTS 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lecture: RELATIONSHIPS — the diamonds of the ER diagram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2026-07-17T04:09:16Z</dcterms:created>
  <dcterms:modified xsi:type="dcterms:W3CDTF">2026-07-17T04:09:16Z</dcterms:modified>
</cp:coreProperties>
</file>