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PREP • LECTURE 16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NPTEL DBMS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1 — Solved &amp; Explained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questions — not just the answer, but WHY. Every one mapped to a concept.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4206240"/>
            <a:ext cx="384048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06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Q1 IS A TRAP — WATCH OUT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Assignment Tests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553712" cy="438912"/>
          </a:xfrm>
          <a:prstGeom prst="roundRect">
            <a:avLst>
              <a:gd name="adj" fmla="val 16667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553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questions • straight from Units 1 &amp;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47672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476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Q1–3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1828800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Abstraction, keys, schema vs instance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0" y="182880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Lectures 5, 11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542032"/>
            <a:ext cx="10698480" cy="603504"/>
          </a:xfrm>
          <a:prstGeom prst="roundRect">
            <a:avLst>
              <a:gd name="adj" fmla="val 18182"/>
            </a:avLst>
          </a:prstGeom>
          <a:solidFill>
            <a:srgbClr val="EEF1F4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660904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609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254203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Superkey → candidate key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0" y="254203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11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255264"/>
            <a:ext cx="10698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374136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3741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325526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algebra (join = AND)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325526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13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968496"/>
            <a:ext cx="10698480" cy="603504"/>
          </a:xfrm>
          <a:prstGeom prst="roundRect">
            <a:avLst>
              <a:gd name="adj" fmla="val 18182"/>
            </a:avLst>
          </a:prstGeom>
          <a:solidFill>
            <a:srgbClr val="EEF1F4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08736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0873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77440" y="3968496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 DDL vs DML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03920" y="396849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3 (preview)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4681728"/>
            <a:ext cx="10698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8006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800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377440" y="468172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Referential &amp; entity integrity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03920" y="468172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11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" y="5394960"/>
            <a:ext cx="10698480" cy="603504"/>
          </a:xfrm>
          <a:prstGeom prst="roundRect">
            <a:avLst>
              <a:gd name="adj" fmla="val 18182"/>
            </a:avLst>
          </a:prstGeom>
          <a:solidFill>
            <a:srgbClr val="EEF1F4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5513832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55138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Q8–10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77440" y="5394960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&amp; projection in algebra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03920" y="539496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12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question here is revision of something we’ve already covered. Let’s prove it.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/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063240" y="36576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5" name="Text 3"/>
          <p:cNvSpPr/>
          <p:nvPr/>
        </p:nvSpPr>
        <p:spPr>
          <a:xfrm>
            <a:off x="3063240" y="365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TRAP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0" y="365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00584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00584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level of abstraction describes the TYPES of data stored in the database?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514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5146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level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191256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1912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19125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level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27080" y="319125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3867912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8679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867912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level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544568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5445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45445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 level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&amp; pick your answer — explanation next.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5065776" cy="438912"/>
          </a:xfrm>
          <a:prstGeom prst="roundRect">
            <a:avLst>
              <a:gd name="adj" fmla="val 16667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 of Abstraction (3-schema architecture)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b)   —   Logical level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1518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= HOW data is stored (files, indexes, bytes on disk).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0358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= WHAT data is stored and its structure/types — tables, columns, relationships.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7490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69417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= how individual users see a slice of the data.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22452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16966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‘Types of data + structure’ = the LOGICAL level.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1520" y="5257800"/>
            <a:ext cx="10698480" cy="685800"/>
          </a:xfrm>
          <a:prstGeom prst="roundRect">
            <a:avLst>
              <a:gd name="adj" fmla="val 16000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2578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THE TRAP:  Many pick ‘Physical’ because data is physically stored. But ‘types/structure’ is LOGICAL. Physical is about the how, not the what.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5989320"/>
            <a:ext cx="10698480" cy="457200"/>
          </a:xfrm>
          <a:prstGeom prst="roundRect">
            <a:avLst>
              <a:gd name="adj" fmla="val 24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Full concept in:  Lecture 5 — DBMS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00584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valid primary key for course_registration (student_id, course_id, semester, grade).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840480" y="2423160"/>
            <a:ext cx="146304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2423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student_id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03520" y="2423160"/>
            <a:ext cx="146304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2423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course_id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766560" y="2423160"/>
            <a:ext cx="146304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423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423160"/>
            <a:ext cx="146304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423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0" y="2807208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28072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2807208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28072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CS101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2807208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8072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0" y="2807208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28072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0" y="3191256"/>
            <a:ext cx="146304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31912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03520" y="3191256"/>
            <a:ext cx="146304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31912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CS101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6560" y="3191256"/>
            <a:ext cx="146304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1912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0" y="3191256"/>
            <a:ext cx="146304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31912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40480" y="3575304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35753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03520" y="3575304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0" y="35753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MA101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66560" y="3575304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35753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29600" y="3575304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35753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40480" y="3959352"/>
            <a:ext cx="146304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0" y="39593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03520" y="3959352"/>
            <a:ext cx="146304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0" y="39593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CS101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66560" y="3959352"/>
            <a:ext cx="146304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39593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29600" y="3959352"/>
            <a:ext cx="146304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0" y="39593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840480" y="4343400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0" y="4343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303520" y="4343400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0" y="4343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MA101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66560" y="4343400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0" y="4343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229600" y="4343400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0" y="4343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31520" y="5074920"/>
            <a:ext cx="1069848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8680" y="50749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325880" y="50749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student_id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731520" y="5477256"/>
            <a:ext cx="1069848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8680" y="54772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1325880" y="5477256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course_id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31520" y="5879592"/>
            <a:ext cx="10698480" cy="292608"/>
          </a:xfrm>
          <a:prstGeom prst="roundRect">
            <a:avLst>
              <a:gd name="adj" fmla="val 375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" y="58795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325880" y="5879592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student_id, course_id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0927080" y="58795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731520" y="6281928"/>
            <a:ext cx="1069848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" y="62819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1325880" y="628192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&amp; pick your answer — explanation next.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607869" cy="438912"/>
          </a:xfrm>
          <a:prstGeom prst="roundRect">
            <a:avLst>
              <a:gd name="adj" fmla="val 16667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60786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primary key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c)   —   student_id, course_id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1518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student_id repeats (101 appears twice) — not unique alone.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0358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course_id repeats (CS101 appears 3 times) — not unique alone.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51129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Together, (student_id, course_id) uniquely identifies each row.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04164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COMPOSITE key — exactly what an M:N bridge table needs.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1520" y="5532120"/>
            <a:ext cx="10698480" cy="457200"/>
          </a:xfrm>
          <a:prstGeom prst="roundRect">
            <a:avLst>
              <a:gd name="adj" fmla="val 24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Full concept in:  Lecture 11 — Keys &amp; Integrity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00584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correct statement about schema vs instance.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5146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Employee(empID, empName) is an instance of a relation schema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191256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912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19125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Employee(empID, empName) is an example of a physical schema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867912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679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3867912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(5012, Ananya) is an instance of a relation schema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27080" y="386791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4544568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5445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45445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(5012, Ananya) is an example of a logical schema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&amp; pick your answer — explanation next.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300630" cy="438912"/>
          </a:xfrm>
          <a:prstGeom prst="roundRect">
            <a:avLst>
              <a:gd name="adj" fmla="val 16667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3006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vs Instance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c)   —   (5012, Ananya) is an instance of a relation schema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1518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Employee(empID, empName) defines STRUCTURE → that’s the SCHEMA.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0358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(5012, Ananya) is actual data in a row → that’s an INSTANCE.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51129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‘(5012, Ananya) is an instance of a relation schema’ is correct.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04164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= the design; instance = the data inside it.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1520" y="5532120"/>
            <a:ext cx="10698480" cy="457200"/>
          </a:xfrm>
          <a:prstGeom prst="roundRect">
            <a:avLst>
              <a:gd name="adj" fmla="val 24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Full concept in:  Lecture 11 — Schema vs Instance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00584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BookStore(ISBN, Title, Price, Category). Superkeys: {ISBN}, {ISBN,Title}, {Price,Category}, {Price,Category,Title}. Select the candidate key(s).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5146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{ISBN}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191256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912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19125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{Price}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867912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679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3867912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{Category}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544568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5445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45445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{Price, Category}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251460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514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25146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{ISBN}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0" y="25146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31520" y="4544568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5445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25880" y="45445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{Price, Category}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0" y="45445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31520" y="3191256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1912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25880" y="319125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{Price}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" y="3867912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8679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25880" y="3867912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{Category}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&amp; pick your answer — explanation next.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734410" cy="438912"/>
          </a:xfrm>
          <a:prstGeom prst="roundRect">
            <a:avLst>
              <a:gd name="adj" fmla="val 16667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734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key = minimal superkey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a and d   —   {ISBN}  &amp;  {Price, Category}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1518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candidate key is a MINIMAL superkey — no removable columns.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0358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{ISBN} is a superkey with nothing to remove → candidate key ✓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51129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{ISBN,Title} contains {ISBN}, so it’s not minimal.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04164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{Price,Category} is a superkey; neither alone is → candidate key ✓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5171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4622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{Price} and {Category} alone are NOT superkeys.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532120"/>
            <a:ext cx="10698480" cy="457200"/>
          </a:xfrm>
          <a:prstGeom prst="roundRect">
            <a:avLst>
              <a:gd name="adj" fmla="val 24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Full concept in:  Lecture 11 — Superkey → Candidate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00584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 AID( (σ Citations&gt;50 Article) ⋈ (σ Tag='AI' ArticleTag) ). What does it represent?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5146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 of articles with &gt;50 citations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191256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912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19125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 of articles with &gt;50 citations OR tag 'AI'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867912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679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3867912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 of articles with &gt;50 citations but NOT tag 'AI'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544568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5445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45445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 of articles with &gt;50 citations AND tag 'AI'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27080" y="45445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&amp; pick your answer — explanation next.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529584" cy="438912"/>
          </a:xfrm>
          <a:prstGeom prst="roundRect">
            <a:avLst>
              <a:gd name="adj" fmla="val 16667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algebra: join = AND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d)   —   AID of articles with &gt;50 citations AND tag 'AI'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1518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Citations&gt;50 Article → articles with more than 50 citations.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0358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Tag='AI' ArticleTag → the AI-tagged rows.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51129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JOIN (⋈) keeps only AIDs present in BOTH → that’s AND.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04164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 AID projects just the article id. So: &gt;50 citations AND tag 'AI'.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1520" y="5532120"/>
            <a:ext cx="10698480" cy="457200"/>
          </a:xfrm>
          <a:prstGeom prst="roundRect">
            <a:avLst>
              <a:gd name="adj" fmla="val 24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Full concept in:  Lecture 13 — Joins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00584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S1: INSERT INTO orders VALUES(...).  S2: ALTER TABLE orders ADD COLUMN total_amount. Identify the correct statement.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5146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S1 and S2 are DML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191256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912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19125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is DML, S2 is DDL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27080" y="319125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3867912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679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3867912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S1 and S2 are DDL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544568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5445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45445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is DCL, S2 is DDL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&amp; pick your answer — explanation next.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427171" cy="438912"/>
          </a:xfrm>
          <a:prstGeom prst="roundRect">
            <a:avLst>
              <a:gd name="adj" fmla="val 16667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4271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sub-languages: DDL vs DML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b)   —   S1 is DML, S2 is DDL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1518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changes the DATA inside a table → DML (Data Manipulation).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0358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 TABLE changes the STRUCTURE of the table → DDL (Data Definition).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7490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69417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S1 = DML, S2 = DDL.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22452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16966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DDL touches the design; DML touches the rows.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1520" y="5532120"/>
            <a:ext cx="10698480" cy="457200"/>
          </a:xfrm>
          <a:prstGeom prst="roundRect">
            <a:avLst>
              <a:gd name="adj" fmla="val 24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Full concept in:  Unit 3 — SQL (preview)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00584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DeptID is a FK in EmployeeAllocation(AllocationID, DeptID, EmployeeName). Dept has D101, D102 only. Which is a VALID instance?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5146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A001–D101–Amit ; A002–D105–Raj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191256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912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19125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A001–D101–Amit ; A001–D102–Raj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867912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679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3867912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NULL–D102–Amit ; A003–D102–Raj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544568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5445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45445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A001–D101–Amit ; A002–D102–Raj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27080" y="45445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&amp; pick your answer — explanation next.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529584" cy="438912"/>
          </a:xfrm>
          <a:prstGeom prst="roundRect">
            <a:avLst>
              <a:gd name="adj" fmla="val 16667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Referential + entity integrity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d)   —   A001–D101–Amit ; A002–D102–Raj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1518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D105 doesn’t exist in Dept → REFERENTIAL integrity violated.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0358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AllocationID A001 repeats → PRIMARY KEY violated.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51129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AllocationID is NULL → ENTITY integrity violated.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04164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unique keys, valid FKs → the only clean instance ✓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1520" y="5532120"/>
            <a:ext cx="10698480" cy="457200"/>
          </a:xfrm>
          <a:prstGeom prst="roundRect">
            <a:avLst>
              <a:gd name="adj" fmla="val 24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Full concept in:  Lecture 11 — Integrity Constraints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00584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RegionStats → output keeps ALL columns but only rows with Population ≥ 50000. Which operation?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5146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Population≥50000 (RegionStats)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27080" y="25146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191256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912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319125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Population&gt;60000 (RegionStats)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867912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679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3867912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Population≥50000 ∧ Country='Canada'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544568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5445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45445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Population≥80000 (RegionStats)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&amp; pick your answer — explanation next.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529584" cy="438912"/>
          </a:xfrm>
          <a:prstGeom prst="roundRect">
            <a:avLst>
              <a:gd name="adj" fmla="val 16667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(σ) — filtering rows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a)   —   σ Population≥50000 (RegionStats)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1518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keeps every column → no projection, only SELECTION.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0358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Kept: Texas 70k, California 80k, Ontario 50k, Florida 60k.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51129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Dropped: Quebec 45k, Bavaria 30k — both below 50000.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04164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cut is exactly Population ≥ 50000.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1520" y="5532120"/>
            <a:ext cx="10698480" cy="457200"/>
          </a:xfrm>
          <a:prstGeom prst="roundRect">
            <a:avLst>
              <a:gd name="adj" fmla="val 24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Full concept in:  Lecture 12 — Selection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9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00584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= the rows COMMON to both RegionStats₁ and RegionStats₂. Which set operation?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5146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RegionStats₁ − RegionStats₂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191256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912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19125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RegionStats₁ ∩ RegionStats₂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27080" y="319125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3867912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679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3867912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RegionStats₂ − RegionStats₁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544568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5445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45445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RegionStats₁ ∪ RegionStats₂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&amp; pick your answer — explanation next.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324758" cy="438912"/>
          </a:xfrm>
          <a:prstGeom prst="roundRect">
            <a:avLst>
              <a:gd name="adj" fmla="val 16667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3247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operations: intersection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b)   —   RegionStats₁ ∩ RegionStats₂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1518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rows appear in BOTH tables (Texas, Ontario).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0358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‘In both’ = INTERSECTION (∩).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51129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(−) would give rows in one but not the other.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04164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(∪) would give all rows combined.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1520" y="5532120"/>
            <a:ext cx="10698480" cy="457200"/>
          </a:xfrm>
          <a:prstGeom prst="roundRect">
            <a:avLst>
              <a:gd name="adj" fmla="val 24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Full concept in:  Lecture 12 — Set Operations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10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65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00584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RegionStats → output keeps only RegionName + Country columns AND only Population ≥ 50000 rows. Which operation?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5146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 RegionName,Country (RegionStats)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191256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912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19125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Population≥50000 (RegionStats)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867912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679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3867912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 RegionName,Country ( σ Population≥50000 (RegionStats) 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27080" y="386791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4544568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5445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45445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 RegionName,Country of all rows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&amp; pick your answer — explanation next.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631997" cy="438912"/>
          </a:xfrm>
          <a:prstGeom prst="roundRect">
            <a:avLst>
              <a:gd name="adj" fmla="val 16667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6319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+ Selection combined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c)   —   π RegionName,Country ( σ Population≥50000 (RegionStats) 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1518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things happened: rows were filtered AND a column was dropped.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0358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rows (Population≥50000) → SELECTION σ.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51129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the Population column → PROJECTION π.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04164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Combine: π RegionName,Country ( σ Population≥50000 (…) ) — read inside-out.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1520" y="5532120"/>
            <a:ext cx="10698480" cy="457200"/>
          </a:xfrm>
          <a:prstGeom prst="roundRect">
            <a:avLst>
              <a:gd name="adj" fmla="val 24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Full concept in:  Lecture 12 — π(σ(…))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1 • Lecture 16 — Dr. Neha Nandal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1: Fully Solved 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everyone gets wrong: Q1.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‘Types of data’ = LOGICAL level, not physical.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question here came straight from Units 1 &amp; 2. If any felt hard, the linked lecture is your fix.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51206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DID YOU GET WRONG? COMMENT 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Full DBMS course — all concepts, exam-focused — on this channel.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Disclaimer: educational explanation to help you learn the concepts. Solve your own submission.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2026-08-03T16:18:11Z</dcterms:created>
  <dcterms:modified xsi:type="dcterms:W3CDTF">2026-08-03T16:18:11Z</dcterms:modified>
</cp:coreProperties>
</file>