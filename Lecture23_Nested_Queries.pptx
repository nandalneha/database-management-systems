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5156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3  •  LECTURE 23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NESTED QUERIES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Inside A Query (Subqueries)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• IN / NOT IN • ANY / ALL • EXISTS — live in MySQL.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206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LIVE DEMO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4206240"/>
            <a:ext cx="274320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4206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SYLLABUS 2025–26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6035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Dr. Neha Nandal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17920" y="50292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… WHERE x &gt; (SELECT …)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Subquery?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66344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query whose result feeds another query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questions can’t be answered in one step — you need an answer to GET the answer.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10698480" cy="1280160"/>
          </a:xfrm>
          <a:prstGeom prst="roundRect">
            <a:avLst>
              <a:gd name="adj" fmla="val 8571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students are older than the AVERAGE age?”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find the average age.   Step 2: find students older than THAT.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inner query finds the average; the outer query uses it. That’s nesting.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286000" y="3977640"/>
            <a:ext cx="7589520" cy="1554480"/>
          </a:xfrm>
          <a:prstGeom prst="roundRect">
            <a:avLst>
              <a:gd name="adj" fmla="val 4706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2423160" y="4032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inner (SELECT …) runs first, then the outer uses its value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4306824"/>
            <a:ext cx="72237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 (SELECT AVG(age) FROM student);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↑ inner query runs first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query runs first → its result plugs into the outer query’s WHERE.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Tables — From Last Lecture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• course • enroll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64008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63040" y="2011680"/>
            <a:ext cx="118872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0116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51760" y="2011680"/>
            <a:ext cx="100584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011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822960" cy="329184"/>
          </a:xfrm>
          <a:prstGeom prst="rect">
            <a:avLst/>
          </a:prstGeom>
          <a:solidFill>
            <a:srgbClr val="3B2E8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2011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2340864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34086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463040" y="2340864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463040" y="234086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2340864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234086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0" y="2340864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3408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22960" y="2670048"/>
            <a:ext cx="6400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670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463040" y="2670048"/>
            <a:ext cx="118872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26700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651760" y="2670048"/>
            <a:ext cx="100584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6700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0" y="267004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670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22960" y="2999232"/>
            <a:ext cx="64008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29992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1463040" y="2999232"/>
            <a:ext cx="11887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299923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651760" y="2999232"/>
            <a:ext cx="100584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299923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0" y="299923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0" y="29992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22960" y="3328416"/>
            <a:ext cx="64008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" y="332841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463040" y="3328416"/>
            <a:ext cx="118872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33284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2651760" y="3328416"/>
            <a:ext cx="100584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33284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0" y="3328416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0" y="3328416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8229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3B2E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011680"/>
            <a:ext cx="73152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201168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77840" y="2011680"/>
            <a:ext cx="82296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77840" y="2011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0" y="2011680"/>
            <a:ext cx="914400" cy="329184"/>
          </a:xfrm>
          <a:prstGeom prst="rect">
            <a:avLst/>
          </a:prstGeom>
          <a:solidFill>
            <a:srgbClr val="B676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0" y="201168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846320" y="2340864"/>
            <a:ext cx="7315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340864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577840" y="2340864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77840" y="23408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00800" y="2340864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0" y="2340864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846320" y="2670048"/>
            <a:ext cx="73152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46320" y="267004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577840" y="267004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577840" y="2670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400800" y="2670048"/>
            <a:ext cx="91440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26700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846320" y="2999232"/>
            <a:ext cx="7315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29992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577840" y="299923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77840" y="29992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400800" y="2999232"/>
            <a:ext cx="9144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0" y="2999232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48463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6338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enroll  (Priya &amp; Sneha have none)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8412480" y="2011680"/>
            <a:ext cx="82296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412480" y="2011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9235440" y="2011680"/>
            <a:ext cx="1645920" cy="329184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35440" y="201168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8412480" y="2340864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412480" y="2340864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235440" y="2340864"/>
            <a:ext cx="1645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35440" y="23408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8412480" y="2670048"/>
            <a:ext cx="82296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412480" y="2670048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C02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235440" y="2670048"/>
            <a:ext cx="1645920" cy="329184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35440" y="267004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8412480" y="2999232"/>
            <a:ext cx="82296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412480" y="299923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C03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235440" y="2999232"/>
            <a:ext cx="164592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235440" y="29992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8412480" y="35204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course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731520" y="4114800"/>
            <a:ext cx="10698480" cy="1645920"/>
          </a:xfrm>
          <a:prstGeom prst="roundRect">
            <a:avLst>
              <a:gd name="adj" fmla="val 6667"/>
            </a:avLst>
          </a:prstGeom>
          <a:solidFill>
            <a:srgbClr val="EEF1F4"/>
          </a:solidFill>
          <a:ln w="12700">
            <a:solidFill>
              <a:srgbClr val="14243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914400" y="42519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We’ll ask questions that need a query inside a query: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3200400" y="466344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older than the average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students who ARE enrolled  /  students NOT enrolled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oldest student  (older than ALL others)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Subquery Returning ONE Value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71703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7170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against a single number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older than the average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6035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AVG(age) FROM student);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Inner: AVG(age) = 19.75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98080" y="2286000"/>
            <a:ext cx="128016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22860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0" y="2286000"/>
            <a:ext cx="91440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22860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98080" y="2670048"/>
            <a:ext cx="12801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0" y="2670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778240" y="2670048"/>
            <a:ext cx="91440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0" y="26700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98080" y="3054096"/>
            <a:ext cx="128016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30540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778240" y="3054096"/>
            <a:ext cx="91440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305409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4980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older than 19.75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114800"/>
            <a:ext cx="10698480" cy="1554480"/>
          </a:xfrm>
          <a:prstGeom prst="roundRect">
            <a:avLst>
              <a:gd name="adj" fmla="val 7059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22452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SCALAR subquery — it returns exactly ONE value.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it’s a single number, you compare with =, &gt;, &lt;, &gt;=, etc.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for ‘compared to the average / max / min / total’ questions.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— Subquery Returning A LIST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308610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value in the set?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58368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who ARE enrolled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6217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sid IN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sid FROM enroll);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list: {1, 3}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2331720"/>
            <a:ext cx="146304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2331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0" y="2715768"/>
            <a:ext cx="146304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715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80960" y="3099816"/>
            <a:ext cx="146304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0998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 1 &amp; 3 are enrolled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10698480" cy="1508760"/>
          </a:xfrm>
          <a:prstGeom prst="roundRect">
            <a:avLst>
              <a:gd name="adj" fmla="val 7273"/>
            </a:avLst>
          </a:prstGeom>
          <a:solidFill>
            <a:srgbClr val="EAF7F2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0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checks membership in the LIST the subquery returns.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Callback: remember the INTERSECT workaround from Lecture 19? This is it —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with a subquery = ‘appears in both’ = intersection.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— The Opposite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66547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665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NOT in the set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58368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NOT enrolled in anything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621792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sid NOT IN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sid FROM enroll);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list: {1, 3}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680960" y="2331720"/>
            <a:ext cx="1463040" cy="384048"/>
          </a:xfrm>
          <a:prstGeom prst="rect">
            <a:avLst/>
          </a:prstGeom>
          <a:solidFill>
            <a:srgbClr val="D23B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0" y="23317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0" y="2715768"/>
            <a:ext cx="14630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2715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680960" y="3099816"/>
            <a:ext cx="1463040" cy="384048"/>
          </a:xfrm>
          <a:prstGeom prst="rect">
            <a:avLst/>
          </a:prstGeom>
          <a:solidFill>
            <a:srgbClr val="EEF1F4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0998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{1,3}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4160520"/>
            <a:ext cx="10698480" cy="1508760"/>
          </a:xfrm>
          <a:prstGeom prst="roundRect">
            <a:avLst>
              <a:gd name="adj" fmla="val 7273"/>
            </a:avLst>
          </a:prstGeom>
          <a:solidFill>
            <a:srgbClr val="FDF3E0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0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= the EXCEPT / set-difference workaround (Lecture 19)!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6634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NULL trap: if the subquery list contains a NULL, NOT IN returns NO rows.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NULLs are possible, use NOT EXISTS instead (coming up).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 — ‘Does A Match Exist?’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34797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3479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direct ∃ from relational calculus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6949440" cy="2011680"/>
          </a:xfrm>
          <a:prstGeom prst="roundRect">
            <a:avLst>
              <a:gd name="adj" fmla="val 3636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6675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 who have at least one enrollment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658368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 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EXISTS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* FROM enroll e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e.sid = s.sid);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46720" y="2103120"/>
            <a:ext cx="1463040" cy="384048"/>
          </a:xfrm>
          <a:prstGeom prst="rect">
            <a:avLst/>
          </a:prstGeom>
          <a:solidFill>
            <a:srgbClr val="0F8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0" y="21031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46720" y="2487168"/>
            <a:ext cx="146304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24871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Ravi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46720" y="2871216"/>
            <a:ext cx="1463040" cy="384048"/>
          </a:xfrm>
          <a:prstGeom prst="rect">
            <a:avLst/>
          </a:prstGeom>
          <a:solidFill>
            <a:srgbClr val="EAF7F2"/>
          </a:solidFill>
          <a:ln w="9525">
            <a:solidFill>
              <a:srgbClr val="D8DE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28712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10698480" cy="1508760"/>
          </a:xfrm>
          <a:prstGeom prst="roundRect">
            <a:avLst>
              <a:gd name="adj" fmla="val 7273"/>
            </a:avLst>
          </a:prstGeom>
          <a:solidFill>
            <a:srgbClr val="F5F2FC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3159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2E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 is TRUE if the inner query returns at least one row.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literally the ∃ (‘there exists’) from TRC! EXISTS = ∃, NOT EXISTS = ¬∃.</a:t>
            </a:r>
            <a:endParaRPr lang="en-US" sz="13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inner query references the outer (e.sid = s.sid) — a CORRELATED subquery.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&amp; ALL — Compare To A Whole List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929384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ANY vs &gt; ALL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8366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older than EVERY MECH student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57984"/>
            <a:ext cx="4937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 ALL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age FROM student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dept='MECH');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2103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ALL = bigger than the MAX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older than the oldest MECH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303520" cy="1737360"/>
          </a:xfrm>
          <a:prstGeom prst="roundRect">
            <a:avLst>
              <a:gd name="adj" fmla="val 4211"/>
            </a:avLst>
          </a:prstGeom>
          <a:solidFill>
            <a:srgbClr val="0B122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039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D6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older than SOME CSE student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4078224"/>
            <a:ext cx="49377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age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student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 ANY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age FROM student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dept='CSE');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217920" y="402336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ANY = bigger than the MIN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older than at least one CSE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5532120"/>
            <a:ext cx="10698480" cy="502920"/>
          </a:xfrm>
          <a:prstGeom prst="roundRect">
            <a:avLst>
              <a:gd name="adj" fmla="val 21818"/>
            </a:avLst>
          </a:prstGeom>
          <a:solidFill>
            <a:srgbClr val="FDECEC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gold (NPTEL callback):  &gt; ALL = beat the BEST (max).   &gt; ANY = beat the WEAKEST (min).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Subqueries — Quick Map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137660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1376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what they return &amp; where they go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06654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6D5B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6654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82880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ONE value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66560" y="182880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age &gt; (SELECT AVG…)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78892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EEF1F4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02666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0F8A6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266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(IN)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78892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COLUMN of values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766560" y="278892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sid IN (SELECT…)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398678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B6760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867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834640" y="374904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TRUE / FALSE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374904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EXISTS (SELECT…)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4709160"/>
            <a:ext cx="10698480" cy="841248"/>
          </a:xfrm>
          <a:prstGeom prst="roundRect">
            <a:avLst>
              <a:gd name="adj" fmla="val 13043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946904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94690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834640" y="4709160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uses the outer row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0" y="4709160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850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…WHERE e.sid = s.sid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subquery can sit in WHERE, in HAVING, even in FROM (as a derived table) or SELECT.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Corner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873752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High-frequency questions from this lecture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195681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5681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040" y="182880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subqueries with IN, EXISTS, ANY, ALL and examples.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277977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77977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040" y="265176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IN and EXISTS.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120" y="360273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B67609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0273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040" y="347472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correlated subquery? Give an example.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29768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" y="442569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42569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606040" y="429768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&gt; ANY and &gt; ALL.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1520" y="5120640"/>
            <a:ext cx="10698480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5248656"/>
            <a:ext cx="1371600" cy="438912"/>
          </a:xfrm>
          <a:prstGeom prst="roundRect">
            <a:avLst>
              <a:gd name="adj" fmla="val 20833"/>
            </a:avLst>
          </a:prstGeom>
          <a:solidFill>
            <a:srgbClr val="0F8A66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MARKS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06040" y="5120640"/>
            <a:ext cx="8595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can NOT IN fail with NULLs?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Guaranteed marks: IN vs EXISTS, and &gt; ANY vs &gt; ALL. Know the NULL trap for NOT IN.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Subqueries = Relational Calculus, Live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4242816" cy="457200"/>
          </a:xfrm>
          <a:prstGeom prst="roundRect">
            <a:avLst>
              <a:gd name="adj" fmla="val 16000"/>
            </a:avLst>
          </a:prstGeom>
          <a:solidFill>
            <a:srgbClr val="FFD54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4242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theory you learned, now runnable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106984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0F8A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8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∃ (there exists)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023360" y="182880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EXISTS (SELECT …)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0" y="18288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‘has at least one’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698480" cy="786384"/>
          </a:xfrm>
          <a:prstGeom prst="roundRect">
            <a:avLst>
              <a:gd name="adj" fmla="val 13953"/>
            </a:avLst>
          </a:prstGeom>
          <a:solidFill>
            <a:srgbClr val="EEF1F4"/>
          </a:solidFill>
          <a:ln w="12700">
            <a:solidFill>
              <a:srgbClr val="D23B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7432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¬∃ (not exists)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023360" y="274320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EXISTS (SELECT …)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27432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‘has none’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1069848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6D5B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6576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5B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∈ (member of)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0" y="365760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(SELECT …)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36576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‘is in the set’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10698480" cy="786384"/>
          </a:xfrm>
          <a:prstGeom prst="roundRect">
            <a:avLst>
              <a:gd name="adj" fmla="val 13953"/>
            </a:avLst>
          </a:prstGeom>
          <a:solidFill>
            <a:srgbClr val="EEF1F4"/>
          </a:solidFill>
          <a:ln w="12700">
            <a:solidFill>
              <a:srgbClr val="B676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5720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676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∉ (not member)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023360" y="4572000"/>
            <a:ext cx="42062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4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 (SELECT …)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57200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‘not in the set’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14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TRC / DRC expressions (∃, ¬∃) you practised? Subqueries are how they RUN in SQL.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DBMS • Unit 3 • Lecture 23 — Dr. Neha Nandal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⏸  PAUSE &amp; TRY IT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 — Nest Some Queries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97280" y="26517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Students younger than the average age (scalar subquery)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97280" y="321868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Students enrolled in course C01 (IN with subquery)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7280" y="378561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Students NOT enrolled in anything (NOT IN / NOT EXISTS)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43525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The oldest student (age &gt;= ALL ages)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97280" y="49194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Courses that nobody is enrolled in (NOT EXISTS)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3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each in Workbench. The .sql file has all three tables ready!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9326880" y="-1645920"/>
            <a:ext cx="4572000" cy="4572000"/>
          </a:xfrm>
          <a:prstGeom prst="roundRect">
            <a:avLst>
              <a:gd name="adj" fmla="val 18000"/>
            </a:avLst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058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Nest Queries 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BE5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scalar • IN / NOT IN • EXISTS • ANY / ALL • correlated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completes the core of SQL querying. Next we go beyond queries — to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VIEWS, TRIGGERS, and transaction control (COMMIT / ROLLBACK).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402336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D23B3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VIEWS, TRIGGERS &amp; TCL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7548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D5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creating views, active databases (triggers), and GRANT / COMMIT / ROLLBACK.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Download the .sql file and run every subquery yourself!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2026-08-27T08:17:07Z</dcterms:created>
  <dcterms:modified xsi:type="dcterms:W3CDTF">2026-08-27T08:17:07Z</dcterms:modified>
</cp:coreProperties>
</file>