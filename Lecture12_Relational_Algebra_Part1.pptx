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Selection • Projection • Set Ops • Product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behind every query — before SQL ever existed.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4572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  π   ∪   ∩   −   ×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Table. You Want Just SOME Of It.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= keeping only what you need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1783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2103120"/>
            <a:ext cx="155448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155448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155448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2103120"/>
            <a:ext cx="155448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5603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25603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5603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25603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30175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0175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30175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34747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34747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4747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89520" y="347472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926080" y="39319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80560" y="39319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35040" y="39319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89520" y="3931920"/>
            <a:ext cx="155448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only the patients in ward W3.”  How do we express that PRECISELY?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didn’t exist yet. Mathematicians built an ALGEBRA of operations on tables. Every query today still runs on it.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Relational Algebra?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55828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558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in → operation → a NEW table 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 takes one or two relations and produces a NEW relation as its result.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“closure” property is the magic — the output is a table, so you can feed it into the NEXT operation, and the next… that’s how complex queries are built.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5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 Selection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ROWS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4114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 Projection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COLUMNS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114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 ∩ −  Set ops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two tables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23960" y="4114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Product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15400" y="5029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every row with every row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these four. Next lecture: the JOIN.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 Selection — Pick The ROWS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76859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horizontal filter (this is the WHERE)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ward = 'W3' (PATIENT)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828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rows where the condition is TRUE; drop the 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5478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35478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5478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3986784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57400" y="3986784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986784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42569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256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57400" y="442569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4256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442569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4256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" y="4864608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8646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57400" y="4864608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48646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4864608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8646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0" y="3931920"/>
            <a:ext cx="1280160" cy="914"/>
          </a:xfrm>
          <a:prstGeom prst="line">
            <a:avLst/>
          </a:prstGeom>
          <a:noFill/>
          <a:ln w="38100">
            <a:solidFill>
              <a:srgbClr val="6D5BC7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84632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ward='W3'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9808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5800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9244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2688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3547872"/>
            <a:ext cx="12344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92440" y="3547872"/>
            <a:ext cx="12344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326880" y="3547872"/>
            <a:ext cx="12344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688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58000" y="3986784"/>
            <a:ext cx="12344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092440" y="3986784"/>
            <a:ext cx="12344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9244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326880" y="3986784"/>
            <a:ext cx="12344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come and go. Columns stay the same. Condition can use =, &lt;, &gt;, AND, OR, NOT.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 Projection — Pick The COLUMNS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18922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189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vertical filter (this is the SELECT list)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name, ward (PATIENT)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8288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the listed columns; drop the rest — and duplicates vanish (it’s a set!)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234440" cy="438912"/>
          </a:xfrm>
          <a:prstGeom prst="rect">
            <a:avLst/>
          </a:prstGeom>
          <a:solidFill>
            <a:srgbClr val="8A93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108960"/>
            <a:ext cx="12344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1089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547872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35478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5478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5478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3986784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57400" y="3986784"/>
            <a:ext cx="123444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986784"/>
            <a:ext cx="123444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86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425696"/>
            <a:ext cx="1234440" cy="438912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256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57400" y="442569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4256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442569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42569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3931920"/>
            <a:ext cx="1280160" cy="914"/>
          </a:xfrm>
          <a:prstGeom prst="line">
            <a:avLst/>
          </a:prstGeom>
          <a:noFill/>
          <a:ln w="38100">
            <a:solidFill>
              <a:srgbClr val="B67609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80060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name,ward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40880" y="3108960"/>
            <a:ext cx="14630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3108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3108960"/>
            <a:ext cx="146304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3108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3547872"/>
            <a:ext cx="14630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5478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03920" y="3547872"/>
            <a:ext cx="14630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35478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986784"/>
            <a:ext cx="14630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9867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03920" y="3986784"/>
            <a:ext cx="14630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39867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040880" y="4425696"/>
            <a:ext cx="14630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442569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03920" y="4425696"/>
            <a:ext cx="1463040" cy="43891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442569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Because a relation is a SET, projection auto-removes duplicate rows. Remember that in exams!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σ and 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50672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506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first real query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“Give me the NAMES of patients in ward W3.”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7589520" cy="914400"/>
          </a:xfrm>
          <a:prstGeom prst="roundRect">
            <a:avLst>
              <a:gd name="adj" fmla="val 12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4688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 ( σ ward='W3' ( PATIENT ) 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INSIDE-OUT: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PATIENT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whole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681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σ ward='W3'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46817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rows → only W3 patients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2486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π name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524865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the name column → the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first, projection second — filter the rows, THEN trim the columns.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Operations — ∪  ∩  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are sets, so treat them like sets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  UNION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∪ 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rows in EITHER table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∩  INTERSECT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4340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∩ 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in BOTH tables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DIFFERENCE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5528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− 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9244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in A but NOT in 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Union-Compatibility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only combine two tables if they have the SAME number of columns AND matching domains. You can’t union PATIENT with DOCTOR.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Ops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tables of patient IDs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219456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219456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03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87452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8745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∪  UNION → {101, 102, 103, 104}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0" y="324612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2461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∩  INTERSECT → {102}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0" y="443484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434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CARDIO − NEURO → {101, 103}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= everyone treated by either dept. Intersect = seen by both. Difference = cardio-only.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Cartesian Product — Pair EVERYTHING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of A with every row of 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(2 rows)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1143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65960" y="2514600"/>
            <a:ext cx="1143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11430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65960" y="2926080"/>
            <a:ext cx="11430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7490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(2 rows)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2514600"/>
            <a:ext cx="1143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514600"/>
            <a:ext cx="1143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49040" y="2926080"/>
            <a:ext cx="11430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926080"/>
            <a:ext cx="114300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4 rows (2×2)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6656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0956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5256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195560" y="2103120"/>
            <a:ext cx="11430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9556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251460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09560" y="251460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52560" y="251460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195560" y="251460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95560" y="2514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66560" y="292608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09560" y="292608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956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52560" y="292608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95560" y="292608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95560" y="29260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766560" y="333756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3337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909560" y="333756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9560" y="3337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052560" y="333756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52560" y="3337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195560" y="3337560"/>
            <a:ext cx="1143000" cy="411480"/>
          </a:xfrm>
          <a:prstGeom prst="rect">
            <a:avLst/>
          </a:prstGeom>
          <a:solidFill>
            <a:srgbClr val="E9EC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95560" y="3337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trike="sngStrike" dirty="0">
                <a:solidFill>
                  <a:srgbClr val="AA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766560" y="374904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909560" y="374904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956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052560" y="374904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0195560" y="3749040"/>
            <a:ext cx="11430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95560" y="37490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165860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sensible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65860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nonsense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× pairs Ravi (W3) with ward W1 too — a patient matched to a ward he’s NOT in.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tables of 1000 rows → one million rows, mostly garbage. We need to keep only the MATCHING pairs…</a:t>
            </a:r>
            <a:endParaRPr lang="en-US" sz="1450" dirty="0"/>
          </a:p>
        </p:txBody>
      </p:sp>
      <p:sp>
        <p:nvSpPr>
          <p:cNvPr id="78" name="Text 7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fundamental operations of relational algebra with examples.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selection (σ) and projection (π) with examples.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union-compatibility? Why is it required for set operations?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projection remove duplicate rows?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relational algebra expression for a given query.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for query questions, always read π(σ(…)) inside-out — innermost table first.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12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Table:  EMPLOYEE (emp_id, name, dept, salary)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3520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Write σ for: employees in the ‘Sales’ department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087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Write π for: just the names and salaries of all employees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465429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Combine both: names of employees in ‘Sales’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52212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π dept gives 3 rows from 10 employees — why only 3?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1) σ dept='Sales'(EMP)  2) π name,salary(EMP)  3) π name(σ dept='Sales'(EMP))  4) duplicates removed — it’s a set!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Before You Go…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Cartesian product paired EVERY patient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EVERY ward — including wrong pairs.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kept ONLY the pairs where patient.ward = ward.ward_no?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single idea is the most important operation in all of databases.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92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ITS NAME 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JOIN — natural, theta and equi joins, plus division.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2026-07-27T14:47:45Z</dcterms:created>
  <dcterms:modified xsi:type="dcterms:W3CDTF">2026-07-27T14:47:45Z</dcterms:modified>
</cp:coreProperties>
</file>