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50" r:id="rId3"/>
    <p:sldId id="451" r:id="rId4"/>
    <p:sldId id="452" r:id="rId5"/>
    <p:sldId id="259" r:id="rId6"/>
    <p:sldId id="260" r:id="rId7"/>
    <p:sldId id="261" r:id="rId8"/>
    <p:sldId id="360" r:id="rId9"/>
    <p:sldId id="262" r:id="rId10"/>
    <p:sldId id="361" r:id="rId11"/>
    <p:sldId id="263" r:id="rId12"/>
    <p:sldId id="363" r:id="rId13"/>
    <p:sldId id="364" r:id="rId14"/>
    <p:sldId id="359" r:id="rId15"/>
    <p:sldId id="264" r:id="rId16"/>
    <p:sldId id="365" r:id="rId17"/>
    <p:sldId id="366" r:id="rId18"/>
    <p:sldId id="362" r:id="rId19"/>
    <p:sldId id="445" r:id="rId20"/>
    <p:sldId id="446" r:id="rId21"/>
    <p:sldId id="447" r:id="rId22"/>
    <p:sldId id="448" r:id="rId23"/>
    <p:sldId id="449" r:id="rId24"/>
    <p:sldId id="367" r:id="rId25"/>
    <p:sldId id="369" r:id="rId26"/>
    <p:sldId id="368" r:id="rId27"/>
    <p:sldId id="370" r:id="rId28"/>
    <p:sldId id="371" r:id="rId29"/>
    <p:sldId id="372" r:id="rId30"/>
    <p:sldId id="373" r:id="rId31"/>
    <p:sldId id="374" r:id="rId32"/>
    <p:sldId id="375" r:id="rId33"/>
    <p:sldId id="376" r:id="rId34"/>
    <p:sldId id="377" r:id="rId35"/>
    <p:sldId id="378" r:id="rId36"/>
    <p:sldId id="379" r:id="rId37"/>
    <p:sldId id="380" r:id="rId38"/>
    <p:sldId id="465" r:id="rId39"/>
    <p:sldId id="381" r:id="rId40"/>
    <p:sldId id="382" r:id="rId41"/>
    <p:sldId id="383" r:id="rId42"/>
    <p:sldId id="385" r:id="rId43"/>
    <p:sldId id="384" r:id="rId44"/>
    <p:sldId id="386" r:id="rId45"/>
    <p:sldId id="387" r:id="rId46"/>
    <p:sldId id="388" r:id="rId47"/>
    <p:sldId id="389" r:id="rId48"/>
    <p:sldId id="390" r:id="rId49"/>
    <p:sldId id="392" r:id="rId50"/>
    <p:sldId id="393" r:id="rId51"/>
    <p:sldId id="394" r:id="rId52"/>
    <p:sldId id="395" r:id="rId53"/>
    <p:sldId id="396" r:id="rId54"/>
    <p:sldId id="391" r:id="rId55"/>
    <p:sldId id="431" r:id="rId56"/>
    <p:sldId id="432" r:id="rId57"/>
    <p:sldId id="433" r:id="rId58"/>
    <p:sldId id="434" r:id="rId59"/>
    <p:sldId id="435" r:id="rId60"/>
    <p:sldId id="453" r:id="rId61"/>
    <p:sldId id="454" r:id="rId62"/>
    <p:sldId id="455" r:id="rId63"/>
    <p:sldId id="456" r:id="rId64"/>
    <p:sldId id="457" r:id="rId65"/>
    <p:sldId id="458" r:id="rId66"/>
    <p:sldId id="459" r:id="rId67"/>
    <p:sldId id="460" r:id="rId68"/>
    <p:sldId id="461" r:id="rId69"/>
    <p:sldId id="462" r:id="rId70"/>
    <p:sldId id="463" r:id="rId71"/>
    <p:sldId id="464" r:id="rId72"/>
    <p:sldId id="466" r:id="rId73"/>
    <p:sldId id="467" r:id="rId74"/>
    <p:sldId id="468" r:id="rId75"/>
    <p:sldId id="469" r:id="rId76"/>
    <p:sldId id="470" r:id="rId77"/>
    <p:sldId id="471" r:id="rId78"/>
    <p:sldId id="397" r:id="rId79"/>
    <p:sldId id="474" r:id="rId80"/>
    <p:sldId id="398" r:id="rId81"/>
    <p:sldId id="472" r:id="rId82"/>
    <p:sldId id="476" r:id="rId83"/>
    <p:sldId id="399" r:id="rId84"/>
    <p:sldId id="478" r:id="rId85"/>
    <p:sldId id="473" r:id="rId86"/>
    <p:sldId id="479" r:id="rId87"/>
    <p:sldId id="400" r:id="rId88"/>
    <p:sldId id="481" r:id="rId89"/>
    <p:sldId id="480" r:id="rId90"/>
    <p:sldId id="482" r:id="rId91"/>
    <p:sldId id="401" r:id="rId92"/>
    <p:sldId id="483" r:id="rId93"/>
    <p:sldId id="402" r:id="rId94"/>
    <p:sldId id="403" r:id="rId95"/>
    <p:sldId id="404" r:id="rId96"/>
    <p:sldId id="405" r:id="rId97"/>
    <p:sldId id="408" r:id="rId98"/>
    <p:sldId id="406" r:id="rId99"/>
    <p:sldId id="407" r:id="rId100"/>
    <p:sldId id="410" r:id="rId101"/>
    <p:sldId id="409" r:id="rId102"/>
    <p:sldId id="411" r:id="rId103"/>
    <p:sldId id="412" r:id="rId104"/>
    <p:sldId id="413" r:id="rId105"/>
    <p:sldId id="414" r:id="rId106"/>
    <p:sldId id="415" r:id="rId107"/>
    <p:sldId id="416" r:id="rId108"/>
    <p:sldId id="417" r:id="rId109"/>
    <p:sldId id="418" r:id="rId110"/>
    <p:sldId id="419" r:id="rId111"/>
    <p:sldId id="420" r:id="rId112"/>
    <p:sldId id="421" r:id="rId113"/>
    <p:sldId id="422" r:id="rId114"/>
    <p:sldId id="423" r:id="rId115"/>
    <p:sldId id="424" r:id="rId116"/>
    <p:sldId id="425" r:id="rId117"/>
    <p:sldId id="426" r:id="rId118"/>
    <p:sldId id="427" r:id="rId119"/>
    <p:sldId id="428" r:id="rId120"/>
    <p:sldId id="429" r:id="rId121"/>
    <p:sldId id="430" r:id="rId122"/>
    <p:sldId id="436" r:id="rId123"/>
    <p:sldId id="437" r:id="rId124"/>
    <p:sldId id="438" r:id="rId125"/>
    <p:sldId id="439" r:id="rId126"/>
    <p:sldId id="440" r:id="rId127"/>
    <p:sldId id="441" r:id="rId128"/>
    <p:sldId id="443" r:id="rId129"/>
    <p:sldId id="442" r:id="rId130"/>
    <p:sldId id="444" r:id="rId131"/>
    <p:sldId id="358" r:id="rId1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1" d="100"/>
          <a:sy n="91" d="100"/>
        </p:scale>
        <p:origin x="-126" y="-1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03-09-2026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03-09-2026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03-09-2026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03-09-2026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03-09-2026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03-09-2026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geeksforgeeks.org/rename-operation-in-relational-algebra/" TargetMode="External"/><Relationship Id="rId3" Type="http://schemas.openxmlformats.org/officeDocument/2006/relationships/hyperlink" Target="https://www.geeksforgeeks.org/select-operation-in-relational-algebra/" TargetMode="External"/><Relationship Id="rId7" Type="http://schemas.openxmlformats.org/officeDocument/2006/relationships/hyperlink" Target="https://www.geeksforgeeks.org/sql-intersect-clause/" TargetMode="External"/><Relationship Id="rId2" Type="http://schemas.openxmlformats.org/officeDocument/2006/relationships/hyperlink" Target="https://www.geeksforgeeks.org/basic-operators-in-relational-algebra-2/" TargetMode="External"/><Relationship Id="rId1" Type="http://schemas.openxmlformats.org/officeDocument/2006/relationships/slideLayout" Target="../slideLayouts/slideLayout2.xml"/><Relationship Id="rId6" Type="http://schemas.openxmlformats.org/officeDocument/2006/relationships/hyperlink" Target="https://www.geeksforgeeks.org/set-theory-operations-in-relational-algebra/" TargetMode="External"/><Relationship Id="rId5" Type="http://schemas.openxmlformats.org/officeDocument/2006/relationships/hyperlink" Target="https://www.geeksforgeeks.org/sql-union-operator/" TargetMode="External"/><Relationship Id="rId4" Type="http://schemas.openxmlformats.org/officeDocument/2006/relationships/hyperlink" Target="https://www.geeksforgeeks.org/difference-between-selection-and-projection-in-dbms/" TargetMode="External"/><Relationship Id="rId9" Type="http://schemas.openxmlformats.org/officeDocument/2006/relationships/hyperlink" Target="https://www.geeksforgeeks.org/cartesian-product-operation-in-relational-algebr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tuple-relational-calculus-trc-in-dbms/" TargetMode="External"/><Relationship Id="rId2" Type="http://schemas.openxmlformats.org/officeDocument/2006/relationships/hyperlink" Target="https://www.geeksforgeeks.org/difference-between-relational-algebra-and-relational-calculus/" TargetMode="External"/><Relationship Id="rId1" Type="http://schemas.openxmlformats.org/officeDocument/2006/relationships/slideLayout" Target="../slideLayouts/slideLayout7.xml"/><Relationship Id="rId4" Type="http://schemas.openxmlformats.org/officeDocument/2006/relationships/hyperlink" Target="https://www.geeksforgeeks.org/domain-relational-calculus-in-db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xmlns=""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a:t>
            </a:r>
            <a:r>
              <a:rPr lang="en-US" dirty="0" err="1"/>
              <a:t>Nandal</a:t>
            </a:r>
            <a:r>
              <a:rPr lang="en-US" dirty="0"/>
              <a:t>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837793" y="390436"/>
            <a:ext cx="6096000" cy="1200329"/>
          </a:xfrm>
          <a:prstGeom prst="rect">
            <a:avLst/>
          </a:prstGeom>
        </p:spPr>
        <p:txBody>
          <a:bodyPr>
            <a:spAutoFit/>
          </a:bodyPr>
          <a:lstStyle/>
          <a:p>
            <a:pPr algn="ctr"/>
            <a:r>
              <a:rPr lang="en-IN" b="1" dirty="0" err="1">
                <a:solidFill>
                  <a:srgbClr val="0070C0"/>
                </a:solidFill>
              </a:rPr>
              <a:t>Geethanjali</a:t>
            </a:r>
            <a:r>
              <a:rPr lang="en-IN" b="1" dirty="0">
                <a:solidFill>
                  <a:srgbClr val="0070C0"/>
                </a:solidFill>
              </a:rPr>
              <a:t> College of Engineering and Technology</a:t>
            </a:r>
            <a:endParaRPr lang="en-IN" dirty="0">
              <a:solidFill>
                <a:srgbClr val="0070C0"/>
              </a:solidFill>
            </a:endParaRPr>
          </a:p>
          <a:p>
            <a:pPr algn="ctr"/>
            <a:r>
              <a:rPr lang="en-IN" dirty="0">
                <a:solidFill>
                  <a:srgbClr val="0070C0"/>
                </a:solidFill>
              </a:rPr>
              <a:t>Department of Computer Science and Engineering</a:t>
            </a:r>
          </a:p>
          <a:p>
            <a:pPr algn="ctr"/>
            <a:r>
              <a:rPr lang="en-IN" b="1" dirty="0">
                <a:solidFill>
                  <a:srgbClr val="0070C0"/>
                </a:solidFill>
              </a:rPr>
              <a:t>Database Management Systems (25CS21003)</a:t>
            </a:r>
            <a:endParaRPr lang="en-IN" dirty="0">
              <a:solidFill>
                <a:srgbClr val="0070C0"/>
              </a:solidFill>
            </a:endParaRPr>
          </a:p>
          <a:p>
            <a:pPr algn="ctr"/>
            <a:r>
              <a:rPr lang="en-IN" i="1" dirty="0">
                <a:solidFill>
                  <a:srgbClr val="0070C0"/>
                </a:solidFill>
              </a:rPr>
              <a:t>Course Syllabus  —  New Syllabus 2025–26</a:t>
            </a:r>
            <a:endParaRPr lang="en-IN" dirty="0">
              <a:solidFill>
                <a:srgbClr val="0070C0"/>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2043766819"/>
              </p:ext>
            </p:extLst>
          </p:nvPr>
        </p:nvGraphicFramePr>
        <p:xfrm>
          <a:off x="578070" y="1590765"/>
          <a:ext cx="11435255" cy="2483969"/>
        </p:xfrm>
        <a:graphic>
          <a:graphicData uri="http://schemas.openxmlformats.org/drawingml/2006/table">
            <a:tbl>
              <a:tblPr>
                <a:tableStyleId>{C4B1156A-380E-4F78-BDF5-A606A8083BF9}</a:tableStyleId>
              </a:tblPr>
              <a:tblGrid>
                <a:gridCol w="11435255"/>
              </a:tblGrid>
              <a:tr h="429423">
                <a:tc>
                  <a:txBody>
                    <a:bodyPr/>
                    <a:lstStyle/>
                    <a:p>
                      <a:pPr algn="ctr">
                        <a:lnSpc>
                          <a:spcPct val="110000"/>
                        </a:lnSpc>
                        <a:spcAft>
                          <a:spcPts val="0"/>
                        </a:spcAft>
                      </a:pPr>
                      <a:r>
                        <a:rPr lang="en-IN" sz="1800" dirty="0">
                          <a:effectLst/>
                        </a:rPr>
                        <a:t>UNIT I  —  Introduction &amp; Database Design</a:t>
                      </a:r>
                      <a:endParaRPr lang="en-IN" sz="1600" dirty="0">
                        <a:effectLst/>
                        <a:latin typeface="Times New Roman"/>
                        <a:ea typeface="Times New Roman"/>
                      </a:endParaRPr>
                    </a:p>
                  </a:txBody>
                  <a:tcPr marL="88900" marR="88900" marT="50800" marB="50800"/>
                </a:tc>
              </a:tr>
              <a:tr h="1027273">
                <a:tc>
                  <a:txBody>
                    <a:bodyPr/>
                    <a:lstStyle/>
                    <a:p>
                      <a:pPr>
                        <a:lnSpc>
                          <a:spcPct val="110000"/>
                        </a:lnSpc>
                        <a:spcAft>
                          <a:spcPts val="200"/>
                        </a:spcAft>
                      </a:pPr>
                      <a:r>
                        <a:rPr lang="en-IN" sz="1600" dirty="0">
                          <a:effectLst/>
                        </a:rPr>
                        <a:t>Database System Applications</a:t>
                      </a:r>
                    </a:p>
                    <a:p>
                      <a:pPr>
                        <a:lnSpc>
                          <a:spcPct val="115000"/>
                        </a:lnSpc>
                        <a:spcAft>
                          <a:spcPts val="0"/>
                        </a:spcAft>
                      </a:pPr>
                      <a:r>
                        <a:rPr lang="en-IN" sz="1400" dirty="0">
                          <a:effectLst/>
                        </a:rPr>
                        <a:t>A Historical Perspective; File Systems versus a DBMS; the Data Model; Levels of Abstraction in a DBMS; Data Independence; Structure of a DBMS.</a:t>
                      </a:r>
                      <a:endParaRPr lang="en-IN" sz="1600" dirty="0">
                        <a:effectLst/>
                        <a:latin typeface="Times New Roman"/>
                        <a:ea typeface="Times New Roman"/>
                      </a:endParaRPr>
                    </a:p>
                  </a:txBody>
                  <a:tcPr marL="88900" marR="88900" marT="63500" marB="63500"/>
                </a:tc>
              </a:tr>
              <a:tr h="1027273">
                <a:tc>
                  <a:txBody>
                    <a:bodyPr/>
                    <a:lstStyle/>
                    <a:p>
                      <a:pPr>
                        <a:lnSpc>
                          <a:spcPct val="110000"/>
                        </a:lnSpc>
                        <a:spcAft>
                          <a:spcPts val="200"/>
                        </a:spcAft>
                      </a:pPr>
                      <a:r>
                        <a:rPr lang="en-IN" sz="1600" dirty="0">
                          <a:effectLst/>
                        </a:rPr>
                        <a:t>Introduction to Database Design</a:t>
                      </a:r>
                    </a:p>
                    <a:p>
                      <a:pPr>
                        <a:lnSpc>
                          <a:spcPct val="115000"/>
                        </a:lnSpc>
                        <a:spcAft>
                          <a:spcPts val="0"/>
                        </a:spcAft>
                      </a:pPr>
                      <a:r>
                        <a:rPr lang="en-IN" sz="1400" dirty="0">
                          <a:effectLst/>
                        </a:rPr>
                        <a:t>Database Design and ER Diagrams; Entities, Attributes, and Entity Sets; Relationships and Relationship Sets; Additional Features of the ER Model; Conceptual Design with the ER Model.</a:t>
                      </a:r>
                      <a:endParaRPr lang="en-IN" sz="1600" dirty="0">
                        <a:effectLst/>
                        <a:latin typeface="Times New Roman"/>
                        <a:ea typeface="Times New Roman"/>
                      </a:endParaRPr>
                    </a:p>
                  </a:txBody>
                  <a:tcPr marL="88900" marR="88900" marT="63500" marB="63500"/>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814998462"/>
              </p:ext>
            </p:extLst>
          </p:nvPr>
        </p:nvGraphicFramePr>
        <p:xfrm>
          <a:off x="588579" y="4170330"/>
          <a:ext cx="11435255" cy="2372360"/>
        </p:xfrm>
        <a:graphic>
          <a:graphicData uri="http://schemas.openxmlformats.org/drawingml/2006/table">
            <a:tbl>
              <a:tblPr>
                <a:tableStyleId>{C4B1156A-380E-4F78-BDF5-A606A8083BF9}</a:tableStyleId>
              </a:tblPr>
              <a:tblGrid>
                <a:gridCol w="11435255"/>
              </a:tblGrid>
              <a:tr h="0">
                <a:tc>
                  <a:txBody>
                    <a:bodyPr/>
                    <a:lstStyle/>
                    <a:p>
                      <a:pPr algn="ctr">
                        <a:lnSpc>
                          <a:spcPct val="110000"/>
                        </a:lnSpc>
                        <a:spcAft>
                          <a:spcPts val="0"/>
                        </a:spcAft>
                      </a:pPr>
                      <a:r>
                        <a:rPr lang="en-IN" sz="1600" dirty="0">
                          <a:effectLst/>
                        </a:rPr>
                        <a:t>UNIT II  —  Relational Model, Algebra &amp; Schema Refinement</a:t>
                      </a:r>
                      <a:endParaRPr lang="en-IN" sz="1400" dirty="0">
                        <a:effectLst/>
                        <a:latin typeface="Times New Roman"/>
                        <a:ea typeface="Times New Roman"/>
                      </a:endParaRPr>
                    </a:p>
                  </a:txBody>
                  <a:tcPr marL="88900" marR="88900" marT="50800" marB="50800"/>
                </a:tc>
              </a:tr>
              <a:tr h="0">
                <a:tc>
                  <a:txBody>
                    <a:bodyPr/>
                    <a:lstStyle/>
                    <a:p>
                      <a:pPr>
                        <a:lnSpc>
                          <a:spcPct val="110000"/>
                        </a:lnSpc>
                        <a:spcAft>
                          <a:spcPts val="200"/>
                        </a:spcAft>
                      </a:pPr>
                      <a:r>
                        <a:rPr lang="en-IN" sz="1400" dirty="0">
                          <a:effectLst/>
                        </a:rPr>
                        <a:t>Introduction to the Relational Model</a:t>
                      </a:r>
                    </a:p>
                    <a:p>
                      <a:pPr>
                        <a:lnSpc>
                          <a:spcPct val="115000"/>
                        </a:lnSpc>
                        <a:spcAft>
                          <a:spcPts val="0"/>
                        </a:spcAft>
                      </a:pPr>
                      <a:r>
                        <a:rPr lang="en-IN" sz="1200" dirty="0">
                          <a:effectLst/>
                        </a:rPr>
                        <a:t>Integrity constraints over relations; enforcing integrity constraints; querying relational data; logical database design; introduction to views; destroying / altering tables and views.</a:t>
                      </a:r>
                      <a:endParaRPr lang="en-IN" sz="1400" dirty="0">
                        <a:effectLst/>
                        <a:latin typeface="Times New Roman"/>
                        <a:ea typeface="Times New Roman"/>
                      </a:endParaRPr>
                    </a:p>
                  </a:txBody>
                  <a:tcPr marL="88900" marR="88900" marT="63500" marB="63500"/>
                </a:tc>
              </a:tr>
              <a:tr h="0">
                <a:tc>
                  <a:txBody>
                    <a:bodyPr/>
                    <a:lstStyle/>
                    <a:p>
                      <a:pPr>
                        <a:lnSpc>
                          <a:spcPct val="110000"/>
                        </a:lnSpc>
                        <a:spcAft>
                          <a:spcPts val="200"/>
                        </a:spcAft>
                      </a:pPr>
                      <a:r>
                        <a:rPr lang="en-IN" sz="1400" dirty="0">
                          <a:effectLst/>
                        </a:rPr>
                        <a:t>Relational Query Languages</a:t>
                      </a:r>
                    </a:p>
                    <a:p>
                      <a:pPr>
                        <a:lnSpc>
                          <a:spcPct val="115000"/>
                        </a:lnSpc>
                        <a:spcAft>
                          <a:spcPts val="0"/>
                        </a:spcAft>
                      </a:pPr>
                      <a:r>
                        <a:rPr lang="en-IN" sz="1200" dirty="0">
                          <a:effectLst/>
                        </a:rPr>
                        <a:t>Relational Algebra; Tuple Relational Calculus; Domain Relational Calculus.</a:t>
                      </a:r>
                      <a:endParaRPr lang="en-IN" sz="1400" dirty="0">
                        <a:effectLst/>
                        <a:latin typeface="Times New Roman"/>
                        <a:ea typeface="Times New Roman"/>
                      </a:endParaRPr>
                    </a:p>
                  </a:txBody>
                  <a:tcPr marL="88900" marR="88900" marT="63500" marB="63500"/>
                </a:tc>
              </a:tr>
              <a:tr h="0">
                <a:tc>
                  <a:txBody>
                    <a:bodyPr/>
                    <a:lstStyle/>
                    <a:p>
                      <a:pPr>
                        <a:lnSpc>
                          <a:spcPct val="110000"/>
                        </a:lnSpc>
                        <a:spcAft>
                          <a:spcPts val="200"/>
                        </a:spcAft>
                      </a:pPr>
                      <a:r>
                        <a:rPr lang="en-IN" sz="1400" dirty="0">
                          <a:effectLst/>
                        </a:rPr>
                        <a:t>Schema Refinement</a:t>
                      </a:r>
                    </a:p>
                    <a:p>
                      <a:pPr>
                        <a:lnSpc>
                          <a:spcPct val="115000"/>
                        </a:lnSpc>
                        <a:spcAft>
                          <a:spcPts val="0"/>
                        </a:spcAft>
                      </a:pPr>
                      <a:r>
                        <a:rPr lang="en-IN" sz="1200" dirty="0">
                          <a:effectLst/>
                        </a:rPr>
                        <a:t>Problems caused by redundancy; decompositions; problems related to decomposition; reasoning about functional dependencies; First, Second, Third Normal Forms; BCNF; lossless join decomposition; multivalued dependencies; Fourth Normal Form; Fifth Normal Form.</a:t>
                      </a:r>
                      <a:endParaRPr lang="en-IN" sz="1400" dirty="0">
                        <a:effectLst/>
                        <a:latin typeface="Times New Roman"/>
                        <a:ea typeface="Times New Roman"/>
                      </a:endParaRPr>
                    </a:p>
                  </a:txBody>
                  <a:tcPr marL="88900" marR="88900" marT="63500" marB="63500"/>
                </a:tc>
              </a:tr>
            </a:tbl>
          </a:graphicData>
        </a:graphic>
      </p:graphicFrame>
    </p:spTree>
    <p:extLst>
      <p:ext uri="{BB962C8B-B14F-4D97-AF65-F5344CB8AC3E}">
        <p14:creationId xmlns:p14="http://schemas.microsoft.com/office/powerpoint/2010/main" val="1479358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4874478"/>
              </p:ext>
            </p:extLst>
          </p:nvPr>
        </p:nvGraphicFramePr>
        <p:xfrm>
          <a:off x="189185" y="252249"/>
          <a:ext cx="11855669" cy="2892044"/>
        </p:xfrm>
        <a:graphic>
          <a:graphicData uri="http://schemas.openxmlformats.org/drawingml/2006/table">
            <a:tbl>
              <a:tblPr>
                <a:tableStyleId>{C4B1156A-380E-4F78-BDF5-A606A8083BF9}</a:tableStyleId>
              </a:tblPr>
              <a:tblGrid>
                <a:gridCol w="11855669"/>
              </a:tblGrid>
              <a:tr h="285361">
                <a:tc>
                  <a:txBody>
                    <a:bodyPr/>
                    <a:lstStyle/>
                    <a:p>
                      <a:pPr algn="ctr">
                        <a:lnSpc>
                          <a:spcPct val="110000"/>
                        </a:lnSpc>
                        <a:spcAft>
                          <a:spcPts val="0"/>
                        </a:spcAft>
                      </a:pPr>
                      <a:r>
                        <a:rPr lang="en-IN" sz="1800" dirty="0">
                          <a:effectLst/>
                        </a:rPr>
                        <a:t>UNIT III  —  SQL &amp; </a:t>
                      </a:r>
                      <a:r>
                        <a:rPr lang="en-IN" sz="1800" dirty="0" err="1">
                          <a:effectLst/>
                        </a:rPr>
                        <a:t>NoSQL</a:t>
                      </a:r>
                      <a:r>
                        <a:rPr lang="en-IN" sz="1800" dirty="0">
                          <a:effectLst/>
                        </a:rPr>
                        <a:t> Databases</a:t>
                      </a:r>
                      <a:endParaRPr lang="en-IN" sz="1600" dirty="0">
                        <a:effectLst/>
                        <a:latin typeface="Times New Roman"/>
                        <a:ea typeface="Times New Roman"/>
                      </a:endParaRPr>
                    </a:p>
                  </a:txBody>
                  <a:tcPr marL="88900" marR="88900" marT="50800" marB="50800"/>
                </a:tc>
              </a:tr>
              <a:tr h="500732">
                <a:tc>
                  <a:txBody>
                    <a:bodyPr/>
                    <a:lstStyle/>
                    <a:p>
                      <a:pPr>
                        <a:lnSpc>
                          <a:spcPct val="110000"/>
                        </a:lnSpc>
                        <a:spcAft>
                          <a:spcPts val="200"/>
                        </a:spcAft>
                      </a:pPr>
                      <a:r>
                        <a:rPr lang="en-IN" sz="1600" dirty="0">
                          <a:effectLst/>
                        </a:rPr>
                        <a:t>SQL Languages</a:t>
                      </a:r>
                    </a:p>
                    <a:p>
                      <a:pPr>
                        <a:lnSpc>
                          <a:spcPct val="115000"/>
                        </a:lnSpc>
                        <a:spcAft>
                          <a:spcPts val="0"/>
                        </a:spcAft>
                      </a:pPr>
                      <a:r>
                        <a:rPr lang="en-IN" sz="1400" dirty="0">
                          <a:effectLst/>
                        </a:rPr>
                        <a:t>DDL, DML, TCL, DCL.</a:t>
                      </a:r>
                      <a:endParaRPr lang="en-IN" sz="1600" dirty="0">
                        <a:effectLst/>
                        <a:latin typeface="Times New Roman"/>
                        <a:ea typeface="Times New Roman"/>
                      </a:endParaRPr>
                    </a:p>
                  </a:txBody>
                  <a:tcPr marL="88900" marR="88900" marT="63500" marB="63500"/>
                </a:tc>
              </a:tr>
              <a:tr h="682645">
                <a:tc>
                  <a:txBody>
                    <a:bodyPr/>
                    <a:lstStyle/>
                    <a:p>
                      <a:pPr>
                        <a:lnSpc>
                          <a:spcPct val="110000"/>
                        </a:lnSpc>
                        <a:spcAft>
                          <a:spcPts val="200"/>
                        </a:spcAft>
                      </a:pPr>
                      <a:r>
                        <a:rPr lang="en-IN" sz="1600" dirty="0">
                          <a:effectLst/>
                        </a:rPr>
                        <a:t>SQL Queries, Constraints, Triggers</a:t>
                      </a:r>
                    </a:p>
                    <a:p>
                      <a:pPr>
                        <a:lnSpc>
                          <a:spcPct val="115000"/>
                        </a:lnSpc>
                        <a:spcAft>
                          <a:spcPts val="0"/>
                        </a:spcAft>
                      </a:pPr>
                      <a:r>
                        <a:rPr lang="en-IN" sz="1400" dirty="0">
                          <a:effectLst/>
                        </a:rPr>
                        <a:t>Form of a basic SQL query; UNION, INTERSECT, and EXCEPT; Nested Queries; aggregation operators; NULL values; complex integrity constraints in SQL; triggers and active databases.</a:t>
                      </a:r>
                      <a:endParaRPr lang="en-IN" sz="1600" dirty="0">
                        <a:effectLst/>
                        <a:latin typeface="Times New Roman"/>
                        <a:ea typeface="Times New Roman"/>
                      </a:endParaRPr>
                    </a:p>
                  </a:txBody>
                  <a:tcPr marL="88900" marR="88900" marT="63500" marB="63500"/>
                </a:tc>
              </a:tr>
              <a:tr h="864558">
                <a:tc>
                  <a:txBody>
                    <a:bodyPr/>
                    <a:lstStyle/>
                    <a:p>
                      <a:pPr>
                        <a:lnSpc>
                          <a:spcPct val="110000"/>
                        </a:lnSpc>
                        <a:spcAft>
                          <a:spcPts val="200"/>
                        </a:spcAft>
                      </a:pPr>
                      <a:r>
                        <a:rPr lang="en-IN" sz="1600" dirty="0" err="1">
                          <a:effectLst/>
                        </a:rPr>
                        <a:t>NoSQL</a:t>
                      </a:r>
                      <a:r>
                        <a:rPr lang="en-IN" sz="1600" dirty="0">
                          <a:effectLst/>
                        </a:rPr>
                        <a:t> Databases</a:t>
                      </a:r>
                    </a:p>
                    <a:p>
                      <a:pPr>
                        <a:lnSpc>
                          <a:spcPct val="115000"/>
                        </a:lnSpc>
                        <a:spcAft>
                          <a:spcPts val="0"/>
                        </a:spcAft>
                      </a:pPr>
                      <a:r>
                        <a:rPr lang="en-IN" sz="1400" dirty="0">
                          <a:effectLst/>
                        </a:rPr>
                        <a:t>Introduction, Overview, and History of </a:t>
                      </a:r>
                      <a:r>
                        <a:rPr lang="en-IN" sz="1400" dirty="0" err="1">
                          <a:effectLst/>
                        </a:rPr>
                        <a:t>NoSQL</a:t>
                      </a:r>
                      <a:r>
                        <a:rPr lang="en-IN" sz="1400" dirty="0">
                          <a:effectLst/>
                        </a:rPr>
                        <a:t> Databases; the definition of the four types of </a:t>
                      </a:r>
                      <a:r>
                        <a:rPr lang="en-IN" sz="1400" dirty="0" err="1">
                          <a:effectLst/>
                        </a:rPr>
                        <a:t>NoSQL</a:t>
                      </a:r>
                      <a:r>
                        <a:rPr lang="en-IN" sz="1400" dirty="0">
                          <a:effectLst/>
                        </a:rPr>
                        <a:t> databases; comparison of relational databases to </a:t>
                      </a:r>
                      <a:r>
                        <a:rPr lang="en-IN" sz="1400" dirty="0" err="1">
                          <a:effectLst/>
                        </a:rPr>
                        <a:t>NoSQL</a:t>
                      </a:r>
                      <a:r>
                        <a:rPr lang="en-IN" sz="1400" dirty="0">
                          <a:effectLst/>
                        </a:rPr>
                        <a:t>; SQL </a:t>
                      </a:r>
                      <a:r>
                        <a:rPr lang="en-IN" sz="1400" dirty="0" err="1">
                          <a:effectLst/>
                        </a:rPr>
                        <a:t>vs</a:t>
                      </a:r>
                      <a:r>
                        <a:rPr lang="en-IN" sz="1400" dirty="0">
                          <a:effectLst/>
                        </a:rPr>
                        <a:t> </a:t>
                      </a:r>
                      <a:r>
                        <a:rPr lang="en-IN" sz="1400" dirty="0" err="1">
                          <a:effectLst/>
                        </a:rPr>
                        <a:t>NoSQL</a:t>
                      </a:r>
                      <a:r>
                        <a:rPr lang="en-IN" sz="1400" dirty="0">
                          <a:effectLst/>
                        </a:rPr>
                        <a:t>; basic CRUD operations using </a:t>
                      </a:r>
                      <a:r>
                        <a:rPr lang="en-IN" sz="1400" dirty="0" err="1">
                          <a:effectLst/>
                        </a:rPr>
                        <a:t>MongoDB</a:t>
                      </a:r>
                      <a:r>
                        <a:rPr lang="en-IN" sz="1400" dirty="0">
                          <a:effectLst/>
                        </a:rPr>
                        <a:t>.</a:t>
                      </a:r>
                      <a:endParaRPr lang="en-IN" sz="1600" dirty="0">
                        <a:effectLst/>
                        <a:latin typeface="Times New Roman"/>
                        <a:ea typeface="Times New Roman"/>
                      </a:endParaRPr>
                    </a:p>
                  </a:txBody>
                  <a:tcPr marL="88900" marR="88900" marT="63500" marB="63500"/>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587593760"/>
              </p:ext>
            </p:extLst>
          </p:nvPr>
        </p:nvGraphicFramePr>
        <p:xfrm>
          <a:off x="189186" y="3058039"/>
          <a:ext cx="11845159" cy="2539950"/>
        </p:xfrm>
        <a:graphic>
          <a:graphicData uri="http://schemas.openxmlformats.org/drawingml/2006/table">
            <a:tbl>
              <a:tblPr>
                <a:tableStyleId>{C4B1156A-380E-4F78-BDF5-A606A8083BF9}</a:tableStyleId>
              </a:tblPr>
              <a:tblGrid>
                <a:gridCol w="11845159"/>
              </a:tblGrid>
              <a:tr h="489359">
                <a:tc>
                  <a:txBody>
                    <a:bodyPr/>
                    <a:lstStyle/>
                    <a:p>
                      <a:pPr algn="ctr">
                        <a:lnSpc>
                          <a:spcPct val="110000"/>
                        </a:lnSpc>
                        <a:spcAft>
                          <a:spcPts val="0"/>
                        </a:spcAft>
                      </a:pPr>
                      <a:r>
                        <a:rPr lang="en-IN" sz="1800" dirty="0">
                          <a:effectLst/>
                        </a:rPr>
                        <a:t>UNIT IV  —  Transaction Management &amp; Recovery</a:t>
                      </a:r>
                      <a:endParaRPr lang="en-IN" sz="1600" dirty="0">
                        <a:effectLst/>
                        <a:latin typeface="Times New Roman"/>
                        <a:ea typeface="Times New Roman"/>
                      </a:endParaRPr>
                    </a:p>
                  </a:txBody>
                  <a:tcPr marL="88900" marR="88900" marT="50800" marB="50800"/>
                </a:tc>
              </a:tr>
              <a:tr h="1139239">
                <a:tc>
                  <a:txBody>
                    <a:bodyPr/>
                    <a:lstStyle/>
                    <a:p>
                      <a:pPr>
                        <a:lnSpc>
                          <a:spcPct val="110000"/>
                        </a:lnSpc>
                        <a:spcAft>
                          <a:spcPts val="200"/>
                        </a:spcAft>
                      </a:pPr>
                      <a:r>
                        <a:rPr lang="en-IN" sz="1600" dirty="0">
                          <a:effectLst/>
                        </a:rPr>
                        <a:t>Transaction Management</a:t>
                      </a:r>
                    </a:p>
                    <a:p>
                      <a:pPr>
                        <a:lnSpc>
                          <a:spcPct val="115000"/>
                        </a:lnSpc>
                        <a:spcAft>
                          <a:spcPts val="0"/>
                        </a:spcAft>
                      </a:pPr>
                      <a:r>
                        <a:rPr lang="en-IN" sz="1400" dirty="0">
                          <a:effectLst/>
                        </a:rPr>
                        <a:t>Transaction Concept; Transaction State; Implementation of Atomicity and Durability; Concurrent Executions; </a:t>
                      </a:r>
                      <a:r>
                        <a:rPr lang="en-IN" sz="1400" dirty="0" err="1">
                          <a:effectLst/>
                        </a:rPr>
                        <a:t>Serializability</a:t>
                      </a:r>
                      <a:r>
                        <a:rPr lang="en-IN" sz="1400" dirty="0">
                          <a:effectLst/>
                        </a:rPr>
                        <a:t>; Recoverability; Implementation of Isolation; testing for </a:t>
                      </a:r>
                      <a:r>
                        <a:rPr lang="en-IN" sz="1400" dirty="0" err="1">
                          <a:effectLst/>
                        </a:rPr>
                        <a:t>serializability</a:t>
                      </a:r>
                      <a:r>
                        <a:rPr lang="en-IN" sz="1400" dirty="0">
                          <a:effectLst/>
                        </a:rPr>
                        <a:t>; Lock-Based Protocols; Timestamp-Based Protocols; Validation-Based Protocols; Multiple Granularity.</a:t>
                      </a:r>
                      <a:endParaRPr lang="en-IN" sz="1600" dirty="0">
                        <a:effectLst/>
                        <a:latin typeface="Times New Roman"/>
                        <a:ea typeface="Times New Roman"/>
                      </a:endParaRPr>
                    </a:p>
                  </a:txBody>
                  <a:tcPr marL="88900" marR="88900" marT="63500" marB="63500"/>
                </a:tc>
              </a:tr>
              <a:tr h="841805">
                <a:tc>
                  <a:txBody>
                    <a:bodyPr/>
                    <a:lstStyle/>
                    <a:p>
                      <a:pPr>
                        <a:lnSpc>
                          <a:spcPct val="110000"/>
                        </a:lnSpc>
                        <a:spcAft>
                          <a:spcPts val="200"/>
                        </a:spcAft>
                      </a:pPr>
                      <a:r>
                        <a:rPr lang="en-IN" sz="1600" dirty="0">
                          <a:effectLst/>
                        </a:rPr>
                        <a:t>Recovery System</a:t>
                      </a:r>
                    </a:p>
                    <a:p>
                      <a:pPr>
                        <a:lnSpc>
                          <a:spcPct val="115000"/>
                        </a:lnSpc>
                        <a:spcAft>
                          <a:spcPts val="0"/>
                        </a:spcAft>
                      </a:pPr>
                      <a:r>
                        <a:rPr lang="en-IN" sz="1400" dirty="0">
                          <a:effectLst/>
                        </a:rPr>
                        <a:t>Recovery and Atomicity; Log-Based Recovery; Recovery with Concurrent Transactions; Buffer Management; Failure with loss of non-volatile storage; Advanced Recovery systems; Remote Backup systems.</a:t>
                      </a:r>
                      <a:endParaRPr lang="en-IN" sz="1600" dirty="0">
                        <a:effectLst/>
                        <a:latin typeface="Times New Roman"/>
                        <a:ea typeface="Times New Roman"/>
                      </a:endParaRPr>
                    </a:p>
                  </a:txBody>
                  <a:tcPr marL="88900" marR="88900" marT="63500" marB="63500"/>
                </a:tc>
              </a:tr>
            </a:tbl>
          </a:graphicData>
        </a:graphic>
      </p:graphicFrame>
    </p:spTree>
    <p:extLst>
      <p:ext uri="{BB962C8B-B14F-4D97-AF65-F5344CB8AC3E}">
        <p14:creationId xmlns:p14="http://schemas.microsoft.com/office/powerpoint/2010/main" val="222081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62E158D-44FB-5D8D-0AB3-D21CA5ED2642}"/>
              </a:ext>
            </a:extLst>
          </p:cNvPr>
          <p:cNvSpPr txBox="1"/>
          <p:nvPr/>
        </p:nvSpPr>
        <p:spPr>
          <a:xfrm>
            <a:off x="1289395" y="3985506"/>
            <a:ext cx="9914163" cy="1200329"/>
          </a:xfrm>
          <a:prstGeom prst="rect">
            <a:avLst/>
          </a:prstGeom>
          <a:noFill/>
        </p:spPr>
        <p:txBody>
          <a:bodyPr wrap="square">
            <a:spAutoFit/>
          </a:bodyPr>
          <a:lstStyle/>
          <a:p>
            <a:pPr algn="just"/>
            <a:r>
              <a:rPr lang="en-IN" b="1" i="0" u="none" strike="noStrike" baseline="0" dirty="0">
                <a:latin typeface="Times New Roman" panose="02020603050405020304" pitchFamily="18" charset="0"/>
              </a:rPr>
              <a:t>TEXT BOOKS:</a:t>
            </a:r>
          </a:p>
          <a:p>
            <a:pPr algn="just"/>
            <a:r>
              <a:rPr lang="en-US" b="0" i="0" u="none" strike="noStrike" baseline="0" dirty="0">
                <a:latin typeface="Times New Roman" panose="02020603050405020304" pitchFamily="18" charset="0"/>
              </a:rPr>
              <a:t>1. Data base System Concepts, </a:t>
            </a:r>
            <a:r>
              <a:rPr lang="en-US" b="0" i="0" u="none" strike="noStrike" baseline="0" dirty="0" err="1">
                <a:latin typeface="Times New Roman" panose="02020603050405020304" pitchFamily="18" charset="0"/>
              </a:rPr>
              <a:t>Silberschatz</a:t>
            </a:r>
            <a:r>
              <a:rPr lang="en-US" b="0" i="0" u="none" strike="noStrike" baseline="0" dirty="0">
                <a:latin typeface="Times New Roman" panose="02020603050405020304" pitchFamily="18" charset="0"/>
              </a:rPr>
              <a:t>, </a:t>
            </a:r>
            <a:r>
              <a:rPr lang="en-US" b="0" i="0" u="none" strike="noStrike" baseline="0" dirty="0" err="1">
                <a:latin typeface="Times New Roman" panose="02020603050405020304" pitchFamily="18" charset="0"/>
              </a:rPr>
              <a:t>Korth</a:t>
            </a:r>
            <a:r>
              <a:rPr lang="en-US" b="0" i="0" u="none" strike="noStrike" baseline="0" dirty="0">
                <a:latin typeface="Times New Roman" panose="02020603050405020304" pitchFamily="18" charset="0"/>
              </a:rPr>
              <a:t>, McGraw hill, Sixth Edition.(All UNITS </a:t>
            </a:r>
            <a:r>
              <a:rPr lang="en-IN" b="0" i="0" u="none" strike="noStrike" baseline="0" dirty="0">
                <a:latin typeface="Times New Roman" panose="02020603050405020304" pitchFamily="18" charset="0"/>
              </a:rPr>
              <a:t>except III </a:t>
            </a:r>
            <a:r>
              <a:rPr lang="en-IN" b="0" i="0" u="none" strike="noStrike" baseline="0" dirty="0" err="1">
                <a:latin typeface="Times New Roman" panose="02020603050405020304" pitchFamily="18" charset="0"/>
              </a:rPr>
              <a:t>th</a:t>
            </a:r>
            <a:r>
              <a:rPr lang="en-IN" b="0" i="0" u="none" strike="noStrike" baseline="0" dirty="0">
                <a:latin typeface="Times New Roman" panose="02020603050405020304" pitchFamily="18" charset="0"/>
              </a:rPr>
              <a:t>)</a:t>
            </a:r>
          </a:p>
          <a:p>
            <a:pPr algn="just"/>
            <a:r>
              <a:rPr lang="en-IN" b="0" i="0" u="none" strike="noStrike" baseline="0" dirty="0">
                <a:latin typeface="Times New Roman" panose="02020603050405020304" pitchFamily="18" charset="0"/>
              </a:rPr>
              <a:t>2. Data base Management Systems, </a:t>
            </a:r>
            <a:r>
              <a:rPr lang="en-IN" i="0" u="none" strike="noStrike" baseline="0" dirty="0" err="1">
                <a:latin typeface="Times New Roman" panose="02020603050405020304" pitchFamily="18" charset="0"/>
              </a:rPr>
              <a:t>Raghurama</a:t>
            </a:r>
            <a:r>
              <a:rPr lang="en-IN" i="0" u="none" strike="noStrike" baseline="0" dirty="0">
                <a:latin typeface="Times New Roman" panose="02020603050405020304" pitchFamily="18" charset="0"/>
              </a:rPr>
              <a:t> Krishnan</a:t>
            </a:r>
            <a:r>
              <a:rPr lang="en-IN" b="0" i="0" u="none" strike="noStrike" baseline="0" dirty="0">
                <a:latin typeface="Times New Roman" panose="02020603050405020304" pitchFamily="18" charset="0"/>
              </a:rPr>
              <a:t>, Johannes </a:t>
            </a:r>
            <a:r>
              <a:rPr lang="en-IN" b="0" i="0" u="none" strike="noStrike" baseline="0" dirty="0" err="1">
                <a:latin typeface="Times New Roman" panose="02020603050405020304" pitchFamily="18" charset="0"/>
              </a:rPr>
              <a:t>Gehrke</a:t>
            </a:r>
            <a:r>
              <a:rPr lang="en-IN" b="0" i="0" u="none" strike="noStrike" baseline="0" dirty="0">
                <a:latin typeface="Times New Roman" panose="02020603050405020304" pitchFamily="18" charset="0"/>
              </a:rPr>
              <a:t>, TATA </a:t>
            </a:r>
            <a:r>
              <a:rPr lang="en-IN" b="0" i="0" u="none" strike="noStrike" baseline="0" dirty="0" err="1">
                <a:latin typeface="Times New Roman" panose="02020603050405020304" pitchFamily="18" charset="0"/>
              </a:rPr>
              <a:t>McGrawHill</a:t>
            </a:r>
            <a:r>
              <a:rPr lang="en-IN" b="0" i="0" u="none" strike="noStrike" baseline="0" dirty="0">
                <a:latin typeface="Times New Roman" panose="02020603050405020304" pitchFamily="18" charset="0"/>
              </a:rPr>
              <a:t> 3rd Edition.</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545464215"/>
              </p:ext>
            </p:extLst>
          </p:nvPr>
        </p:nvGraphicFramePr>
        <p:xfrm>
          <a:off x="1289395" y="903434"/>
          <a:ext cx="9988205" cy="2996026"/>
        </p:xfrm>
        <a:graphic>
          <a:graphicData uri="http://schemas.openxmlformats.org/drawingml/2006/table">
            <a:tbl>
              <a:tblPr>
                <a:tableStyleId>{C4B1156A-380E-4F78-BDF5-A606A8083BF9}</a:tableStyleId>
              </a:tblPr>
              <a:tblGrid>
                <a:gridCol w="9988205"/>
              </a:tblGrid>
              <a:tr h="752698">
                <a:tc>
                  <a:txBody>
                    <a:bodyPr/>
                    <a:lstStyle/>
                    <a:p>
                      <a:pPr algn="ctr">
                        <a:lnSpc>
                          <a:spcPct val="110000"/>
                        </a:lnSpc>
                        <a:spcAft>
                          <a:spcPts val="0"/>
                        </a:spcAft>
                      </a:pPr>
                      <a:endParaRPr lang="en-IN" sz="1800" dirty="0" smtClean="0">
                        <a:effectLst/>
                      </a:endParaRPr>
                    </a:p>
                    <a:p>
                      <a:pPr algn="ctr">
                        <a:lnSpc>
                          <a:spcPct val="110000"/>
                        </a:lnSpc>
                        <a:spcAft>
                          <a:spcPts val="0"/>
                        </a:spcAft>
                      </a:pPr>
                      <a:r>
                        <a:rPr lang="en-IN" sz="1800" dirty="0" smtClean="0">
                          <a:effectLst/>
                        </a:rPr>
                        <a:t>UNIT </a:t>
                      </a:r>
                      <a:r>
                        <a:rPr lang="en-IN" sz="1800" dirty="0">
                          <a:effectLst/>
                        </a:rPr>
                        <a:t>V  —  Storage and Indexing</a:t>
                      </a:r>
                      <a:endParaRPr lang="en-IN" sz="1600" dirty="0">
                        <a:effectLst/>
                        <a:latin typeface="Times New Roman"/>
                        <a:ea typeface="Times New Roman"/>
                      </a:endParaRPr>
                    </a:p>
                  </a:txBody>
                  <a:tcPr marL="88900" marR="88900" marT="50800" marB="50800"/>
                </a:tc>
              </a:tr>
              <a:tr h="507184">
                <a:tc>
                  <a:txBody>
                    <a:bodyPr/>
                    <a:lstStyle/>
                    <a:p>
                      <a:pPr>
                        <a:lnSpc>
                          <a:spcPct val="110000"/>
                        </a:lnSpc>
                        <a:spcAft>
                          <a:spcPts val="200"/>
                        </a:spcAft>
                      </a:pPr>
                      <a:r>
                        <a:rPr lang="en-IN" sz="1600" dirty="0">
                          <a:effectLst/>
                        </a:rPr>
                        <a:t>Storage and Indexing</a:t>
                      </a:r>
                    </a:p>
                    <a:p>
                      <a:pPr>
                        <a:lnSpc>
                          <a:spcPct val="115000"/>
                        </a:lnSpc>
                        <a:spcAft>
                          <a:spcPts val="0"/>
                        </a:spcAft>
                      </a:pPr>
                      <a:r>
                        <a:rPr lang="en-IN" sz="1400" dirty="0">
                          <a:effectLst/>
                        </a:rPr>
                        <a:t>File Organization and Indexing; Cluster Indexes; Primary and Secondary Indexes; Index Data Structures; Hash-Based Indexing; Tree-Based Indexing; Comparison of File Organizations.</a:t>
                      </a:r>
                      <a:endParaRPr lang="en-IN" sz="1600" dirty="0">
                        <a:effectLst/>
                        <a:latin typeface="Times New Roman"/>
                        <a:ea typeface="Times New Roman"/>
                      </a:endParaRPr>
                    </a:p>
                  </a:txBody>
                  <a:tcPr marL="88900" marR="88900" marT="63500" marB="63500"/>
                </a:tc>
              </a:tr>
              <a:tr h="372029">
                <a:tc>
                  <a:txBody>
                    <a:bodyPr/>
                    <a:lstStyle/>
                    <a:p>
                      <a:pPr>
                        <a:lnSpc>
                          <a:spcPct val="110000"/>
                        </a:lnSpc>
                        <a:spcAft>
                          <a:spcPts val="200"/>
                        </a:spcAft>
                      </a:pPr>
                      <a:r>
                        <a:rPr lang="en-IN" sz="1600" dirty="0">
                          <a:effectLst/>
                        </a:rPr>
                        <a:t>Tree-Based Indexing</a:t>
                      </a:r>
                    </a:p>
                    <a:p>
                      <a:pPr>
                        <a:lnSpc>
                          <a:spcPct val="115000"/>
                        </a:lnSpc>
                        <a:spcAft>
                          <a:spcPts val="0"/>
                        </a:spcAft>
                      </a:pPr>
                      <a:r>
                        <a:rPr lang="en-IN" sz="1400" dirty="0">
                          <a:effectLst/>
                        </a:rPr>
                        <a:t>Indexes — intuitions for tree indexes; Indexed Sequential Access Methods (ISAM); B+ Trees: A Dynamic Index Structure.</a:t>
                      </a:r>
                      <a:endParaRPr lang="en-IN" sz="1600" dirty="0">
                        <a:effectLst/>
                        <a:latin typeface="Times New Roman"/>
                        <a:ea typeface="Times New Roman"/>
                      </a:endParaRPr>
                    </a:p>
                  </a:txBody>
                  <a:tcPr marL="88900" marR="88900" marT="63500" marB="63500"/>
                </a:tc>
              </a:tr>
              <a:tr h="372029">
                <a:tc>
                  <a:txBody>
                    <a:bodyPr/>
                    <a:lstStyle/>
                    <a:p>
                      <a:pPr>
                        <a:lnSpc>
                          <a:spcPct val="110000"/>
                        </a:lnSpc>
                        <a:spcAft>
                          <a:spcPts val="200"/>
                        </a:spcAft>
                      </a:pPr>
                      <a:r>
                        <a:rPr lang="en-IN" sz="1600" dirty="0">
                          <a:effectLst/>
                        </a:rPr>
                        <a:t>Storing and Retrieving</a:t>
                      </a:r>
                    </a:p>
                    <a:p>
                      <a:pPr>
                        <a:lnSpc>
                          <a:spcPct val="115000"/>
                        </a:lnSpc>
                        <a:spcAft>
                          <a:spcPts val="0"/>
                        </a:spcAft>
                      </a:pPr>
                      <a:r>
                        <a:rPr lang="en-IN" sz="1400" dirty="0">
                          <a:effectLst/>
                        </a:rPr>
                        <a:t>Storing and retrieving images; storing and retrieving files.</a:t>
                      </a:r>
                      <a:endParaRPr lang="en-IN" sz="1600" dirty="0">
                        <a:effectLst/>
                        <a:latin typeface="Times New Roman"/>
                        <a:ea typeface="Times New Roman"/>
                      </a:endParaRPr>
                    </a:p>
                  </a:txBody>
                  <a:tcPr marL="88900" marR="88900" marT="63500" marB="63500"/>
                </a:tc>
              </a:tr>
            </a:tbl>
          </a:graphicData>
        </a:graphic>
      </p:graphicFrame>
    </p:spTree>
    <p:extLst>
      <p:ext uri="{BB962C8B-B14F-4D97-AF65-F5344CB8AC3E}">
        <p14:creationId xmlns:p14="http://schemas.microsoft.com/office/powerpoint/2010/main" val="111348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056D3E-FF7B-DB81-23EB-CE632A2BC57C}"/>
              </a:ext>
            </a:extLst>
          </p:cNvPr>
          <p:cNvSpPr>
            <a:spLocks noGrp="1"/>
          </p:cNvSpPr>
          <p:nvPr>
            <p:ph type="title"/>
          </p:nvPr>
        </p:nvSpPr>
        <p:spPr/>
        <p:txBody>
          <a:bodyPr/>
          <a:lstStyle/>
          <a:p>
            <a:r>
              <a:rPr lang="en-US" dirty="0"/>
              <a:t>Unit 2: RELATIONAL ALGEBRA</a:t>
            </a:r>
            <a:endParaRPr lang="en-IN" dirty="0"/>
          </a:p>
        </p:txBody>
      </p:sp>
      <p:sp>
        <p:nvSpPr>
          <p:cNvPr id="3" name="Content Placeholder 2">
            <a:extLst>
              <a:ext uri="{FF2B5EF4-FFF2-40B4-BE49-F238E27FC236}">
                <a16:creationId xmlns:a16="http://schemas.microsoft.com/office/drawing/2014/main" xmlns="" id="{B3728833-8DB3-7D84-CF03-1C8A17C8F922}"/>
              </a:ext>
            </a:extLst>
          </p:cNvPr>
          <p:cNvSpPr>
            <a:spLocks noGrp="1"/>
          </p:cNvSpPr>
          <p:nvPr>
            <p:ph idx="1"/>
          </p:nvPr>
        </p:nvSpPr>
        <p:spPr/>
        <p:txBody>
          <a:bodyPr>
            <a:normAutofit/>
          </a:bodyPr>
          <a:lstStyle/>
          <a:p>
            <a:pPr algn="just"/>
            <a:r>
              <a:rPr lang="en-US" dirty="0"/>
              <a:t>Relational Algebra is a procedural query language. Relational algebra mainly provides a theoretical foundation for relational databases and SQL. The main purpose of using Relational Algebra is to define operators that transform one or more input relations into an output relation. </a:t>
            </a:r>
            <a:endParaRPr lang="en-IN" dirty="0"/>
          </a:p>
        </p:txBody>
      </p:sp>
      <p:sp>
        <p:nvSpPr>
          <p:cNvPr id="9" name="TextBox 8">
            <a:extLst>
              <a:ext uri="{FF2B5EF4-FFF2-40B4-BE49-F238E27FC236}">
                <a16:creationId xmlns:a16="http://schemas.microsoft.com/office/drawing/2014/main" xmlns="" id="{BB13315A-8296-CB5E-5C07-CBC0B6B7EC69}"/>
              </a:ext>
            </a:extLst>
          </p:cNvPr>
          <p:cNvSpPr txBox="1"/>
          <p:nvPr/>
        </p:nvSpPr>
        <p:spPr>
          <a:xfrm>
            <a:off x="1657349" y="3963378"/>
            <a:ext cx="9489621" cy="646331"/>
          </a:xfrm>
          <a:prstGeom prst="rect">
            <a:avLst/>
          </a:prstGeom>
          <a:noFill/>
        </p:spPr>
        <p:txBody>
          <a:bodyPr wrap="square">
            <a:spAutoFit/>
          </a:bodyPr>
          <a:lstStyle/>
          <a:p>
            <a:pPr algn="just"/>
            <a:r>
              <a:rPr lang="en-US" dirty="0"/>
              <a:t>As it is pure mathematics, there is no use of English Keywords in Relational Algebra and operators are represented using symbols.</a:t>
            </a:r>
            <a:endParaRPr lang="en-IN" dirty="0"/>
          </a:p>
        </p:txBody>
      </p:sp>
    </p:spTree>
    <p:extLst>
      <p:ext uri="{BB962C8B-B14F-4D97-AF65-F5344CB8AC3E}">
        <p14:creationId xmlns:p14="http://schemas.microsoft.com/office/powerpoint/2010/main" val="250405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E79CE-8CBA-8902-401E-50ED0C21A0C6}"/>
              </a:ext>
            </a:extLst>
          </p:cNvPr>
          <p:cNvSpPr>
            <a:spLocks noGrp="1"/>
          </p:cNvSpPr>
          <p:nvPr>
            <p:ph type="title"/>
          </p:nvPr>
        </p:nvSpPr>
        <p:spPr/>
        <p:txBody>
          <a:bodyPr/>
          <a:lstStyle/>
          <a:p>
            <a:r>
              <a:rPr lang="en-US" dirty="0"/>
              <a:t>Fundamental Operators</a:t>
            </a:r>
          </a:p>
        </p:txBody>
      </p:sp>
      <p:sp>
        <p:nvSpPr>
          <p:cNvPr id="7" name="TextBox 6">
            <a:extLst>
              <a:ext uri="{FF2B5EF4-FFF2-40B4-BE49-F238E27FC236}">
                <a16:creationId xmlns:a16="http://schemas.microsoft.com/office/drawing/2014/main" xmlns="" id="{F5609F16-8DFF-5775-0DC6-F48FB2D748AA}"/>
              </a:ext>
            </a:extLst>
          </p:cNvPr>
          <p:cNvSpPr txBox="1"/>
          <p:nvPr/>
        </p:nvSpPr>
        <p:spPr>
          <a:xfrm>
            <a:off x="1451579" y="1951672"/>
            <a:ext cx="10272335" cy="3970318"/>
          </a:xfrm>
          <a:prstGeom prst="rect">
            <a:avLst/>
          </a:prstGeom>
          <a:noFill/>
        </p:spPr>
        <p:txBody>
          <a:bodyPr wrap="square">
            <a:spAutoFit/>
          </a:bodyPr>
          <a:lstStyle/>
          <a:p>
            <a:pPr algn="just" fontAlgn="base"/>
            <a:r>
              <a:rPr lang="en-US" sz="2800" b="0" i="0" dirty="0">
                <a:effectLst/>
                <a:latin typeface="Nunito" pitchFamily="2" charset="0"/>
              </a:rPr>
              <a:t>These are the </a:t>
            </a:r>
            <a:r>
              <a:rPr lang="en-US" sz="2800" b="0" i="0" u="sng" dirty="0">
                <a:effectLst/>
                <a:latin typeface="Nunito" pitchFamily="2" charset="0"/>
                <a:hlinkClick r:id="rId2">
                  <a:extLst>
                    <a:ext uri="{A12FA001-AC4F-418D-AE19-62706E023703}">
                      <ahyp:hlinkClr xmlns:ahyp="http://schemas.microsoft.com/office/drawing/2018/hyperlinkcolor" xmlns="" val="tx"/>
                    </a:ext>
                  </a:extLst>
                </a:hlinkClick>
              </a:rPr>
              <a:t>basic/fundamental operators</a:t>
            </a:r>
            <a:r>
              <a:rPr lang="en-US" sz="2800" b="0" i="0" dirty="0">
                <a:effectLst/>
                <a:latin typeface="Nunito" pitchFamily="2" charset="0"/>
              </a:rPr>
              <a:t> used in Relational Algebra.</a:t>
            </a:r>
          </a:p>
          <a:p>
            <a:pPr algn="just" fontAlgn="base">
              <a:buFont typeface="+mj-lt"/>
              <a:buAutoNum type="arabicPeriod"/>
            </a:pPr>
            <a:r>
              <a:rPr lang="en-US" sz="2800" b="0" i="0" u="sng" dirty="0">
                <a:effectLst/>
                <a:latin typeface="Nunito" pitchFamily="2" charset="0"/>
                <a:hlinkClick r:id="rId3">
                  <a:extLst>
                    <a:ext uri="{A12FA001-AC4F-418D-AE19-62706E023703}">
                      <ahyp:hlinkClr xmlns:ahyp="http://schemas.microsoft.com/office/drawing/2018/hyperlinkcolor" xmlns="" val="tx"/>
                    </a:ext>
                  </a:extLst>
                </a:hlinkClick>
              </a:rPr>
              <a:t>Selection(σ)</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4">
                  <a:extLst>
                    <a:ext uri="{A12FA001-AC4F-418D-AE19-62706E023703}">
                      <ahyp:hlinkClr xmlns:ahyp="http://schemas.microsoft.com/office/drawing/2018/hyperlinkcolor" xmlns="" val="tx"/>
                    </a:ext>
                  </a:extLst>
                </a:hlinkClick>
              </a:rPr>
              <a:t>Projection(π)</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5">
                  <a:extLst>
                    <a:ext uri="{A12FA001-AC4F-418D-AE19-62706E023703}">
                      <ahyp:hlinkClr xmlns:ahyp="http://schemas.microsoft.com/office/drawing/2018/hyperlinkcolor" xmlns="" val="tx"/>
                    </a:ext>
                  </a:extLst>
                </a:hlinkClick>
              </a:rPr>
              <a:t>Union(U)</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6">
                  <a:extLst>
                    <a:ext uri="{A12FA001-AC4F-418D-AE19-62706E023703}">
                      <ahyp:hlinkClr xmlns:ahyp="http://schemas.microsoft.com/office/drawing/2018/hyperlinkcolor" xmlns="" val="tx"/>
                    </a:ext>
                  </a:extLst>
                </a:hlinkClick>
              </a:rPr>
              <a:t>Set Difference(-)</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7">
                  <a:extLst>
                    <a:ext uri="{A12FA001-AC4F-418D-AE19-62706E023703}">
                      <ahyp:hlinkClr xmlns:ahyp="http://schemas.microsoft.com/office/drawing/2018/hyperlinkcolor" xmlns="" val="tx"/>
                    </a:ext>
                  </a:extLst>
                </a:hlinkClick>
              </a:rPr>
              <a:t>Set Intersection(∩)</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8">
                  <a:extLst>
                    <a:ext uri="{A12FA001-AC4F-418D-AE19-62706E023703}">
                      <ahyp:hlinkClr xmlns:ahyp="http://schemas.microsoft.com/office/drawing/2018/hyperlinkcolor" xmlns="" val="tx"/>
                    </a:ext>
                  </a:extLst>
                </a:hlinkClick>
              </a:rPr>
              <a:t>Rename(ρ)</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9">
                  <a:extLst>
                    <a:ext uri="{A12FA001-AC4F-418D-AE19-62706E023703}">
                      <ahyp:hlinkClr xmlns:ahyp="http://schemas.microsoft.com/office/drawing/2018/hyperlinkcolor" xmlns="" val="tx"/>
                    </a:ext>
                  </a:extLst>
                </a:hlinkClick>
              </a:rPr>
              <a:t>Cartesian Product(X)</a:t>
            </a:r>
            <a:endParaRPr lang="en-US" sz="2800" b="0" i="0" dirty="0">
              <a:effectLst/>
              <a:latin typeface="Nunito" pitchFamily="2" charset="0"/>
            </a:endParaRPr>
          </a:p>
        </p:txBody>
      </p:sp>
    </p:spTree>
    <p:extLst>
      <p:ext uri="{BB962C8B-B14F-4D97-AF65-F5344CB8AC3E}">
        <p14:creationId xmlns:p14="http://schemas.microsoft.com/office/powerpoint/2010/main" val="1791188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1A52D-0EAF-E126-97D9-36C680E748DE}"/>
              </a:ext>
            </a:extLst>
          </p:cNvPr>
          <p:cNvSpPr>
            <a:spLocks noGrp="1"/>
          </p:cNvSpPr>
          <p:nvPr>
            <p:ph type="title"/>
          </p:nvPr>
        </p:nvSpPr>
        <p:spPr>
          <a:xfrm>
            <a:off x="1451578" y="1391655"/>
            <a:ext cx="9603275" cy="1049235"/>
          </a:xfrm>
        </p:spPr>
        <p:txBody>
          <a:bodyPr/>
          <a:lstStyle/>
          <a:p>
            <a:r>
              <a:rPr lang="en-US" b="1" i="0" dirty="0">
                <a:solidFill>
                  <a:srgbClr val="273239"/>
                </a:solidFill>
                <a:effectLst/>
                <a:latin typeface="Nunito" pitchFamily="2" charset="0"/>
              </a:rPr>
              <a:t>1. Selection(σ): </a:t>
            </a:r>
            <a:endParaRPr lang="en-IN" dirty="0"/>
          </a:p>
        </p:txBody>
      </p:sp>
      <p:sp>
        <p:nvSpPr>
          <p:cNvPr id="5" name="Content Placeholder 4">
            <a:extLst>
              <a:ext uri="{FF2B5EF4-FFF2-40B4-BE49-F238E27FC236}">
                <a16:creationId xmlns:a16="http://schemas.microsoft.com/office/drawing/2014/main" xmlns="" id="{AA2429DE-1260-8BD4-BB5D-4274E5CCBC04}"/>
              </a:ext>
            </a:extLst>
          </p:cNvPr>
          <p:cNvSpPr>
            <a:spLocks noGrp="1"/>
          </p:cNvSpPr>
          <p:nvPr>
            <p:ph idx="1"/>
          </p:nvPr>
        </p:nvSpPr>
        <p:spPr/>
        <p:txBody>
          <a:bodyPr/>
          <a:lstStyle/>
          <a:p>
            <a:r>
              <a:rPr lang="en-US" b="0" i="0" dirty="0">
                <a:solidFill>
                  <a:srgbClr val="273239"/>
                </a:solidFill>
                <a:effectLst/>
                <a:latin typeface="Nunito" pitchFamily="2" charset="0"/>
              </a:rPr>
              <a:t>It is used to select required tuples of the relations.</a:t>
            </a:r>
            <a:endParaRPr lang="en-IN" dirty="0"/>
          </a:p>
        </p:txBody>
      </p:sp>
      <p:graphicFrame>
        <p:nvGraphicFramePr>
          <p:cNvPr id="11" name="Table 10">
            <a:extLst>
              <a:ext uri="{FF2B5EF4-FFF2-40B4-BE49-F238E27FC236}">
                <a16:creationId xmlns:a16="http://schemas.microsoft.com/office/drawing/2014/main" xmlns="" id="{175CB9AA-812F-58A3-951E-3635C54F8A1E}"/>
              </a:ext>
            </a:extLst>
          </p:cNvPr>
          <p:cNvGraphicFramePr>
            <a:graphicFrameLocks noGrp="1"/>
          </p:cNvGraphicFramePr>
          <p:nvPr>
            <p:extLst>
              <p:ext uri="{D42A27DB-BD31-4B8C-83A1-F6EECF244321}">
                <p14:modId xmlns:p14="http://schemas.microsoft.com/office/powerpoint/2010/main" val="3255548706"/>
              </p:ext>
            </p:extLst>
          </p:nvPr>
        </p:nvGraphicFramePr>
        <p:xfrm>
          <a:off x="3325244" y="2660782"/>
          <a:ext cx="1985055" cy="2026920"/>
        </p:xfrm>
        <a:graphic>
          <a:graphicData uri="http://schemas.openxmlformats.org/drawingml/2006/table">
            <a:tbl>
              <a:tblPr>
                <a:tableStyleId>{775DCB02-9BB8-47FD-8907-85C794F793BA}</a:tableStyleId>
              </a:tblPr>
              <a:tblGrid>
                <a:gridCol w="661685">
                  <a:extLst>
                    <a:ext uri="{9D8B030D-6E8A-4147-A177-3AD203B41FA5}">
                      <a16:colId xmlns:a16="http://schemas.microsoft.com/office/drawing/2014/main" xmlns="" val="109645884"/>
                    </a:ext>
                  </a:extLst>
                </a:gridCol>
                <a:gridCol w="661685">
                  <a:extLst>
                    <a:ext uri="{9D8B030D-6E8A-4147-A177-3AD203B41FA5}">
                      <a16:colId xmlns:a16="http://schemas.microsoft.com/office/drawing/2014/main" xmlns="" val="854577315"/>
                    </a:ext>
                  </a:extLst>
                </a:gridCol>
                <a:gridCol w="661685">
                  <a:extLst>
                    <a:ext uri="{9D8B030D-6E8A-4147-A177-3AD203B41FA5}">
                      <a16:colId xmlns:a16="http://schemas.microsoft.com/office/drawing/2014/main" xmlns="" val="297177488"/>
                    </a:ext>
                  </a:extLst>
                </a:gridCol>
              </a:tblGrid>
              <a:tr h="0">
                <a:tc>
                  <a:txBody>
                    <a:bodyPr/>
                    <a:lstStyle/>
                    <a:p>
                      <a:pPr algn="ctr" fontAlgn="base"/>
                      <a:r>
                        <a:rPr lang="en-IN" sz="1400" b="1" dirty="0">
                          <a:effectLst/>
                        </a:rPr>
                        <a:t>      A       </a:t>
                      </a:r>
                    </a:p>
                  </a:txBody>
                  <a:tcPr marL="38100" marR="38100" marT="63500" marB="63500" anchor="ctr"/>
                </a:tc>
                <a:tc>
                  <a:txBody>
                    <a:bodyPr/>
                    <a:lstStyle/>
                    <a:p>
                      <a:pPr algn="ctr" fontAlgn="base"/>
                      <a:r>
                        <a:rPr lang="en-IN" sz="1400" b="1" dirty="0">
                          <a:effectLst/>
                        </a:rPr>
                        <a:t>     B       </a:t>
                      </a:r>
                    </a:p>
                  </a:txBody>
                  <a:tcPr marL="63500" marR="63500" marT="63500" marB="63500" anchor="ctr"/>
                </a:tc>
                <a:tc>
                  <a:txBody>
                    <a:bodyPr/>
                    <a:lstStyle/>
                    <a:p>
                      <a:pPr algn="ctr" fontAlgn="base"/>
                      <a:r>
                        <a:rPr lang="en-IN" sz="1400" b="1" dirty="0">
                          <a:effectLst/>
                        </a:rPr>
                        <a:t>     C       </a:t>
                      </a:r>
                    </a:p>
                  </a:txBody>
                  <a:tcPr marL="63500" marR="63500" marT="63500" marB="63500" anchor="ctr"/>
                </a:tc>
                <a:extLst>
                  <a:ext uri="{0D108BD9-81ED-4DB2-BD59-A6C34878D82A}">
                    <a16:rowId xmlns:a16="http://schemas.microsoft.com/office/drawing/2014/main" xmlns="" val="995990670"/>
                  </a:ext>
                </a:extLst>
              </a:tr>
              <a:tr h="0">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4</a:t>
                      </a:r>
                    </a:p>
                  </a:txBody>
                  <a:tcPr marL="63500" marR="63500" marT="88900" marB="88900" anchor="ctr"/>
                </a:tc>
                <a:extLst>
                  <a:ext uri="{0D108BD9-81ED-4DB2-BD59-A6C34878D82A}">
                    <a16:rowId xmlns:a16="http://schemas.microsoft.com/office/drawing/2014/main" xmlns="" val="2940120783"/>
                  </a:ext>
                </a:extLst>
              </a:tr>
              <a:tr h="0">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3</a:t>
                      </a:r>
                    </a:p>
                  </a:txBody>
                  <a:tcPr marL="63500" marR="63500" marT="88900" marB="88900" anchor="ctr"/>
                </a:tc>
                <a:extLst>
                  <a:ext uri="{0D108BD9-81ED-4DB2-BD59-A6C34878D82A}">
                    <a16:rowId xmlns:a16="http://schemas.microsoft.com/office/drawing/2014/main" xmlns="" val="3651516130"/>
                  </a:ext>
                </a:extLst>
              </a:tr>
              <a:tr h="0">
                <a:tc>
                  <a:txBody>
                    <a:bodyPr/>
                    <a:lstStyle/>
                    <a:p>
                      <a:pPr algn="ctr" fontAlgn="ctr"/>
                      <a:r>
                        <a:rPr lang="en-IN" sz="1250" b="0">
                          <a:effectLst/>
                        </a:rPr>
                        <a:t>3</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3</a:t>
                      </a:r>
                    </a:p>
                  </a:txBody>
                  <a:tcPr marL="63500" marR="63500" marT="88900" marB="88900" anchor="ctr"/>
                </a:tc>
                <a:extLst>
                  <a:ext uri="{0D108BD9-81ED-4DB2-BD59-A6C34878D82A}">
                    <a16:rowId xmlns:a16="http://schemas.microsoft.com/office/drawing/2014/main" xmlns="" val="3729891931"/>
                  </a:ext>
                </a:extLst>
              </a:tr>
              <a:tr h="0">
                <a:tc>
                  <a:txBody>
                    <a:bodyPr/>
                    <a:lstStyle/>
                    <a:p>
                      <a:pPr algn="ctr" fontAlgn="ctr"/>
                      <a:r>
                        <a:rPr lang="en-IN" sz="1250" b="0">
                          <a:effectLst/>
                        </a:rPr>
                        <a:t>4</a:t>
                      </a:r>
                    </a:p>
                  </a:txBody>
                  <a:tcPr marL="63500" marR="63500" marT="88900" marB="88900" anchor="ctr"/>
                </a:tc>
                <a:tc>
                  <a:txBody>
                    <a:bodyPr/>
                    <a:lstStyle/>
                    <a:p>
                      <a:pPr algn="ctr" fontAlgn="ctr"/>
                      <a:r>
                        <a:rPr lang="en-IN" sz="1250" b="0">
                          <a:effectLst/>
                        </a:rPr>
                        <a:t>3</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xmlns="" val="2611604028"/>
                  </a:ext>
                </a:extLst>
              </a:tr>
            </a:tbl>
          </a:graphicData>
        </a:graphic>
      </p:graphicFrame>
      <p:graphicFrame>
        <p:nvGraphicFramePr>
          <p:cNvPr id="12" name="Table 11">
            <a:extLst>
              <a:ext uri="{FF2B5EF4-FFF2-40B4-BE49-F238E27FC236}">
                <a16:creationId xmlns:a16="http://schemas.microsoft.com/office/drawing/2014/main" xmlns="" id="{48A5737D-09C6-5EE6-F0CF-A7AEF73D11DA}"/>
              </a:ext>
            </a:extLst>
          </p:cNvPr>
          <p:cNvGraphicFramePr>
            <a:graphicFrameLocks noGrp="1"/>
          </p:cNvGraphicFramePr>
          <p:nvPr>
            <p:extLst>
              <p:ext uri="{D42A27DB-BD31-4B8C-83A1-F6EECF244321}">
                <p14:modId xmlns:p14="http://schemas.microsoft.com/office/powerpoint/2010/main" val="935580671"/>
              </p:ext>
            </p:extLst>
          </p:nvPr>
        </p:nvGraphicFramePr>
        <p:xfrm>
          <a:off x="9232339" y="3064967"/>
          <a:ext cx="1508082" cy="1325392"/>
        </p:xfrm>
        <a:graphic>
          <a:graphicData uri="http://schemas.openxmlformats.org/drawingml/2006/table">
            <a:tbl>
              <a:tblPr>
                <a:tableStyleId>{69C7853C-536D-4A76-A0AE-DD22124D55A5}</a:tableStyleId>
              </a:tblPr>
              <a:tblGrid>
                <a:gridCol w="502694">
                  <a:extLst>
                    <a:ext uri="{9D8B030D-6E8A-4147-A177-3AD203B41FA5}">
                      <a16:colId xmlns:a16="http://schemas.microsoft.com/office/drawing/2014/main" xmlns="" val="2239424510"/>
                    </a:ext>
                  </a:extLst>
                </a:gridCol>
                <a:gridCol w="502694">
                  <a:extLst>
                    <a:ext uri="{9D8B030D-6E8A-4147-A177-3AD203B41FA5}">
                      <a16:colId xmlns:a16="http://schemas.microsoft.com/office/drawing/2014/main" xmlns="" val="3744975195"/>
                    </a:ext>
                  </a:extLst>
                </a:gridCol>
                <a:gridCol w="502694">
                  <a:extLst>
                    <a:ext uri="{9D8B030D-6E8A-4147-A177-3AD203B41FA5}">
                      <a16:colId xmlns:a16="http://schemas.microsoft.com/office/drawing/2014/main" xmlns="" val="47160261"/>
                    </a:ext>
                  </a:extLst>
                </a:gridCol>
              </a:tblGrid>
              <a:tr h="208517">
                <a:tc>
                  <a:txBody>
                    <a:bodyPr/>
                    <a:lstStyle/>
                    <a:p>
                      <a:pPr algn="ctr" fontAlgn="base"/>
                      <a:r>
                        <a:rPr lang="en-IN" sz="1400" b="1" dirty="0">
                          <a:effectLst/>
                        </a:rPr>
                        <a:t> A </a:t>
                      </a:r>
                    </a:p>
                  </a:txBody>
                  <a:tcPr marL="38100" marR="38100" marT="63500" marB="63500" anchor="ctr"/>
                </a:tc>
                <a:tc>
                  <a:txBody>
                    <a:bodyPr/>
                    <a:lstStyle/>
                    <a:p>
                      <a:pPr algn="ctr" fontAlgn="base"/>
                      <a:r>
                        <a:rPr lang="en-IN" sz="1400" b="1" dirty="0">
                          <a:effectLst/>
                        </a:rPr>
                        <a:t>B </a:t>
                      </a:r>
                    </a:p>
                  </a:txBody>
                  <a:tcPr marL="63500" marR="63500" marT="63500" marB="63500" anchor="ctr"/>
                </a:tc>
                <a:tc>
                  <a:txBody>
                    <a:bodyPr/>
                    <a:lstStyle/>
                    <a:p>
                      <a:pPr algn="ctr" fontAlgn="base"/>
                      <a:r>
                        <a:rPr lang="en-IN" sz="1400" b="1" dirty="0">
                          <a:effectLst/>
                        </a:rPr>
                        <a:t>C  </a:t>
                      </a:r>
                    </a:p>
                  </a:txBody>
                  <a:tcPr marL="63500" marR="63500" marT="63500" marB="63500" anchor="ctr"/>
                </a:tc>
                <a:extLst>
                  <a:ext uri="{0D108BD9-81ED-4DB2-BD59-A6C34878D82A}">
                    <a16:rowId xmlns:a16="http://schemas.microsoft.com/office/drawing/2014/main" xmlns="" val="2064625806"/>
                  </a:ext>
                </a:extLst>
              </a:tr>
              <a:tr h="492516">
                <a:tc>
                  <a:txBody>
                    <a:bodyPr/>
                    <a:lstStyle/>
                    <a:p>
                      <a:pPr algn="ctr" fontAlgn="ctr"/>
                      <a:r>
                        <a:rPr lang="en-IN" sz="1250" b="0" dirty="0">
                          <a:effectLst/>
                        </a:rPr>
                        <a:t>1</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xmlns="" val="3115510705"/>
                  </a:ext>
                </a:extLst>
              </a:tr>
              <a:tr h="492516">
                <a:tc>
                  <a:txBody>
                    <a:bodyPr/>
                    <a:lstStyle/>
                    <a:p>
                      <a:pPr algn="ctr" fontAlgn="ctr"/>
                      <a:r>
                        <a:rPr lang="en-IN" sz="1250" b="0">
                          <a:effectLst/>
                        </a:rPr>
                        <a:t>4</a:t>
                      </a:r>
                    </a:p>
                  </a:txBody>
                  <a:tcPr marL="63500" marR="63500" marT="88900" marB="88900" anchor="ctr"/>
                </a:tc>
                <a:tc>
                  <a:txBody>
                    <a:bodyPr/>
                    <a:lstStyle/>
                    <a:p>
                      <a:pPr algn="ctr" fontAlgn="ctr"/>
                      <a:r>
                        <a:rPr lang="en-IN" sz="1250" b="0">
                          <a:effectLst/>
                        </a:rPr>
                        <a:t>3</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xmlns="" val="3052652098"/>
                  </a:ext>
                </a:extLst>
              </a:tr>
            </a:tbl>
          </a:graphicData>
        </a:graphic>
      </p:graphicFrame>
      <p:sp>
        <p:nvSpPr>
          <p:cNvPr id="13" name="Rectangle 2">
            <a:extLst>
              <a:ext uri="{FF2B5EF4-FFF2-40B4-BE49-F238E27FC236}">
                <a16:creationId xmlns:a16="http://schemas.microsoft.com/office/drawing/2014/main" xmlns="" id="{C781D465-8E17-197B-7342-A00353047140}"/>
              </a:ext>
            </a:extLst>
          </p:cNvPr>
          <p:cNvSpPr>
            <a:spLocks noChangeArrowheads="1"/>
          </p:cNvSpPr>
          <p:nvPr/>
        </p:nvSpPr>
        <p:spPr bwMode="auto">
          <a:xfrm>
            <a:off x="5514594" y="3304910"/>
            <a:ext cx="333874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0"/>
              </a:rPr>
              <a:t>For this relation, </a:t>
            </a:r>
            <a:r>
              <a:rPr kumimoji="0" lang="en-US" altLang="en-US" sz="1600" b="1" i="0" u="none" strike="noStrike" cap="none" normalizeH="0" baseline="0" dirty="0">
                <a:ln>
                  <a:noFill/>
                </a:ln>
                <a:solidFill>
                  <a:srgbClr val="273239"/>
                </a:solidFill>
                <a:effectLst/>
                <a:latin typeface="Nunito" pitchFamily="2" charset="0"/>
              </a:rPr>
              <a:t>σ(c&gt;3)R</a:t>
            </a:r>
            <a:r>
              <a:rPr kumimoji="0" lang="en-US" altLang="en-US" sz="1600" b="0" i="0" u="none" strike="noStrike" cap="none" normalizeH="0" baseline="0" dirty="0">
                <a:ln>
                  <a:noFill/>
                </a:ln>
                <a:solidFill>
                  <a:srgbClr val="273239"/>
                </a:solidFill>
                <a:effectLst/>
                <a:latin typeface="Nunito" pitchFamily="2" charset="0"/>
              </a:rPr>
              <a:t> will select the tuples which have c more than 3.</a:t>
            </a:r>
            <a:endParaRPr kumimoji="0" lang="en-US" altLang="en-US" sz="1000" b="0" i="0" u="none" strike="noStrike" cap="none" normalizeH="0" baseline="0" dirty="0">
              <a:ln>
                <a:noFill/>
              </a:ln>
              <a:solidFill>
                <a:schemeClr val="tx1"/>
              </a:solidFill>
              <a:effectLst/>
            </a:endParaRPr>
          </a:p>
        </p:txBody>
      </p:sp>
      <p:sp>
        <p:nvSpPr>
          <p:cNvPr id="15" name="TextBox 14">
            <a:extLst>
              <a:ext uri="{FF2B5EF4-FFF2-40B4-BE49-F238E27FC236}">
                <a16:creationId xmlns:a16="http://schemas.microsoft.com/office/drawing/2014/main" xmlns="" id="{742220D5-A090-4CC0-895F-C5FE1C3E2BEE}"/>
              </a:ext>
            </a:extLst>
          </p:cNvPr>
          <p:cNvSpPr txBox="1"/>
          <p:nvPr/>
        </p:nvSpPr>
        <p:spPr>
          <a:xfrm>
            <a:off x="1568904" y="5143179"/>
            <a:ext cx="9054192"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Nunito" pitchFamily="2" charset="0"/>
              </a:rPr>
              <a:t>Note:</a:t>
            </a:r>
            <a:r>
              <a:rPr kumimoji="0" lang="en-US" altLang="en-US" sz="1800" b="0" i="0" u="none" strike="noStrike" cap="none" normalizeH="0" baseline="0" dirty="0">
                <a:ln>
                  <a:noFill/>
                </a:ln>
                <a:solidFill>
                  <a:srgbClr val="273239"/>
                </a:solidFill>
                <a:effectLst/>
                <a:latin typeface="Nunito" pitchFamily="2" charset="0"/>
              </a:rPr>
              <a:t> The selection operator only selects the required tuples but does not display them. For display, the data projection operator is used.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8409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3791AA-D9A0-F0B6-C5DA-40A16BD22E98}"/>
              </a:ext>
            </a:extLst>
          </p:cNvPr>
          <p:cNvSpPr>
            <a:spLocks noGrp="1"/>
          </p:cNvSpPr>
          <p:nvPr>
            <p:ph type="title"/>
          </p:nvPr>
        </p:nvSpPr>
        <p:spPr/>
        <p:txBody>
          <a:bodyPr/>
          <a:lstStyle/>
          <a:p>
            <a:r>
              <a:rPr lang="en-IN" dirty="0"/>
              <a:t>2. Projection(</a:t>
            </a:r>
            <a:r>
              <a:rPr lang="el-GR" dirty="0"/>
              <a:t>π): </a:t>
            </a:r>
            <a:endParaRPr lang="en-IN" dirty="0"/>
          </a:p>
        </p:txBody>
      </p:sp>
      <p:sp>
        <p:nvSpPr>
          <p:cNvPr id="13" name="TextBox 12">
            <a:extLst>
              <a:ext uri="{FF2B5EF4-FFF2-40B4-BE49-F238E27FC236}">
                <a16:creationId xmlns:a16="http://schemas.microsoft.com/office/drawing/2014/main" xmlns="" id="{A4D1F5F9-2315-0264-51DD-89DCCF88FC4A}"/>
              </a:ext>
            </a:extLst>
          </p:cNvPr>
          <p:cNvSpPr txBox="1"/>
          <p:nvPr/>
        </p:nvSpPr>
        <p:spPr>
          <a:xfrm>
            <a:off x="1451579" y="2011821"/>
            <a:ext cx="6101442" cy="369332"/>
          </a:xfrm>
          <a:prstGeom prst="rect">
            <a:avLst/>
          </a:prstGeom>
          <a:noFill/>
        </p:spPr>
        <p:txBody>
          <a:bodyPr wrap="square">
            <a:spAutoFit/>
          </a:bodyPr>
          <a:lstStyle/>
          <a:p>
            <a:r>
              <a:rPr lang="en-US" dirty="0"/>
              <a:t>It is used to project required column data from a relation. </a:t>
            </a:r>
            <a:endParaRPr lang="en-IN" dirty="0"/>
          </a:p>
        </p:txBody>
      </p:sp>
      <p:graphicFrame>
        <p:nvGraphicFramePr>
          <p:cNvPr id="14" name="Table 13">
            <a:extLst>
              <a:ext uri="{FF2B5EF4-FFF2-40B4-BE49-F238E27FC236}">
                <a16:creationId xmlns:a16="http://schemas.microsoft.com/office/drawing/2014/main" xmlns="" id="{27CE723E-C5CE-3A84-8E5F-3D40202C7006}"/>
              </a:ext>
            </a:extLst>
          </p:cNvPr>
          <p:cNvGraphicFramePr>
            <a:graphicFrameLocks noGrp="1"/>
          </p:cNvGraphicFramePr>
          <p:nvPr>
            <p:extLst>
              <p:ext uri="{D42A27DB-BD31-4B8C-83A1-F6EECF244321}">
                <p14:modId xmlns:p14="http://schemas.microsoft.com/office/powerpoint/2010/main" val="3432714462"/>
              </p:ext>
            </p:extLst>
          </p:nvPr>
        </p:nvGraphicFramePr>
        <p:xfrm>
          <a:off x="4906282" y="3429000"/>
          <a:ext cx="2379436" cy="1422400"/>
        </p:xfrm>
        <a:graphic>
          <a:graphicData uri="http://schemas.openxmlformats.org/drawingml/2006/table">
            <a:tbl>
              <a:tblPr>
                <a:tableStyleId>{69C7853C-536D-4A76-A0AE-DD22124D55A5}</a:tableStyleId>
              </a:tblPr>
              <a:tblGrid>
                <a:gridCol w="1189718">
                  <a:extLst>
                    <a:ext uri="{9D8B030D-6E8A-4147-A177-3AD203B41FA5}">
                      <a16:colId xmlns:a16="http://schemas.microsoft.com/office/drawing/2014/main" xmlns="" val="3666699463"/>
                    </a:ext>
                  </a:extLst>
                </a:gridCol>
                <a:gridCol w="1189718">
                  <a:extLst>
                    <a:ext uri="{9D8B030D-6E8A-4147-A177-3AD203B41FA5}">
                      <a16:colId xmlns:a16="http://schemas.microsoft.com/office/drawing/2014/main" xmlns="" val="3111089181"/>
                    </a:ext>
                  </a:extLst>
                </a:gridCol>
              </a:tblGrid>
              <a:tr h="251067">
                <a:tc>
                  <a:txBody>
                    <a:bodyPr/>
                    <a:lstStyle/>
                    <a:p>
                      <a:pPr algn="ctr" fontAlgn="base"/>
                      <a:r>
                        <a:rPr lang="en-IN" sz="1400" b="1" dirty="0">
                          <a:effectLst/>
                        </a:rPr>
                        <a:t>     B       </a:t>
                      </a:r>
                    </a:p>
                  </a:txBody>
                  <a:tcPr marL="38100" marR="38100" marT="63500" marB="63500" anchor="ctr"/>
                </a:tc>
                <a:tc>
                  <a:txBody>
                    <a:bodyPr/>
                    <a:lstStyle/>
                    <a:p>
                      <a:pPr algn="ctr" fontAlgn="base"/>
                      <a:r>
                        <a:rPr lang="en-IN" sz="1400" b="1" dirty="0">
                          <a:effectLst/>
                        </a:rPr>
                        <a:t>     C       </a:t>
                      </a:r>
                    </a:p>
                  </a:txBody>
                  <a:tcPr marL="63500" marR="63500" marT="63500" marB="63500" anchor="ctr"/>
                </a:tc>
                <a:extLst>
                  <a:ext uri="{0D108BD9-81ED-4DB2-BD59-A6C34878D82A}">
                    <a16:rowId xmlns:a16="http://schemas.microsoft.com/office/drawing/2014/main" xmlns="" val="1917955721"/>
                  </a:ext>
                </a:extLst>
              </a:tr>
              <a:tr h="266056">
                <a:tc>
                  <a:txBody>
                    <a:bodyPr/>
                    <a:lstStyle/>
                    <a:p>
                      <a:pPr algn="ctr" fontAlgn="ctr"/>
                      <a:r>
                        <a:rPr lang="en-IN" sz="1200" b="0">
                          <a:effectLst/>
                        </a:rPr>
                        <a:t>2</a:t>
                      </a:r>
                    </a:p>
                  </a:txBody>
                  <a:tcPr marL="63500" marR="63500" marT="88900" marB="88900" anchor="ctr"/>
                </a:tc>
                <a:tc>
                  <a:txBody>
                    <a:bodyPr/>
                    <a:lstStyle/>
                    <a:p>
                      <a:pPr algn="ctr" fontAlgn="ctr"/>
                      <a:r>
                        <a:rPr lang="en-IN" sz="1200" b="0">
                          <a:effectLst/>
                        </a:rPr>
                        <a:t>4</a:t>
                      </a:r>
                    </a:p>
                  </a:txBody>
                  <a:tcPr marL="63500" marR="63500" marT="88900" marB="88900" anchor="ctr"/>
                </a:tc>
                <a:extLst>
                  <a:ext uri="{0D108BD9-81ED-4DB2-BD59-A6C34878D82A}">
                    <a16:rowId xmlns:a16="http://schemas.microsoft.com/office/drawing/2014/main" xmlns="" val="293831011"/>
                  </a:ext>
                </a:extLst>
              </a:tr>
              <a:tr h="266056">
                <a:tc>
                  <a:txBody>
                    <a:bodyPr/>
                    <a:lstStyle/>
                    <a:p>
                      <a:pPr algn="ctr" fontAlgn="ctr"/>
                      <a:r>
                        <a:rPr lang="en-IN" sz="1200" b="0">
                          <a:effectLst/>
                        </a:rPr>
                        <a:t>2</a:t>
                      </a:r>
                    </a:p>
                  </a:txBody>
                  <a:tcPr marL="63500" marR="63500" marT="88900" marB="88900" anchor="ctr"/>
                </a:tc>
                <a:tc>
                  <a:txBody>
                    <a:bodyPr/>
                    <a:lstStyle/>
                    <a:p>
                      <a:pPr algn="ctr" fontAlgn="ctr"/>
                      <a:r>
                        <a:rPr lang="en-IN" sz="1200" b="0" dirty="0">
                          <a:effectLst/>
                        </a:rPr>
                        <a:t>3</a:t>
                      </a:r>
                    </a:p>
                  </a:txBody>
                  <a:tcPr marL="63500" marR="63500" marT="88900" marB="88900" anchor="ctr"/>
                </a:tc>
                <a:extLst>
                  <a:ext uri="{0D108BD9-81ED-4DB2-BD59-A6C34878D82A}">
                    <a16:rowId xmlns:a16="http://schemas.microsoft.com/office/drawing/2014/main" xmlns="" val="3067210465"/>
                  </a:ext>
                </a:extLst>
              </a:tr>
              <a:tr h="266056">
                <a:tc>
                  <a:txBody>
                    <a:bodyPr/>
                    <a:lstStyle/>
                    <a:p>
                      <a:pPr algn="ctr" fontAlgn="ctr"/>
                      <a:r>
                        <a:rPr lang="en-IN" sz="1200" b="0">
                          <a:effectLst/>
                        </a:rPr>
                        <a:t>3</a:t>
                      </a:r>
                    </a:p>
                  </a:txBody>
                  <a:tcPr marL="63500" marR="63500" marT="88900" marB="88900" anchor="ctr"/>
                </a:tc>
                <a:tc>
                  <a:txBody>
                    <a:bodyPr/>
                    <a:lstStyle/>
                    <a:p>
                      <a:pPr algn="ctr" fontAlgn="ctr"/>
                      <a:r>
                        <a:rPr lang="en-IN" sz="1200" b="0" dirty="0">
                          <a:effectLst/>
                        </a:rPr>
                        <a:t>4</a:t>
                      </a:r>
                    </a:p>
                  </a:txBody>
                  <a:tcPr marL="63500" marR="63500" marT="88900" marB="88900" anchor="ctr"/>
                </a:tc>
                <a:extLst>
                  <a:ext uri="{0D108BD9-81ED-4DB2-BD59-A6C34878D82A}">
                    <a16:rowId xmlns:a16="http://schemas.microsoft.com/office/drawing/2014/main" xmlns="" val="1015817522"/>
                  </a:ext>
                </a:extLst>
              </a:tr>
            </a:tbl>
          </a:graphicData>
        </a:graphic>
      </p:graphicFrame>
      <p:sp>
        <p:nvSpPr>
          <p:cNvPr id="15" name="Rectangle 4">
            <a:extLst>
              <a:ext uri="{FF2B5EF4-FFF2-40B4-BE49-F238E27FC236}">
                <a16:creationId xmlns:a16="http://schemas.microsoft.com/office/drawing/2014/main" xmlns="" id="{70ABF84E-7D58-1C16-86C1-340697A1B751}"/>
              </a:ext>
            </a:extLst>
          </p:cNvPr>
          <p:cNvSpPr>
            <a:spLocks noChangeArrowheads="1"/>
          </p:cNvSpPr>
          <p:nvPr/>
        </p:nvSpPr>
        <p:spPr bwMode="auto">
          <a:xfrm>
            <a:off x="1451579" y="2539220"/>
            <a:ext cx="8095796"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0"/>
              </a:rPr>
              <a:t>Consider Table 1. Suppose we want columns B and C from Relation R.</a:t>
            </a:r>
            <a:endParaRPr kumimoji="0" lang="en-US" altLang="en-US" sz="2000" b="0" i="0" u="none" strike="noStrike" cap="none" normalizeH="0" baseline="0" dirty="0">
              <a:ln>
                <a:noFill/>
              </a:ln>
              <a:solidFill>
                <a:srgbClr val="273239"/>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π(B,C)R will show following columns.</a:t>
            </a:r>
            <a:endParaRPr kumimoji="0" lang="en-US" altLang="en-US" sz="1100" b="0" i="0" u="none" strike="noStrike" cap="none" normalizeH="0" baseline="0" dirty="0">
              <a:ln>
                <a:noFill/>
              </a:ln>
              <a:solidFill>
                <a:schemeClr val="tx1"/>
              </a:solidFill>
              <a:effectLst/>
            </a:endParaRPr>
          </a:p>
        </p:txBody>
      </p:sp>
      <p:sp>
        <p:nvSpPr>
          <p:cNvPr id="17" name="TextBox 16">
            <a:extLst>
              <a:ext uri="{FF2B5EF4-FFF2-40B4-BE49-F238E27FC236}">
                <a16:creationId xmlns:a16="http://schemas.microsoft.com/office/drawing/2014/main" xmlns="" id="{616C9904-25E8-9839-D0D3-D3971B4A2F3E}"/>
              </a:ext>
            </a:extLst>
          </p:cNvPr>
          <p:cNvSpPr txBox="1"/>
          <p:nvPr/>
        </p:nvSpPr>
        <p:spPr>
          <a:xfrm>
            <a:off x="3045279" y="5252748"/>
            <a:ext cx="6101442"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Nunito" pitchFamily="2" charset="0"/>
              </a:rPr>
              <a:t>Note: </a:t>
            </a:r>
            <a:r>
              <a:rPr kumimoji="0" lang="en-US" altLang="en-US" sz="1800" b="0" i="0" u="none" strike="noStrike" cap="none" normalizeH="0" baseline="0" dirty="0">
                <a:ln>
                  <a:noFill/>
                </a:ln>
                <a:solidFill>
                  <a:srgbClr val="273239"/>
                </a:solidFill>
                <a:effectLst/>
                <a:latin typeface="Nunito" pitchFamily="2" charset="0"/>
              </a:rPr>
              <a:t>By Default, projection removes duplicate data.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176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1A52D-0EAF-E126-97D9-36C680E748DE}"/>
              </a:ext>
            </a:extLst>
          </p:cNvPr>
          <p:cNvSpPr>
            <a:spLocks noGrp="1"/>
          </p:cNvSpPr>
          <p:nvPr>
            <p:ph type="title"/>
          </p:nvPr>
        </p:nvSpPr>
        <p:spPr/>
        <p:txBody>
          <a:bodyPr/>
          <a:lstStyle/>
          <a:p>
            <a:r>
              <a:rPr lang="en-US" sz="3200" b="0" i="0" u="none" strike="noStrike" baseline="0" dirty="0">
                <a:latin typeface="Arial Narrow" panose="020B0606020202030204" pitchFamily="34" charset="0"/>
              </a:rPr>
              <a:t>3. Union(U):</a:t>
            </a:r>
            <a:endParaRPr lang="en-IN" dirty="0"/>
          </a:p>
        </p:txBody>
      </p:sp>
      <p:sp>
        <p:nvSpPr>
          <p:cNvPr id="3" name="Content Placeholder 2">
            <a:extLst>
              <a:ext uri="{FF2B5EF4-FFF2-40B4-BE49-F238E27FC236}">
                <a16:creationId xmlns:a16="http://schemas.microsoft.com/office/drawing/2014/main" xmlns="" id="{9CD2E624-ED15-1D31-0F7B-2F001854F7B9}"/>
              </a:ext>
            </a:extLst>
          </p:cNvPr>
          <p:cNvSpPr>
            <a:spLocks noGrp="1"/>
          </p:cNvSpPr>
          <p:nvPr>
            <p:ph idx="1"/>
          </p:nvPr>
        </p:nvSpPr>
        <p:spPr>
          <a:xfrm>
            <a:off x="1451579" y="1858276"/>
            <a:ext cx="10347283" cy="3528688"/>
          </a:xfrm>
        </p:spPr>
        <p:txBody>
          <a:bodyPr>
            <a:normAutofit/>
          </a:bodyPr>
          <a:lstStyle/>
          <a:p>
            <a:pPr marL="0" indent="0">
              <a:buNone/>
            </a:pPr>
            <a:r>
              <a:rPr lang="en-US" sz="1800" b="0" i="0" u="none" strike="noStrike" baseline="0" dirty="0">
                <a:latin typeface="Arial Narrow" panose="020B0606020202030204" pitchFamily="34" charset="0"/>
              </a:rPr>
              <a:t>Union operation in relational algebra is the same as union operation in set theory.</a:t>
            </a:r>
            <a:endParaRPr lang="en-IN" dirty="0"/>
          </a:p>
        </p:txBody>
      </p:sp>
      <p:graphicFrame>
        <p:nvGraphicFramePr>
          <p:cNvPr id="4" name="Table 3">
            <a:extLst>
              <a:ext uri="{FF2B5EF4-FFF2-40B4-BE49-F238E27FC236}">
                <a16:creationId xmlns:a16="http://schemas.microsoft.com/office/drawing/2014/main" xmlns="" id="{D098C451-0BCC-3717-A16A-D1812F17A207}"/>
              </a:ext>
            </a:extLst>
          </p:cNvPr>
          <p:cNvGraphicFramePr>
            <a:graphicFrameLocks noGrp="1"/>
          </p:cNvGraphicFramePr>
          <p:nvPr>
            <p:extLst>
              <p:ext uri="{D42A27DB-BD31-4B8C-83A1-F6EECF244321}">
                <p14:modId xmlns:p14="http://schemas.microsoft.com/office/powerpoint/2010/main" val="3208082525"/>
              </p:ext>
            </p:extLst>
          </p:nvPr>
        </p:nvGraphicFramePr>
        <p:xfrm>
          <a:off x="1701346" y="2875189"/>
          <a:ext cx="3178630" cy="1813560"/>
        </p:xfrm>
        <a:graphic>
          <a:graphicData uri="http://schemas.openxmlformats.org/drawingml/2006/table">
            <a:tbl>
              <a:tblPr>
                <a:tableStyleId>{35758FB7-9AC5-4552-8A53-C91805E547FA}</a:tableStyleId>
              </a:tblPr>
              <a:tblGrid>
                <a:gridCol w="1589315">
                  <a:extLst>
                    <a:ext uri="{9D8B030D-6E8A-4147-A177-3AD203B41FA5}">
                      <a16:colId xmlns:a16="http://schemas.microsoft.com/office/drawing/2014/main" xmlns="" val="2395291608"/>
                    </a:ext>
                  </a:extLst>
                </a:gridCol>
                <a:gridCol w="1589315">
                  <a:extLst>
                    <a:ext uri="{9D8B030D-6E8A-4147-A177-3AD203B41FA5}">
                      <a16:colId xmlns:a16="http://schemas.microsoft.com/office/drawing/2014/main" xmlns="" val="3144496458"/>
                    </a:ext>
                  </a:extLst>
                </a:gridCol>
              </a:tblGrid>
              <a:tr h="340360">
                <a:tc>
                  <a:txBody>
                    <a:bodyPr/>
                    <a:lstStyle/>
                    <a:p>
                      <a:pPr algn="ctr" fontAlgn="base"/>
                      <a:r>
                        <a:rPr lang="en-IN" sz="1400" b="1" dirty="0" err="1">
                          <a:effectLst/>
                        </a:rPr>
                        <a:t>Student_Name</a:t>
                      </a:r>
                      <a:r>
                        <a:rPr lang="en-IN" sz="1400" b="1" dirty="0">
                          <a:effectLst/>
                        </a:rPr>
                        <a:t>    </a:t>
                      </a:r>
                    </a:p>
                  </a:txBody>
                  <a:tcPr marL="38100" marR="38100" marT="63500" marB="63500" anchor="ctr"/>
                </a:tc>
                <a:tc>
                  <a:txBody>
                    <a:bodyPr/>
                    <a:lstStyle/>
                    <a:p>
                      <a:pPr algn="ctr" fontAlgn="base"/>
                      <a:r>
                        <a:rPr lang="en-IN" sz="1400" b="1">
                          <a:effectLst/>
                        </a:rPr>
                        <a:t>Roll_Number    </a:t>
                      </a:r>
                    </a:p>
                  </a:txBody>
                  <a:tcPr marL="63500" marR="63500" marT="63500" marB="63500" anchor="ctr"/>
                </a:tc>
                <a:extLst>
                  <a:ext uri="{0D108BD9-81ED-4DB2-BD59-A6C34878D82A}">
                    <a16:rowId xmlns:a16="http://schemas.microsoft.com/office/drawing/2014/main" xmlns="" val="4159678624"/>
                  </a:ext>
                </a:extLst>
              </a:tr>
              <a:tr h="368300">
                <a:tc>
                  <a:txBody>
                    <a:bodyPr/>
                    <a:lstStyle/>
                    <a:p>
                      <a:pPr algn="ctr" fontAlgn="ctr"/>
                      <a:r>
                        <a:rPr lang="en-IN" sz="1200" b="0" dirty="0">
                          <a:effectLst/>
                        </a:rPr>
                        <a:t>Ram</a:t>
                      </a:r>
                    </a:p>
                  </a:txBody>
                  <a:tcPr marL="63500" marR="63500" marT="88900" marB="88900" anchor="ctr"/>
                </a:tc>
                <a:tc>
                  <a:txBody>
                    <a:bodyPr/>
                    <a:lstStyle/>
                    <a:p>
                      <a:pPr algn="ctr" fontAlgn="ctr"/>
                      <a:r>
                        <a:rPr lang="en-IN" sz="1200" b="0">
                          <a:effectLst/>
                        </a:rPr>
                        <a:t>01</a:t>
                      </a:r>
                    </a:p>
                  </a:txBody>
                  <a:tcPr marL="63500" marR="63500" marT="88900" marB="88900" anchor="ctr"/>
                </a:tc>
                <a:extLst>
                  <a:ext uri="{0D108BD9-81ED-4DB2-BD59-A6C34878D82A}">
                    <a16:rowId xmlns:a16="http://schemas.microsoft.com/office/drawing/2014/main" xmlns="" val="970516148"/>
                  </a:ext>
                </a:extLst>
              </a:tr>
              <a:tr h="368300">
                <a:tc>
                  <a:txBody>
                    <a:bodyPr/>
                    <a:lstStyle/>
                    <a:p>
                      <a:pPr algn="ctr" fontAlgn="ctr"/>
                      <a:r>
                        <a:rPr lang="en-IN" sz="1200" b="0">
                          <a:effectLst/>
                        </a:rPr>
                        <a:t>Mohan</a:t>
                      </a:r>
                    </a:p>
                  </a:txBody>
                  <a:tcPr marL="63500" marR="63500" marT="88900" marB="88900" anchor="ctr"/>
                </a:tc>
                <a:tc>
                  <a:txBody>
                    <a:bodyPr/>
                    <a:lstStyle/>
                    <a:p>
                      <a:pPr algn="ctr" fontAlgn="ctr"/>
                      <a:r>
                        <a:rPr lang="en-IN" sz="1200" b="0">
                          <a:effectLst/>
                        </a:rPr>
                        <a:t>02</a:t>
                      </a:r>
                    </a:p>
                  </a:txBody>
                  <a:tcPr marL="63500" marR="63500" marT="88900" marB="88900" anchor="ctr"/>
                </a:tc>
                <a:extLst>
                  <a:ext uri="{0D108BD9-81ED-4DB2-BD59-A6C34878D82A}">
                    <a16:rowId xmlns:a16="http://schemas.microsoft.com/office/drawing/2014/main" xmlns="" val="362405879"/>
                  </a:ext>
                </a:extLst>
              </a:tr>
              <a:tr h="368300">
                <a:tc>
                  <a:txBody>
                    <a:bodyPr/>
                    <a:lstStyle/>
                    <a:p>
                      <a:pPr algn="ctr" fontAlgn="ctr"/>
                      <a:r>
                        <a:rPr lang="en-IN" sz="1200" b="0">
                          <a:effectLst/>
                        </a:rPr>
                        <a:t>Vivek</a:t>
                      </a:r>
                    </a:p>
                  </a:txBody>
                  <a:tcPr marL="63500" marR="63500" marT="88900" marB="88900" anchor="ctr"/>
                </a:tc>
                <a:tc>
                  <a:txBody>
                    <a:bodyPr/>
                    <a:lstStyle/>
                    <a:p>
                      <a:pPr algn="ctr" fontAlgn="ctr"/>
                      <a:r>
                        <a:rPr lang="en-IN" sz="1200" b="0">
                          <a:effectLst/>
                        </a:rPr>
                        <a:t>13</a:t>
                      </a:r>
                    </a:p>
                  </a:txBody>
                  <a:tcPr marL="63500" marR="63500" marT="88900" marB="88900" anchor="ctr"/>
                </a:tc>
                <a:extLst>
                  <a:ext uri="{0D108BD9-81ED-4DB2-BD59-A6C34878D82A}">
                    <a16:rowId xmlns:a16="http://schemas.microsoft.com/office/drawing/2014/main" xmlns="" val="3024319013"/>
                  </a:ext>
                </a:extLst>
              </a:tr>
              <a:tr h="368300">
                <a:tc>
                  <a:txBody>
                    <a:bodyPr/>
                    <a:lstStyle/>
                    <a:p>
                      <a:pPr algn="ctr" fontAlgn="ctr"/>
                      <a:r>
                        <a:rPr lang="en-IN" sz="1200" b="0">
                          <a:effectLst/>
                        </a:rPr>
                        <a:t>Geeta</a:t>
                      </a:r>
                    </a:p>
                  </a:txBody>
                  <a:tcPr marL="63500" marR="63500" marT="88900" marB="88900" anchor="ctr"/>
                </a:tc>
                <a:tc>
                  <a:txBody>
                    <a:bodyPr/>
                    <a:lstStyle/>
                    <a:p>
                      <a:pPr algn="ctr" fontAlgn="ctr"/>
                      <a:r>
                        <a:rPr lang="en-IN" sz="1200" b="0" dirty="0">
                          <a:effectLst/>
                        </a:rPr>
                        <a:t>17</a:t>
                      </a:r>
                    </a:p>
                  </a:txBody>
                  <a:tcPr marL="63500" marR="63500" marT="88900" marB="88900" anchor="ctr"/>
                </a:tc>
                <a:extLst>
                  <a:ext uri="{0D108BD9-81ED-4DB2-BD59-A6C34878D82A}">
                    <a16:rowId xmlns:a16="http://schemas.microsoft.com/office/drawing/2014/main" xmlns="" val="3185185299"/>
                  </a:ext>
                </a:extLst>
              </a:tr>
            </a:tbl>
          </a:graphicData>
        </a:graphic>
      </p:graphicFrame>
      <p:graphicFrame>
        <p:nvGraphicFramePr>
          <p:cNvPr id="5" name="Table 4">
            <a:extLst>
              <a:ext uri="{FF2B5EF4-FFF2-40B4-BE49-F238E27FC236}">
                <a16:creationId xmlns:a16="http://schemas.microsoft.com/office/drawing/2014/main" xmlns="" id="{8D108BCF-9E8D-CB07-E9A7-5A67175F8B34}"/>
              </a:ext>
            </a:extLst>
          </p:cNvPr>
          <p:cNvGraphicFramePr>
            <a:graphicFrameLocks noGrp="1"/>
          </p:cNvGraphicFramePr>
          <p:nvPr>
            <p:extLst>
              <p:ext uri="{D42A27DB-BD31-4B8C-83A1-F6EECF244321}">
                <p14:modId xmlns:p14="http://schemas.microsoft.com/office/powerpoint/2010/main" val="890045664"/>
              </p:ext>
            </p:extLst>
          </p:nvPr>
        </p:nvGraphicFramePr>
        <p:xfrm>
          <a:off x="6378535" y="2867316"/>
          <a:ext cx="3435348" cy="1813560"/>
        </p:xfrm>
        <a:graphic>
          <a:graphicData uri="http://schemas.openxmlformats.org/drawingml/2006/table">
            <a:tbl>
              <a:tblPr>
                <a:tableStyleId>{35758FB7-9AC5-4552-8A53-C91805E547FA}</a:tableStyleId>
              </a:tblPr>
              <a:tblGrid>
                <a:gridCol w="1717674">
                  <a:extLst>
                    <a:ext uri="{9D8B030D-6E8A-4147-A177-3AD203B41FA5}">
                      <a16:colId xmlns:a16="http://schemas.microsoft.com/office/drawing/2014/main" xmlns="" val="2158990675"/>
                    </a:ext>
                  </a:extLst>
                </a:gridCol>
                <a:gridCol w="1717674">
                  <a:extLst>
                    <a:ext uri="{9D8B030D-6E8A-4147-A177-3AD203B41FA5}">
                      <a16:colId xmlns:a16="http://schemas.microsoft.com/office/drawing/2014/main" xmlns="" val="2794436986"/>
                    </a:ext>
                  </a:extLst>
                </a:gridCol>
              </a:tblGrid>
              <a:tr h="340360">
                <a:tc>
                  <a:txBody>
                    <a:bodyPr/>
                    <a:lstStyle/>
                    <a:p>
                      <a:pPr algn="ctr" fontAlgn="base"/>
                      <a:r>
                        <a:rPr lang="en-IN" sz="1400" b="1">
                          <a:effectLst/>
                        </a:rPr>
                        <a:t>Student_Name    </a:t>
                      </a:r>
                    </a:p>
                  </a:txBody>
                  <a:tcPr marL="38100" marR="38100" marT="63500" marB="63500" anchor="ctr"/>
                </a:tc>
                <a:tc>
                  <a:txBody>
                    <a:bodyPr/>
                    <a:lstStyle/>
                    <a:p>
                      <a:pPr algn="ctr" fontAlgn="base"/>
                      <a:r>
                        <a:rPr lang="en-IN" sz="1400" b="1">
                          <a:effectLst/>
                        </a:rPr>
                        <a:t>Roll_Number    </a:t>
                      </a:r>
                    </a:p>
                  </a:txBody>
                  <a:tcPr marL="63500" marR="63500" marT="63500" marB="63500" anchor="ctr"/>
                </a:tc>
                <a:extLst>
                  <a:ext uri="{0D108BD9-81ED-4DB2-BD59-A6C34878D82A}">
                    <a16:rowId xmlns:a16="http://schemas.microsoft.com/office/drawing/2014/main" xmlns="" val="1695380879"/>
                  </a:ext>
                </a:extLst>
              </a:tr>
              <a:tr h="368300">
                <a:tc>
                  <a:txBody>
                    <a:bodyPr/>
                    <a:lstStyle/>
                    <a:p>
                      <a:pPr algn="ctr" fontAlgn="ctr"/>
                      <a:r>
                        <a:rPr lang="en-IN" sz="1200" b="0" dirty="0">
                          <a:effectLst/>
                        </a:rPr>
                        <a:t>Vivek</a:t>
                      </a:r>
                    </a:p>
                  </a:txBody>
                  <a:tcPr marL="63500" marR="63500" marT="88900" marB="88900" anchor="ctr"/>
                </a:tc>
                <a:tc>
                  <a:txBody>
                    <a:bodyPr/>
                    <a:lstStyle/>
                    <a:p>
                      <a:pPr algn="ctr" fontAlgn="ctr"/>
                      <a:r>
                        <a:rPr lang="en-IN" sz="1200" b="0">
                          <a:effectLst/>
                        </a:rPr>
                        <a:t>13</a:t>
                      </a:r>
                    </a:p>
                  </a:txBody>
                  <a:tcPr marL="63500" marR="63500" marT="88900" marB="88900" anchor="ctr"/>
                </a:tc>
                <a:extLst>
                  <a:ext uri="{0D108BD9-81ED-4DB2-BD59-A6C34878D82A}">
                    <a16:rowId xmlns:a16="http://schemas.microsoft.com/office/drawing/2014/main" xmlns="" val="3786979464"/>
                  </a:ext>
                </a:extLst>
              </a:tr>
              <a:tr h="368300">
                <a:tc>
                  <a:txBody>
                    <a:bodyPr/>
                    <a:lstStyle/>
                    <a:p>
                      <a:pPr algn="ctr" fontAlgn="ctr"/>
                      <a:r>
                        <a:rPr lang="en-IN" sz="1200" b="0">
                          <a:effectLst/>
                        </a:rPr>
                        <a:t>Geeta</a:t>
                      </a:r>
                    </a:p>
                  </a:txBody>
                  <a:tcPr marL="63500" marR="63500" marT="88900" marB="88900" anchor="ctr"/>
                </a:tc>
                <a:tc>
                  <a:txBody>
                    <a:bodyPr/>
                    <a:lstStyle/>
                    <a:p>
                      <a:pPr algn="ctr" fontAlgn="ctr"/>
                      <a:r>
                        <a:rPr lang="en-IN" sz="1200" b="0" dirty="0">
                          <a:effectLst/>
                        </a:rPr>
                        <a:t>17</a:t>
                      </a:r>
                    </a:p>
                  </a:txBody>
                  <a:tcPr marL="63500" marR="63500" marT="88900" marB="88900" anchor="ctr"/>
                </a:tc>
                <a:extLst>
                  <a:ext uri="{0D108BD9-81ED-4DB2-BD59-A6C34878D82A}">
                    <a16:rowId xmlns:a16="http://schemas.microsoft.com/office/drawing/2014/main" xmlns="" val="2709693985"/>
                  </a:ext>
                </a:extLst>
              </a:tr>
              <a:tr h="368300">
                <a:tc>
                  <a:txBody>
                    <a:bodyPr/>
                    <a:lstStyle/>
                    <a:p>
                      <a:pPr algn="ctr" fontAlgn="ctr"/>
                      <a:r>
                        <a:rPr lang="en-IN" sz="1200" b="0">
                          <a:effectLst/>
                        </a:rPr>
                        <a:t>Shyam</a:t>
                      </a:r>
                    </a:p>
                  </a:txBody>
                  <a:tcPr marL="63500" marR="63500" marT="88900" marB="88900" anchor="ctr"/>
                </a:tc>
                <a:tc>
                  <a:txBody>
                    <a:bodyPr/>
                    <a:lstStyle/>
                    <a:p>
                      <a:pPr algn="ctr" fontAlgn="ctr"/>
                      <a:r>
                        <a:rPr lang="en-IN" sz="1200" b="0">
                          <a:effectLst/>
                        </a:rPr>
                        <a:t>21</a:t>
                      </a:r>
                    </a:p>
                  </a:txBody>
                  <a:tcPr marL="63500" marR="63500" marT="88900" marB="88900" anchor="ctr"/>
                </a:tc>
                <a:extLst>
                  <a:ext uri="{0D108BD9-81ED-4DB2-BD59-A6C34878D82A}">
                    <a16:rowId xmlns:a16="http://schemas.microsoft.com/office/drawing/2014/main" xmlns="" val="1665255250"/>
                  </a:ext>
                </a:extLst>
              </a:tr>
              <a:tr h="368300">
                <a:tc>
                  <a:txBody>
                    <a:bodyPr/>
                    <a:lstStyle/>
                    <a:p>
                      <a:pPr algn="ctr" fontAlgn="ctr"/>
                      <a:r>
                        <a:rPr lang="en-IN" sz="1200" b="0">
                          <a:effectLst/>
                        </a:rPr>
                        <a:t>Rohan</a:t>
                      </a:r>
                    </a:p>
                  </a:txBody>
                  <a:tcPr marL="63500" marR="63500" marT="88900" marB="88900" anchor="ctr"/>
                </a:tc>
                <a:tc>
                  <a:txBody>
                    <a:bodyPr/>
                    <a:lstStyle/>
                    <a:p>
                      <a:pPr algn="ctr" fontAlgn="ctr"/>
                      <a:r>
                        <a:rPr lang="en-IN" sz="1200" b="0" dirty="0">
                          <a:effectLst/>
                        </a:rPr>
                        <a:t>25</a:t>
                      </a:r>
                    </a:p>
                  </a:txBody>
                  <a:tcPr marL="63500" marR="63500" marT="88900" marB="88900" anchor="ctr"/>
                </a:tc>
                <a:extLst>
                  <a:ext uri="{0D108BD9-81ED-4DB2-BD59-A6C34878D82A}">
                    <a16:rowId xmlns:a16="http://schemas.microsoft.com/office/drawing/2014/main" xmlns="" val="378242568"/>
                  </a:ext>
                </a:extLst>
              </a:tr>
            </a:tbl>
          </a:graphicData>
        </a:graphic>
      </p:graphicFrame>
      <p:sp>
        <p:nvSpPr>
          <p:cNvPr id="6" name="Rectangle 1">
            <a:extLst>
              <a:ext uri="{FF2B5EF4-FFF2-40B4-BE49-F238E27FC236}">
                <a16:creationId xmlns:a16="http://schemas.microsoft.com/office/drawing/2014/main" xmlns="" id="{AD5DB417-C217-E47A-D318-6DD1C06909D0}"/>
              </a:ext>
            </a:extLst>
          </p:cNvPr>
          <p:cNvSpPr>
            <a:spLocks noChangeArrowheads="1"/>
          </p:cNvSpPr>
          <p:nvPr/>
        </p:nvSpPr>
        <p:spPr bwMode="auto">
          <a:xfrm>
            <a:off x="1701346" y="4985583"/>
            <a:ext cx="8834150" cy="8027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Nunito" pitchFamily="2" charset="0"/>
              </a:rPr>
              <a:t> Consider the following table of Students having different optional subjects in their course.</a:t>
            </a:r>
            <a:endParaRPr kumimoji="0" lang="en-US" altLang="en-US" sz="1600" b="1" i="0" u="none" strike="noStrike" cap="none" normalizeH="0" baseline="0" dirty="0">
              <a:ln>
                <a:noFill/>
              </a:ln>
              <a:solidFill>
                <a:srgbClr val="27323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273239"/>
              </a:solidFill>
              <a:effectLst/>
              <a:latin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Consolas" panose="020B0609020204030204" pitchFamily="49" charset="0"/>
              </a:rPr>
              <a:t>π</a:t>
            </a:r>
            <a:r>
              <a:rPr kumimoji="0" lang="en-US" altLang="en-US" sz="900" b="1" i="0" u="none" strike="noStrike" cap="none" normalizeH="0" baseline="0" dirty="0">
                <a:ln>
                  <a:noFill/>
                </a:ln>
                <a:solidFill>
                  <a:srgbClr val="273239"/>
                </a:solidFill>
                <a:effectLst/>
                <a:latin typeface="Consolas" panose="020B0609020204030204" pitchFamily="49" charset="0"/>
              </a:rPr>
              <a:t>(</a:t>
            </a:r>
            <a:r>
              <a:rPr kumimoji="0" lang="en-US" altLang="en-US" sz="900" b="1" i="0" u="none" strike="noStrike" cap="none" normalizeH="0" baseline="0" dirty="0" err="1">
                <a:ln>
                  <a:noFill/>
                </a:ln>
                <a:solidFill>
                  <a:srgbClr val="273239"/>
                </a:solidFill>
                <a:effectLst/>
                <a:latin typeface="Consolas" panose="020B0609020204030204" pitchFamily="49" charset="0"/>
              </a:rPr>
              <a:t>Student_Name</a:t>
            </a:r>
            <a:r>
              <a:rPr kumimoji="0" lang="en-US" altLang="en-US" sz="900" b="1" i="0" u="none" strike="noStrike" cap="none" normalizeH="0" baseline="0" dirty="0">
                <a:ln>
                  <a:noFill/>
                </a:ln>
                <a:solidFill>
                  <a:srgbClr val="273239"/>
                </a:solidFill>
                <a:effectLst/>
                <a:latin typeface="Consolas" panose="020B0609020204030204" pitchFamily="49" charset="0"/>
              </a:rPr>
              <a:t>)</a:t>
            </a:r>
            <a:r>
              <a:rPr kumimoji="0" lang="en-US" altLang="en-US" sz="1600" b="1" i="0" u="none" strike="noStrike" cap="none" normalizeH="0" baseline="0" dirty="0">
                <a:ln>
                  <a:noFill/>
                </a:ln>
                <a:solidFill>
                  <a:srgbClr val="273239"/>
                </a:solidFill>
                <a:effectLst/>
                <a:latin typeface="Consolas" panose="020B0609020204030204" pitchFamily="49" charset="0"/>
              </a:rPr>
              <a:t>FRENCH U π</a:t>
            </a:r>
            <a:r>
              <a:rPr lang="en-US" altLang="en-US" sz="900" b="1" dirty="0">
                <a:solidFill>
                  <a:srgbClr val="273239"/>
                </a:solidFill>
                <a:latin typeface="Consolas" panose="020B0609020204030204" pitchFamily="49" charset="0"/>
              </a:rPr>
              <a:t>(</a:t>
            </a:r>
            <a:r>
              <a:rPr lang="en-US" altLang="en-US" sz="900" b="1" dirty="0" err="1">
                <a:solidFill>
                  <a:srgbClr val="273239"/>
                </a:solidFill>
                <a:latin typeface="Consolas" panose="020B0609020204030204" pitchFamily="49" charset="0"/>
              </a:rPr>
              <a:t>Student_Name</a:t>
            </a:r>
            <a:r>
              <a:rPr lang="en-US" altLang="en-US" sz="900" b="1" dirty="0">
                <a:solidFill>
                  <a:srgbClr val="273239"/>
                </a:solidFill>
                <a:latin typeface="Consolas" panose="020B0609020204030204" pitchFamily="49" charset="0"/>
              </a:rPr>
              <a:t>)</a:t>
            </a:r>
            <a:r>
              <a:rPr kumimoji="0" lang="en-US" altLang="en-US" sz="1600" b="1" i="0" u="none" strike="noStrike" cap="none" normalizeH="0" baseline="0" dirty="0">
                <a:ln>
                  <a:noFill/>
                </a:ln>
                <a:solidFill>
                  <a:srgbClr val="273239"/>
                </a:solidFill>
                <a:effectLst/>
                <a:latin typeface="Consolas" panose="020B0609020204030204" pitchFamily="49" charset="0"/>
              </a:rPr>
              <a:t>GERMAN</a:t>
            </a:r>
            <a:r>
              <a:rPr kumimoji="0" lang="en-US" altLang="en-US" sz="10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xmlns="" id="{A05F341D-5899-A4C6-409D-CF4CBBFDB96F}"/>
              </a:ext>
            </a:extLst>
          </p:cNvPr>
          <p:cNvSpPr txBox="1"/>
          <p:nvPr/>
        </p:nvSpPr>
        <p:spPr>
          <a:xfrm>
            <a:off x="1538664" y="2481959"/>
            <a:ext cx="698862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Nunito" pitchFamily="2" charset="0"/>
              </a:rPr>
              <a:t> </a:t>
            </a:r>
            <a:r>
              <a:rPr kumimoji="0" lang="en-US" altLang="en-US" sz="1800" b="1" i="0" u="none" strike="noStrike" cap="none" normalizeH="0" baseline="0" dirty="0">
                <a:ln>
                  <a:noFill/>
                </a:ln>
                <a:solidFill>
                  <a:srgbClr val="273239"/>
                </a:solidFill>
                <a:effectLst/>
                <a:latin typeface="Nunito" pitchFamily="2" charset="0"/>
              </a:rPr>
              <a:t>FRENCH</a:t>
            </a:r>
            <a:endParaRPr kumimoji="0" lang="en-US" altLang="en-US" sz="105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xmlns="" id="{8B18F9FA-FA49-E8DE-4A1F-0211C9658BB4}"/>
              </a:ext>
            </a:extLst>
          </p:cNvPr>
          <p:cNvSpPr txBox="1"/>
          <p:nvPr/>
        </p:nvSpPr>
        <p:spPr>
          <a:xfrm>
            <a:off x="6253216" y="2465933"/>
            <a:ext cx="6389914" cy="369332"/>
          </a:xfrm>
          <a:prstGeom prst="rect">
            <a:avLst/>
          </a:prstGeom>
          <a:noFill/>
        </p:spPr>
        <p:txBody>
          <a:bodyPr wrap="square">
            <a:spAutoFit/>
          </a:bodyPr>
          <a:lstStyle/>
          <a:p>
            <a:pPr marL="0" indent="0">
              <a:buNone/>
            </a:pPr>
            <a:r>
              <a:rPr kumimoji="0" lang="en-US" altLang="en-US" sz="1800" b="1" i="0" u="none" strike="noStrike" cap="none" normalizeH="0" baseline="0" dirty="0">
                <a:ln>
                  <a:noFill/>
                </a:ln>
                <a:solidFill>
                  <a:srgbClr val="273239"/>
                </a:solidFill>
                <a:effectLst/>
                <a:latin typeface="Nunito" pitchFamily="2" charset="0"/>
              </a:rPr>
              <a:t>GERMAN</a:t>
            </a:r>
            <a:endParaRPr kumimoji="0" lang="en-US" altLang="en-US" sz="105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24785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DDC386E5-BCF0-94C4-1D2A-C0935B55C8F7}"/>
              </a:ext>
            </a:extLst>
          </p:cNvPr>
          <p:cNvGraphicFramePr>
            <a:graphicFrameLocks noGrp="1"/>
          </p:cNvGraphicFramePr>
          <p:nvPr>
            <p:ph idx="1"/>
            <p:extLst>
              <p:ext uri="{D42A27DB-BD31-4B8C-83A1-F6EECF244321}">
                <p14:modId xmlns:p14="http://schemas.microsoft.com/office/powerpoint/2010/main" val="1565966899"/>
              </p:ext>
            </p:extLst>
          </p:nvPr>
        </p:nvGraphicFramePr>
        <p:xfrm>
          <a:off x="5344886" y="2465864"/>
          <a:ext cx="2198914" cy="2550160"/>
        </p:xfrm>
        <a:graphic>
          <a:graphicData uri="http://schemas.openxmlformats.org/drawingml/2006/table">
            <a:tbl>
              <a:tblPr>
                <a:tableStyleId>{775DCB02-9BB8-47FD-8907-85C794F793BA}</a:tableStyleId>
              </a:tblPr>
              <a:tblGrid>
                <a:gridCol w="2198914">
                  <a:extLst>
                    <a:ext uri="{9D8B030D-6E8A-4147-A177-3AD203B41FA5}">
                      <a16:colId xmlns:a16="http://schemas.microsoft.com/office/drawing/2014/main" xmlns="" val="747879160"/>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xmlns="" val="1614168041"/>
                  </a:ext>
                </a:extLst>
              </a:tr>
              <a:tr h="0">
                <a:tc>
                  <a:txBody>
                    <a:bodyPr/>
                    <a:lstStyle/>
                    <a:p>
                      <a:pPr algn="ctr" fontAlgn="ctr"/>
                      <a:r>
                        <a:rPr lang="en-IN" sz="1250" b="0">
                          <a:effectLst/>
                        </a:rPr>
                        <a:t>Ram</a:t>
                      </a:r>
                    </a:p>
                  </a:txBody>
                  <a:tcPr marL="63500" marR="63500" marT="88900" marB="88900" anchor="ctr"/>
                </a:tc>
                <a:extLst>
                  <a:ext uri="{0D108BD9-81ED-4DB2-BD59-A6C34878D82A}">
                    <a16:rowId xmlns:a16="http://schemas.microsoft.com/office/drawing/2014/main" xmlns="" val="805391768"/>
                  </a:ext>
                </a:extLst>
              </a:tr>
              <a:tr h="0">
                <a:tc>
                  <a:txBody>
                    <a:bodyPr/>
                    <a:lstStyle/>
                    <a:p>
                      <a:pPr algn="ctr" fontAlgn="ctr"/>
                      <a:r>
                        <a:rPr lang="en-IN" sz="1250" b="0">
                          <a:effectLst/>
                        </a:rPr>
                        <a:t>Mohan</a:t>
                      </a:r>
                    </a:p>
                  </a:txBody>
                  <a:tcPr marL="63500" marR="63500" marT="88900" marB="88900" anchor="ctr"/>
                </a:tc>
                <a:extLst>
                  <a:ext uri="{0D108BD9-81ED-4DB2-BD59-A6C34878D82A}">
                    <a16:rowId xmlns:a16="http://schemas.microsoft.com/office/drawing/2014/main" xmlns="" val="3945994882"/>
                  </a:ext>
                </a:extLst>
              </a:tr>
              <a:tr h="0">
                <a:tc>
                  <a:txBody>
                    <a:bodyPr/>
                    <a:lstStyle/>
                    <a:p>
                      <a:pPr algn="ctr" fontAlgn="ctr"/>
                      <a:r>
                        <a:rPr lang="en-IN" sz="1250" b="0">
                          <a:effectLst/>
                        </a:rPr>
                        <a:t>Vivek</a:t>
                      </a:r>
                    </a:p>
                  </a:txBody>
                  <a:tcPr marL="63500" marR="63500" marT="88900" marB="88900" anchor="ctr"/>
                </a:tc>
                <a:extLst>
                  <a:ext uri="{0D108BD9-81ED-4DB2-BD59-A6C34878D82A}">
                    <a16:rowId xmlns:a16="http://schemas.microsoft.com/office/drawing/2014/main" xmlns="" val="2985842104"/>
                  </a:ext>
                </a:extLst>
              </a:tr>
              <a:tr h="0">
                <a:tc>
                  <a:txBody>
                    <a:bodyPr/>
                    <a:lstStyle/>
                    <a:p>
                      <a:pPr algn="ctr" fontAlgn="ctr"/>
                      <a:r>
                        <a:rPr lang="en-IN" sz="1250" b="0">
                          <a:effectLst/>
                        </a:rPr>
                        <a:t>Geeta</a:t>
                      </a:r>
                    </a:p>
                  </a:txBody>
                  <a:tcPr marL="63500" marR="63500" marT="88900" marB="88900" anchor="ctr"/>
                </a:tc>
                <a:extLst>
                  <a:ext uri="{0D108BD9-81ED-4DB2-BD59-A6C34878D82A}">
                    <a16:rowId xmlns:a16="http://schemas.microsoft.com/office/drawing/2014/main" xmlns="" val="2366274743"/>
                  </a:ext>
                </a:extLst>
              </a:tr>
              <a:tr h="0">
                <a:tc>
                  <a:txBody>
                    <a:bodyPr/>
                    <a:lstStyle/>
                    <a:p>
                      <a:pPr algn="ctr" fontAlgn="ctr"/>
                      <a:r>
                        <a:rPr lang="en-IN" sz="1250" b="0">
                          <a:effectLst/>
                        </a:rPr>
                        <a:t>Shyam</a:t>
                      </a:r>
                    </a:p>
                  </a:txBody>
                  <a:tcPr marL="63500" marR="63500" marT="88900" marB="88900" anchor="ctr"/>
                </a:tc>
                <a:extLst>
                  <a:ext uri="{0D108BD9-81ED-4DB2-BD59-A6C34878D82A}">
                    <a16:rowId xmlns:a16="http://schemas.microsoft.com/office/drawing/2014/main" xmlns="" val="3200355159"/>
                  </a:ext>
                </a:extLst>
              </a:tr>
              <a:tr h="0">
                <a:tc>
                  <a:txBody>
                    <a:bodyPr/>
                    <a:lstStyle/>
                    <a:p>
                      <a:pPr algn="ctr" fontAlgn="ctr"/>
                      <a:r>
                        <a:rPr lang="en-IN" sz="1250" b="0" dirty="0">
                          <a:effectLst/>
                        </a:rPr>
                        <a:t>Rohan</a:t>
                      </a:r>
                    </a:p>
                  </a:txBody>
                  <a:tcPr marL="63500" marR="63500" marT="88900" marB="88900" anchor="ctr"/>
                </a:tc>
                <a:extLst>
                  <a:ext uri="{0D108BD9-81ED-4DB2-BD59-A6C34878D82A}">
                    <a16:rowId xmlns:a16="http://schemas.microsoft.com/office/drawing/2014/main" xmlns="" val="2436926967"/>
                  </a:ext>
                </a:extLst>
              </a:tr>
            </a:tbl>
          </a:graphicData>
        </a:graphic>
      </p:graphicFrame>
      <p:sp>
        <p:nvSpPr>
          <p:cNvPr id="6" name="TextBox 5">
            <a:extLst>
              <a:ext uri="{FF2B5EF4-FFF2-40B4-BE49-F238E27FC236}">
                <a16:creationId xmlns:a16="http://schemas.microsoft.com/office/drawing/2014/main" xmlns="" id="{A0A3D55A-8632-5057-5DB0-53F3861A6949}"/>
              </a:ext>
            </a:extLst>
          </p:cNvPr>
          <p:cNvSpPr txBox="1"/>
          <p:nvPr/>
        </p:nvSpPr>
        <p:spPr>
          <a:xfrm>
            <a:off x="1711778" y="5400292"/>
            <a:ext cx="10088335"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union of two relations is that both relations must have the same set of Attributes.   </a:t>
            </a:r>
            <a:endParaRPr lang="en-IN" dirty="0"/>
          </a:p>
        </p:txBody>
      </p:sp>
    </p:spTree>
    <p:extLst>
      <p:ext uri="{BB962C8B-B14F-4D97-AF65-F5344CB8AC3E}">
        <p14:creationId xmlns:p14="http://schemas.microsoft.com/office/powerpoint/2010/main" val="215377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F6C0D-3ABD-916C-6A9A-493064088DA1}"/>
              </a:ext>
            </a:extLst>
          </p:cNvPr>
          <p:cNvSpPr>
            <a:spLocks noGrp="1"/>
          </p:cNvSpPr>
          <p:nvPr>
            <p:ph type="title"/>
          </p:nvPr>
        </p:nvSpPr>
        <p:spPr/>
        <p:txBody>
          <a:bodyPr/>
          <a:lstStyle/>
          <a:p>
            <a:r>
              <a:rPr lang="en-US" sz="3200" b="0" i="0" u="none" strike="noStrike" baseline="0" dirty="0">
                <a:latin typeface="Arial Narrow" panose="020B0606020202030204" pitchFamily="34" charset="0"/>
              </a:rPr>
              <a:t>4. Set Difference(-):</a:t>
            </a:r>
            <a:endParaRPr lang="en-IN" dirty="0"/>
          </a:p>
        </p:txBody>
      </p:sp>
      <p:sp>
        <p:nvSpPr>
          <p:cNvPr id="3" name="Content Placeholder 2">
            <a:extLst>
              <a:ext uri="{FF2B5EF4-FFF2-40B4-BE49-F238E27FC236}">
                <a16:creationId xmlns:a16="http://schemas.microsoft.com/office/drawing/2014/main" xmlns="" id="{78E6D1F1-1D41-ED6B-644E-A4FE88F06B8F}"/>
              </a:ext>
            </a:extLst>
          </p:cNvPr>
          <p:cNvSpPr>
            <a:spLocks noGrp="1"/>
          </p:cNvSpPr>
          <p:nvPr>
            <p:ph idx="1"/>
          </p:nvPr>
        </p:nvSpPr>
        <p:spPr/>
        <p:txBody>
          <a:bodyPr>
            <a:normAutofit/>
          </a:bodyPr>
          <a:lstStyle/>
          <a:p>
            <a:pPr marL="0" indent="0" algn="l">
              <a:buNone/>
            </a:pPr>
            <a:r>
              <a:rPr lang="en-US" sz="1800" b="0" i="0" u="none" strike="noStrike" baseline="0" dirty="0">
                <a:latin typeface="Arial Narrow" panose="020B0606020202030204" pitchFamily="34" charset="0"/>
              </a:rPr>
              <a:t>Set Difference in relational algebra is the same set difference operation as in set theory.</a:t>
            </a:r>
            <a:endParaRPr lang="en-IN" dirty="0"/>
          </a:p>
        </p:txBody>
      </p:sp>
      <p:sp>
        <p:nvSpPr>
          <p:cNvPr id="6" name="Rectangle 1">
            <a:extLst>
              <a:ext uri="{FF2B5EF4-FFF2-40B4-BE49-F238E27FC236}">
                <a16:creationId xmlns:a16="http://schemas.microsoft.com/office/drawing/2014/main" xmlns="" id="{19C8CB2E-2850-204B-C4F9-BABF441B251A}"/>
              </a:ext>
            </a:extLst>
          </p:cNvPr>
          <p:cNvSpPr>
            <a:spLocks noChangeArrowheads="1"/>
          </p:cNvSpPr>
          <p:nvPr/>
        </p:nvSpPr>
        <p:spPr bwMode="auto">
          <a:xfrm>
            <a:off x="1545771" y="2552799"/>
            <a:ext cx="9648475" cy="1295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0"/>
              </a:rPr>
              <a:t>From the </a:t>
            </a:r>
            <a:r>
              <a:rPr lang="en-US" altLang="en-US" sz="2000" dirty="0">
                <a:solidFill>
                  <a:srgbClr val="273239"/>
                </a:solidFill>
                <a:latin typeface="Nunito" pitchFamily="2" charset="0"/>
              </a:rPr>
              <a:t>previous</a:t>
            </a:r>
            <a:r>
              <a:rPr kumimoji="0" lang="en-US" altLang="en-US" sz="2000" b="0" i="0" u="none" strike="noStrike" cap="none" normalizeH="0" baseline="0" dirty="0">
                <a:ln>
                  <a:noFill/>
                </a:ln>
                <a:solidFill>
                  <a:srgbClr val="273239"/>
                </a:solidFill>
                <a:effectLst/>
                <a:latin typeface="Nunito" pitchFamily="2" charset="0"/>
              </a:rPr>
              <a:t> table of FRENCH and GERMAN, Set Difference is used as follows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73239"/>
              </a:solidFill>
              <a:effectLst/>
              <a:latin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π(</a:t>
            </a:r>
            <a:r>
              <a:rPr kumimoji="0" lang="en-US" altLang="en-US" sz="2000" b="0" i="0" u="none" strike="noStrike" cap="none" normalizeH="0" baseline="0" dirty="0" err="1">
                <a:ln>
                  <a:noFill/>
                </a:ln>
                <a:solidFill>
                  <a:srgbClr val="273239"/>
                </a:solidFill>
                <a:effectLst/>
                <a:latin typeface="Consolas" panose="020B0609020204030204" pitchFamily="49" charset="0"/>
              </a:rPr>
              <a:t>Student_Name</a:t>
            </a:r>
            <a:r>
              <a:rPr kumimoji="0" lang="en-US" altLang="en-US" sz="2000" b="0" i="0" u="none" strike="noStrike" cap="none" normalizeH="0" baseline="0" dirty="0">
                <a:ln>
                  <a:noFill/>
                </a:ln>
                <a:solidFill>
                  <a:srgbClr val="273239"/>
                </a:solidFill>
                <a:effectLst/>
                <a:latin typeface="Consolas" panose="020B0609020204030204" pitchFamily="49" charset="0"/>
              </a:rPr>
              <a:t>)FRENCH - π(</a:t>
            </a:r>
            <a:r>
              <a:rPr kumimoji="0" lang="en-US" altLang="en-US" sz="2000" b="0" i="0" u="none" strike="noStrike" cap="none" normalizeH="0" baseline="0" dirty="0" err="1">
                <a:ln>
                  <a:noFill/>
                </a:ln>
                <a:solidFill>
                  <a:srgbClr val="273239"/>
                </a:solidFill>
                <a:effectLst/>
                <a:latin typeface="Consolas" panose="020B0609020204030204" pitchFamily="49" charset="0"/>
              </a:rPr>
              <a:t>Student_Name</a:t>
            </a:r>
            <a:r>
              <a:rPr kumimoji="0" lang="en-US" altLang="en-US" sz="2000" b="0" i="0" u="none" strike="noStrike" cap="none" normalizeH="0" baseline="0" dirty="0">
                <a:ln>
                  <a:noFill/>
                </a:ln>
                <a:solidFill>
                  <a:srgbClr val="273239"/>
                </a:solidFill>
                <a:effectLst/>
                <a:latin typeface="Consolas" panose="020B0609020204030204" pitchFamily="49" charset="0"/>
              </a:rPr>
              <a:t>)GERMAN</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xmlns="" id="{254727DB-B1BE-3CC0-3A95-933380BC689A}"/>
              </a:ext>
            </a:extLst>
          </p:cNvPr>
          <p:cNvGraphicFramePr>
            <a:graphicFrameLocks noGrp="1"/>
          </p:cNvGraphicFramePr>
          <p:nvPr>
            <p:extLst>
              <p:ext uri="{D42A27DB-BD31-4B8C-83A1-F6EECF244321}">
                <p14:modId xmlns:p14="http://schemas.microsoft.com/office/powerpoint/2010/main" val="365288540"/>
              </p:ext>
            </p:extLst>
          </p:nvPr>
        </p:nvGraphicFramePr>
        <p:xfrm>
          <a:off x="4878666" y="4257449"/>
          <a:ext cx="1513113" cy="1076960"/>
        </p:xfrm>
        <a:graphic>
          <a:graphicData uri="http://schemas.openxmlformats.org/drawingml/2006/table">
            <a:tbl>
              <a:tblPr>
                <a:tableStyleId>{775DCB02-9BB8-47FD-8907-85C794F793BA}</a:tableStyleId>
              </a:tblPr>
              <a:tblGrid>
                <a:gridCol w="1513113">
                  <a:extLst>
                    <a:ext uri="{9D8B030D-6E8A-4147-A177-3AD203B41FA5}">
                      <a16:colId xmlns:a16="http://schemas.microsoft.com/office/drawing/2014/main" xmlns="" val="3070001760"/>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xmlns="" val="1687153895"/>
                  </a:ext>
                </a:extLst>
              </a:tr>
              <a:tr h="0">
                <a:tc>
                  <a:txBody>
                    <a:bodyPr/>
                    <a:lstStyle/>
                    <a:p>
                      <a:pPr algn="ctr" fontAlgn="ctr"/>
                      <a:r>
                        <a:rPr lang="en-IN" sz="1250" b="0">
                          <a:effectLst/>
                        </a:rPr>
                        <a:t>Ram</a:t>
                      </a:r>
                    </a:p>
                  </a:txBody>
                  <a:tcPr marL="63500" marR="63500" marT="88900" marB="88900" anchor="ctr"/>
                </a:tc>
                <a:extLst>
                  <a:ext uri="{0D108BD9-81ED-4DB2-BD59-A6C34878D82A}">
                    <a16:rowId xmlns:a16="http://schemas.microsoft.com/office/drawing/2014/main" xmlns="" val="2270530629"/>
                  </a:ext>
                </a:extLst>
              </a:tr>
              <a:tr h="0">
                <a:tc>
                  <a:txBody>
                    <a:bodyPr/>
                    <a:lstStyle/>
                    <a:p>
                      <a:pPr algn="ctr" fontAlgn="ctr"/>
                      <a:r>
                        <a:rPr lang="en-IN" sz="1250" b="0" dirty="0">
                          <a:effectLst/>
                        </a:rPr>
                        <a:t>Mohan</a:t>
                      </a:r>
                    </a:p>
                  </a:txBody>
                  <a:tcPr marL="63500" marR="63500" marT="88900" marB="88900" anchor="ctr"/>
                </a:tc>
                <a:extLst>
                  <a:ext uri="{0D108BD9-81ED-4DB2-BD59-A6C34878D82A}">
                    <a16:rowId xmlns:a16="http://schemas.microsoft.com/office/drawing/2014/main" xmlns="" val="3567212164"/>
                  </a:ext>
                </a:extLst>
              </a:tr>
            </a:tbl>
          </a:graphicData>
        </a:graphic>
      </p:graphicFrame>
      <p:sp>
        <p:nvSpPr>
          <p:cNvPr id="9" name="TextBox 8">
            <a:extLst>
              <a:ext uri="{FF2B5EF4-FFF2-40B4-BE49-F238E27FC236}">
                <a16:creationId xmlns:a16="http://schemas.microsoft.com/office/drawing/2014/main" xmlns="" id="{1253177F-95D8-A91A-8D34-0613A6852F5E}"/>
              </a:ext>
            </a:extLst>
          </p:cNvPr>
          <p:cNvSpPr txBox="1"/>
          <p:nvPr/>
        </p:nvSpPr>
        <p:spPr>
          <a:xfrm>
            <a:off x="1126260" y="5352185"/>
            <a:ext cx="10608540"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Set Difference between two relations is that both relations must have the same set of Attributes.</a:t>
            </a:r>
            <a:endParaRPr lang="en-IN" dirty="0"/>
          </a:p>
        </p:txBody>
      </p:sp>
    </p:spTree>
    <p:extLst>
      <p:ext uri="{BB962C8B-B14F-4D97-AF65-F5344CB8AC3E}">
        <p14:creationId xmlns:p14="http://schemas.microsoft.com/office/powerpoint/2010/main" val="178998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92B954C4-83A4-E704-4CD9-82622FAD5F8E}"/>
              </a:ext>
            </a:extLst>
          </p:cNvPr>
          <p:cNvSpPr txBox="1"/>
          <p:nvPr/>
        </p:nvSpPr>
        <p:spPr>
          <a:xfrm>
            <a:off x="1186542" y="2100945"/>
            <a:ext cx="10145485" cy="1815882"/>
          </a:xfrm>
          <a:prstGeom prst="rect">
            <a:avLst/>
          </a:prstGeom>
          <a:noFill/>
        </p:spPr>
        <p:txBody>
          <a:bodyPr wrap="square">
            <a:spAutoFit/>
          </a:bodyPr>
          <a:lstStyle/>
          <a:p>
            <a:r>
              <a:rPr lang="en-US" sz="2800" dirty="0"/>
              <a:t>5. Rename(ρ): Rename is a unary operation used for renaming attributes of a relation.</a:t>
            </a:r>
          </a:p>
          <a:p>
            <a:endParaRPr lang="en-US" sz="2800" dirty="0"/>
          </a:p>
          <a:p>
            <a:r>
              <a:rPr lang="en-US" sz="2800" dirty="0"/>
              <a:t> </a:t>
            </a:r>
            <a:r>
              <a:rPr lang="en-US" sz="2800" dirty="0" err="1"/>
              <a:t>ρ</a:t>
            </a:r>
            <a:r>
              <a:rPr lang="en-US" sz="1600" dirty="0" err="1"/>
              <a:t>b</a:t>
            </a:r>
            <a:r>
              <a:rPr lang="en-US" sz="2800" dirty="0"/>
              <a:t>(a)R will rename the attribute 'b' of the relation by 'a'. </a:t>
            </a:r>
            <a:endParaRPr lang="en-IN" sz="2800" dirty="0"/>
          </a:p>
        </p:txBody>
      </p:sp>
    </p:spTree>
    <p:extLst>
      <p:ext uri="{BB962C8B-B14F-4D97-AF65-F5344CB8AC3E}">
        <p14:creationId xmlns:p14="http://schemas.microsoft.com/office/powerpoint/2010/main" val="330427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3E891B8-AAFB-6DCF-6C9A-EF63D5D103DE}"/>
              </a:ext>
            </a:extLst>
          </p:cNvPr>
          <p:cNvSpPr txBox="1"/>
          <p:nvPr/>
        </p:nvSpPr>
        <p:spPr>
          <a:xfrm>
            <a:off x="1144360" y="126751"/>
            <a:ext cx="9903279" cy="1815882"/>
          </a:xfrm>
          <a:prstGeom prst="rect">
            <a:avLst/>
          </a:prstGeom>
          <a:noFill/>
        </p:spPr>
        <p:txBody>
          <a:bodyPr wrap="square">
            <a:spAutoFit/>
          </a:bodyPr>
          <a:lstStyle/>
          <a:p>
            <a:pPr algn="just"/>
            <a:r>
              <a:rPr lang="en-US" sz="2800" b="1" dirty="0">
                <a:solidFill>
                  <a:srgbClr val="273239"/>
                </a:solidFill>
                <a:latin typeface="Nunito" pitchFamily="2" charset="0"/>
              </a:rPr>
              <a:t>6</a:t>
            </a:r>
            <a:r>
              <a:rPr lang="en-US" sz="2800" b="1" i="0" dirty="0">
                <a:solidFill>
                  <a:srgbClr val="273239"/>
                </a:solidFill>
                <a:effectLst/>
                <a:latin typeface="Nunito" pitchFamily="2" charset="0"/>
              </a:rPr>
              <a:t>. Cross Product(X):</a:t>
            </a:r>
            <a:r>
              <a:rPr lang="en-US" sz="2800" b="0" i="0" dirty="0">
                <a:solidFill>
                  <a:srgbClr val="273239"/>
                </a:solidFill>
                <a:effectLst/>
                <a:latin typeface="Nunito" pitchFamily="2" charset="0"/>
              </a:rPr>
              <a:t> Cross-product between two relations. Let’s say A and B, so the cross product between A X B will result in all the attributes of A followed by each attribute of B. Each record of A will pair with every record of B.</a:t>
            </a:r>
            <a:endParaRPr lang="en-IN" sz="2800" dirty="0"/>
          </a:p>
        </p:txBody>
      </p:sp>
      <p:graphicFrame>
        <p:nvGraphicFramePr>
          <p:cNvPr id="8" name="Table 7">
            <a:extLst>
              <a:ext uri="{FF2B5EF4-FFF2-40B4-BE49-F238E27FC236}">
                <a16:creationId xmlns:a16="http://schemas.microsoft.com/office/drawing/2014/main" xmlns="" id="{8BD9EBE6-4B75-2297-8DF5-330F578C8CCD}"/>
              </a:ext>
            </a:extLst>
          </p:cNvPr>
          <p:cNvGraphicFramePr>
            <a:graphicFrameLocks noGrp="1"/>
          </p:cNvGraphicFramePr>
          <p:nvPr>
            <p:extLst>
              <p:ext uri="{D42A27DB-BD31-4B8C-83A1-F6EECF244321}">
                <p14:modId xmlns:p14="http://schemas.microsoft.com/office/powerpoint/2010/main" val="3755033801"/>
              </p:ext>
            </p:extLst>
          </p:nvPr>
        </p:nvGraphicFramePr>
        <p:xfrm>
          <a:off x="2202089" y="2384221"/>
          <a:ext cx="2413455" cy="1658620"/>
        </p:xfrm>
        <a:graphic>
          <a:graphicData uri="http://schemas.openxmlformats.org/drawingml/2006/table">
            <a:tbl>
              <a:tblPr>
                <a:tableStyleId>{35758FB7-9AC5-4552-8A53-C91805E547FA}</a:tableStyleId>
              </a:tblPr>
              <a:tblGrid>
                <a:gridCol w="804485">
                  <a:extLst>
                    <a:ext uri="{9D8B030D-6E8A-4147-A177-3AD203B41FA5}">
                      <a16:colId xmlns:a16="http://schemas.microsoft.com/office/drawing/2014/main" xmlns="" val="3440469928"/>
                    </a:ext>
                  </a:extLst>
                </a:gridCol>
                <a:gridCol w="804485">
                  <a:extLst>
                    <a:ext uri="{9D8B030D-6E8A-4147-A177-3AD203B41FA5}">
                      <a16:colId xmlns:a16="http://schemas.microsoft.com/office/drawing/2014/main" xmlns="" val="2422799048"/>
                    </a:ext>
                  </a:extLst>
                </a:gridCol>
                <a:gridCol w="804485">
                  <a:extLst>
                    <a:ext uri="{9D8B030D-6E8A-4147-A177-3AD203B41FA5}">
                      <a16:colId xmlns:a16="http://schemas.microsoft.com/office/drawing/2014/main" xmlns="" val="1838596055"/>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Age     </a:t>
                      </a:r>
                    </a:p>
                  </a:txBody>
                  <a:tcPr marL="63500" marR="63500" marT="63500" marB="63500" anchor="ctr"/>
                </a:tc>
                <a:tc>
                  <a:txBody>
                    <a:bodyPr/>
                    <a:lstStyle/>
                    <a:p>
                      <a:pPr algn="ctr" fontAlgn="base"/>
                      <a:r>
                        <a:rPr lang="en-IN" sz="1400" b="1">
                          <a:effectLst/>
                        </a:rPr>
                        <a:t>Sex      </a:t>
                      </a:r>
                    </a:p>
                  </a:txBody>
                  <a:tcPr marL="63500" marR="63500" marT="63500" marB="63500" anchor="ctr"/>
                </a:tc>
                <a:extLst>
                  <a:ext uri="{0D108BD9-81ED-4DB2-BD59-A6C34878D82A}">
                    <a16:rowId xmlns:a16="http://schemas.microsoft.com/office/drawing/2014/main" xmlns="" val="667305320"/>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dirty="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extLst>
                  <a:ext uri="{0D108BD9-81ED-4DB2-BD59-A6C34878D82A}">
                    <a16:rowId xmlns:a16="http://schemas.microsoft.com/office/drawing/2014/main" xmlns="" val="1620750044"/>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dirty="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extLst>
                  <a:ext uri="{0D108BD9-81ED-4DB2-BD59-A6C34878D82A}">
                    <a16:rowId xmlns:a16="http://schemas.microsoft.com/office/drawing/2014/main" xmlns="" val="1682473000"/>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dirty="0">
                          <a:effectLst/>
                        </a:rPr>
                        <a:t>M</a:t>
                      </a:r>
                    </a:p>
                  </a:txBody>
                  <a:tcPr marL="63500" marR="63500" marT="88900" marB="88900" anchor="ctr"/>
                </a:tc>
                <a:extLst>
                  <a:ext uri="{0D108BD9-81ED-4DB2-BD59-A6C34878D82A}">
                    <a16:rowId xmlns:a16="http://schemas.microsoft.com/office/drawing/2014/main" xmlns="" val="4234577081"/>
                  </a:ext>
                </a:extLst>
              </a:tr>
            </a:tbl>
          </a:graphicData>
        </a:graphic>
      </p:graphicFrame>
      <p:graphicFrame>
        <p:nvGraphicFramePr>
          <p:cNvPr id="9" name="Table 8">
            <a:extLst>
              <a:ext uri="{FF2B5EF4-FFF2-40B4-BE49-F238E27FC236}">
                <a16:creationId xmlns:a16="http://schemas.microsoft.com/office/drawing/2014/main" xmlns="" id="{465142AF-A71A-F3E4-B00A-7C9380CADB86}"/>
              </a:ext>
            </a:extLst>
          </p:cNvPr>
          <p:cNvGraphicFramePr>
            <a:graphicFrameLocks noGrp="1"/>
          </p:cNvGraphicFramePr>
          <p:nvPr>
            <p:extLst>
              <p:ext uri="{D42A27DB-BD31-4B8C-83A1-F6EECF244321}">
                <p14:modId xmlns:p14="http://schemas.microsoft.com/office/powerpoint/2010/main" val="1132362651"/>
              </p:ext>
            </p:extLst>
          </p:nvPr>
        </p:nvGraphicFramePr>
        <p:xfrm>
          <a:off x="6095999" y="2551895"/>
          <a:ext cx="3512912" cy="1323272"/>
        </p:xfrm>
        <a:graphic>
          <a:graphicData uri="http://schemas.openxmlformats.org/drawingml/2006/table">
            <a:tbl>
              <a:tblPr>
                <a:tableStyleId>{775DCB02-9BB8-47FD-8907-85C794F793BA}</a:tableStyleId>
              </a:tblPr>
              <a:tblGrid>
                <a:gridCol w="1756456">
                  <a:extLst>
                    <a:ext uri="{9D8B030D-6E8A-4147-A177-3AD203B41FA5}">
                      <a16:colId xmlns:a16="http://schemas.microsoft.com/office/drawing/2014/main" xmlns="" val="2278317459"/>
                    </a:ext>
                  </a:extLst>
                </a:gridCol>
                <a:gridCol w="1756456">
                  <a:extLst>
                    <a:ext uri="{9D8B030D-6E8A-4147-A177-3AD203B41FA5}">
                      <a16:colId xmlns:a16="http://schemas.microsoft.com/office/drawing/2014/main" xmlns="" val="2138222966"/>
                    </a:ext>
                  </a:extLst>
                </a:gridCol>
              </a:tblGrid>
              <a:tr h="340360">
                <a:tc>
                  <a:txBody>
                    <a:bodyPr/>
                    <a:lstStyle/>
                    <a:p>
                      <a:pPr algn="ctr" fontAlgn="base"/>
                      <a:r>
                        <a:rPr lang="en-IN" sz="1400" b="1" dirty="0">
                          <a:effectLst/>
                        </a:rPr>
                        <a:t>ID     </a:t>
                      </a:r>
                    </a:p>
                  </a:txBody>
                  <a:tcPr marL="38100" marR="38100" marT="63500" marB="63500" anchor="ctr"/>
                </a:tc>
                <a:tc>
                  <a:txBody>
                    <a:bodyPr/>
                    <a:lstStyle/>
                    <a:p>
                      <a:pPr algn="ctr" fontAlgn="base"/>
                      <a:r>
                        <a:rPr lang="en-IN" sz="1400" b="1" dirty="0">
                          <a:effectLst/>
                        </a:rPr>
                        <a:t>Course     </a:t>
                      </a:r>
                    </a:p>
                  </a:txBody>
                  <a:tcPr marL="63500" marR="63500" marT="63500" marB="63500" anchor="ctr"/>
                </a:tc>
                <a:extLst>
                  <a:ext uri="{0D108BD9-81ED-4DB2-BD59-A6C34878D82A}">
                    <a16:rowId xmlns:a16="http://schemas.microsoft.com/office/drawing/2014/main" xmlns="" val="1156209527"/>
                  </a:ext>
                </a:extLst>
              </a:tr>
              <a:tr h="614612">
                <a:tc>
                  <a:txBody>
                    <a:bodyPr/>
                    <a:lstStyle/>
                    <a:p>
                      <a:pPr algn="ctr" fontAlgn="ctr"/>
                      <a:r>
                        <a:rPr lang="en-IN" sz="1200" b="0" dirty="0">
                          <a:effectLst/>
                        </a:rPr>
                        <a:t>1</a:t>
                      </a:r>
                    </a:p>
                  </a:txBody>
                  <a:tcPr marL="63500" marR="63500" marT="88900" marB="88900" anchor="ctr"/>
                </a:tc>
                <a:tc>
                  <a:txBody>
                    <a:bodyPr/>
                    <a:lstStyle/>
                    <a:p>
                      <a:pPr algn="ctr" fontAlgn="ctr"/>
                      <a:r>
                        <a:rPr lang="en-IN" sz="1200" b="0" dirty="0">
                          <a:effectLst/>
                        </a:rPr>
                        <a:t>DS</a:t>
                      </a:r>
                    </a:p>
                  </a:txBody>
                  <a:tcPr marL="63500" marR="63500" marT="88900" marB="88900" anchor="ctr"/>
                </a:tc>
                <a:extLst>
                  <a:ext uri="{0D108BD9-81ED-4DB2-BD59-A6C34878D82A}">
                    <a16:rowId xmlns:a16="http://schemas.microsoft.com/office/drawing/2014/main" xmlns="" val="2659854127"/>
                  </a:ext>
                </a:extLst>
              </a:tr>
              <a:tr h="368300">
                <a:tc>
                  <a:txBody>
                    <a:bodyPr/>
                    <a:lstStyle/>
                    <a:p>
                      <a:pPr algn="ctr" fontAlgn="ctr"/>
                      <a:r>
                        <a:rPr lang="en-IN" sz="1200" b="0">
                          <a:effectLst/>
                        </a:rPr>
                        <a:t>2</a:t>
                      </a:r>
                    </a:p>
                  </a:txBody>
                  <a:tcPr marL="63500" marR="63500" marT="88900" marB="88900" anchor="ctr"/>
                </a:tc>
                <a:tc>
                  <a:txBody>
                    <a:bodyPr/>
                    <a:lstStyle/>
                    <a:p>
                      <a:pPr algn="ctr" fontAlgn="ctr"/>
                      <a:r>
                        <a:rPr lang="en-IN" sz="1200" b="0" dirty="0">
                          <a:effectLst/>
                        </a:rPr>
                        <a:t>DBMS</a:t>
                      </a:r>
                    </a:p>
                  </a:txBody>
                  <a:tcPr marL="63500" marR="63500" marT="88900" marB="88900" anchor="ctr"/>
                </a:tc>
                <a:extLst>
                  <a:ext uri="{0D108BD9-81ED-4DB2-BD59-A6C34878D82A}">
                    <a16:rowId xmlns:a16="http://schemas.microsoft.com/office/drawing/2014/main" xmlns="" val="3849718453"/>
                  </a:ext>
                </a:extLst>
              </a:tr>
            </a:tbl>
          </a:graphicData>
        </a:graphic>
      </p:graphicFrame>
    </p:spTree>
    <p:extLst>
      <p:ext uri="{BB962C8B-B14F-4D97-AF65-F5344CB8AC3E}">
        <p14:creationId xmlns:p14="http://schemas.microsoft.com/office/powerpoint/2010/main" val="1318747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6568FDCE-64E4-9A13-C556-E3E73A6BEE82}"/>
              </a:ext>
            </a:extLst>
          </p:cNvPr>
          <p:cNvGraphicFramePr>
            <a:graphicFrameLocks noGrp="1"/>
          </p:cNvGraphicFramePr>
          <p:nvPr>
            <p:ph idx="1"/>
            <p:extLst>
              <p:ext uri="{D42A27DB-BD31-4B8C-83A1-F6EECF244321}">
                <p14:modId xmlns:p14="http://schemas.microsoft.com/office/powerpoint/2010/main" val="3621290775"/>
              </p:ext>
            </p:extLst>
          </p:nvPr>
        </p:nvGraphicFramePr>
        <p:xfrm>
          <a:off x="1451579" y="2618264"/>
          <a:ext cx="9604375" cy="2550160"/>
        </p:xfrm>
        <a:graphic>
          <a:graphicData uri="http://schemas.openxmlformats.org/drawingml/2006/table">
            <a:tbl>
              <a:tblPr>
                <a:tableStyleId>{284E427A-3D55-4303-BF80-6455036E1DE7}</a:tableStyleId>
              </a:tblPr>
              <a:tblGrid>
                <a:gridCol w="1920875">
                  <a:extLst>
                    <a:ext uri="{9D8B030D-6E8A-4147-A177-3AD203B41FA5}">
                      <a16:colId xmlns:a16="http://schemas.microsoft.com/office/drawing/2014/main" xmlns="" val="1343594023"/>
                    </a:ext>
                  </a:extLst>
                </a:gridCol>
                <a:gridCol w="1920875">
                  <a:extLst>
                    <a:ext uri="{9D8B030D-6E8A-4147-A177-3AD203B41FA5}">
                      <a16:colId xmlns:a16="http://schemas.microsoft.com/office/drawing/2014/main" xmlns="" val="2224602062"/>
                    </a:ext>
                  </a:extLst>
                </a:gridCol>
                <a:gridCol w="1920875">
                  <a:extLst>
                    <a:ext uri="{9D8B030D-6E8A-4147-A177-3AD203B41FA5}">
                      <a16:colId xmlns:a16="http://schemas.microsoft.com/office/drawing/2014/main" xmlns="" val="3328477407"/>
                    </a:ext>
                  </a:extLst>
                </a:gridCol>
                <a:gridCol w="1920875">
                  <a:extLst>
                    <a:ext uri="{9D8B030D-6E8A-4147-A177-3AD203B41FA5}">
                      <a16:colId xmlns:a16="http://schemas.microsoft.com/office/drawing/2014/main" xmlns="" val="2882927969"/>
                    </a:ext>
                  </a:extLst>
                </a:gridCol>
                <a:gridCol w="1920875">
                  <a:extLst>
                    <a:ext uri="{9D8B030D-6E8A-4147-A177-3AD203B41FA5}">
                      <a16:colId xmlns:a16="http://schemas.microsoft.com/office/drawing/2014/main" xmlns="" val="4205034654"/>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Age     </a:t>
                      </a:r>
                    </a:p>
                  </a:txBody>
                  <a:tcPr marL="63500" marR="63500" marT="63500" marB="63500" anchor="ctr"/>
                </a:tc>
                <a:tc>
                  <a:txBody>
                    <a:bodyPr/>
                    <a:lstStyle/>
                    <a:p>
                      <a:pPr algn="ctr" fontAlgn="base"/>
                      <a:r>
                        <a:rPr lang="en-IN" sz="1400" b="1">
                          <a:effectLst/>
                        </a:rPr>
                        <a:t>Sex     </a:t>
                      </a:r>
                    </a:p>
                  </a:txBody>
                  <a:tcPr marL="63500" marR="63500" marT="63500" marB="63500" anchor="ctr"/>
                </a:tc>
                <a:tc>
                  <a:txBody>
                    <a:bodyPr/>
                    <a:lstStyle/>
                    <a:p>
                      <a:pPr algn="ctr" fontAlgn="base"/>
                      <a:r>
                        <a:rPr lang="en-IN" sz="1400" b="1">
                          <a:effectLst/>
                        </a:rPr>
                        <a:t>ID      </a:t>
                      </a:r>
                    </a:p>
                  </a:txBody>
                  <a:tcPr marL="63500" marR="63500" marT="63500" marB="63500" anchor="ctr"/>
                </a:tc>
                <a:tc>
                  <a:txBody>
                    <a:bodyPr/>
                    <a:lstStyle/>
                    <a:p>
                      <a:pPr algn="ctr" fontAlgn="base"/>
                      <a:r>
                        <a:rPr lang="en-IN" sz="1400" b="1">
                          <a:effectLst/>
                        </a:rPr>
                        <a:t>Course     </a:t>
                      </a:r>
                    </a:p>
                  </a:txBody>
                  <a:tcPr marL="63500" marR="63500" marT="63500" marB="63500" anchor="ctr"/>
                </a:tc>
                <a:extLst>
                  <a:ext uri="{0D108BD9-81ED-4DB2-BD59-A6C34878D82A}">
                    <a16:rowId xmlns:a16="http://schemas.microsoft.com/office/drawing/2014/main" xmlns="" val="3657168249"/>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xmlns="" val="729837719"/>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DBMS</a:t>
                      </a:r>
                    </a:p>
                  </a:txBody>
                  <a:tcPr marL="63500" marR="63500" marT="88900" marB="88900" anchor="ctr"/>
                </a:tc>
                <a:extLst>
                  <a:ext uri="{0D108BD9-81ED-4DB2-BD59-A6C34878D82A}">
                    <a16:rowId xmlns:a16="http://schemas.microsoft.com/office/drawing/2014/main" xmlns="" val="1763875599"/>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xmlns="" val="2240250604"/>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DBMS</a:t>
                      </a:r>
                    </a:p>
                  </a:txBody>
                  <a:tcPr marL="63500" marR="63500" marT="88900" marB="88900" anchor="ctr"/>
                </a:tc>
                <a:extLst>
                  <a:ext uri="{0D108BD9-81ED-4DB2-BD59-A6C34878D82A}">
                    <a16:rowId xmlns:a16="http://schemas.microsoft.com/office/drawing/2014/main" xmlns="" val="3764771192"/>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xmlns="" val="1056569538"/>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dirty="0">
                          <a:effectLst/>
                        </a:rPr>
                        <a:t>DBMS</a:t>
                      </a:r>
                    </a:p>
                  </a:txBody>
                  <a:tcPr marL="63500" marR="63500" marT="88900" marB="88900" anchor="ctr"/>
                </a:tc>
                <a:extLst>
                  <a:ext uri="{0D108BD9-81ED-4DB2-BD59-A6C34878D82A}">
                    <a16:rowId xmlns:a16="http://schemas.microsoft.com/office/drawing/2014/main" xmlns="" val="2886024165"/>
                  </a:ext>
                </a:extLst>
              </a:tr>
            </a:tbl>
          </a:graphicData>
        </a:graphic>
      </p:graphicFrame>
      <p:sp>
        <p:nvSpPr>
          <p:cNvPr id="5" name="Rectangle 1">
            <a:extLst>
              <a:ext uri="{FF2B5EF4-FFF2-40B4-BE49-F238E27FC236}">
                <a16:creationId xmlns:a16="http://schemas.microsoft.com/office/drawing/2014/main" xmlns="" id="{3997398F-4BF8-D686-8665-C3B20795D904}"/>
              </a:ext>
            </a:extLst>
          </p:cNvPr>
          <p:cNvSpPr>
            <a:spLocks noChangeArrowheads="1"/>
          </p:cNvSpPr>
          <p:nvPr/>
        </p:nvSpPr>
        <p:spPr bwMode="auto">
          <a:xfrm>
            <a:off x="1255636" y="2067644"/>
            <a:ext cx="108479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Nunito" pitchFamily="2" charset="0"/>
              </a:rPr>
              <a:t> </a:t>
            </a:r>
            <a:r>
              <a:rPr kumimoji="0" lang="en-US" altLang="en-US" sz="2400" b="1" i="0" u="none" strike="noStrike" cap="none" normalizeH="0" baseline="0" dirty="0">
                <a:ln>
                  <a:noFill/>
                </a:ln>
                <a:solidFill>
                  <a:srgbClr val="273239"/>
                </a:solidFill>
                <a:effectLst/>
                <a:latin typeface="Nunito" pitchFamily="2" charset="0"/>
              </a:rPr>
              <a:t>A X B</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9289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78651AC8-B698-F767-CEFE-A2848B44F094}"/>
              </a:ext>
            </a:extLst>
          </p:cNvPr>
          <p:cNvSpPr txBox="1"/>
          <p:nvPr/>
        </p:nvSpPr>
        <p:spPr>
          <a:xfrm>
            <a:off x="1415143" y="544285"/>
            <a:ext cx="9753600" cy="3046988"/>
          </a:xfrm>
          <a:prstGeom prst="rect">
            <a:avLst/>
          </a:prstGeom>
          <a:noFill/>
        </p:spPr>
        <p:txBody>
          <a:bodyPr wrap="square">
            <a:spAutoFit/>
          </a:bodyPr>
          <a:lstStyle/>
          <a:p>
            <a:r>
              <a:rPr lang="en-US" sz="2400" b="1" dirty="0"/>
              <a:t>Derived Operators</a:t>
            </a:r>
          </a:p>
          <a:p>
            <a:r>
              <a:rPr lang="en-US" sz="2400" dirty="0"/>
              <a:t>These are some of the derived operators, which are derived from the fundamental operators.</a:t>
            </a:r>
          </a:p>
          <a:p>
            <a:endParaRPr lang="en-US" sz="2400" dirty="0"/>
          </a:p>
          <a:p>
            <a:pPr marL="285750" indent="-285750">
              <a:buFont typeface="Arial" panose="020B0604020202020204" pitchFamily="34" charset="0"/>
              <a:buChar char="•"/>
            </a:pPr>
            <a:r>
              <a:rPr lang="en-US" sz="2400" b="1" dirty="0"/>
              <a:t>Natural Join(⋈)</a:t>
            </a:r>
          </a:p>
          <a:p>
            <a:pPr marL="285750" indent="-285750">
              <a:buFont typeface="Arial" panose="020B0604020202020204" pitchFamily="34" charset="0"/>
              <a:buChar char="•"/>
            </a:pPr>
            <a:r>
              <a:rPr lang="en-US" sz="2400" b="1" dirty="0"/>
              <a:t>Intersection</a:t>
            </a:r>
          </a:p>
          <a:p>
            <a:pPr marL="285750" indent="-285750">
              <a:buFont typeface="Arial" panose="020B0604020202020204" pitchFamily="34" charset="0"/>
              <a:buChar char="•"/>
            </a:pPr>
            <a:r>
              <a:rPr lang="en-US" sz="2400" b="1" dirty="0"/>
              <a:t>Conditional </a:t>
            </a:r>
            <a:r>
              <a:rPr lang="en-US" sz="2400" b="1" dirty="0" smtClean="0"/>
              <a:t>Join</a:t>
            </a:r>
          </a:p>
          <a:p>
            <a:pPr marL="285750" indent="-285750">
              <a:buFont typeface="Arial" panose="020B0604020202020204" pitchFamily="34" charset="0"/>
              <a:buChar char="•"/>
            </a:pPr>
            <a:r>
              <a:rPr lang="en-US" sz="2400" b="1" dirty="0" smtClean="0"/>
              <a:t>Division</a:t>
            </a:r>
            <a:endParaRPr lang="en-IN" sz="2400" b="1" dirty="0"/>
          </a:p>
        </p:txBody>
      </p:sp>
      <p:sp>
        <p:nvSpPr>
          <p:cNvPr id="10" name="TextBox 9">
            <a:extLst>
              <a:ext uri="{FF2B5EF4-FFF2-40B4-BE49-F238E27FC236}">
                <a16:creationId xmlns:a16="http://schemas.microsoft.com/office/drawing/2014/main" xmlns="" id="{3FF1B5A1-F0CA-FC15-3FD7-9283937ADB30}"/>
              </a:ext>
            </a:extLst>
          </p:cNvPr>
          <p:cNvSpPr txBox="1"/>
          <p:nvPr/>
        </p:nvSpPr>
        <p:spPr>
          <a:xfrm>
            <a:off x="1309007" y="4131493"/>
            <a:ext cx="9859736" cy="1200329"/>
          </a:xfrm>
          <a:prstGeom prst="rect">
            <a:avLst/>
          </a:prstGeom>
          <a:noFill/>
        </p:spPr>
        <p:txBody>
          <a:bodyPr wrap="square">
            <a:spAutoFit/>
          </a:bodyPr>
          <a:lstStyle/>
          <a:p>
            <a:pPr algn="just"/>
            <a:r>
              <a:rPr lang="en-US" sz="2400" b="1" i="0" dirty="0">
                <a:solidFill>
                  <a:srgbClr val="273239"/>
                </a:solidFill>
                <a:effectLst/>
                <a:latin typeface="Nunito" pitchFamily="2" charset="0"/>
              </a:rPr>
              <a:t>1. Natural Join(⋈): </a:t>
            </a:r>
            <a:r>
              <a:rPr lang="en-US" sz="2400" b="0" i="0" dirty="0">
                <a:solidFill>
                  <a:srgbClr val="273239"/>
                </a:solidFill>
                <a:effectLst/>
                <a:latin typeface="Nunito" pitchFamily="2" charset="0"/>
              </a:rPr>
              <a:t>Natural join is a binary operator. Natural join between two or more relations will result in a set of all combinations of tuples where they have an equal common attribute. </a:t>
            </a:r>
            <a:endParaRPr lang="en-IN" sz="2400" dirty="0"/>
          </a:p>
        </p:txBody>
      </p:sp>
    </p:spTree>
    <p:extLst>
      <p:ext uri="{BB962C8B-B14F-4D97-AF65-F5344CB8AC3E}">
        <p14:creationId xmlns:p14="http://schemas.microsoft.com/office/powerpoint/2010/main" val="1451106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1275F8A0-8AB6-B4B3-0085-FABDF221B66C}"/>
              </a:ext>
            </a:extLst>
          </p:cNvPr>
          <p:cNvGraphicFramePr>
            <a:graphicFrameLocks noGrp="1"/>
          </p:cNvGraphicFramePr>
          <p:nvPr>
            <p:extLst>
              <p:ext uri="{D42A27DB-BD31-4B8C-83A1-F6EECF244321}">
                <p14:modId xmlns:p14="http://schemas.microsoft.com/office/powerpoint/2010/main" val="2580400326"/>
              </p:ext>
            </p:extLst>
          </p:nvPr>
        </p:nvGraphicFramePr>
        <p:xfrm>
          <a:off x="188234" y="2111534"/>
          <a:ext cx="5036910" cy="1813560"/>
        </p:xfrm>
        <a:graphic>
          <a:graphicData uri="http://schemas.openxmlformats.org/drawingml/2006/table">
            <a:tbl>
              <a:tblPr>
                <a:tableStyleId>{35758FB7-9AC5-4552-8A53-C91805E547FA}</a:tableStyleId>
              </a:tblPr>
              <a:tblGrid>
                <a:gridCol w="1678970">
                  <a:extLst>
                    <a:ext uri="{9D8B030D-6E8A-4147-A177-3AD203B41FA5}">
                      <a16:colId xmlns:a16="http://schemas.microsoft.com/office/drawing/2014/main" xmlns="" val="615975538"/>
                    </a:ext>
                  </a:extLst>
                </a:gridCol>
                <a:gridCol w="1678970">
                  <a:extLst>
                    <a:ext uri="{9D8B030D-6E8A-4147-A177-3AD203B41FA5}">
                      <a16:colId xmlns:a16="http://schemas.microsoft.com/office/drawing/2014/main" xmlns="" val="1583477003"/>
                    </a:ext>
                  </a:extLst>
                </a:gridCol>
                <a:gridCol w="1678970">
                  <a:extLst>
                    <a:ext uri="{9D8B030D-6E8A-4147-A177-3AD203B41FA5}">
                      <a16:colId xmlns:a16="http://schemas.microsoft.com/office/drawing/2014/main" xmlns="" val="849049150"/>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dirty="0">
                          <a:effectLst/>
                        </a:rPr>
                        <a:t>ID         </a:t>
                      </a:r>
                    </a:p>
                  </a:txBody>
                  <a:tcPr marL="63500" marR="63500" marT="63500" marB="63500" anchor="ctr"/>
                </a:tc>
                <a:tc>
                  <a:txBody>
                    <a:bodyPr/>
                    <a:lstStyle/>
                    <a:p>
                      <a:pPr algn="ctr" fontAlgn="base"/>
                      <a:r>
                        <a:rPr lang="en-IN" sz="1400" b="1">
                          <a:effectLst/>
                        </a:rPr>
                        <a:t>Dept_Name    </a:t>
                      </a:r>
                    </a:p>
                  </a:txBody>
                  <a:tcPr marL="63500" marR="63500" marT="63500" marB="63500" anchor="ctr"/>
                </a:tc>
                <a:extLst>
                  <a:ext uri="{0D108BD9-81ED-4DB2-BD59-A6C34878D82A}">
                    <a16:rowId xmlns:a16="http://schemas.microsoft.com/office/drawing/2014/main" xmlns="" val="3956252656"/>
                  </a:ext>
                </a:extLst>
              </a:tr>
              <a:tr h="0">
                <a:tc>
                  <a:txBody>
                    <a:bodyPr/>
                    <a:lstStyle/>
                    <a:p>
                      <a:pPr algn="ctr" fontAlgn="ctr"/>
                      <a:r>
                        <a:rPr lang="en-IN" sz="1250" b="0">
                          <a:effectLst/>
                        </a:rPr>
                        <a:t>A</a:t>
                      </a:r>
                    </a:p>
                  </a:txBody>
                  <a:tcPr marL="63500" marR="63500" marT="88900" marB="88900" anchor="ctr"/>
                </a:tc>
                <a:tc>
                  <a:txBody>
                    <a:bodyPr/>
                    <a:lstStyle/>
                    <a:p>
                      <a:pPr algn="ctr" fontAlgn="ctr"/>
                      <a:r>
                        <a:rPr lang="en-IN" sz="1250" b="0">
                          <a:effectLst/>
                        </a:rPr>
                        <a:t>120</a:t>
                      </a:r>
                    </a:p>
                  </a:txBody>
                  <a:tcPr marL="63500" marR="63500" marT="88900" marB="88900" anchor="ctr"/>
                </a:tc>
                <a:tc>
                  <a:txBody>
                    <a:bodyPr/>
                    <a:lstStyle/>
                    <a:p>
                      <a:pPr algn="ctr" fontAlgn="ctr"/>
                      <a:r>
                        <a:rPr lang="en-IN" sz="1250" b="0">
                          <a:effectLst/>
                        </a:rPr>
                        <a:t>IT</a:t>
                      </a:r>
                    </a:p>
                  </a:txBody>
                  <a:tcPr marL="63500" marR="63500" marT="88900" marB="88900" anchor="ctr"/>
                </a:tc>
                <a:extLst>
                  <a:ext uri="{0D108BD9-81ED-4DB2-BD59-A6C34878D82A}">
                    <a16:rowId xmlns:a16="http://schemas.microsoft.com/office/drawing/2014/main" xmlns="" val="1075060152"/>
                  </a:ext>
                </a:extLst>
              </a:tr>
              <a:tr h="0">
                <a:tc>
                  <a:txBody>
                    <a:bodyPr/>
                    <a:lstStyle/>
                    <a:p>
                      <a:pPr algn="ctr" fontAlgn="ctr"/>
                      <a:r>
                        <a:rPr lang="en-IN" sz="1250" b="0">
                          <a:effectLst/>
                        </a:rPr>
                        <a:t>B</a:t>
                      </a:r>
                    </a:p>
                  </a:txBody>
                  <a:tcPr marL="63500" marR="63500" marT="88900" marB="88900" anchor="ctr"/>
                </a:tc>
                <a:tc>
                  <a:txBody>
                    <a:bodyPr/>
                    <a:lstStyle/>
                    <a:p>
                      <a:pPr algn="ctr" fontAlgn="ctr"/>
                      <a:r>
                        <a:rPr lang="en-IN" sz="1250" b="0">
                          <a:effectLst/>
                        </a:rPr>
                        <a:t>125</a:t>
                      </a:r>
                    </a:p>
                  </a:txBody>
                  <a:tcPr marL="63500" marR="63500" marT="88900" marB="88900" anchor="ctr"/>
                </a:tc>
                <a:tc>
                  <a:txBody>
                    <a:bodyPr/>
                    <a:lstStyle/>
                    <a:p>
                      <a:pPr algn="ctr" fontAlgn="ctr"/>
                      <a:r>
                        <a:rPr lang="en-IN" sz="1250" b="0">
                          <a:effectLst/>
                        </a:rPr>
                        <a:t>HR</a:t>
                      </a:r>
                    </a:p>
                  </a:txBody>
                  <a:tcPr marL="63500" marR="63500" marT="88900" marB="88900" anchor="ctr"/>
                </a:tc>
                <a:extLst>
                  <a:ext uri="{0D108BD9-81ED-4DB2-BD59-A6C34878D82A}">
                    <a16:rowId xmlns:a16="http://schemas.microsoft.com/office/drawing/2014/main" xmlns="" val="1314194435"/>
                  </a:ext>
                </a:extLst>
              </a:tr>
              <a:tr h="0">
                <a:tc>
                  <a:txBody>
                    <a:bodyPr/>
                    <a:lstStyle/>
                    <a:p>
                      <a:pPr algn="ctr" fontAlgn="ctr"/>
                      <a:r>
                        <a:rPr lang="en-IN" sz="1250" b="0">
                          <a:effectLst/>
                        </a:rPr>
                        <a:t>C</a:t>
                      </a:r>
                    </a:p>
                  </a:txBody>
                  <a:tcPr marL="63500" marR="63500" marT="88900" marB="88900" anchor="ctr"/>
                </a:tc>
                <a:tc>
                  <a:txBody>
                    <a:bodyPr/>
                    <a:lstStyle/>
                    <a:p>
                      <a:pPr algn="ctr" fontAlgn="ctr"/>
                      <a:r>
                        <a:rPr lang="en-IN" sz="1250" b="0">
                          <a:effectLst/>
                        </a:rPr>
                        <a:t>110</a:t>
                      </a:r>
                    </a:p>
                  </a:txBody>
                  <a:tcPr marL="63500" marR="63500" marT="88900" marB="88900" anchor="ctr"/>
                </a:tc>
                <a:tc>
                  <a:txBody>
                    <a:bodyPr/>
                    <a:lstStyle/>
                    <a:p>
                      <a:pPr algn="ctr" fontAlgn="ctr"/>
                      <a:r>
                        <a:rPr lang="en-IN" sz="1250" b="0">
                          <a:effectLst/>
                        </a:rPr>
                        <a:t>Sales</a:t>
                      </a:r>
                    </a:p>
                  </a:txBody>
                  <a:tcPr marL="63500" marR="63500" marT="88900" marB="88900" anchor="ctr"/>
                </a:tc>
                <a:extLst>
                  <a:ext uri="{0D108BD9-81ED-4DB2-BD59-A6C34878D82A}">
                    <a16:rowId xmlns:a16="http://schemas.microsoft.com/office/drawing/2014/main" xmlns="" val="3025956149"/>
                  </a:ext>
                </a:extLst>
              </a:tr>
              <a:tr h="0">
                <a:tc>
                  <a:txBody>
                    <a:bodyPr/>
                    <a:lstStyle/>
                    <a:p>
                      <a:pPr algn="ctr" fontAlgn="ctr"/>
                      <a:r>
                        <a:rPr lang="en-IN" sz="1250" b="0">
                          <a:effectLst/>
                        </a:rPr>
                        <a:t>D</a:t>
                      </a:r>
                    </a:p>
                  </a:txBody>
                  <a:tcPr marL="63500" marR="63500" marT="88900" marB="88900" anchor="ctr"/>
                </a:tc>
                <a:tc>
                  <a:txBody>
                    <a:bodyPr/>
                    <a:lstStyle/>
                    <a:p>
                      <a:pPr algn="ctr" fontAlgn="ctr"/>
                      <a:r>
                        <a:rPr lang="en-IN" sz="1250" b="0">
                          <a:effectLst/>
                        </a:rPr>
                        <a:t>111</a:t>
                      </a:r>
                    </a:p>
                  </a:txBody>
                  <a:tcPr marL="63500" marR="63500" marT="88900" marB="88900" anchor="ctr"/>
                </a:tc>
                <a:tc>
                  <a:txBody>
                    <a:bodyPr/>
                    <a:lstStyle/>
                    <a:p>
                      <a:pPr algn="ctr" fontAlgn="ctr"/>
                      <a:r>
                        <a:rPr lang="en-IN" sz="1250" b="0" dirty="0">
                          <a:effectLst/>
                        </a:rPr>
                        <a:t>IT</a:t>
                      </a:r>
                    </a:p>
                  </a:txBody>
                  <a:tcPr marL="63500" marR="63500" marT="88900" marB="88900" anchor="ctr"/>
                </a:tc>
                <a:extLst>
                  <a:ext uri="{0D108BD9-81ED-4DB2-BD59-A6C34878D82A}">
                    <a16:rowId xmlns:a16="http://schemas.microsoft.com/office/drawing/2014/main" xmlns="" val="3744486020"/>
                  </a:ext>
                </a:extLst>
              </a:tr>
            </a:tbl>
          </a:graphicData>
        </a:graphic>
      </p:graphicFrame>
      <p:graphicFrame>
        <p:nvGraphicFramePr>
          <p:cNvPr id="3" name="Table 2">
            <a:extLst>
              <a:ext uri="{FF2B5EF4-FFF2-40B4-BE49-F238E27FC236}">
                <a16:creationId xmlns:a16="http://schemas.microsoft.com/office/drawing/2014/main" xmlns="" id="{7F23452E-7C0A-4B0E-901E-60F1B49E9F43}"/>
              </a:ext>
            </a:extLst>
          </p:cNvPr>
          <p:cNvGraphicFramePr>
            <a:graphicFrameLocks noGrp="1"/>
          </p:cNvGraphicFramePr>
          <p:nvPr>
            <p:extLst>
              <p:ext uri="{D42A27DB-BD31-4B8C-83A1-F6EECF244321}">
                <p14:modId xmlns:p14="http://schemas.microsoft.com/office/powerpoint/2010/main" val="2172475978"/>
              </p:ext>
            </p:extLst>
          </p:nvPr>
        </p:nvGraphicFramePr>
        <p:xfrm>
          <a:off x="6850290" y="2111534"/>
          <a:ext cx="4699454" cy="1445260"/>
        </p:xfrm>
        <a:graphic>
          <a:graphicData uri="http://schemas.openxmlformats.org/drawingml/2006/table">
            <a:tbl>
              <a:tblPr>
                <a:tableStyleId>{69C7853C-536D-4A76-A0AE-DD22124D55A5}</a:tableStyleId>
              </a:tblPr>
              <a:tblGrid>
                <a:gridCol w="2349727">
                  <a:extLst>
                    <a:ext uri="{9D8B030D-6E8A-4147-A177-3AD203B41FA5}">
                      <a16:colId xmlns:a16="http://schemas.microsoft.com/office/drawing/2014/main" xmlns="" val="1214923600"/>
                    </a:ext>
                  </a:extLst>
                </a:gridCol>
                <a:gridCol w="2349727">
                  <a:extLst>
                    <a:ext uri="{9D8B030D-6E8A-4147-A177-3AD203B41FA5}">
                      <a16:colId xmlns:a16="http://schemas.microsoft.com/office/drawing/2014/main" xmlns="" val="3523902162"/>
                    </a:ext>
                  </a:extLst>
                </a:gridCol>
              </a:tblGrid>
              <a:tr h="340360">
                <a:tc>
                  <a:txBody>
                    <a:bodyPr/>
                    <a:lstStyle/>
                    <a:p>
                      <a:pPr algn="ctr" fontAlgn="base"/>
                      <a:r>
                        <a:rPr lang="en-IN" sz="1400" b="1">
                          <a:effectLst/>
                        </a:rPr>
                        <a:t>Dept_Name     </a:t>
                      </a:r>
                    </a:p>
                  </a:txBody>
                  <a:tcPr marL="38100" marR="38100" marT="63500" marB="63500" anchor="ctr"/>
                </a:tc>
                <a:tc>
                  <a:txBody>
                    <a:bodyPr/>
                    <a:lstStyle/>
                    <a:p>
                      <a:pPr algn="ctr" fontAlgn="base"/>
                      <a:r>
                        <a:rPr lang="en-IN" sz="1400" b="1">
                          <a:effectLst/>
                        </a:rPr>
                        <a:t>Manager     </a:t>
                      </a:r>
                    </a:p>
                  </a:txBody>
                  <a:tcPr marL="63500" marR="63500" marT="63500" marB="63500" anchor="ctr"/>
                </a:tc>
                <a:extLst>
                  <a:ext uri="{0D108BD9-81ED-4DB2-BD59-A6C34878D82A}">
                    <a16:rowId xmlns:a16="http://schemas.microsoft.com/office/drawing/2014/main" xmlns="" val="3296012284"/>
                  </a:ext>
                </a:extLst>
              </a:tr>
              <a:tr h="368300">
                <a:tc>
                  <a:txBody>
                    <a:bodyPr/>
                    <a:lstStyle/>
                    <a:p>
                      <a:pPr algn="ctr" fontAlgn="ctr"/>
                      <a:r>
                        <a:rPr lang="en-IN" sz="1200" b="0">
                          <a:effectLst/>
                        </a:rPr>
                        <a:t>Sales</a:t>
                      </a:r>
                    </a:p>
                  </a:txBody>
                  <a:tcPr marL="63500" marR="63500" marT="88900" marB="88900" anchor="ctr"/>
                </a:tc>
                <a:tc>
                  <a:txBody>
                    <a:bodyPr/>
                    <a:lstStyle/>
                    <a:p>
                      <a:pPr algn="ctr" fontAlgn="ctr"/>
                      <a:r>
                        <a:rPr lang="en-IN" sz="1200" b="0">
                          <a:effectLst/>
                        </a:rPr>
                        <a:t>Y</a:t>
                      </a:r>
                    </a:p>
                  </a:txBody>
                  <a:tcPr marL="63500" marR="63500" marT="88900" marB="88900" anchor="ctr"/>
                </a:tc>
                <a:extLst>
                  <a:ext uri="{0D108BD9-81ED-4DB2-BD59-A6C34878D82A}">
                    <a16:rowId xmlns:a16="http://schemas.microsoft.com/office/drawing/2014/main" xmlns="" val="144666577"/>
                  </a:ext>
                </a:extLst>
              </a:tr>
              <a:tr h="368300">
                <a:tc>
                  <a:txBody>
                    <a:bodyPr/>
                    <a:lstStyle/>
                    <a:p>
                      <a:pPr algn="ctr" fontAlgn="ctr"/>
                      <a:r>
                        <a:rPr lang="en-IN" sz="1200" b="0">
                          <a:effectLst/>
                        </a:rPr>
                        <a:t>Production</a:t>
                      </a:r>
                    </a:p>
                  </a:txBody>
                  <a:tcPr marL="63500" marR="63500" marT="88900" marB="88900" anchor="ctr"/>
                </a:tc>
                <a:tc>
                  <a:txBody>
                    <a:bodyPr/>
                    <a:lstStyle/>
                    <a:p>
                      <a:pPr algn="ctr" fontAlgn="ctr"/>
                      <a:r>
                        <a:rPr lang="en-IN" sz="1200" b="0">
                          <a:effectLst/>
                        </a:rPr>
                        <a:t>Z</a:t>
                      </a:r>
                    </a:p>
                  </a:txBody>
                  <a:tcPr marL="63500" marR="63500" marT="88900" marB="88900" anchor="ctr"/>
                </a:tc>
                <a:extLst>
                  <a:ext uri="{0D108BD9-81ED-4DB2-BD59-A6C34878D82A}">
                    <a16:rowId xmlns:a16="http://schemas.microsoft.com/office/drawing/2014/main" xmlns="" val="3320112014"/>
                  </a:ext>
                </a:extLst>
              </a:tr>
              <a:tr h="368300">
                <a:tc>
                  <a:txBody>
                    <a:bodyPr/>
                    <a:lstStyle/>
                    <a:p>
                      <a:pPr algn="ctr" fontAlgn="ctr"/>
                      <a:r>
                        <a:rPr lang="en-IN" sz="1200" b="0">
                          <a:effectLst/>
                        </a:rPr>
                        <a:t>IT</a:t>
                      </a:r>
                    </a:p>
                  </a:txBody>
                  <a:tcPr marL="63500" marR="63500" marT="88900" marB="88900" anchor="ctr"/>
                </a:tc>
                <a:tc>
                  <a:txBody>
                    <a:bodyPr/>
                    <a:lstStyle/>
                    <a:p>
                      <a:pPr algn="ctr" fontAlgn="ctr"/>
                      <a:r>
                        <a:rPr lang="en-IN" sz="1200" b="0" dirty="0">
                          <a:effectLst/>
                        </a:rPr>
                        <a:t>A</a:t>
                      </a:r>
                    </a:p>
                  </a:txBody>
                  <a:tcPr marL="63500" marR="63500" marT="88900" marB="88900" anchor="ctr"/>
                </a:tc>
                <a:extLst>
                  <a:ext uri="{0D108BD9-81ED-4DB2-BD59-A6C34878D82A}">
                    <a16:rowId xmlns:a16="http://schemas.microsoft.com/office/drawing/2014/main" xmlns="" val="2128711285"/>
                  </a:ext>
                </a:extLst>
              </a:tr>
            </a:tbl>
          </a:graphicData>
        </a:graphic>
      </p:graphicFrame>
      <p:sp>
        <p:nvSpPr>
          <p:cNvPr id="8" name="TextBox 7">
            <a:extLst>
              <a:ext uri="{FF2B5EF4-FFF2-40B4-BE49-F238E27FC236}">
                <a16:creationId xmlns:a16="http://schemas.microsoft.com/office/drawing/2014/main" xmlns="" id="{1A3821AB-E365-C97F-C35F-2BF47FF0FFC0}"/>
              </a:ext>
            </a:extLst>
          </p:cNvPr>
          <p:cNvSpPr txBox="1"/>
          <p:nvPr/>
        </p:nvSpPr>
        <p:spPr>
          <a:xfrm>
            <a:off x="478971" y="1545771"/>
            <a:ext cx="1513115" cy="369332"/>
          </a:xfrm>
          <a:prstGeom prst="rect">
            <a:avLst/>
          </a:prstGeom>
          <a:noFill/>
        </p:spPr>
        <p:txBody>
          <a:bodyPr wrap="square" rtlCol="0">
            <a:spAutoFit/>
          </a:bodyPr>
          <a:lstStyle/>
          <a:p>
            <a:r>
              <a:rPr lang="en-US" dirty="0"/>
              <a:t>DEPT</a:t>
            </a:r>
            <a:endParaRPr lang="en-IN" dirty="0"/>
          </a:p>
        </p:txBody>
      </p:sp>
      <p:sp>
        <p:nvSpPr>
          <p:cNvPr id="9" name="TextBox 8">
            <a:extLst>
              <a:ext uri="{FF2B5EF4-FFF2-40B4-BE49-F238E27FC236}">
                <a16:creationId xmlns:a16="http://schemas.microsoft.com/office/drawing/2014/main" xmlns="" id="{3D89E1E3-A4FC-6FCF-D03D-ACCBC7CC6471}"/>
              </a:ext>
            </a:extLst>
          </p:cNvPr>
          <p:cNvSpPr txBox="1"/>
          <p:nvPr/>
        </p:nvSpPr>
        <p:spPr>
          <a:xfrm>
            <a:off x="6850290" y="1523608"/>
            <a:ext cx="1513115" cy="369332"/>
          </a:xfrm>
          <a:prstGeom prst="rect">
            <a:avLst/>
          </a:prstGeom>
          <a:noFill/>
        </p:spPr>
        <p:txBody>
          <a:bodyPr wrap="square" rtlCol="0">
            <a:spAutoFit/>
          </a:bodyPr>
          <a:lstStyle/>
          <a:p>
            <a:r>
              <a:rPr lang="en-US" dirty="0"/>
              <a:t>EMP</a:t>
            </a:r>
            <a:endParaRPr lang="en-IN" dirty="0"/>
          </a:p>
        </p:txBody>
      </p:sp>
    </p:spTree>
    <p:extLst>
      <p:ext uri="{BB962C8B-B14F-4D97-AF65-F5344CB8AC3E}">
        <p14:creationId xmlns:p14="http://schemas.microsoft.com/office/powerpoint/2010/main" val="3644814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1FADADC7-F15D-C18E-3C53-C3FC8DD445C4}"/>
              </a:ext>
            </a:extLst>
          </p:cNvPr>
          <p:cNvGraphicFramePr>
            <a:graphicFrameLocks noGrp="1"/>
          </p:cNvGraphicFramePr>
          <p:nvPr>
            <p:extLst>
              <p:ext uri="{D42A27DB-BD31-4B8C-83A1-F6EECF244321}">
                <p14:modId xmlns:p14="http://schemas.microsoft.com/office/powerpoint/2010/main" val="3535339452"/>
              </p:ext>
            </p:extLst>
          </p:nvPr>
        </p:nvGraphicFramePr>
        <p:xfrm>
          <a:off x="2985858" y="2212771"/>
          <a:ext cx="5211084" cy="1658620"/>
        </p:xfrm>
        <a:graphic>
          <a:graphicData uri="http://schemas.openxmlformats.org/drawingml/2006/table">
            <a:tbl>
              <a:tblPr>
                <a:tableStyleId>{284E427A-3D55-4303-BF80-6455036E1DE7}</a:tableStyleId>
              </a:tblPr>
              <a:tblGrid>
                <a:gridCol w="1302771">
                  <a:extLst>
                    <a:ext uri="{9D8B030D-6E8A-4147-A177-3AD203B41FA5}">
                      <a16:colId xmlns:a16="http://schemas.microsoft.com/office/drawing/2014/main" xmlns="" val="3751807555"/>
                    </a:ext>
                  </a:extLst>
                </a:gridCol>
                <a:gridCol w="1302771">
                  <a:extLst>
                    <a:ext uri="{9D8B030D-6E8A-4147-A177-3AD203B41FA5}">
                      <a16:colId xmlns:a16="http://schemas.microsoft.com/office/drawing/2014/main" xmlns="" val="3839276466"/>
                    </a:ext>
                  </a:extLst>
                </a:gridCol>
                <a:gridCol w="1302771">
                  <a:extLst>
                    <a:ext uri="{9D8B030D-6E8A-4147-A177-3AD203B41FA5}">
                      <a16:colId xmlns:a16="http://schemas.microsoft.com/office/drawing/2014/main" xmlns="" val="1119785837"/>
                    </a:ext>
                  </a:extLst>
                </a:gridCol>
                <a:gridCol w="1302771">
                  <a:extLst>
                    <a:ext uri="{9D8B030D-6E8A-4147-A177-3AD203B41FA5}">
                      <a16:colId xmlns:a16="http://schemas.microsoft.com/office/drawing/2014/main" xmlns="" val="3631052000"/>
                    </a:ext>
                  </a:extLst>
                </a:gridCol>
              </a:tblGrid>
              <a:tr h="34036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ID         </a:t>
                      </a:r>
                    </a:p>
                  </a:txBody>
                  <a:tcPr marL="63500" marR="63500" marT="63500" marB="63500" anchor="ctr"/>
                </a:tc>
                <a:tc>
                  <a:txBody>
                    <a:bodyPr/>
                    <a:lstStyle/>
                    <a:p>
                      <a:pPr algn="ctr" fontAlgn="base"/>
                      <a:r>
                        <a:rPr lang="en-IN" sz="1400" b="1">
                          <a:effectLst/>
                        </a:rPr>
                        <a:t>Dept_Name     </a:t>
                      </a:r>
                    </a:p>
                  </a:txBody>
                  <a:tcPr marL="63500" marR="63500" marT="63500" marB="63500" anchor="ctr"/>
                </a:tc>
                <a:tc>
                  <a:txBody>
                    <a:bodyPr/>
                    <a:lstStyle/>
                    <a:p>
                      <a:pPr algn="ctr" fontAlgn="base"/>
                      <a:r>
                        <a:rPr lang="en-IN" sz="1400" b="1">
                          <a:effectLst/>
                        </a:rPr>
                        <a:t>Manager     </a:t>
                      </a:r>
                    </a:p>
                  </a:txBody>
                  <a:tcPr marL="63500" marR="63500" marT="63500" marB="63500" anchor="ctr"/>
                </a:tc>
                <a:extLst>
                  <a:ext uri="{0D108BD9-81ED-4DB2-BD59-A6C34878D82A}">
                    <a16:rowId xmlns:a16="http://schemas.microsoft.com/office/drawing/2014/main" xmlns="" val="606759340"/>
                  </a:ext>
                </a:extLst>
              </a:tr>
              <a:tr h="368300">
                <a:tc>
                  <a:txBody>
                    <a:bodyPr/>
                    <a:lstStyle/>
                    <a:p>
                      <a:pPr algn="ctr" fontAlgn="ctr"/>
                      <a:r>
                        <a:rPr lang="en-IN" sz="1200" b="0">
                          <a:effectLst/>
                        </a:rPr>
                        <a:t>A</a:t>
                      </a:r>
                    </a:p>
                  </a:txBody>
                  <a:tcPr marL="63500" marR="63500" marT="88900" marB="88900" anchor="ctr"/>
                </a:tc>
                <a:tc>
                  <a:txBody>
                    <a:bodyPr/>
                    <a:lstStyle/>
                    <a:p>
                      <a:pPr algn="ctr" fontAlgn="ctr"/>
                      <a:r>
                        <a:rPr lang="en-IN" sz="1200" b="0" dirty="0">
                          <a:effectLst/>
                        </a:rPr>
                        <a:t>120</a:t>
                      </a:r>
                    </a:p>
                  </a:txBody>
                  <a:tcPr marL="63500" marR="63500" marT="88900" marB="88900" anchor="ctr"/>
                </a:tc>
                <a:tc>
                  <a:txBody>
                    <a:bodyPr/>
                    <a:lstStyle/>
                    <a:p>
                      <a:pPr algn="ctr" fontAlgn="ctr"/>
                      <a:r>
                        <a:rPr lang="en-IN" sz="1200" b="0">
                          <a:effectLst/>
                        </a:rPr>
                        <a:t>IT</a:t>
                      </a:r>
                    </a:p>
                  </a:txBody>
                  <a:tcPr marL="63500" marR="63500" marT="88900" marB="88900" anchor="ctr"/>
                </a:tc>
                <a:tc>
                  <a:txBody>
                    <a:bodyPr/>
                    <a:lstStyle/>
                    <a:p>
                      <a:pPr algn="ctr" fontAlgn="ctr"/>
                      <a:r>
                        <a:rPr lang="en-IN" sz="1200" b="0">
                          <a:effectLst/>
                        </a:rPr>
                        <a:t>A</a:t>
                      </a:r>
                    </a:p>
                  </a:txBody>
                  <a:tcPr marL="63500" marR="63500" marT="88900" marB="88900" anchor="ctr"/>
                </a:tc>
                <a:extLst>
                  <a:ext uri="{0D108BD9-81ED-4DB2-BD59-A6C34878D82A}">
                    <a16:rowId xmlns:a16="http://schemas.microsoft.com/office/drawing/2014/main" xmlns="" val="1854147554"/>
                  </a:ext>
                </a:extLst>
              </a:tr>
              <a:tr h="368300">
                <a:tc>
                  <a:txBody>
                    <a:bodyPr/>
                    <a:lstStyle/>
                    <a:p>
                      <a:pPr algn="ctr" fontAlgn="ctr"/>
                      <a:r>
                        <a:rPr lang="en-IN" sz="1200" b="0">
                          <a:effectLst/>
                        </a:rPr>
                        <a:t>C</a:t>
                      </a:r>
                    </a:p>
                  </a:txBody>
                  <a:tcPr marL="63500" marR="63500" marT="88900" marB="88900" anchor="ctr"/>
                </a:tc>
                <a:tc>
                  <a:txBody>
                    <a:bodyPr/>
                    <a:lstStyle/>
                    <a:p>
                      <a:pPr algn="ctr" fontAlgn="ctr"/>
                      <a:r>
                        <a:rPr lang="en-IN" sz="1200" b="0">
                          <a:effectLst/>
                        </a:rPr>
                        <a:t>110</a:t>
                      </a:r>
                    </a:p>
                  </a:txBody>
                  <a:tcPr marL="63500" marR="63500" marT="88900" marB="88900" anchor="ctr"/>
                </a:tc>
                <a:tc>
                  <a:txBody>
                    <a:bodyPr/>
                    <a:lstStyle/>
                    <a:p>
                      <a:pPr algn="ctr" fontAlgn="ctr"/>
                      <a:r>
                        <a:rPr lang="en-IN" sz="1200" b="0">
                          <a:effectLst/>
                        </a:rPr>
                        <a:t>Sales</a:t>
                      </a:r>
                    </a:p>
                  </a:txBody>
                  <a:tcPr marL="63500" marR="63500" marT="88900" marB="88900" anchor="ctr"/>
                </a:tc>
                <a:tc>
                  <a:txBody>
                    <a:bodyPr/>
                    <a:lstStyle/>
                    <a:p>
                      <a:pPr algn="ctr" fontAlgn="ctr"/>
                      <a:r>
                        <a:rPr lang="en-IN" sz="1200" b="0">
                          <a:effectLst/>
                        </a:rPr>
                        <a:t>Y</a:t>
                      </a:r>
                    </a:p>
                  </a:txBody>
                  <a:tcPr marL="63500" marR="63500" marT="88900" marB="88900" anchor="ctr"/>
                </a:tc>
                <a:extLst>
                  <a:ext uri="{0D108BD9-81ED-4DB2-BD59-A6C34878D82A}">
                    <a16:rowId xmlns:a16="http://schemas.microsoft.com/office/drawing/2014/main" xmlns="" val="2671417758"/>
                  </a:ext>
                </a:extLst>
              </a:tr>
              <a:tr h="368300">
                <a:tc>
                  <a:txBody>
                    <a:bodyPr/>
                    <a:lstStyle/>
                    <a:p>
                      <a:pPr algn="ctr" fontAlgn="ctr"/>
                      <a:r>
                        <a:rPr lang="en-IN" sz="1200" b="0">
                          <a:effectLst/>
                        </a:rPr>
                        <a:t>D</a:t>
                      </a:r>
                    </a:p>
                  </a:txBody>
                  <a:tcPr marL="63500" marR="63500" marT="88900" marB="88900" anchor="ctr"/>
                </a:tc>
                <a:tc>
                  <a:txBody>
                    <a:bodyPr/>
                    <a:lstStyle/>
                    <a:p>
                      <a:pPr algn="ctr" fontAlgn="ctr"/>
                      <a:r>
                        <a:rPr lang="en-IN" sz="1200" b="0">
                          <a:effectLst/>
                        </a:rPr>
                        <a:t>111</a:t>
                      </a:r>
                    </a:p>
                  </a:txBody>
                  <a:tcPr marL="63500" marR="63500" marT="88900" marB="88900" anchor="ctr"/>
                </a:tc>
                <a:tc>
                  <a:txBody>
                    <a:bodyPr/>
                    <a:lstStyle/>
                    <a:p>
                      <a:pPr algn="ctr" fontAlgn="ctr"/>
                      <a:r>
                        <a:rPr lang="en-IN" sz="1200" b="0">
                          <a:effectLst/>
                        </a:rPr>
                        <a:t>IT</a:t>
                      </a:r>
                    </a:p>
                  </a:txBody>
                  <a:tcPr marL="63500" marR="63500" marT="88900" marB="88900" anchor="ctr"/>
                </a:tc>
                <a:tc>
                  <a:txBody>
                    <a:bodyPr/>
                    <a:lstStyle/>
                    <a:p>
                      <a:pPr algn="ctr" fontAlgn="ctr"/>
                      <a:r>
                        <a:rPr lang="en-IN" sz="1200" b="0" dirty="0">
                          <a:effectLst/>
                        </a:rPr>
                        <a:t>A</a:t>
                      </a:r>
                    </a:p>
                  </a:txBody>
                  <a:tcPr marL="63500" marR="63500" marT="88900" marB="88900" anchor="ctr"/>
                </a:tc>
                <a:extLst>
                  <a:ext uri="{0D108BD9-81ED-4DB2-BD59-A6C34878D82A}">
                    <a16:rowId xmlns:a16="http://schemas.microsoft.com/office/drawing/2014/main" xmlns="" val="436087883"/>
                  </a:ext>
                </a:extLst>
              </a:tr>
            </a:tbl>
          </a:graphicData>
        </a:graphic>
      </p:graphicFrame>
      <p:sp>
        <p:nvSpPr>
          <p:cNvPr id="3" name="Rectangle 1">
            <a:extLst>
              <a:ext uri="{FF2B5EF4-FFF2-40B4-BE49-F238E27FC236}">
                <a16:creationId xmlns:a16="http://schemas.microsoft.com/office/drawing/2014/main" xmlns="" id="{5731B2A1-4069-B274-3598-3049B351E5D8}"/>
              </a:ext>
            </a:extLst>
          </p:cNvPr>
          <p:cNvSpPr>
            <a:spLocks noChangeArrowheads="1"/>
          </p:cNvSpPr>
          <p:nvPr/>
        </p:nvSpPr>
        <p:spPr bwMode="auto">
          <a:xfrm>
            <a:off x="884916" y="816822"/>
            <a:ext cx="9412969"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Natural join between EMP and DEPT with condition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rgbClr val="273239"/>
                </a:solidFill>
                <a:effectLst/>
                <a:latin typeface="Nunito" pitchFamily="2" charset="0"/>
              </a:rPr>
              <a:t>EMP.Dept_Name</a:t>
            </a:r>
            <a:r>
              <a:rPr kumimoji="0" lang="en-US" altLang="en-US" b="1" i="0" u="none" strike="noStrike" cap="none" normalizeH="0" baseline="0" dirty="0">
                <a:ln>
                  <a:noFill/>
                </a:ln>
                <a:solidFill>
                  <a:srgbClr val="273239"/>
                </a:solidFill>
                <a:effectLst/>
                <a:latin typeface="Nunito" pitchFamily="2" charset="0"/>
              </a:rPr>
              <a:t> = </a:t>
            </a:r>
            <a:r>
              <a:rPr kumimoji="0" lang="en-US" altLang="en-US" b="1" i="0" u="none" strike="noStrike" cap="none" normalizeH="0" baseline="0" dirty="0" err="1">
                <a:ln>
                  <a:noFill/>
                </a:ln>
                <a:solidFill>
                  <a:srgbClr val="273239"/>
                </a:solidFill>
                <a:effectLst/>
                <a:latin typeface="Nunito" pitchFamily="2" charset="0"/>
              </a:rPr>
              <a:t>DEPT.Dept_Name</a:t>
            </a:r>
            <a:r>
              <a:rPr kumimoji="0" lang="en-US" altLang="en-US" b="0" i="0" u="none" strike="noStrike" cap="none" normalizeH="0" baseline="0" dirty="0">
                <a:ln>
                  <a:noFill/>
                </a:ln>
                <a:solidFill>
                  <a:srgbClr val="273239"/>
                </a:solidFill>
                <a:effectLst/>
                <a:latin typeface="Nunito" pitchFamily="2" charset="0"/>
              </a:rPr>
              <a:t>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  </a:t>
            </a:r>
            <a:r>
              <a:rPr kumimoji="0" lang="en-US" altLang="en-US" b="1" i="0" u="none" strike="noStrike" cap="none" normalizeH="0" baseline="0" dirty="0">
                <a:ln>
                  <a:noFill/>
                </a:ln>
                <a:solidFill>
                  <a:srgbClr val="273239"/>
                </a:solidFill>
                <a:effectLst/>
                <a:latin typeface="Nunito" pitchFamily="2" charset="0"/>
              </a:rPr>
              <a:t>EMP ⋈ DEPT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16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11D32DBC-15C1-0C5D-8404-7052888FFF48}"/>
              </a:ext>
            </a:extLst>
          </p:cNvPr>
          <p:cNvSpPr txBox="1"/>
          <p:nvPr/>
        </p:nvSpPr>
        <p:spPr>
          <a:xfrm>
            <a:off x="1371598" y="1001486"/>
            <a:ext cx="9786257" cy="2677656"/>
          </a:xfrm>
          <a:prstGeom prst="rect">
            <a:avLst/>
          </a:prstGeom>
          <a:noFill/>
        </p:spPr>
        <p:txBody>
          <a:bodyPr wrap="square">
            <a:spAutoFit/>
          </a:bodyPr>
          <a:lstStyle/>
          <a:p>
            <a:r>
              <a:rPr lang="en-US" sz="2400" dirty="0"/>
              <a:t> </a:t>
            </a:r>
            <a:r>
              <a:rPr lang="en-US" sz="2400" b="1" dirty="0"/>
              <a:t>Set Intersection(∩): </a:t>
            </a:r>
            <a:r>
              <a:rPr lang="en-US" sz="2400" dirty="0"/>
              <a:t>Set Intersection in relational algebra is the same set intersection operation in set theory.</a:t>
            </a:r>
          </a:p>
          <a:p>
            <a:endParaRPr lang="en-US" sz="2400" dirty="0"/>
          </a:p>
          <a:p>
            <a:r>
              <a:rPr lang="en-US" sz="2400" dirty="0"/>
              <a:t>Example: From the above table of FRENCH and GERMAN, the Set Intersection is used as follows</a:t>
            </a:r>
          </a:p>
          <a:p>
            <a:endParaRPr lang="en-US" sz="2400" dirty="0"/>
          </a:p>
          <a:p>
            <a:r>
              <a:rPr lang="en-US" sz="2400" dirty="0"/>
              <a:t>π(</a:t>
            </a:r>
            <a:r>
              <a:rPr lang="en-US" sz="2400" dirty="0" err="1"/>
              <a:t>Student_Name</a:t>
            </a:r>
            <a:r>
              <a:rPr lang="en-US" sz="2400" dirty="0"/>
              <a:t>)FRENCH ∩ π(</a:t>
            </a:r>
            <a:r>
              <a:rPr lang="en-US" sz="2400" dirty="0" err="1"/>
              <a:t>Student_Name</a:t>
            </a:r>
            <a:r>
              <a:rPr lang="en-US" sz="2400" dirty="0"/>
              <a:t>)GERMAN</a:t>
            </a:r>
            <a:endParaRPr lang="en-IN" sz="2400" dirty="0"/>
          </a:p>
        </p:txBody>
      </p:sp>
      <p:graphicFrame>
        <p:nvGraphicFramePr>
          <p:cNvPr id="10" name="Table 9">
            <a:extLst>
              <a:ext uri="{FF2B5EF4-FFF2-40B4-BE49-F238E27FC236}">
                <a16:creationId xmlns:a16="http://schemas.microsoft.com/office/drawing/2014/main" xmlns="" id="{00570B96-3A2F-7AA3-4779-1B8AE99FE2DF}"/>
              </a:ext>
            </a:extLst>
          </p:cNvPr>
          <p:cNvGraphicFramePr>
            <a:graphicFrameLocks noGrp="1"/>
          </p:cNvGraphicFramePr>
          <p:nvPr/>
        </p:nvGraphicFramePr>
        <p:xfrm>
          <a:off x="5203371" y="3888264"/>
          <a:ext cx="1393372" cy="1076960"/>
        </p:xfrm>
        <a:graphic>
          <a:graphicData uri="http://schemas.openxmlformats.org/drawingml/2006/table">
            <a:tbl>
              <a:tblPr>
                <a:tableStyleId>{775DCB02-9BB8-47FD-8907-85C794F793BA}</a:tableStyleId>
              </a:tblPr>
              <a:tblGrid>
                <a:gridCol w="1393372">
                  <a:extLst>
                    <a:ext uri="{9D8B030D-6E8A-4147-A177-3AD203B41FA5}">
                      <a16:colId xmlns:a16="http://schemas.microsoft.com/office/drawing/2014/main" xmlns="" val="4239640444"/>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xmlns="" val="2244820426"/>
                  </a:ext>
                </a:extLst>
              </a:tr>
              <a:tr h="0">
                <a:tc>
                  <a:txBody>
                    <a:bodyPr/>
                    <a:lstStyle/>
                    <a:p>
                      <a:pPr algn="ctr" fontAlgn="ctr"/>
                      <a:r>
                        <a:rPr lang="en-IN" sz="1250" b="0">
                          <a:effectLst/>
                        </a:rPr>
                        <a:t>Vivek</a:t>
                      </a:r>
                    </a:p>
                  </a:txBody>
                  <a:tcPr marL="63500" marR="63500" marT="88900" marB="88900" anchor="ctr"/>
                </a:tc>
                <a:extLst>
                  <a:ext uri="{0D108BD9-81ED-4DB2-BD59-A6C34878D82A}">
                    <a16:rowId xmlns:a16="http://schemas.microsoft.com/office/drawing/2014/main" xmlns="" val="1100059991"/>
                  </a:ext>
                </a:extLst>
              </a:tr>
              <a:tr h="0">
                <a:tc>
                  <a:txBody>
                    <a:bodyPr/>
                    <a:lstStyle/>
                    <a:p>
                      <a:pPr algn="ctr" fontAlgn="ctr"/>
                      <a:r>
                        <a:rPr lang="en-IN" sz="1250" b="0" dirty="0">
                          <a:effectLst/>
                        </a:rPr>
                        <a:t>Geeta</a:t>
                      </a:r>
                    </a:p>
                  </a:txBody>
                  <a:tcPr marL="63500" marR="63500" marT="88900" marB="88900" anchor="ctr"/>
                </a:tc>
                <a:extLst>
                  <a:ext uri="{0D108BD9-81ED-4DB2-BD59-A6C34878D82A}">
                    <a16:rowId xmlns:a16="http://schemas.microsoft.com/office/drawing/2014/main" xmlns="" val="1207329441"/>
                  </a:ext>
                </a:extLst>
              </a:tr>
            </a:tbl>
          </a:graphicData>
        </a:graphic>
      </p:graphicFrame>
      <p:sp>
        <p:nvSpPr>
          <p:cNvPr id="13" name="TextBox 12">
            <a:extLst>
              <a:ext uri="{FF2B5EF4-FFF2-40B4-BE49-F238E27FC236}">
                <a16:creationId xmlns:a16="http://schemas.microsoft.com/office/drawing/2014/main" xmlns="" id="{ED492DD0-DEC9-ED73-6A90-3311520E1CA0}"/>
              </a:ext>
            </a:extLst>
          </p:cNvPr>
          <p:cNvSpPr txBox="1"/>
          <p:nvPr/>
        </p:nvSpPr>
        <p:spPr>
          <a:xfrm>
            <a:off x="1371597" y="5174346"/>
            <a:ext cx="10101945"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Set Difference between two relations is that both relations must have the same set of Attributes.</a:t>
            </a:r>
            <a:endParaRPr lang="en-IN" dirty="0"/>
          </a:p>
        </p:txBody>
      </p:sp>
    </p:spTree>
    <p:extLst>
      <p:ext uri="{BB962C8B-B14F-4D97-AF65-F5344CB8AC3E}">
        <p14:creationId xmlns:p14="http://schemas.microsoft.com/office/powerpoint/2010/main" val="2269609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SQL | DIVISION</a:t>
            </a:r>
            <a:br>
              <a:rPr lang="en-IN" b="1" dirty="0"/>
            </a:br>
            <a:endParaRPr lang="en-IN" dirty="0"/>
          </a:p>
        </p:txBody>
      </p:sp>
      <p:sp>
        <p:nvSpPr>
          <p:cNvPr id="3" name="Content Placeholder 2"/>
          <p:cNvSpPr>
            <a:spLocks noGrp="1"/>
          </p:cNvSpPr>
          <p:nvPr>
            <p:ph idx="1"/>
          </p:nvPr>
        </p:nvSpPr>
        <p:spPr/>
        <p:txBody>
          <a:bodyPr/>
          <a:lstStyle/>
          <a:p>
            <a:r>
              <a:rPr lang="en-US" dirty="0"/>
              <a:t>Division in SQL is typically required when you want to find out entities that are interacting with </a:t>
            </a:r>
            <a:r>
              <a:rPr lang="en-US" b="1" dirty="0"/>
              <a:t>all entities</a:t>
            </a:r>
            <a:r>
              <a:rPr lang="en-US" dirty="0"/>
              <a:t> of a set of different types of entities. The division operator is used when we have </a:t>
            </a:r>
            <a:r>
              <a:rPr lang="en-US" dirty="0" smtClean="0"/>
              <a:t>to evaluate queries that contain the keyword ‘all’.</a:t>
            </a:r>
          </a:p>
          <a:p>
            <a:r>
              <a:rPr lang="en-US" dirty="0"/>
              <a:t>The division operator is used for queries which involve the 'all'.</a:t>
            </a:r>
          </a:p>
          <a:p>
            <a:r>
              <a:rPr lang="en-US" dirty="0"/>
              <a:t>R1 ÷ R2 = tuples of R1 associated with all tuples of R2.</a:t>
            </a:r>
          </a:p>
          <a:p>
            <a:endParaRPr lang="en-IN" dirty="0"/>
          </a:p>
        </p:txBody>
      </p:sp>
    </p:spTree>
    <p:extLst>
      <p:ext uri="{BB962C8B-B14F-4D97-AF65-F5344CB8AC3E}">
        <p14:creationId xmlns:p14="http://schemas.microsoft.com/office/powerpoint/2010/main" val="2536628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936" y="698500"/>
            <a:ext cx="8358963" cy="5117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4783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Retrieve the name of the subject that is taught in all courses</a:t>
            </a:r>
            <a:r>
              <a:rPr lang="en-US" dirty="0" smtClean="0"/>
              <a:t>.</a:t>
            </a:r>
          </a:p>
          <a:p>
            <a:pPr marL="0" indent="0">
              <a:buNone/>
            </a:pPr>
            <a:r>
              <a:rPr lang="en-US" dirty="0"/>
              <a:t>The resulting operation must have all combinations of tuples of relation S that are present in the first relation or R.</a:t>
            </a:r>
            <a:endParaRPr lang="en-IN" dirty="0"/>
          </a:p>
        </p:txBody>
      </p:sp>
    </p:spTree>
    <p:extLst>
      <p:ext uri="{BB962C8B-B14F-4D97-AF65-F5344CB8AC3E}">
        <p14:creationId xmlns:p14="http://schemas.microsoft.com/office/powerpoint/2010/main" val="123498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469624"/>
            <a:ext cx="7305675" cy="4850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3145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9700" y="898436"/>
            <a:ext cx="8534400" cy="1569660"/>
          </a:xfrm>
          <a:prstGeom prst="rect">
            <a:avLst/>
          </a:prstGeom>
        </p:spPr>
        <p:txBody>
          <a:bodyPr wrap="square">
            <a:spAutoFit/>
          </a:bodyPr>
          <a:lstStyle/>
          <a:p>
            <a:r>
              <a:rPr lang="en-US" sz="2400" dirty="0"/>
              <a:t>Retrieve names of employees who work on all the projects that John Smith works on.</a:t>
            </a:r>
          </a:p>
          <a:p>
            <a:r>
              <a:rPr lang="en-US" sz="2400" dirty="0"/>
              <a:t/>
            </a:r>
            <a:br>
              <a:rPr lang="en-US" sz="2400" dirty="0"/>
            </a:br>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144218"/>
            <a:ext cx="7673181" cy="288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2185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2A839CE-127F-748A-A174-3825055DB652}"/>
              </a:ext>
            </a:extLst>
          </p:cNvPr>
          <p:cNvSpPr txBox="1"/>
          <p:nvPr/>
        </p:nvSpPr>
        <p:spPr>
          <a:xfrm>
            <a:off x="1436914" y="359230"/>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6F9ADA5E-B548-2CC4-3858-D72D001798EC}"/>
              </a:ext>
            </a:extLst>
          </p:cNvPr>
          <p:cNvSpPr txBox="1"/>
          <p:nvPr/>
        </p:nvSpPr>
        <p:spPr>
          <a:xfrm>
            <a:off x="710294" y="3513338"/>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Tree>
    <p:extLst>
      <p:ext uri="{BB962C8B-B14F-4D97-AF65-F5344CB8AC3E}">
        <p14:creationId xmlns:p14="http://schemas.microsoft.com/office/powerpoint/2010/main" val="3484888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2A839CE-127F-748A-A174-3825055DB652}"/>
              </a:ext>
            </a:extLst>
          </p:cNvPr>
          <p:cNvSpPr txBox="1"/>
          <p:nvPr/>
        </p:nvSpPr>
        <p:spPr>
          <a:xfrm>
            <a:off x="1436914" y="359230"/>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6F9ADA5E-B548-2CC4-3858-D72D001798EC}"/>
              </a:ext>
            </a:extLst>
          </p:cNvPr>
          <p:cNvSpPr txBox="1"/>
          <p:nvPr/>
        </p:nvSpPr>
        <p:spPr>
          <a:xfrm>
            <a:off x="710294" y="3513338"/>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
        <p:nvSpPr>
          <p:cNvPr id="7" name="TextBox 6">
            <a:extLst>
              <a:ext uri="{FF2B5EF4-FFF2-40B4-BE49-F238E27FC236}">
                <a16:creationId xmlns:a16="http://schemas.microsoft.com/office/drawing/2014/main" xmlns="" id="{EDCAF935-27B0-5798-7E07-A4E629D9CFEE}"/>
              </a:ext>
            </a:extLst>
          </p:cNvPr>
          <p:cNvSpPr txBox="1"/>
          <p:nvPr/>
        </p:nvSpPr>
        <p:spPr>
          <a:xfrm>
            <a:off x="2810582" y="4801178"/>
            <a:ext cx="6101442" cy="584775"/>
          </a:xfrm>
          <a:prstGeom prst="rect">
            <a:avLst/>
          </a:prstGeom>
          <a:noFill/>
        </p:spPr>
        <p:txBody>
          <a:bodyPr wrap="square">
            <a:spAutoFit/>
          </a:bodyPr>
          <a:lstStyle/>
          <a:p>
            <a:r>
              <a:rPr lang="en-US" sz="3200" b="0" i="0" dirty="0">
                <a:solidFill>
                  <a:srgbClr val="222222"/>
                </a:solidFill>
                <a:effectLst/>
                <a:latin typeface="book antiqua" panose="02040602050305030304" pitchFamily="18" charset="0"/>
              </a:rPr>
              <a:t>σ </a:t>
            </a:r>
            <a:r>
              <a:rPr lang="en-US" sz="3200" b="0" i="1" baseline="-25000" dirty="0">
                <a:solidFill>
                  <a:srgbClr val="222222"/>
                </a:solidFill>
                <a:effectLst/>
                <a:latin typeface="book antiqua" panose="02040602050305030304" pitchFamily="18" charset="0"/>
              </a:rPr>
              <a:t>destination = “New Delhi”</a:t>
            </a:r>
            <a:r>
              <a:rPr lang="en-US" sz="3200" b="0" i="0" baseline="-25000" dirty="0">
                <a:solidFill>
                  <a:srgbClr val="222222"/>
                </a:solidFill>
                <a:effectLst/>
                <a:latin typeface="book antiqua" panose="02040602050305030304" pitchFamily="18" charset="0"/>
              </a:rPr>
              <a:t> </a:t>
            </a:r>
            <a:r>
              <a:rPr lang="en-US" sz="3200" b="0" i="0" dirty="0">
                <a:solidFill>
                  <a:srgbClr val="222222"/>
                </a:solidFill>
                <a:effectLst/>
                <a:latin typeface="book antiqua" panose="02040602050305030304" pitchFamily="18" charset="0"/>
              </a:rPr>
              <a:t>(flight)</a:t>
            </a:r>
            <a:endParaRPr lang="en-IN" sz="3200" dirty="0"/>
          </a:p>
        </p:txBody>
      </p:sp>
      <p:sp>
        <p:nvSpPr>
          <p:cNvPr id="2" name="Rectangle 1"/>
          <p:cNvSpPr/>
          <p:nvPr/>
        </p:nvSpPr>
        <p:spPr>
          <a:xfrm>
            <a:off x="1832371" y="4162097"/>
            <a:ext cx="7910718" cy="461665"/>
          </a:xfrm>
          <a:prstGeom prst="rect">
            <a:avLst/>
          </a:prstGeom>
        </p:spPr>
        <p:txBody>
          <a:bodyPr wrap="square">
            <a:spAutoFit/>
          </a:bodyPr>
          <a:lstStyle/>
          <a:p>
            <a:r>
              <a:rPr lang="en-US" sz="2400" dirty="0"/>
              <a:t>SELECT * FROM flight WHERE </a:t>
            </a:r>
            <a:r>
              <a:rPr lang="en-US" sz="2400" dirty="0" err="1"/>
              <a:t>dest</a:t>
            </a:r>
            <a:r>
              <a:rPr lang="en-US" sz="2400" dirty="0"/>
              <a:t> = 'New Delhi';</a:t>
            </a:r>
            <a:endParaRPr lang="en-IN" sz="2400" dirty="0"/>
          </a:p>
        </p:txBody>
      </p:sp>
    </p:spTree>
    <p:extLst>
      <p:ext uri="{BB962C8B-B14F-4D97-AF65-F5344CB8AC3E}">
        <p14:creationId xmlns:p14="http://schemas.microsoft.com/office/powerpoint/2010/main" val="232315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56727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5" name="TextBox 4">
            <a:extLst>
              <a:ext uri="{FF2B5EF4-FFF2-40B4-BE49-F238E27FC236}">
                <a16:creationId xmlns:a16="http://schemas.microsoft.com/office/drawing/2014/main" xmlns="" id="{42BDC7C2-365C-5855-E3BC-4C8FF081FADA}"/>
              </a:ext>
            </a:extLst>
          </p:cNvPr>
          <p:cNvSpPr txBox="1"/>
          <p:nvPr/>
        </p:nvSpPr>
        <p:spPr>
          <a:xfrm>
            <a:off x="2708860" y="4928618"/>
            <a:ext cx="6101442" cy="523220"/>
          </a:xfrm>
          <a:prstGeom prst="rect">
            <a:avLst/>
          </a:prstGeom>
          <a:noFill/>
        </p:spPr>
        <p:txBody>
          <a:bodyPr wrap="square">
            <a:spAutoFit/>
          </a:bodyPr>
          <a:lstStyle/>
          <a:p>
            <a:r>
              <a:rPr lang="en-US" sz="2800" b="0" i="0" dirty="0" smtClean="0">
                <a:solidFill>
                  <a:srgbClr val="222222"/>
                </a:solidFill>
                <a:effectLst/>
                <a:latin typeface="book antiqua" panose="02040602050305030304" pitchFamily="18" charset="0"/>
              </a:rPr>
              <a:t>σ </a:t>
            </a:r>
            <a:r>
              <a:rPr lang="en-US" sz="2800" b="0" i="1" baseline="-25000" dirty="0" err="1" smtClean="0">
                <a:solidFill>
                  <a:srgbClr val="222222"/>
                </a:solidFill>
                <a:effectLst/>
                <a:latin typeface="book antiqua" panose="02040602050305030304" pitchFamily="18" charset="0"/>
              </a:rPr>
              <a:t>src</a:t>
            </a:r>
            <a:r>
              <a:rPr lang="en-US" sz="2800" b="0" i="1" baseline="-25000" dirty="0" smtClean="0">
                <a:solidFill>
                  <a:srgbClr val="222222"/>
                </a:solidFill>
                <a:effectLst/>
                <a:latin typeface="book antiqua" panose="02040602050305030304" pitchFamily="18" charset="0"/>
              </a:rPr>
              <a:t> = “Chennai” ^ </a:t>
            </a:r>
            <a:r>
              <a:rPr lang="en-US" sz="2800" b="0" i="1" baseline="-25000" dirty="0" err="1" smtClean="0">
                <a:solidFill>
                  <a:srgbClr val="222222"/>
                </a:solidFill>
                <a:effectLst/>
                <a:latin typeface="book antiqua" panose="02040602050305030304" pitchFamily="18" charset="0"/>
              </a:rPr>
              <a:t>dest</a:t>
            </a:r>
            <a:r>
              <a:rPr lang="en-US" sz="2800" b="0" i="1" baseline="-25000" dirty="0" smtClean="0">
                <a:solidFill>
                  <a:srgbClr val="222222"/>
                </a:solidFill>
                <a:effectLst/>
                <a:latin typeface="book antiqua" panose="02040602050305030304" pitchFamily="18" charset="0"/>
              </a:rPr>
              <a:t> = “New Delhi”</a:t>
            </a:r>
            <a:r>
              <a:rPr lang="en-US" sz="2800" b="0" i="0" dirty="0" smtClean="0">
                <a:solidFill>
                  <a:srgbClr val="222222"/>
                </a:solidFill>
                <a:effectLst/>
                <a:latin typeface="book antiqua" panose="02040602050305030304" pitchFamily="18" charset="0"/>
              </a:rPr>
              <a:t> (flight)</a:t>
            </a:r>
            <a:endParaRPr lang="en-IN" sz="28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2" name="Rectangle 1"/>
          <p:cNvSpPr/>
          <p:nvPr/>
        </p:nvSpPr>
        <p:spPr>
          <a:xfrm>
            <a:off x="1439916" y="4430138"/>
            <a:ext cx="9469822" cy="461665"/>
          </a:xfrm>
          <a:prstGeom prst="rect">
            <a:avLst/>
          </a:prstGeom>
        </p:spPr>
        <p:txBody>
          <a:bodyPr wrap="square">
            <a:spAutoFit/>
          </a:bodyPr>
          <a:lstStyle/>
          <a:p>
            <a:r>
              <a:rPr lang="en-US" sz="2400" dirty="0"/>
              <a:t>SELECT * FROM flight WHERE </a:t>
            </a:r>
            <a:r>
              <a:rPr lang="en-US" sz="2400" dirty="0" err="1"/>
              <a:t>src</a:t>
            </a:r>
            <a:r>
              <a:rPr lang="en-US" sz="2400" dirty="0"/>
              <a:t> = 'Chennai' AND </a:t>
            </a:r>
            <a:r>
              <a:rPr lang="en-US" sz="2400" dirty="0" err="1"/>
              <a:t>dest</a:t>
            </a:r>
            <a:r>
              <a:rPr lang="en-US" sz="2400" dirty="0"/>
              <a:t> = 'New Delhi';</a:t>
            </a:r>
            <a:endParaRPr lang="en-IN" sz="2400" dirty="0"/>
          </a:p>
        </p:txBody>
      </p:sp>
    </p:spTree>
    <p:extLst>
      <p:ext uri="{BB962C8B-B14F-4D97-AF65-F5344CB8AC3E}">
        <p14:creationId xmlns:p14="http://schemas.microsoft.com/office/powerpoint/2010/main" val="269483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3770223"/>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945997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2944396"/>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49" y="402599"/>
            <a:ext cx="10549849"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F76CB967-BF62-01C8-0138-4EF43D6F217C}"/>
              </a:ext>
            </a:extLst>
          </p:cNvPr>
          <p:cNvSpPr txBox="1"/>
          <p:nvPr/>
        </p:nvSpPr>
        <p:spPr>
          <a:xfrm>
            <a:off x="1265463" y="5604668"/>
            <a:ext cx="10621735" cy="523220"/>
          </a:xfrm>
          <a:prstGeom prst="rect">
            <a:avLst/>
          </a:prstGeom>
          <a:noFill/>
        </p:spPr>
        <p:txBody>
          <a:bodyPr wrap="square">
            <a:spAutoFit/>
          </a:bodyPr>
          <a:lstStyle/>
          <a:p>
            <a:r>
              <a:rPr lang="el-GR" sz="2800" b="0" i="0" dirty="0" smtClean="0">
                <a:effectLst/>
                <a:latin typeface="book antiqua" panose="02040602050305030304" pitchFamily="18" charset="0"/>
              </a:rPr>
              <a:t>Π</a:t>
            </a:r>
            <a:r>
              <a:rPr lang="el-GR" sz="2800" b="0" i="0" baseline="-25000" dirty="0" smtClean="0">
                <a:effectLst/>
                <a:latin typeface="book antiqua" panose="02040602050305030304" pitchFamily="18" charset="0"/>
              </a:rPr>
              <a:t> </a:t>
            </a:r>
            <a:r>
              <a:rPr lang="en-IN" sz="2800" b="0" i="1" baseline="-25000" dirty="0" smtClean="0">
                <a:effectLst/>
                <a:latin typeface="book antiqua" panose="02040602050305030304" pitchFamily="18" charset="0"/>
              </a:rPr>
              <a:t>fid</a:t>
            </a:r>
            <a:r>
              <a:rPr lang="en-IN" sz="2800" b="0" i="0" baseline="-25000" dirty="0" smtClean="0">
                <a:effectLst/>
                <a:latin typeface="book antiqua" panose="02040602050305030304" pitchFamily="18" charset="0"/>
              </a:rPr>
              <a:t> </a:t>
            </a:r>
            <a:r>
              <a:rPr lang="en-IN" sz="2800" b="0" i="0" dirty="0" smtClean="0">
                <a:effectLst/>
                <a:latin typeface="book antiqua" panose="02040602050305030304" pitchFamily="18" charset="0"/>
              </a:rPr>
              <a:t>(</a:t>
            </a:r>
            <a:r>
              <a:rPr lang="el-GR" sz="2800" b="0" i="0" dirty="0" smtClean="0">
                <a:effectLst/>
                <a:latin typeface="book antiqua" panose="02040602050305030304" pitchFamily="18" charset="0"/>
              </a:rPr>
              <a:t>σ</a:t>
            </a:r>
            <a:r>
              <a:rPr lang="el-GR" sz="2800" b="0" i="0" baseline="-25000" dirty="0" smtClean="0">
                <a:effectLst/>
                <a:latin typeface="book antiqua" panose="02040602050305030304" pitchFamily="18" charset="0"/>
              </a:rPr>
              <a:t> </a:t>
            </a:r>
            <a:r>
              <a:rPr lang="en-IN" sz="2800" b="0" i="1" baseline="-25000" dirty="0" err="1" smtClean="0">
                <a:effectLst/>
                <a:latin typeface="book antiqua" panose="02040602050305030304" pitchFamily="18" charset="0"/>
              </a:rPr>
              <a:t>pid</a:t>
            </a:r>
            <a:r>
              <a:rPr lang="en-IN" sz="2800" b="0" i="1" baseline="-25000" dirty="0" smtClean="0">
                <a:effectLst/>
                <a:latin typeface="book antiqua" panose="02040602050305030304" pitchFamily="18" charset="0"/>
              </a:rPr>
              <a:t> = 123</a:t>
            </a:r>
            <a:r>
              <a:rPr lang="en-IN" sz="2800" b="0" i="0" baseline="-25000" dirty="0" smtClean="0">
                <a:effectLst/>
                <a:latin typeface="book antiqua" panose="02040602050305030304" pitchFamily="18" charset="0"/>
              </a:rPr>
              <a:t> </a:t>
            </a:r>
            <a:r>
              <a:rPr lang="en-IN" sz="2800" b="0" i="0" dirty="0" smtClean="0">
                <a:effectLst/>
                <a:latin typeface="book antiqua" panose="02040602050305030304" pitchFamily="18" charset="0"/>
              </a:rPr>
              <a:t>(booking) </a:t>
            </a:r>
            <a:r>
              <a:rPr lang="en-IN" sz="2800" b="0" i="0" dirty="0" smtClean="0">
                <a:effectLst/>
                <a:latin typeface="cambria math" panose="02040503050406030204" pitchFamily="18" charset="0"/>
              </a:rPr>
              <a:t>⨝</a:t>
            </a:r>
            <a:r>
              <a:rPr lang="en-IN" sz="2800" b="0" i="0" dirty="0" smtClean="0">
                <a:effectLst/>
                <a:latin typeface="book antiqua" panose="02040602050305030304" pitchFamily="18" charset="0"/>
              </a:rPr>
              <a:t> </a:t>
            </a:r>
            <a:r>
              <a:rPr lang="el-GR" sz="2800" b="0" i="0" dirty="0" smtClean="0">
                <a:effectLst/>
                <a:latin typeface="book antiqua" panose="02040602050305030304" pitchFamily="18" charset="0"/>
              </a:rPr>
              <a:t>σ</a:t>
            </a:r>
            <a:r>
              <a:rPr lang="el-GR" sz="2800" b="0" i="0" baseline="-25000" dirty="0" smtClean="0">
                <a:effectLst/>
                <a:latin typeface="book antiqua" panose="02040602050305030304" pitchFamily="18" charset="0"/>
              </a:rPr>
              <a:t> </a:t>
            </a:r>
            <a:r>
              <a:rPr lang="en-IN" sz="2800" b="0" i="1" baseline="-25000" dirty="0" err="1" smtClean="0">
                <a:effectLst/>
                <a:latin typeface="book antiqua" panose="02040602050305030304" pitchFamily="18" charset="0"/>
              </a:rPr>
              <a:t>dest</a:t>
            </a:r>
            <a:r>
              <a:rPr lang="en-IN" sz="2800" b="0" i="1" baseline="-25000" dirty="0" smtClean="0">
                <a:effectLst/>
                <a:latin typeface="book antiqua" panose="02040602050305030304" pitchFamily="18" charset="0"/>
              </a:rPr>
              <a:t> = “Chennai” ^ </a:t>
            </a:r>
            <a:r>
              <a:rPr lang="en-IN" sz="2800" b="0" i="1" baseline="-25000" dirty="0" err="1" smtClean="0">
                <a:effectLst/>
                <a:latin typeface="book antiqua" panose="02040602050305030304" pitchFamily="18" charset="0"/>
              </a:rPr>
              <a:t>fdate</a:t>
            </a:r>
            <a:r>
              <a:rPr lang="en-IN" sz="2800" b="0" i="1" baseline="-25000" dirty="0" smtClean="0">
                <a:effectLst/>
                <a:latin typeface="book antiqua" panose="02040602050305030304" pitchFamily="18" charset="0"/>
              </a:rPr>
              <a:t> &lt; 06/11/2020</a:t>
            </a:r>
            <a:r>
              <a:rPr lang="en-IN" sz="2800" b="0" i="0" baseline="-25000" dirty="0" smtClean="0">
                <a:effectLst/>
                <a:latin typeface="book antiqua" panose="02040602050305030304" pitchFamily="18" charset="0"/>
              </a:rPr>
              <a:t> </a:t>
            </a:r>
            <a:r>
              <a:rPr lang="en-IN" sz="2800" b="0" i="0" dirty="0" smtClean="0">
                <a:effectLst/>
                <a:latin typeface="book antiqua" panose="02040602050305030304" pitchFamily="18" charset="0"/>
              </a:rPr>
              <a:t>(flight))</a:t>
            </a:r>
            <a:endParaRPr lang="en-IN" sz="2800" dirty="0"/>
          </a:p>
        </p:txBody>
      </p:sp>
      <p:sp>
        <p:nvSpPr>
          <p:cNvPr id="2" name="Rectangle 1"/>
          <p:cNvSpPr/>
          <p:nvPr/>
        </p:nvSpPr>
        <p:spPr>
          <a:xfrm>
            <a:off x="569540" y="3860971"/>
            <a:ext cx="10949798" cy="830997"/>
          </a:xfrm>
          <a:prstGeom prst="rect">
            <a:avLst/>
          </a:prstGeom>
        </p:spPr>
        <p:txBody>
          <a:bodyPr wrap="square">
            <a:spAutoFit/>
          </a:bodyPr>
          <a:lstStyle/>
          <a:p>
            <a:r>
              <a:rPr lang="en-US" sz="2400" dirty="0"/>
              <a:t>SELECT </a:t>
            </a:r>
            <a:r>
              <a:rPr lang="en-US" sz="2400" dirty="0" err="1"/>
              <a:t>b.fid</a:t>
            </a:r>
            <a:r>
              <a:rPr lang="en-US" sz="2400" dirty="0"/>
              <a:t> FROM booking b JOIN flight f ON </a:t>
            </a:r>
            <a:r>
              <a:rPr lang="en-US" sz="2400" dirty="0" err="1"/>
              <a:t>b.fid</a:t>
            </a:r>
            <a:r>
              <a:rPr lang="en-US" sz="2400" dirty="0"/>
              <a:t> = </a:t>
            </a:r>
            <a:r>
              <a:rPr lang="en-US" sz="2400" dirty="0" err="1"/>
              <a:t>f.fid</a:t>
            </a:r>
            <a:r>
              <a:rPr lang="en-US" sz="2400" dirty="0"/>
              <a:t> WHERE </a:t>
            </a:r>
            <a:r>
              <a:rPr lang="en-US" sz="2400" dirty="0" err="1"/>
              <a:t>b.pid</a:t>
            </a:r>
            <a:r>
              <a:rPr lang="en-US" sz="2400" dirty="0"/>
              <a:t> = 123 AND </a:t>
            </a:r>
            <a:r>
              <a:rPr lang="en-US" sz="2400" dirty="0" err="1"/>
              <a:t>f.dest</a:t>
            </a:r>
            <a:r>
              <a:rPr lang="en-US" sz="2400" dirty="0"/>
              <a:t> = 'Chennai' AND </a:t>
            </a:r>
            <a:r>
              <a:rPr lang="en-US" sz="2400" dirty="0" err="1"/>
              <a:t>b.fdate</a:t>
            </a:r>
            <a:r>
              <a:rPr lang="en-US" sz="2400" dirty="0"/>
              <a:t> &lt; '2020-11-06';</a:t>
            </a:r>
            <a:endParaRPr lang="en-IN" sz="2400" dirty="0"/>
          </a:p>
        </p:txBody>
      </p:sp>
      <p:sp>
        <p:nvSpPr>
          <p:cNvPr id="5" name="Rectangle 4"/>
          <p:cNvSpPr/>
          <p:nvPr/>
        </p:nvSpPr>
        <p:spPr>
          <a:xfrm>
            <a:off x="1513489" y="4829531"/>
            <a:ext cx="9112470" cy="584775"/>
          </a:xfrm>
          <a:prstGeom prst="rect">
            <a:avLst/>
          </a:prstGeom>
        </p:spPr>
        <p:txBody>
          <a:bodyPr wrap="square">
            <a:spAutoFit/>
          </a:bodyPr>
          <a:lstStyle/>
          <a:p>
            <a:r>
              <a:rPr lang="el-GR" sz="3200" dirty="0"/>
              <a:t>Π</a:t>
            </a:r>
            <a:r>
              <a:rPr lang="en-IN" sz="2000" dirty="0"/>
              <a:t>fid​</a:t>
            </a:r>
            <a:r>
              <a:rPr lang="en-IN" sz="3200" dirty="0"/>
              <a:t>(</a:t>
            </a:r>
            <a:r>
              <a:rPr lang="el-GR" sz="3200" dirty="0"/>
              <a:t>σ</a:t>
            </a:r>
            <a:r>
              <a:rPr lang="en-IN" dirty="0" err="1"/>
              <a:t>pid</a:t>
            </a:r>
            <a:r>
              <a:rPr lang="en-IN" dirty="0"/>
              <a:t>=123 ∧ </a:t>
            </a:r>
            <a:r>
              <a:rPr lang="en-IN" dirty="0" err="1"/>
              <a:t>dest</a:t>
            </a:r>
            <a:r>
              <a:rPr lang="en-IN" dirty="0"/>
              <a:t>=′Chennai′ ∧ </a:t>
            </a:r>
            <a:r>
              <a:rPr lang="en-IN" dirty="0" err="1"/>
              <a:t>fdate</a:t>
            </a:r>
            <a:r>
              <a:rPr lang="en-IN" dirty="0"/>
              <a:t>&lt;′06/11/2020′​</a:t>
            </a:r>
            <a:r>
              <a:rPr lang="en-IN" sz="3200" dirty="0"/>
              <a:t>(</a:t>
            </a:r>
            <a:r>
              <a:rPr lang="en-IN" sz="3200" dirty="0" err="1"/>
              <a:t>booking⋈flight</a:t>
            </a:r>
            <a:r>
              <a:rPr lang="en-IN" sz="3200" dirty="0"/>
              <a:t>))</a:t>
            </a:r>
          </a:p>
        </p:txBody>
      </p:sp>
      <p:cxnSp>
        <p:nvCxnSpPr>
          <p:cNvPr id="7" name="Straight Connector 6"/>
          <p:cNvCxnSpPr/>
          <p:nvPr/>
        </p:nvCxnSpPr>
        <p:spPr>
          <a:xfrm>
            <a:off x="651641" y="5414306"/>
            <a:ext cx="10972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633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830997"/>
          </a:xfrm>
          <a:prstGeom prst="rect">
            <a:avLst/>
          </a:prstGeom>
          <a:noFill/>
        </p:spPr>
        <p:txBody>
          <a:bodyPr wrap="square">
            <a:spAutoFit/>
          </a:bodyPr>
          <a:lstStyle/>
          <a:p>
            <a:r>
              <a:rPr lang="en-US" sz="2400" b="1" i="0" dirty="0">
                <a:solidFill>
                  <a:srgbClr val="800080"/>
                </a:solidFill>
                <a:effectLst/>
                <a:latin typeface="book antiqua" panose="02040602050305030304" pitchFamily="18" charset="0"/>
              </a:rPr>
              <a:t>d) Find the passenger names for passengers who have bookings on at least one flight.</a:t>
            </a:r>
            <a:endParaRPr lang="en-IN" sz="28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035465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830997"/>
          </a:xfrm>
          <a:prstGeom prst="rect">
            <a:avLst/>
          </a:prstGeom>
          <a:noFill/>
        </p:spPr>
        <p:txBody>
          <a:bodyPr wrap="square">
            <a:spAutoFit/>
          </a:bodyPr>
          <a:lstStyle/>
          <a:p>
            <a:r>
              <a:rPr lang="en-US" sz="2400" b="1" i="0" dirty="0">
                <a:solidFill>
                  <a:srgbClr val="800080"/>
                </a:solidFill>
                <a:effectLst/>
                <a:latin typeface="book antiqua" panose="02040602050305030304" pitchFamily="18" charset="0"/>
              </a:rPr>
              <a:t>d) Find the passenger names for passengers who have bookings on at least one flight.</a:t>
            </a:r>
            <a:endParaRPr lang="en-IN" sz="28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01F02033-12F3-69C4-D293-A4D6B8072C3B}"/>
              </a:ext>
            </a:extLst>
          </p:cNvPr>
          <p:cNvSpPr txBox="1"/>
          <p:nvPr/>
        </p:nvSpPr>
        <p:spPr>
          <a:xfrm>
            <a:off x="3148693" y="5671102"/>
            <a:ext cx="6101442" cy="461665"/>
          </a:xfrm>
          <a:prstGeom prst="rect">
            <a:avLst/>
          </a:prstGeom>
          <a:noFill/>
        </p:spPr>
        <p:txBody>
          <a:bodyPr wrap="square">
            <a:spAutoFit/>
          </a:bodyPr>
          <a:lstStyle/>
          <a:p>
            <a:r>
              <a:rPr lang="el-GR" sz="2400" b="1" i="0" dirty="0" smtClean="0">
                <a:solidFill>
                  <a:srgbClr val="222222"/>
                </a:solidFill>
                <a:effectLst/>
                <a:latin typeface="book antiqua" panose="02040602050305030304" pitchFamily="18" charset="0"/>
              </a:rPr>
              <a:t>Π</a:t>
            </a:r>
            <a:r>
              <a:rPr lang="el-GR" sz="2400" b="1" i="0" baseline="-25000" dirty="0" smtClean="0">
                <a:solidFill>
                  <a:srgbClr val="222222"/>
                </a:solidFill>
                <a:effectLst/>
                <a:latin typeface="book antiqua" panose="02040602050305030304" pitchFamily="18" charset="0"/>
              </a:rPr>
              <a:t> </a:t>
            </a:r>
            <a:r>
              <a:rPr lang="en-IN" sz="2400" b="1" i="1" baseline="-25000" dirty="0" err="1" smtClean="0">
                <a:solidFill>
                  <a:srgbClr val="222222"/>
                </a:solidFill>
                <a:effectLst/>
                <a:latin typeface="book antiqua" panose="02040602050305030304" pitchFamily="18" charset="0"/>
              </a:rPr>
              <a:t>pname</a:t>
            </a:r>
            <a:r>
              <a:rPr lang="en-IN" sz="2400" b="1" i="0" baseline="-25000" dirty="0" smtClean="0">
                <a:solidFill>
                  <a:srgbClr val="222222"/>
                </a:solidFill>
                <a:effectLst/>
                <a:latin typeface="book antiqua" panose="02040602050305030304" pitchFamily="18" charset="0"/>
              </a:rPr>
              <a:t> </a:t>
            </a:r>
            <a:r>
              <a:rPr lang="en-IN" sz="2400" b="1" i="0" dirty="0" smtClean="0">
                <a:solidFill>
                  <a:srgbClr val="222222"/>
                </a:solidFill>
                <a:effectLst/>
                <a:latin typeface="book antiqua" panose="02040602050305030304" pitchFamily="18" charset="0"/>
              </a:rPr>
              <a:t>(passenger </a:t>
            </a:r>
            <a:r>
              <a:rPr lang="en-IN" sz="2400" b="1" i="0" dirty="0" smtClean="0">
                <a:solidFill>
                  <a:srgbClr val="222222"/>
                </a:solidFill>
                <a:effectLst/>
                <a:latin typeface="cambria math" panose="02040503050406030204" pitchFamily="18" charset="0"/>
              </a:rPr>
              <a:t>⨝</a:t>
            </a:r>
            <a:r>
              <a:rPr lang="en-IN" sz="2400" b="1" i="0" dirty="0" smtClean="0">
                <a:solidFill>
                  <a:srgbClr val="222222"/>
                </a:solidFill>
                <a:effectLst/>
                <a:latin typeface="book antiqua" panose="02040602050305030304" pitchFamily="18" charset="0"/>
              </a:rPr>
              <a:t> booking)</a:t>
            </a:r>
            <a:endParaRPr lang="en-IN" sz="2400" b="1" dirty="0"/>
          </a:p>
        </p:txBody>
      </p:sp>
      <p:sp>
        <p:nvSpPr>
          <p:cNvPr id="2" name="Rectangle 1"/>
          <p:cNvSpPr/>
          <p:nvPr/>
        </p:nvSpPr>
        <p:spPr>
          <a:xfrm>
            <a:off x="472966" y="4892198"/>
            <a:ext cx="11719034" cy="461665"/>
          </a:xfrm>
          <a:prstGeom prst="rect">
            <a:avLst/>
          </a:prstGeom>
        </p:spPr>
        <p:txBody>
          <a:bodyPr wrap="square">
            <a:spAutoFit/>
          </a:bodyPr>
          <a:lstStyle/>
          <a:p>
            <a:r>
              <a:rPr lang="en-US" sz="2400" dirty="0"/>
              <a:t>SELECT DISTINCT </a:t>
            </a:r>
            <a:r>
              <a:rPr lang="en-US" sz="2400" dirty="0" err="1"/>
              <a:t>p.pname</a:t>
            </a:r>
            <a:r>
              <a:rPr lang="en-US" sz="2400" dirty="0"/>
              <a:t> FROM passenger p JOIN booking b ON </a:t>
            </a:r>
            <a:r>
              <a:rPr lang="en-US" sz="2400" dirty="0" err="1"/>
              <a:t>p.pid</a:t>
            </a:r>
            <a:r>
              <a:rPr lang="en-US" sz="2400" dirty="0"/>
              <a:t> = </a:t>
            </a:r>
            <a:r>
              <a:rPr lang="en-US" sz="2400" dirty="0" err="1"/>
              <a:t>b.pid</a:t>
            </a:r>
            <a:r>
              <a:rPr lang="en-US" sz="2400" dirty="0"/>
              <a:t>;</a:t>
            </a:r>
            <a:endParaRPr lang="en-IN" sz="2400" dirty="0"/>
          </a:p>
        </p:txBody>
      </p:sp>
    </p:spTree>
    <p:extLst>
      <p:ext uri="{BB962C8B-B14F-4D97-AF65-F5344CB8AC3E}">
        <p14:creationId xmlns:p14="http://schemas.microsoft.com/office/powerpoint/2010/main" val="2737255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1954381"/>
          </a:xfrm>
          <a:prstGeom prst="rect">
            <a:avLst/>
          </a:prstGeom>
          <a:noFill/>
        </p:spPr>
        <p:txBody>
          <a:bodyPr wrap="square">
            <a:spAutoFit/>
          </a:bodyPr>
          <a:lstStyle/>
          <a:p>
            <a:pPr marL="0" marR="0" algn="just">
              <a:spcBef>
                <a:spcPts val="600"/>
              </a:spcBef>
              <a:spcAft>
                <a:spcPts val="600"/>
              </a:spcAft>
            </a:pPr>
            <a:r>
              <a:rPr lang="en-US" sz="2400" b="1" i="0" dirty="0">
                <a:solidFill>
                  <a:srgbClr val="800080"/>
                </a:solidFill>
                <a:effectLst/>
                <a:latin typeface="book antiqua" panose="02040602050305030304" pitchFamily="18" charset="0"/>
              </a:rPr>
              <a:t>e) Find the passenger names for those who do not have any bookings in any flights.</a:t>
            </a:r>
            <a:endParaRPr lang="en-US" sz="3200" b="0" i="0" dirty="0">
              <a:solidFill>
                <a:srgbClr val="222222"/>
              </a:solidFill>
              <a:effectLst/>
              <a:latin typeface="Arial" panose="020B0604020202020204" pitchFamily="34" charset="0"/>
            </a:endParaRPr>
          </a:p>
          <a:p>
            <a:r>
              <a:rPr lang="en-US" sz="3200" dirty="0"/>
              <a:t/>
            </a:r>
            <a:br>
              <a:rPr lang="en-US" sz="3200" dirty="0"/>
            </a:b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988634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309023" y="2670269"/>
            <a:ext cx="10621735" cy="2046714"/>
          </a:xfrm>
          <a:prstGeom prst="rect">
            <a:avLst/>
          </a:prstGeom>
          <a:noFill/>
        </p:spPr>
        <p:txBody>
          <a:bodyPr wrap="square">
            <a:spAutoFit/>
          </a:bodyPr>
          <a:lstStyle/>
          <a:p>
            <a:pPr marL="0" marR="0" algn="just">
              <a:spcBef>
                <a:spcPts val="600"/>
              </a:spcBef>
              <a:spcAft>
                <a:spcPts val="600"/>
              </a:spcAft>
            </a:pPr>
            <a:r>
              <a:rPr lang="en-US" sz="2000" b="1" i="0" dirty="0">
                <a:solidFill>
                  <a:srgbClr val="800080"/>
                </a:solidFill>
                <a:effectLst/>
                <a:latin typeface="book antiqua" panose="02040602050305030304" pitchFamily="18" charset="0"/>
              </a:rPr>
              <a:t>e) Find the passenger names for those who do not have any bookings in any flights</a:t>
            </a:r>
            <a:r>
              <a:rPr lang="en-US" sz="2000" b="1" i="0" dirty="0" smtClean="0">
                <a:solidFill>
                  <a:srgbClr val="800080"/>
                </a:solidFill>
                <a:effectLst/>
                <a:latin typeface="book antiqua" panose="02040602050305030304" pitchFamily="18" charset="0"/>
              </a:rPr>
              <a:t>.</a:t>
            </a:r>
          </a:p>
          <a:p>
            <a:pPr marL="0" marR="0" algn="just">
              <a:spcBef>
                <a:spcPts val="600"/>
              </a:spcBef>
              <a:spcAft>
                <a:spcPts val="600"/>
              </a:spcAft>
            </a:pPr>
            <a:endParaRPr lang="en-US" sz="2800" b="0" i="0" dirty="0">
              <a:solidFill>
                <a:srgbClr val="222222"/>
              </a:solidFill>
              <a:effectLst/>
              <a:latin typeface="Arial" panose="020B0604020202020204" pitchFamily="34" charset="0"/>
            </a:endParaRPr>
          </a:p>
          <a:p>
            <a:r>
              <a:rPr lang="en-US" sz="2800" dirty="0"/>
              <a:t/>
            </a:r>
            <a:br>
              <a:rPr lang="en-US" sz="2800" dirty="0"/>
            </a:br>
            <a:endParaRPr lang="en-IN" sz="32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239922" y="160861"/>
            <a:ext cx="10097905"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294A9E39-32C7-1236-A9BE-EDADD610A9AF}"/>
              </a:ext>
            </a:extLst>
          </p:cNvPr>
          <p:cNvSpPr txBox="1"/>
          <p:nvPr/>
        </p:nvSpPr>
        <p:spPr>
          <a:xfrm>
            <a:off x="1373720" y="5040814"/>
            <a:ext cx="8403771" cy="461665"/>
          </a:xfrm>
          <a:prstGeom prst="rect">
            <a:avLst/>
          </a:prstGeom>
          <a:noFill/>
        </p:spPr>
        <p:txBody>
          <a:bodyPr wrap="square">
            <a:spAutoFit/>
          </a:bodyPr>
          <a:lstStyle/>
          <a:p>
            <a:r>
              <a:rPr lang="el-GR" sz="2400" b="0" i="0" dirty="0" smtClean="0">
                <a:effectLst/>
                <a:latin typeface="book antiqua" panose="02040602050305030304" pitchFamily="18" charset="0"/>
              </a:rPr>
              <a:t>Π</a:t>
            </a:r>
            <a:r>
              <a:rPr lang="el-GR" sz="2400" b="0" i="0" baseline="-25000" dirty="0" smtClean="0">
                <a:effectLst/>
                <a:latin typeface="book antiqua" panose="02040602050305030304" pitchFamily="18" charset="0"/>
              </a:rPr>
              <a:t> </a:t>
            </a:r>
            <a:r>
              <a:rPr lang="en-IN" sz="2400" b="0" i="1" baseline="-25000" dirty="0" err="1" smtClean="0">
                <a:effectLst/>
                <a:latin typeface="book antiqua" panose="02040602050305030304" pitchFamily="18" charset="0"/>
              </a:rPr>
              <a:t>pname</a:t>
            </a:r>
            <a:r>
              <a:rPr lang="en-IN" sz="2400" b="0" i="1" baseline="-25000" dirty="0" smtClean="0">
                <a:effectLst/>
                <a:latin typeface="book antiqua" panose="02040602050305030304" pitchFamily="18" charset="0"/>
              </a:rPr>
              <a:t> </a:t>
            </a:r>
            <a:r>
              <a:rPr lang="en-IN" sz="2400" b="0" i="0" dirty="0" smtClean="0">
                <a:effectLst/>
                <a:latin typeface="book antiqua" panose="02040602050305030304" pitchFamily="18" charset="0"/>
              </a:rPr>
              <a:t>((</a:t>
            </a:r>
            <a:r>
              <a:rPr lang="el-GR" sz="2400" b="0" i="0" dirty="0" smtClean="0">
                <a:effectLst/>
                <a:latin typeface="book antiqua" panose="02040602050305030304" pitchFamily="18" charset="0"/>
              </a:rPr>
              <a:t>Π</a:t>
            </a:r>
            <a:r>
              <a:rPr lang="el-GR" sz="2400" b="0" i="1" baseline="-25000" dirty="0" smtClean="0">
                <a:effectLst/>
                <a:latin typeface="book antiqua" panose="02040602050305030304" pitchFamily="18" charset="0"/>
              </a:rPr>
              <a:t> </a:t>
            </a:r>
            <a:r>
              <a:rPr lang="en-IN" sz="2400" b="0" i="1" baseline="-25000" dirty="0" err="1" smtClean="0">
                <a:effectLst/>
                <a:latin typeface="book antiqua" panose="02040602050305030304" pitchFamily="18" charset="0"/>
              </a:rPr>
              <a:t>pid</a:t>
            </a:r>
            <a:r>
              <a:rPr lang="en-IN" sz="2400" b="0" i="1" baseline="-25000" dirty="0" smtClean="0">
                <a:effectLst/>
                <a:latin typeface="book antiqua" panose="02040602050305030304" pitchFamily="18" charset="0"/>
              </a:rPr>
              <a:t> </a:t>
            </a:r>
            <a:r>
              <a:rPr lang="en-IN" sz="2400" b="0" i="0" dirty="0" smtClean="0">
                <a:effectLst/>
                <a:latin typeface="book antiqua" panose="02040602050305030304" pitchFamily="18" charset="0"/>
              </a:rPr>
              <a:t>(passenger) - </a:t>
            </a:r>
            <a:r>
              <a:rPr lang="el-GR" sz="2400" b="0" i="0" dirty="0" smtClean="0">
                <a:effectLst/>
                <a:latin typeface="book antiqua" panose="02040602050305030304" pitchFamily="18" charset="0"/>
              </a:rPr>
              <a:t>Π</a:t>
            </a:r>
            <a:r>
              <a:rPr lang="el-GR" sz="2400" b="0" i="1" baseline="-25000" dirty="0" smtClean="0">
                <a:effectLst/>
                <a:latin typeface="book antiqua" panose="02040602050305030304" pitchFamily="18" charset="0"/>
              </a:rPr>
              <a:t> </a:t>
            </a:r>
            <a:r>
              <a:rPr lang="en-IN" sz="2400" b="0" i="1" baseline="-25000" dirty="0" err="1" smtClean="0">
                <a:effectLst/>
                <a:latin typeface="book antiqua" panose="02040602050305030304" pitchFamily="18" charset="0"/>
              </a:rPr>
              <a:t>pid</a:t>
            </a:r>
            <a:r>
              <a:rPr lang="en-IN" sz="2400" b="0" i="1" baseline="-25000" dirty="0" smtClean="0">
                <a:effectLst/>
                <a:latin typeface="book antiqua" panose="02040602050305030304" pitchFamily="18" charset="0"/>
              </a:rPr>
              <a:t> </a:t>
            </a:r>
            <a:r>
              <a:rPr lang="en-IN" sz="2400" b="0" i="0" dirty="0" smtClean="0">
                <a:effectLst/>
                <a:latin typeface="book antiqua" panose="02040602050305030304" pitchFamily="18" charset="0"/>
              </a:rPr>
              <a:t>(booking)) </a:t>
            </a:r>
            <a:r>
              <a:rPr lang="en-IN" sz="2400" b="0" i="0" dirty="0" smtClean="0">
                <a:effectLst/>
                <a:latin typeface="cambria math" panose="02040503050406030204" pitchFamily="18" charset="0"/>
              </a:rPr>
              <a:t>⨝</a:t>
            </a:r>
            <a:r>
              <a:rPr lang="en-IN" sz="2400" b="0" i="0" dirty="0" smtClean="0">
                <a:effectLst/>
                <a:latin typeface="book antiqua" panose="02040602050305030304" pitchFamily="18" charset="0"/>
              </a:rPr>
              <a:t> passenger)</a:t>
            </a:r>
            <a:endParaRPr lang="en-IN" sz="2400" dirty="0"/>
          </a:p>
        </p:txBody>
      </p:sp>
      <p:sp>
        <p:nvSpPr>
          <p:cNvPr id="5" name="Rectangle 4"/>
          <p:cNvSpPr/>
          <p:nvPr/>
        </p:nvSpPr>
        <p:spPr>
          <a:xfrm>
            <a:off x="1373721" y="3446008"/>
            <a:ext cx="9409892" cy="830997"/>
          </a:xfrm>
          <a:prstGeom prst="rect">
            <a:avLst/>
          </a:prstGeom>
        </p:spPr>
        <p:txBody>
          <a:bodyPr wrap="square">
            <a:spAutoFit/>
          </a:bodyPr>
          <a:lstStyle/>
          <a:p>
            <a:r>
              <a:rPr lang="en-US" sz="2400" dirty="0"/>
              <a:t>SELECT </a:t>
            </a:r>
            <a:r>
              <a:rPr lang="en-US" sz="2400" dirty="0" err="1"/>
              <a:t>pname</a:t>
            </a:r>
            <a:r>
              <a:rPr lang="en-US" sz="2400" dirty="0"/>
              <a:t> FROM passenger WHERE </a:t>
            </a:r>
            <a:r>
              <a:rPr lang="en-US" sz="2400" dirty="0" err="1"/>
              <a:t>pid</a:t>
            </a:r>
            <a:r>
              <a:rPr lang="en-US" sz="2400" dirty="0"/>
              <a:t> NOT IN ( SELECT </a:t>
            </a:r>
            <a:r>
              <a:rPr lang="en-US" sz="2400" dirty="0" err="1"/>
              <a:t>pid</a:t>
            </a:r>
            <a:r>
              <a:rPr lang="en-US" sz="2400" dirty="0"/>
              <a:t> FROM booking );</a:t>
            </a:r>
            <a:endParaRPr lang="en-IN" sz="2400" dirty="0"/>
          </a:p>
        </p:txBody>
      </p:sp>
    </p:spTree>
    <p:extLst>
      <p:ext uri="{BB962C8B-B14F-4D97-AF65-F5344CB8AC3E}">
        <p14:creationId xmlns:p14="http://schemas.microsoft.com/office/powerpoint/2010/main" val="3383993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1384995"/>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f) Find the agency names for agencies that located in the same city as passenger with passenger id 123.</a:t>
            </a:r>
            <a:r>
              <a:rPr lang="en-US" sz="3200" dirty="0"/>
              <a:t/>
            </a:r>
            <a:br>
              <a:rPr lang="en-US" sz="3200" dirty="0"/>
            </a:b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499693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280788"/>
            <a:ext cx="10163771" cy="1384995"/>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f) Find the agency names for agencies that located in the same city as passenger with passenger id 123.</a:t>
            </a:r>
            <a:r>
              <a:rPr lang="en-US" sz="3200" dirty="0"/>
              <a:t/>
            </a:r>
            <a:br>
              <a:rPr lang="en-US" sz="3200" dirty="0"/>
            </a:b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DD474691-13C7-F598-DD72-7EBE92C5C668}"/>
              </a:ext>
            </a:extLst>
          </p:cNvPr>
          <p:cNvSpPr txBox="1"/>
          <p:nvPr/>
        </p:nvSpPr>
        <p:spPr>
          <a:xfrm>
            <a:off x="2114134" y="5453106"/>
            <a:ext cx="7074585" cy="461665"/>
          </a:xfrm>
          <a:prstGeom prst="rect">
            <a:avLst/>
          </a:prstGeom>
          <a:noFill/>
        </p:spPr>
        <p:txBody>
          <a:bodyPr wrap="square">
            <a:spAutoFit/>
          </a:bodyPr>
          <a:lstStyle/>
          <a:p>
            <a:r>
              <a:rPr lang="en-US" sz="2400" b="0" i="0" dirty="0" smtClean="0">
                <a:effectLst/>
                <a:latin typeface="book antiqua" panose="02040602050305030304" pitchFamily="18" charset="0"/>
              </a:rPr>
              <a:t>Π</a:t>
            </a:r>
            <a:r>
              <a:rPr lang="en-US" sz="2400" b="0" i="1" baseline="-25000" dirty="0" smtClean="0">
                <a:effectLst/>
                <a:latin typeface="book antiqua" panose="02040602050305030304" pitchFamily="18" charset="0"/>
              </a:rPr>
              <a:t> </a:t>
            </a:r>
            <a:r>
              <a:rPr lang="en-US" sz="2400" b="0" i="1" baseline="-25000" dirty="0" err="1" smtClean="0">
                <a:effectLst/>
                <a:latin typeface="book antiqua" panose="02040602050305030304" pitchFamily="18" charset="0"/>
              </a:rPr>
              <a:t>aname</a:t>
            </a:r>
            <a:r>
              <a:rPr lang="en-US" sz="2400" b="0" i="1" baseline="-25000" dirty="0" smtClean="0">
                <a:effectLst/>
                <a:latin typeface="book antiqua" panose="02040602050305030304" pitchFamily="18" charset="0"/>
              </a:rPr>
              <a:t> </a:t>
            </a:r>
            <a:r>
              <a:rPr lang="en-US" sz="2400" b="0" i="0" dirty="0" smtClean="0">
                <a:effectLst/>
                <a:latin typeface="book antiqua" panose="02040602050305030304" pitchFamily="18" charset="0"/>
              </a:rPr>
              <a:t>(agency </a:t>
            </a:r>
            <a:r>
              <a:rPr lang="en-US" sz="2400" b="0" i="0" dirty="0" smtClean="0">
                <a:effectLst/>
                <a:latin typeface="cambria math" panose="02040503050406030204" pitchFamily="18" charset="0"/>
              </a:rPr>
              <a:t>⨝</a:t>
            </a:r>
            <a:r>
              <a:rPr lang="en-US" sz="2400" b="0" i="1" baseline="-25000" dirty="0" smtClean="0">
                <a:effectLst/>
                <a:latin typeface="book antiqua" panose="02040602050305030304" pitchFamily="18" charset="0"/>
              </a:rPr>
              <a:t> </a:t>
            </a:r>
            <a:r>
              <a:rPr lang="en-US" sz="2400" b="0" i="1" baseline="-25000" dirty="0" err="1" smtClean="0">
                <a:effectLst/>
                <a:latin typeface="book antiqua" panose="02040602050305030304" pitchFamily="18" charset="0"/>
              </a:rPr>
              <a:t>acity</a:t>
            </a:r>
            <a:r>
              <a:rPr lang="en-US" sz="2400" b="0" i="1" baseline="-25000" dirty="0" smtClean="0">
                <a:effectLst/>
                <a:latin typeface="book antiqua" panose="02040602050305030304" pitchFamily="18" charset="0"/>
              </a:rPr>
              <a:t> = </a:t>
            </a:r>
            <a:r>
              <a:rPr lang="en-US" sz="2400" b="0" i="1" baseline="-25000" dirty="0" err="1" smtClean="0">
                <a:effectLst/>
                <a:latin typeface="book antiqua" panose="02040602050305030304" pitchFamily="18" charset="0"/>
              </a:rPr>
              <a:t>pcity</a:t>
            </a:r>
            <a:r>
              <a:rPr lang="en-US" sz="2400" b="0" i="1" baseline="-25000" dirty="0" smtClean="0">
                <a:effectLst/>
                <a:latin typeface="book antiqua" panose="02040602050305030304" pitchFamily="18" charset="0"/>
              </a:rPr>
              <a:t> </a:t>
            </a:r>
            <a:r>
              <a:rPr lang="en-US" sz="2400" b="0" i="0" dirty="0" smtClean="0">
                <a:effectLst/>
                <a:latin typeface="book antiqua" panose="02040602050305030304" pitchFamily="18" charset="0"/>
              </a:rPr>
              <a:t>(σ</a:t>
            </a:r>
            <a:r>
              <a:rPr lang="en-US" sz="2400" b="0" i="1" baseline="-25000" dirty="0" smtClean="0">
                <a:effectLst/>
                <a:latin typeface="book antiqua" panose="02040602050305030304" pitchFamily="18" charset="0"/>
              </a:rPr>
              <a:t> </a:t>
            </a:r>
            <a:r>
              <a:rPr lang="en-US" sz="2400" b="0" i="1" baseline="-25000" dirty="0" err="1" smtClean="0">
                <a:effectLst/>
                <a:latin typeface="book antiqua" panose="02040602050305030304" pitchFamily="18" charset="0"/>
              </a:rPr>
              <a:t>pid</a:t>
            </a:r>
            <a:r>
              <a:rPr lang="en-US" sz="2400" b="0" i="1" baseline="-25000" dirty="0" smtClean="0">
                <a:effectLst/>
                <a:latin typeface="book antiqua" panose="02040602050305030304" pitchFamily="18" charset="0"/>
              </a:rPr>
              <a:t> = 123 </a:t>
            </a:r>
            <a:r>
              <a:rPr lang="en-US" sz="2400" b="0" i="0" dirty="0" smtClean="0">
                <a:effectLst/>
                <a:latin typeface="book antiqua" panose="02040602050305030304" pitchFamily="18" charset="0"/>
              </a:rPr>
              <a:t>(passenger)))</a:t>
            </a:r>
            <a:endParaRPr lang="en-IN" sz="2400" dirty="0"/>
          </a:p>
        </p:txBody>
      </p:sp>
      <p:sp>
        <p:nvSpPr>
          <p:cNvPr id="2" name="Rectangle 1"/>
          <p:cNvSpPr/>
          <p:nvPr/>
        </p:nvSpPr>
        <p:spPr>
          <a:xfrm>
            <a:off x="863600" y="4294009"/>
            <a:ext cx="10693400" cy="369332"/>
          </a:xfrm>
          <a:prstGeom prst="rect">
            <a:avLst/>
          </a:prstGeom>
        </p:spPr>
        <p:txBody>
          <a:bodyPr wrap="square">
            <a:spAutoFit/>
          </a:bodyPr>
          <a:lstStyle/>
          <a:p>
            <a:r>
              <a:rPr lang="en-US" dirty="0"/>
              <a:t>SELECT </a:t>
            </a:r>
            <a:r>
              <a:rPr lang="en-US" dirty="0" err="1"/>
              <a:t>aname</a:t>
            </a:r>
            <a:r>
              <a:rPr lang="en-US" dirty="0"/>
              <a:t> FROM agency WHERE </a:t>
            </a:r>
            <a:r>
              <a:rPr lang="en-US" dirty="0" err="1"/>
              <a:t>acity</a:t>
            </a:r>
            <a:r>
              <a:rPr lang="en-US" dirty="0"/>
              <a:t> = ( SELECT </a:t>
            </a:r>
            <a:r>
              <a:rPr lang="en-US" dirty="0" err="1"/>
              <a:t>pcity</a:t>
            </a:r>
            <a:r>
              <a:rPr lang="en-US" dirty="0"/>
              <a:t> FROM passenger WHERE </a:t>
            </a:r>
            <a:r>
              <a:rPr lang="en-US" dirty="0" err="1"/>
              <a:t>pid</a:t>
            </a:r>
            <a:r>
              <a:rPr lang="en-US" dirty="0"/>
              <a:t> = 123 );</a:t>
            </a:r>
            <a:endParaRPr lang="en-IN" dirty="0"/>
          </a:p>
        </p:txBody>
      </p:sp>
      <p:sp>
        <p:nvSpPr>
          <p:cNvPr id="5" name="Rectangle 4"/>
          <p:cNvSpPr/>
          <p:nvPr/>
        </p:nvSpPr>
        <p:spPr>
          <a:xfrm>
            <a:off x="965200" y="4706192"/>
            <a:ext cx="9768113" cy="369332"/>
          </a:xfrm>
          <a:prstGeom prst="rect">
            <a:avLst/>
          </a:prstGeom>
        </p:spPr>
        <p:txBody>
          <a:bodyPr wrap="square">
            <a:spAutoFit/>
          </a:bodyPr>
          <a:lstStyle/>
          <a:p>
            <a:r>
              <a:rPr lang="en-US" dirty="0"/>
              <a:t>SELECT </a:t>
            </a:r>
            <a:r>
              <a:rPr lang="en-US" dirty="0" err="1"/>
              <a:t>a.aname</a:t>
            </a:r>
            <a:r>
              <a:rPr lang="en-US" dirty="0"/>
              <a:t> FROM agency a JOIN passenger p ON </a:t>
            </a:r>
            <a:r>
              <a:rPr lang="en-US" dirty="0" err="1"/>
              <a:t>a.acity</a:t>
            </a:r>
            <a:r>
              <a:rPr lang="en-US" dirty="0"/>
              <a:t> = </a:t>
            </a:r>
            <a:r>
              <a:rPr lang="en-US" dirty="0" err="1"/>
              <a:t>p.pcity</a:t>
            </a:r>
            <a:r>
              <a:rPr lang="en-US" dirty="0"/>
              <a:t> WHERE </a:t>
            </a:r>
            <a:r>
              <a:rPr lang="en-US" dirty="0" err="1"/>
              <a:t>p.pid</a:t>
            </a:r>
            <a:r>
              <a:rPr lang="en-US" dirty="0"/>
              <a:t> = 123;</a:t>
            </a:r>
            <a:endParaRPr lang="en-IN" dirty="0"/>
          </a:p>
        </p:txBody>
      </p:sp>
    </p:spTree>
    <p:extLst>
      <p:ext uri="{BB962C8B-B14F-4D97-AF65-F5344CB8AC3E}">
        <p14:creationId xmlns:p14="http://schemas.microsoft.com/office/powerpoint/2010/main" val="2018325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g) Get the details of flights that are scheduled on both dates 01/12/2020 and 02/12/2020 at 16:00 hours.</a:t>
            </a: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958906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2990605"/>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g) Get the details of flights that are scheduled on both dates 01/12/2020 and 02/12/2020 at 16:00 hours.</a:t>
            </a: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169184" y="213413"/>
            <a:ext cx="10749547"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9BF6C7F0-8CA2-BD4F-E2F3-155EE065F15D}"/>
              </a:ext>
            </a:extLst>
          </p:cNvPr>
          <p:cNvSpPr txBox="1"/>
          <p:nvPr/>
        </p:nvSpPr>
        <p:spPr>
          <a:xfrm>
            <a:off x="569541" y="3755452"/>
            <a:ext cx="10896600" cy="523220"/>
          </a:xfrm>
          <a:prstGeom prst="rect">
            <a:avLst/>
          </a:prstGeom>
          <a:noFill/>
        </p:spPr>
        <p:txBody>
          <a:bodyPr wrap="square">
            <a:spAutoFit/>
          </a:bodyPr>
          <a:lstStyle/>
          <a:p>
            <a:r>
              <a:rPr lang="en-US" sz="2800" b="0" i="0" dirty="0">
                <a:effectLst/>
                <a:latin typeface="book antiqua" panose="02040602050305030304" pitchFamily="18" charset="0"/>
              </a:rPr>
              <a:t>(σ</a:t>
            </a:r>
            <a:r>
              <a:rPr lang="en-US" sz="2800" b="0" i="1" baseline="-25000" dirty="0">
                <a:effectLst/>
                <a:latin typeface="book antiqua" panose="02040602050305030304" pitchFamily="18" charset="0"/>
              </a:rPr>
              <a:t> </a:t>
            </a:r>
            <a:r>
              <a:rPr lang="en-US" sz="2800" b="0" i="1" baseline="-25000" dirty="0" err="1">
                <a:effectLst/>
                <a:latin typeface="book antiqua" panose="02040602050305030304" pitchFamily="18" charset="0"/>
              </a:rPr>
              <a:t>fdate</a:t>
            </a:r>
            <a:r>
              <a:rPr lang="en-US" sz="2800" b="0" i="1" baseline="-25000" dirty="0">
                <a:effectLst/>
                <a:latin typeface="book antiqua" panose="02040602050305030304" pitchFamily="18" charset="0"/>
              </a:rPr>
              <a:t> = 01/12/2020 ^ time = 16:00 </a:t>
            </a:r>
            <a:r>
              <a:rPr lang="en-US" sz="2800" b="0" i="0" dirty="0">
                <a:effectLst/>
                <a:latin typeface="book antiqua" panose="02040602050305030304" pitchFamily="18" charset="0"/>
              </a:rPr>
              <a:t>(flight)) </a:t>
            </a:r>
            <a:r>
              <a:rPr lang="en-US" sz="2800" b="0" i="0" dirty="0">
                <a:effectLst/>
                <a:latin typeface="Arial" panose="020B0604020202020204" pitchFamily="34" charset="0"/>
              </a:rPr>
              <a:t>∩</a:t>
            </a:r>
            <a:r>
              <a:rPr lang="en-US" sz="2800" b="0" i="0" dirty="0">
                <a:effectLst/>
                <a:latin typeface="book antiqua" panose="02040602050305030304" pitchFamily="18" charset="0"/>
              </a:rPr>
              <a:t> (σ</a:t>
            </a:r>
            <a:r>
              <a:rPr lang="en-US" sz="2800" b="0" i="1" baseline="-25000" dirty="0">
                <a:effectLst/>
                <a:latin typeface="book antiqua" panose="02040602050305030304" pitchFamily="18" charset="0"/>
              </a:rPr>
              <a:t> </a:t>
            </a:r>
            <a:r>
              <a:rPr lang="en-US" sz="2800" b="0" i="1" baseline="-25000" dirty="0" err="1">
                <a:effectLst/>
                <a:latin typeface="book antiqua" panose="02040602050305030304" pitchFamily="18" charset="0"/>
              </a:rPr>
              <a:t>fdate</a:t>
            </a:r>
            <a:r>
              <a:rPr lang="en-US" sz="2800" b="0" i="1" baseline="-25000" dirty="0">
                <a:effectLst/>
                <a:latin typeface="book antiqua" panose="02040602050305030304" pitchFamily="18" charset="0"/>
              </a:rPr>
              <a:t> = 02/12/2020 ^ time = 16:00 </a:t>
            </a:r>
            <a:r>
              <a:rPr lang="en-US" sz="2800" b="0" i="0" dirty="0">
                <a:effectLst/>
                <a:latin typeface="book antiqua" panose="02040602050305030304" pitchFamily="18" charset="0"/>
              </a:rPr>
              <a:t>(flight))</a:t>
            </a:r>
            <a:endParaRPr lang="en-IN" sz="2800" dirty="0"/>
          </a:p>
        </p:txBody>
      </p:sp>
      <p:sp>
        <p:nvSpPr>
          <p:cNvPr id="5" name="Rectangle 4"/>
          <p:cNvSpPr/>
          <p:nvPr/>
        </p:nvSpPr>
        <p:spPr>
          <a:xfrm>
            <a:off x="1169184" y="4550978"/>
            <a:ext cx="10005201" cy="1569660"/>
          </a:xfrm>
          <a:prstGeom prst="rect">
            <a:avLst/>
          </a:prstGeom>
        </p:spPr>
        <p:txBody>
          <a:bodyPr wrap="square">
            <a:spAutoFit/>
          </a:bodyPr>
          <a:lstStyle/>
          <a:p>
            <a:r>
              <a:rPr lang="en-US" sz="2400" dirty="0"/>
              <a:t>SELECT f1.fid, f1.fdate, f1.time, f1.src, f1.dest </a:t>
            </a:r>
            <a:r>
              <a:rPr lang="en-US" sz="2400" dirty="0" smtClean="0"/>
              <a:t>FROM </a:t>
            </a:r>
            <a:r>
              <a:rPr lang="en-US" sz="2400" dirty="0"/>
              <a:t>flight f1 JOIN flight f2 </a:t>
            </a:r>
            <a:endParaRPr lang="en-US" sz="2400" dirty="0" smtClean="0"/>
          </a:p>
          <a:p>
            <a:r>
              <a:rPr lang="en-US" sz="2400" dirty="0" smtClean="0"/>
              <a:t>ON </a:t>
            </a:r>
            <a:r>
              <a:rPr lang="en-US" sz="2400" dirty="0"/>
              <a:t>f1.fid = f2.fid </a:t>
            </a:r>
            <a:endParaRPr lang="en-US" sz="2400" dirty="0" smtClean="0"/>
          </a:p>
          <a:p>
            <a:r>
              <a:rPr lang="en-US" sz="2400" dirty="0" smtClean="0"/>
              <a:t>WHERE </a:t>
            </a:r>
            <a:r>
              <a:rPr lang="en-US" sz="2400" dirty="0"/>
              <a:t>f1.fdate = '2020-12-01' AND f1.time = '16:00' </a:t>
            </a:r>
            <a:endParaRPr lang="en-US" sz="2400" dirty="0" smtClean="0"/>
          </a:p>
          <a:p>
            <a:r>
              <a:rPr lang="en-US" sz="2400" dirty="0" smtClean="0"/>
              <a:t>AND </a:t>
            </a:r>
            <a:r>
              <a:rPr lang="en-US" sz="2400" dirty="0"/>
              <a:t>f2.fdate = '2020-12-02' AND f2.time = '16:00';</a:t>
            </a:r>
            <a:endParaRPr lang="en-IN" sz="2400" dirty="0"/>
          </a:p>
        </p:txBody>
      </p:sp>
    </p:spTree>
    <p:extLst>
      <p:ext uri="{BB962C8B-B14F-4D97-AF65-F5344CB8AC3E}">
        <p14:creationId xmlns:p14="http://schemas.microsoft.com/office/powerpoint/2010/main" val="4288355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3695" y="967230"/>
            <a:ext cx="9469821" cy="1323439"/>
          </a:xfrm>
          <a:prstGeom prst="rect">
            <a:avLst/>
          </a:prstGeom>
        </p:spPr>
        <p:txBody>
          <a:bodyPr wrap="square">
            <a:spAutoFit/>
          </a:bodyPr>
          <a:lstStyle/>
          <a:p>
            <a:r>
              <a:rPr lang="en-IN" sz="4000" dirty="0"/>
              <a:t>F1​←</a:t>
            </a:r>
            <a:r>
              <a:rPr lang="el-GR" sz="4000" dirty="0"/>
              <a:t>ρ</a:t>
            </a:r>
            <a:r>
              <a:rPr lang="en-IN" sz="2000" dirty="0"/>
              <a:t>F1</a:t>
            </a:r>
            <a:r>
              <a:rPr lang="en-IN" sz="3600" dirty="0"/>
              <a:t>​​</a:t>
            </a:r>
            <a:r>
              <a:rPr lang="en-IN" sz="4000" dirty="0"/>
              <a:t>(</a:t>
            </a:r>
            <a:r>
              <a:rPr lang="el-GR" sz="4000" dirty="0"/>
              <a:t>σ</a:t>
            </a:r>
            <a:r>
              <a:rPr lang="en-IN" sz="2400" dirty="0" err="1"/>
              <a:t>fdate</a:t>
            </a:r>
            <a:r>
              <a:rPr lang="en-IN" sz="2400" dirty="0"/>
              <a:t>=′01/12/2020′ ∧ time=′16:00′</a:t>
            </a:r>
            <a:r>
              <a:rPr lang="en-IN" sz="4000" dirty="0"/>
              <a:t>​(flight)) F2←</a:t>
            </a:r>
            <a:r>
              <a:rPr lang="el-GR" sz="4000" dirty="0"/>
              <a:t>ρ</a:t>
            </a:r>
            <a:r>
              <a:rPr lang="en-IN" dirty="0"/>
              <a:t>F2</a:t>
            </a:r>
            <a:r>
              <a:rPr lang="en-IN" sz="4000" dirty="0"/>
              <a:t>(</a:t>
            </a:r>
            <a:r>
              <a:rPr lang="el-GR" sz="4000" dirty="0"/>
              <a:t>σ</a:t>
            </a:r>
            <a:r>
              <a:rPr lang="en-IN" sz="2000" dirty="0" err="1"/>
              <a:t>fdate</a:t>
            </a:r>
            <a:r>
              <a:rPr lang="en-IN" sz="2000" dirty="0"/>
              <a:t>=′02/12/2020′ ∧ time=′16:00</a:t>
            </a:r>
            <a:r>
              <a:rPr lang="en-IN" sz="2400" dirty="0"/>
              <a:t>′</a:t>
            </a:r>
            <a:r>
              <a:rPr lang="en-IN" sz="4000" dirty="0"/>
              <a:t>(flight</a:t>
            </a:r>
            <a:r>
              <a:rPr lang="en-IN" sz="4000" dirty="0" smtClean="0"/>
              <a:t>))</a:t>
            </a:r>
            <a:endParaRPr lang="en-IN" sz="4000" dirty="0"/>
          </a:p>
        </p:txBody>
      </p:sp>
      <p:sp>
        <p:nvSpPr>
          <p:cNvPr id="3" name="Rectangle 2"/>
          <p:cNvSpPr/>
          <p:nvPr/>
        </p:nvSpPr>
        <p:spPr>
          <a:xfrm>
            <a:off x="1608084" y="3808495"/>
            <a:ext cx="11519336" cy="1323439"/>
          </a:xfrm>
          <a:prstGeom prst="rect">
            <a:avLst/>
          </a:prstGeom>
        </p:spPr>
        <p:txBody>
          <a:bodyPr wrap="square">
            <a:spAutoFit/>
          </a:bodyPr>
          <a:lstStyle/>
          <a:p>
            <a:r>
              <a:rPr lang="el-GR" sz="4000" dirty="0"/>
              <a:t>π </a:t>
            </a:r>
            <a:r>
              <a:rPr lang="el-GR" sz="2000" dirty="0"/>
              <a:t>(</a:t>
            </a:r>
            <a:r>
              <a:rPr lang="en-IN" sz="2000" dirty="0"/>
              <a:t>F1.fid, F1.fdate, F1.time, F1.src, F1.dest) </a:t>
            </a:r>
            <a:r>
              <a:rPr lang="en-IN" sz="4000" dirty="0"/>
              <a:t>( F1 ⋈</a:t>
            </a:r>
            <a:r>
              <a:rPr lang="en-IN" sz="2000" dirty="0"/>
              <a:t>(F1.fid = F2.fid) </a:t>
            </a:r>
            <a:r>
              <a:rPr lang="en-IN" sz="4000" dirty="0" smtClean="0"/>
              <a:t>F2</a:t>
            </a:r>
            <a:r>
              <a:rPr lang="en-IN" sz="4000" dirty="0"/>
              <a:t>)</a:t>
            </a:r>
          </a:p>
          <a:p>
            <a:endParaRPr lang="en-IN" sz="4000" dirty="0"/>
          </a:p>
        </p:txBody>
      </p:sp>
    </p:spTree>
    <p:extLst>
      <p:ext uri="{BB962C8B-B14F-4D97-AF65-F5344CB8AC3E}">
        <p14:creationId xmlns:p14="http://schemas.microsoft.com/office/powerpoint/2010/main" val="9743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653321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995064" y="2347269"/>
            <a:ext cx="10163771" cy="307777"/>
          </a:xfrm>
          <a:prstGeom prst="rect">
            <a:avLst/>
          </a:prstGeom>
          <a:noFill/>
        </p:spPr>
        <p:txBody>
          <a:bodyPr wrap="square">
            <a:spAutoFit/>
          </a:bodyPr>
          <a:lstStyle/>
          <a:p>
            <a:pPr marL="0" marR="0" algn="ctr">
              <a:spcBef>
                <a:spcPts val="600"/>
              </a:spcBef>
              <a:spcAft>
                <a:spcPts val="600"/>
              </a:spcAft>
            </a:pPr>
            <a:r>
              <a:rPr lang="en-US" sz="1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022916" y="160861"/>
            <a:ext cx="10991284" cy="2154436"/>
          </a:xfrm>
          <a:prstGeom prst="rect">
            <a:avLst/>
          </a:prstGeom>
          <a:noFill/>
        </p:spPr>
        <p:txBody>
          <a:bodyPr wrap="square">
            <a:spAutoFit/>
          </a:bodyPr>
          <a:lstStyle/>
          <a:p>
            <a:pPr marL="0" marR="0" algn="just">
              <a:spcBef>
                <a:spcPts val="600"/>
              </a:spcBef>
              <a:spcAft>
                <a:spcPts val="600"/>
              </a:spcAft>
            </a:pPr>
            <a:r>
              <a:rPr lang="en-IN" sz="1400" b="1" i="0" u="sng" dirty="0">
                <a:solidFill>
                  <a:srgbClr val="222222"/>
                </a:solidFill>
                <a:effectLst/>
                <a:latin typeface="book antiqua" panose="02040602050305030304" pitchFamily="18" charset="0"/>
              </a:rPr>
              <a:t>Question:</a:t>
            </a:r>
            <a:endParaRPr lang="en-IN" sz="1400" b="0" i="0" dirty="0">
              <a:solidFill>
                <a:srgbClr val="222222"/>
              </a:solidFill>
              <a:effectLst/>
              <a:latin typeface="Arial" panose="020B0604020202020204" pitchFamily="34" charset="0"/>
            </a:endParaRPr>
          </a:p>
          <a:p>
            <a:pPr marL="0" marR="0" algn="just">
              <a:spcBef>
                <a:spcPts val="600"/>
              </a:spcBef>
              <a:spcAft>
                <a:spcPts val="600"/>
              </a:spcAft>
            </a:pPr>
            <a:r>
              <a:rPr lang="en-IN" sz="1400" b="0" i="0" dirty="0">
                <a:solidFill>
                  <a:srgbClr val="222222"/>
                </a:solidFill>
                <a:effectLst/>
                <a:latin typeface="book antiqua" panose="02040602050305030304" pitchFamily="18" charset="0"/>
              </a:rPr>
              <a:t>Consider the following relational database schema consisting of the four relation schemas:</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passenger </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pid</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pname</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pgender</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pcity</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agency </a:t>
            </a:r>
            <a:r>
              <a:rPr lang="en-IN" sz="1400" b="0" i="0" dirty="0">
                <a:solidFill>
                  <a:srgbClr val="222222"/>
                </a:solidFill>
                <a:effectLst/>
                <a:latin typeface="book antiqua" panose="02040602050305030304" pitchFamily="18" charset="0"/>
              </a:rPr>
              <a:t>( aid, </a:t>
            </a:r>
            <a:r>
              <a:rPr lang="en-IN" sz="1400" b="0" i="0" dirty="0" err="1">
                <a:solidFill>
                  <a:srgbClr val="222222"/>
                </a:solidFill>
                <a:effectLst/>
                <a:latin typeface="book antiqua" panose="02040602050305030304" pitchFamily="18" charset="0"/>
              </a:rPr>
              <a:t>aname</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acity</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flight </a:t>
            </a:r>
            <a:r>
              <a:rPr lang="en-IN" sz="1400" b="0" i="0" dirty="0">
                <a:solidFill>
                  <a:srgbClr val="222222"/>
                </a:solidFill>
                <a:effectLst/>
                <a:latin typeface="book antiqua" panose="02040602050305030304" pitchFamily="18" charset="0"/>
              </a:rPr>
              <a:t>(fid, </a:t>
            </a:r>
            <a:r>
              <a:rPr lang="en-IN" sz="1400" b="0" i="0" dirty="0" err="1">
                <a:solidFill>
                  <a:srgbClr val="222222"/>
                </a:solidFill>
                <a:effectLst/>
                <a:latin typeface="book antiqua" panose="02040602050305030304" pitchFamily="18" charset="0"/>
              </a:rPr>
              <a:t>fdate</a:t>
            </a:r>
            <a:r>
              <a:rPr lang="en-IN" sz="1400" b="0" i="0" dirty="0">
                <a:solidFill>
                  <a:srgbClr val="222222"/>
                </a:solidFill>
                <a:effectLst/>
                <a:latin typeface="book antiqua" panose="02040602050305030304" pitchFamily="18" charset="0"/>
              </a:rPr>
              <a:t>, time, </a:t>
            </a:r>
            <a:r>
              <a:rPr lang="en-IN" sz="1400" b="0" i="0" dirty="0" err="1">
                <a:solidFill>
                  <a:srgbClr val="222222"/>
                </a:solidFill>
                <a:effectLst/>
                <a:latin typeface="book antiqua" panose="02040602050305030304" pitchFamily="18" charset="0"/>
              </a:rPr>
              <a:t>src</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dest</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booking </a:t>
            </a:r>
            <a:r>
              <a:rPr lang="en-IN" sz="1400" b="0" i="0" dirty="0">
                <a:solidFill>
                  <a:srgbClr val="222222"/>
                </a:solidFill>
                <a:effectLst/>
                <a:latin typeface="book antiqua" panose="02040602050305030304" pitchFamily="18" charset="0"/>
              </a:rPr>
              <a:t>(</a:t>
            </a:r>
            <a:r>
              <a:rPr lang="en-IN" sz="1400" b="0" i="0" dirty="0" err="1">
                <a:solidFill>
                  <a:srgbClr val="222222"/>
                </a:solidFill>
                <a:effectLst/>
                <a:latin typeface="book antiqua" panose="02040602050305030304" pitchFamily="18" charset="0"/>
              </a:rPr>
              <a:t>pid</a:t>
            </a:r>
            <a:r>
              <a:rPr lang="en-IN" sz="1400" b="0" i="0" dirty="0">
                <a:solidFill>
                  <a:srgbClr val="222222"/>
                </a:solidFill>
                <a:effectLst/>
                <a:latin typeface="book antiqua" panose="02040602050305030304" pitchFamily="18" charset="0"/>
              </a:rPr>
              <a:t>, aid, fid, </a:t>
            </a:r>
            <a:r>
              <a:rPr lang="en-IN" sz="1400" b="0" i="0" dirty="0" err="1">
                <a:solidFill>
                  <a:srgbClr val="222222"/>
                </a:solidFill>
                <a:effectLst/>
                <a:latin typeface="book antiqua" panose="02040602050305030304" pitchFamily="18" charset="0"/>
              </a:rPr>
              <a:t>fdate</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46F1B93A-1AFC-F6A0-D9BE-12C3332523C6}"/>
              </a:ext>
            </a:extLst>
          </p:cNvPr>
          <p:cNvSpPr txBox="1"/>
          <p:nvPr/>
        </p:nvSpPr>
        <p:spPr>
          <a:xfrm>
            <a:off x="243614" y="5131065"/>
            <a:ext cx="11059885" cy="523220"/>
          </a:xfrm>
          <a:prstGeom prst="rect">
            <a:avLst/>
          </a:prstGeom>
          <a:noFill/>
        </p:spPr>
        <p:txBody>
          <a:bodyPr wrap="square">
            <a:spAutoFit/>
          </a:bodyPr>
          <a:lstStyle/>
          <a:p>
            <a:r>
              <a:rPr lang="en-US" sz="2800" b="0" i="0" dirty="0">
                <a:solidFill>
                  <a:srgbClr val="222222"/>
                </a:solidFill>
                <a:effectLst/>
                <a:latin typeface="book antiqua" panose="02040602050305030304" pitchFamily="18" charset="0"/>
              </a:rPr>
              <a:t>(σ</a:t>
            </a:r>
            <a:r>
              <a:rPr lang="en-US" sz="2800" b="0" i="1" baseline="-25000" dirty="0">
                <a:solidFill>
                  <a:srgbClr val="222222"/>
                </a:solidFill>
                <a:effectLst/>
                <a:latin typeface="book antiqua" panose="02040602050305030304" pitchFamily="18" charset="0"/>
              </a:rPr>
              <a:t> </a:t>
            </a:r>
            <a:r>
              <a:rPr lang="en-US" sz="2800" b="0" i="1" baseline="-25000" dirty="0" err="1">
                <a:solidFill>
                  <a:srgbClr val="222222"/>
                </a:solidFill>
                <a:effectLst/>
                <a:latin typeface="book antiqua" panose="02040602050305030304" pitchFamily="18" charset="0"/>
              </a:rPr>
              <a:t>fdate</a:t>
            </a:r>
            <a:r>
              <a:rPr lang="en-US" sz="2800" b="0" i="1" baseline="-25000" dirty="0">
                <a:solidFill>
                  <a:srgbClr val="222222"/>
                </a:solidFill>
                <a:effectLst/>
                <a:latin typeface="book antiqua" panose="02040602050305030304" pitchFamily="18" charset="0"/>
              </a:rPr>
              <a:t> = 01/12/2020 ^ time = 16:00 </a:t>
            </a:r>
            <a:r>
              <a:rPr lang="en-US" sz="2800" b="0" i="0" dirty="0">
                <a:solidFill>
                  <a:srgbClr val="222222"/>
                </a:solidFill>
                <a:effectLst/>
                <a:latin typeface="book antiqua" panose="02040602050305030304" pitchFamily="18" charset="0"/>
              </a:rPr>
              <a:t>(flight)) </a:t>
            </a:r>
            <a:r>
              <a:rPr lang="en-US" sz="2800" b="0" i="0" dirty="0">
                <a:solidFill>
                  <a:srgbClr val="222222"/>
                </a:solidFill>
                <a:effectLst/>
                <a:latin typeface="Arial" panose="020B0604020202020204" pitchFamily="34" charset="0"/>
              </a:rPr>
              <a:t>∪</a:t>
            </a:r>
            <a:r>
              <a:rPr lang="en-US" sz="2800" b="0" i="0" dirty="0">
                <a:solidFill>
                  <a:srgbClr val="222222"/>
                </a:solidFill>
                <a:effectLst/>
                <a:latin typeface="book antiqua" panose="02040602050305030304" pitchFamily="18" charset="0"/>
              </a:rPr>
              <a:t> (σ</a:t>
            </a:r>
            <a:r>
              <a:rPr lang="en-US" sz="2800" b="0" i="1" baseline="-25000" dirty="0">
                <a:solidFill>
                  <a:srgbClr val="222222"/>
                </a:solidFill>
                <a:effectLst/>
                <a:latin typeface="book antiqua" panose="02040602050305030304" pitchFamily="18" charset="0"/>
              </a:rPr>
              <a:t> </a:t>
            </a:r>
            <a:r>
              <a:rPr lang="en-US" sz="2800" b="0" i="1" baseline="-25000" dirty="0" err="1">
                <a:solidFill>
                  <a:srgbClr val="222222"/>
                </a:solidFill>
                <a:effectLst/>
                <a:latin typeface="book antiqua" panose="02040602050305030304" pitchFamily="18" charset="0"/>
              </a:rPr>
              <a:t>fdate</a:t>
            </a:r>
            <a:r>
              <a:rPr lang="en-US" sz="2800" b="0" i="1" baseline="-25000" dirty="0">
                <a:solidFill>
                  <a:srgbClr val="222222"/>
                </a:solidFill>
                <a:effectLst/>
                <a:latin typeface="book antiqua" panose="02040602050305030304" pitchFamily="18" charset="0"/>
              </a:rPr>
              <a:t> = 02/12/2020 ^ time = 16:00 </a:t>
            </a:r>
            <a:r>
              <a:rPr lang="en-US" sz="2800" b="0" i="0" dirty="0">
                <a:solidFill>
                  <a:srgbClr val="222222"/>
                </a:solidFill>
                <a:effectLst/>
                <a:latin typeface="book antiqua" panose="02040602050305030304" pitchFamily="18" charset="0"/>
              </a:rPr>
              <a:t>(flight))</a:t>
            </a:r>
            <a:endParaRPr lang="en-IN" sz="2800" dirty="0"/>
          </a:p>
        </p:txBody>
      </p:sp>
      <p:sp>
        <p:nvSpPr>
          <p:cNvPr id="2" name="Rectangle 1"/>
          <p:cNvSpPr/>
          <p:nvPr/>
        </p:nvSpPr>
        <p:spPr>
          <a:xfrm>
            <a:off x="674538" y="3188948"/>
            <a:ext cx="11874500" cy="1200329"/>
          </a:xfrm>
          <a:prstGeom prst="rect">
            <a:avLst/>
          </a:prstGeom>
        </p:spPr>
        <p:txBody>
          <a:bodyPr wrap="square">
            <a:spAutoFit/>
          </a:bodyPr>
          <a:lstStyle/>
          <a:p>
            <a:r>
              <a:rPr lang="en-US" sz="2400" dirty="0"/>
              <a:t>SELECT </a:t>
            </a:r>
            <a:r>
              <a:rPr lang="en-US" sz="2400" dirty="0" smtClean="0"/>
              <a:t>* FROM </a:t>
            </a:r>
            <a:r>
              <a:rPr lang="en-US" sz="2400" dirty="0"/>
              <a:t>flight </a:t>
            </a:r>
            <a:endParaRPr lang="en-US" sz="2400" dirty="0" smtClean="0"/>
          </a:p>
          <a:p>
            <a:r>
              <a:rPr lang="en-US" sz="2400" dirty="0" smtClean="0"/>
              <a:t>WHERE </a:t>
            </a:r>
            <a:r>
              <a:rPr lang="en-US" sz="2400" dirty="0"/>
              <a:t>(</a:t>
            </a:r>
            <a:r>
              <a:rPr lang="en-US" sz="2400" dirty="0" err="1"/>
              <a:t>fdate</a:t>
            </a:r>
            <a:r>
              <a:rPr lang="en-US" sz="2400" dirty="0"/>
              <a:t> = '2020-12-01' OR </a:t>
            </a:r>
            <a:r>
              <a:rPr lang="en-US" sz="2400" dirty="0" err="1"/>
              <a:t>fdate</a:t>
            </a:r>
            <a:r>
              <a:rPr lang="en-US" sz="2400" dirty="0"/>
              <a:t> = '2020-12-02') </a:t>
            </a:r>
            <a:endParaRPr lang="en-US" sz="2400" dirty="0" smtClean="0"/>
          </a:p>
          <a:p>
            <a:r>
              <a:rPr lang="en-US" sz="2400" dirty="0" smtClean="0"/>
              <a:t>AND </a:t>
            </a:r>
            <a:r>
              <a:rPr lang="en-US" sz="2400" dirty="0"/>
              <a:t>time = '16:00:00';</a:t>
            </a:r>
            <a:endParaRPr lang="en-IN" sz="2400" dirty="0"/>
          </a:p>
        </p:txBody>
      </p:sp>
    </p:spTree>
    <p:extLst>
      <p:ext uri="{BB962C8B-B14F-4D97-AF65-F5344CB8AC3E}">
        <p14:creationId xmlns:p14="http://schemas.microsoft.com/office/powerpoint/2010/main" val="1664775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err="1">
                <a:solidFill>
                  <a:srgbClr val="800080"/>
                </a:solidFill>
                <a:effectLst/>
                <a:latin typeface="book antiqua" panose="02040602050305030304" pitchFamily="18" charset="0"/>
              </a:rPr>
              <a:t>i</a:t>
            </a:r>
            <a:r>
              <a:rPr lang="en-US" sz="2400" b="1" i="0" dirty="0">
                <a:solidFill>
                  <a:srgbClr val="800080"/>
                </a:solidFill>
                <a:effectLst/>
                <a:latin typeface="book antiqua" panose="02040602050305030304" pitchFamily="18" charset="0"/>
              </a:rPr>
              <a:t>) Find the agency names for agencies who do not have any bookings for passenger with id 123.</a:t>
            </a:r>
            <a:endParaRPr lang="en-IN" sz="4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4194955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414486"/>
            <a:ext cx="10163771" cy="830997"/>
          </a:xfrm>
          <a:prstGeom prst="rect">
            <a:avLst/>
          </a:prstGeom>
          <a:noFill/>
        </p:spPr>
        <p:txBody>
          <a:bodyPr wrap="square">
            <a:spAutoFit/>
          </a:bodyPr>
          <a:lstStyle/>
          <a:p>
            <a:pPr marL="0" marR="0" algn="ctr">
              <a:spcBef>
                <a:spcPts val="600"/>
              </a:spcBef>
              <a:spcAft>
                <a:spcPts val="600"/>
              </a:spcAft>
            </a:pPr>
            <a:r>
              <a:rPr lang="en-US" sz="2400" b="1" i="0" dirty="0" err="1">
                <a:solidFill>
                  <a:srgbClr val="800080"/>
                </a:solidFill>
                <a:effectLst/>
                <a:latin typeface="book antiqua" panose="02040602050305030304" pitchFamily="18" charset="0"/>
              </a:rPr>
              <a:t>i</a:t>
            </a:r>
            <a:r>
              <a:rPr lang="en-US" sz="2400" b="1" i="0" dirty="0">
                <a:solidFill>
                  <a:srgbClr val="800080"/>
                </a:solidFill>
                <a:effectLst/>
                <a:latin typeface="book antiqua" panose="02040602050305030304" pitchFamily="18" charset="0"/>
              </a:rPr>
              <a:t>) Find the agency names for agencies who do not have any bookings for passenger with id 123.</a:t>
            </a:r>
            <a:endParaRPr lang="en-IN" sz="4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8B92A27C-A7A6-03CC-0E98-02DCA0C684A7}"/>
              </a:ext>
            </a:extLst>
          </p:cNvPr>
          <p:cNvSpPr txBox="1"/>
          <p:nvPr/>
        </p:nvSpPr>
        <p:spPr>
          <a:xfrm>
            <a:off x="1761893" y="4342618"/>
            <a:ext cx="9189136" cy="461665"/>
          </a:xfrm>
          <a:prstGeom prst="rect">
            <a:avLst/>
          </a:prstGeom>
          <a:noFill/>
        </p:spPr>
        <p:txBody>
          <a:bodyPr wrap="square">
            <a:spAutoFit/>
          </a:bodyPr>
          <a:lstStyle/>
          <a:p>
            <a:r>
              <a:rPr lang="en-US" sz="2400" b="0" i="0" dirty="0">
                <a:effectLst/>
                <a:latin typeface="book antiqua" panose="02040602050305030304" pitchFamily="18" charset="0"/>
              </a:rPr>
              <a:t>Π</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aname</a:t>
            </a:r>
            <a:r>
              <a:rPr lang="en-US" sz="2400" b="0" i="1" baseline="-25000" dirty="0">
                <a:effectLst/>
                <a:latin typeface="book antiqua" panose="02040602050305030304" pitchFamily="18" charset="0"/>
              </a:rPr>
              <a:t> </a:t>
            </a:r>
            <a:r>
              <a:rPr lang="en-US" sz="2400" b="0" i="0" dirty="0">
                <a:effectLst/>
                <a:latin typeface="book antiqua" panose="02040602050305030304" pitchFamily="18" charset="0"/>
              </a:rPr>
              <a:t>(agency </a:t>
            </a:r>
            <a:r>
              <a:rPr lang="en-US" sz="2400" b="0" i="0" dirty="0">
                <a:effectLst/>
                <a:latin typeface="cambria math" panose="02040503050406030204" pitchFamily="18" charset="0"/>
              </a:rPr>
              <a:t>⨝</a:t>
            </a:r>
            <a:r>
              <a:rPr lang="en-US" sz="2400" b="0" i="0" dirty="0">
                <a:effectLst/>
                <a:latin typeface="book antiqua" panose="02040602050305030304" pitchFamily="18" charset="0"/>
              </a:rPr>
              <a:t> (Π</a:t>
            </a:r>
            <a:r>
              <a:rPr lang="en-US" sz="2400" b="0" i="0" baseline="-25000" dirty="0">
                <a:effectLst/>
                <a:latin typeface="book antiqua" panose="02040602050305030304" pitchFamily="18" charset="0"/>
              </a:rPr>
              <a:t> aid </a:t>
            </a:r>
            <a:r>
              <a:rPr lang="en-US" sz="2400" b="0" i="0" dirty="0">
                <a:effectLst/>
                <a:latin typeface="book antiqua" panose="02040602050305030304" pitchFamily="18" charset="0"/>
              </a:rPr>
              <a:t>(agency) – Π</a:t>
            </a:r>
            <a:r>
              <a:rPr lang="en-US" sz="2400" b="0" i="0" baseline="-25000" dirty="0">
                <a:effectLst/>
                <a:latin typeface="book antiqua" panose="02040602050305030304" pitchFamily="18" charset="0"/>
              </a:rPr>
              <a:t> aid </a:t>
            </a:r>
            <a:r>
              <a:rPr lang="en-US" sz="2400" b="0" i="0" dirty="0">
                <a:effectLst/>
                <a:latin typeface="book antiqua" panose="02040602050305030304" pitchFamily="18" charset="0"/>
              </a:rPr>
              <a:t>(σ</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pid</a:t>
            </a:r>
            <a:r>
              <a:rPr lang="en-US" sz="2400" b="0" i="1" baseline="-25000" dirty="0">
                <a:effectLst/>
                <a:latin typeface="book antiqua" panose="02040602050305030304" pitchFamily="18" charset="0"/>
              </a:rPr>
              <a:t> = 123 </a:t>
            </a:r>
            <a:r>
              <a:rPr lang="en-US" sz="2400" b="0" i="0" dirty="0">
                <a:effectLst/>
                <a:latin typeface="book antiqua" panose="02040602050305030304" pitchFamily="18" charset="0"/>
              </a:rPr>
              <a:t>(booking)))</a:t>
            </a:r>
            <a:endParaRPr lang="en-IN" sz="2400" dirty="0"/>
          </a:p>
        </p:txBody>
      </p:sp>
      <p:sp>
        <p:nvSpPr>
          <p:cNvPr id="2" name="Rectangle 1"/>
          <p:cNvSpPr/>
          <p:nvPr/>
        </p:nvSpPr>
        <p:spPr>
          <a:xfrm>
            <a:off x="569542" y="4972735"/>
            <a:ext cx="11836400" cy="369332"/>
          </a:xfrm>
          <a:prstGeom prst="rect">
            <a:avLst/>
          </a:prstGeom>
        </p:spPr>
        <p:txBody>
          <a:bodyPr wrap="square">
            <a:spAutoFit/>
          </a:bodyPr>
          <a:lstStyle/>
          <a:p>
            <a:r>
              <a:rPr lang="en-US" dirty="0"/>
              <a:t>SELECT </a:t>
            </a:r>
            <a:r>
              <a:rPr lang="en-US" dirty="0" err="1"/>
              <a:t>a.aname</a:t>
            </a:r>
            <a:r>
              <a:rPr lang="en-US" dirty="0"/>
              <a:t> FROM agency a LEFT JOIN booking b ON </a:t>
            </a:r>
            <a:r>
              <a:rPr lang="en-US" dirty="0" err="1"/>
              <a:t>a.aid</a:t>
            </a:r>
            <a:r>
              <a:rPr lang="en-US" dirty="0"/>
              <a:t> = </a:t>
            </a:r>
            <a:r>
              <a:rPr lang="en-US" dirty="0" err="1"/>
              <a:t>b.aid</a:t>
            </a:r>
            <a:r>
              <a:rPr lang="en-US" dirty="0"/>
              <a:t> AND </a:t>
            </a:r>
            <a:r>
              <a:rPr lang="en-US" dirty="0" err="1"/>
              <a:t>b.pid</a:t>
            </a:r>
            <a:r>
              <a:rPr lang="en-US" dirty="0"/>
              <a:t> = 123 WHERE </a:t>
            </a:r>
            <a:r>
              <a:rPr lang="en-US" dirty="0" err="1"/>
              <a:t>b.aid</a:t>
            </a:r>
            <a:r>
              <a:rPr lang="en-US" dirty="0"/>
              <a:t> IS NULL;</a:t>
            </a:r>
            <a:endParaRPr lang="en-IN" dirty="0"/>
          </a:p>
        </p:txBody>
      </p:sp>
      <p:sp>
        <p:nvSpPr>
          <p:cNvPr id="4" name="Rectangle 3"/>
          <p:cNvSpPr/>
          <p:nvPr/>
        </p:nvSpPr>
        <p:spPr>
          <a:xfrm>
            <a:off x="872384" y="5493435"/>
            <a:ext cx="11533558" cy="369332"/>
          </a:xfrm>
          <a:prstGeom prst="rect">
            <a:avLst/>
          </a:prstGeom>
        </p:spPr>
        <p:txBody>
          <a:bodyPr wrap="square">
            <a:spAutoFit/>
          </a:bodyPr>
          <a:lstStyle/>
          <a:p>
            <a:r>
              <a:rPr lang="en-US" dirty="0"/>
              <a:t>SELECT </a:t>
            </a:r>
            <a:r>
              <a:rPr lang="en-US" dirty="0" err="1"/>
              <a:t>aname</a:t>
            </a:r>
            <a:r>
              <a:rPr lang="en-US" dirty="0"/>
              <a:t> FROM agency WHERE aid NOT IN ( SELECT aid FROM booking WHERE </a:t>
            </a:r>
            <a:r>
              <a:rPr lang="en-US" dirty="0" err="1"/>
              <a:t>pid</a:t>
            </a:r>
            <a:r>
              <a:rPr lang="en-US" dirty="0"/>
              <a:t> = 123 );</a:t>
            </a:r>
            <a:endParaRPr lang="en-IN" dirty="0"/>
          </a:p>
        </p:txBody>
      </p:sp>
    </p:spTree>
    <p:extLst>
      <p:ext uri="{BB962C8B-B14F-4D97-AF65-F5344CB8AC3E}">
        <p14:creationId xmlns:p14="http://schemas.microsoft.com/office/powerpoint/2010/main" val="757949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j) Find the details of all male passengers who are associated with Jet agency.</a:t>
            </a:r>
            <a:endParaRPr lang="en-IN" sz="5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941921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178575"/>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j) Find the details of all male passengers who are associated with Jet agency.</a:t>
            </a:r>
            <a:endParaRPr lang="en-IN" sz="5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D74052FC-E9CC-0DF3-62C2-73D7C8936E99}"/>
              </a:ext>
            </a:extLst>
          </p:cNvPr>
          <p:cNvSpPr txBox="1"/>
          <p:nvPr/>
        </p:nvSpPr>
        <p:spPr>
          <a:xfrm>
            <a:off x="344571" y="4134116"/>
            <a:ext cx="11491828" cy="461665"/>
          </a:xfrm>
          <a:prstGeom prst="rect">
            <a:avLst/>
          </a:prstGeom>
          <a:noFill/>
        </p:spPr>
        <p:txBody>
          <a:bodyPr wrap="square">
            <a:spAutoFit/>
          </a:bodyPr>
          <a:lstStyle/>
          <a:p>
            <a:r>
              <a:rPr lang="el-GR" sz="2400" b="0" i="0" dirty="0">
                <a:effectLst/>
                <a:latin typeface="Arial" panose="020B0604020202020204" pitchFamily="34" charset="0"/>
              </a:rPr>
              <a:t>Π</a:t>
            </a:r>
            <a:r>
              <a:rPr lang="el-GR" sz="2400" b="0" i="1" baseline="-25000" dirty="0">
                <a:effectLst/>
                <a:latin typeface="Arial" panose="020B0604020202020204" pitchFamily="34" charset="0"/>
              </a:rPr>
              <a:t> </a:t>
            </a:r>
            <a:r>
              <a:rPr lang="en-IN" sz="2400" b="0" i="1" baseline="-25000" dirty="0" err="1">
                <a:effectLst/>
                <a:latin typeface="Arial" panose="020B0604020202020204" pitchFamily="34" charset="0"/>
              </a:rPr>
              <a:t>passengers.pid</a:t>
            </a:r>
            <a:r>
              <a:rPr lang="en-IN" sz="2400" b="0" i="1" baseline="-25000" dirty="0">
                <a:effectLst/>
                <a:latin typeface="Arial" panose="020B0604020202020204" pitchFamily="34" charset="0"/>
              </a:rPr>
              <a:t>, </a:t>
            </a:r>
            <a:r>
              <a:rPr lang="en-IN" sz="2400" b="0" i="1" baseline="-25000" dirty="0" err="1">
                <a:effectLst/>
                <a:latin typeface="Arial" panose="020B0604020202020204" pitchFamily="34" charset="0"/>
              </a:rPr>
              <a:t>pname</a:t>
            </a:r>
            <a:r>
              <a:rPr lang="en-IN" sz="2400" b="0" i="1" baseline="-25000" dirty="0">
                <a:effectLst/>
                <a:latin typeface="Arial" panose="020B0604020202020204" pitchFamily="34" charset="0"/>
              </a:rPr>
              <a:t>, </a:t>
            </a:r>
            <a:r>
              <a:rPr lang="en-IN" sz="2400" b="0" i="1" baseline="-25000" dirty="0" err="1">
                <a:effectLst/>
                <a:latin typeface="Arial" panose="020B0604020202020204" pitchFamily="34" charset="0"/>
              </a:rPr>
              <a:t>pcity</a:t>
            </a:r>
            <a:r>
              <a:rPr lang="en-IN" sz="2400" b="0" i="1" baseline="-25000" dirty="0">
                <a:effectLst/>
                <a:latin typeface="Arial" panose="020B0604020202020204" pitchFamily="34" charset="0"/>
              </a:rPr>
              <a:t> </a:t>
            </a:r>
            <a:r>
              <a:rPr lang="en-IN" sz="2400" b="0" i="0" dirty="0">
                <a:effectLst/>
                <a:latin typeface="Arial" panose="020B0604020202020204" pitchFamily="34" charset="0"/>
              </a:rPr>
              <a:t>(</a:t>
            </a:r>
            <a:r>
              <a:rPr lang="el-GR" sz="2400" b="0" i="0" dirty="0">
                <a:effectLst/>
                <a:latin typeface="Arial" panose="020B0604020202020204" pitchFamily="34" charset="0"/>
              </a:rPr>
              <a:t>σ</a:t>
            </a:r>
            <a:r>
              <a:rPr lang="el-GR" sz="2400" b="0" i="1" baseline="-25000" dirty="0">
                <a:effectLst/>
                <a:latin typeface="Arial" panose="020B0604020202020204" pitchFamily="34" charset="0"/>
              </a:rPr>
              <a:t> </a:t>
            </a:r>
            <a:r>
              <a:rPr lang="en-IN" sz="2400" b="0" i="1" baseline="-25000" dirty="0" err="1">
                <a:effectLst/>
                <a:latin typeface="Arial" panose="020B0604020202020204" pitchFamily="34" charset="0"/>
              </a:rPr>
              <a:t>pgender</a:t>
            </a:r>
            <a:r>
              <a:rPr lang="en-IN" sz="2400" b="0" i="1" baseline="-25000" dirty="0">
                <a:effectLst/>
                <a:latin typeface="Arial" panose="020B0604020202020204" pitchFamily="34" charset="0"/>
              </a:rPr>
              <a:t> = “Male” ^ </a:t>
            </a:r>
            <a:r>
              <a:rPr lang="en-IN" sz="2400" b="0" i="1" baseline="-25000" dirty="0" err="1">
                <a:effectLst/>
                <a:latin typeface="Arial" panose="020B0604020202020204" pitchFamily="34" charset="0"/>
              </a:rPr>
              <a:t>aname</a:t>
            </a:r>
            <a:r>
              <a:rPr lang="en-IN" sz="2400" b="0" i="1" baseline="-25000" dirty="0">
                <a:effectLst/>
                <a:latin typeface="Arial" panose="020B0604020202020204" pitchFamily="34" charset="0"/>
              </a:rPr>
              <a:t> = ‘Jet’ </a:t>
            </a:r>
            <a:r>
              <a:rPr lang="en-IN" sz="2400" b="0" i="0" dirty="0">
                <a:effectLst/>
                <a:latin typeface="Arial" panose="020B0604020202020204" pitchFamily="34" charset="0"/>
              </a:rPr>
              <a:t>(passengers </a:t>
            </a:r>
            <a:r>
              <a:rPr lang="en-IN" sz="2400" b="0" i="0" dirty="0">
                <a:effectLst/>
                <a:latin typeface="Cambria Math" panose="02040503050406030204" pitchFamily="18" charset="0"/>
              </a:rPr>
              <a:t>⨝</a:t>
            </a:r>
            <a:r>
              <a:rPr lang="en-IN" sz="2400" b="0" i="0" dirty="0">
                <a:effectLst/>
                <a:latin typeface="Arial" panose="020B0604020202020204" pitchFamily="34" charset="0"/>
              </a:rPr>
              <a:t> booking </a:t>
            </a:r>
            <a:r>
              <a:rPr lang="en-IN" sz="2400" b="0" i="0" dirty="0">
                <a:effectLst/>
                <a:latin typeface="Cambria Math" panose="02040503050406030204" pitchFamily="18" charset="0"/>
              </a:rPr>
              <a:t>⨝</a:t>
            </a:r>
            <a:r>
              <a:rPr lang="en-IN" sz="2400" b="0" i="0" dirty="0">
                <a:effectLst/>
                <a:latin typeface="Arial" panose="020B0604020202020204" pitchFamily="34" charset="0"/>
              </a:rPr>
              <a:t> agency))</a:t>
            </a:r>
            <a:endParaRPr lang="en-IN" sz="2400" dirty="0"/>
          </a:p>
        </p:txBody>
      </p:sp>
      <p:sp>
        <p:nvSpPr>
          <p:cNvPr id="2" name="Rectangle 1"/>
          <p:cNvSpPr/>
          <p:nvPr/>
        </p:nvSpPr>
        <p:spPr>
          <a:xfrm>
            <a:off x="282013" y="4900304"/>
            <a:ext cx="11616943" cy="646331"/>
          </a:xfrm>
          <a:prstGeom prst="rect">
            <a:avLst/>
          </a:prstGeom>
        </p:spPr>
        <p:txBody>
          <a:bodyPr wrap="square">
            <a:spAutoFit/>
          </a:bodyPr>
          <a:lstStyle/>
          <a:p>
            <a:r>
              <a:rPr lang="en-IN" dirty="0"/>
              <a:t>SELECT </a:t>
            </a:r>
            <a:r>
              <a:rPr lang="en-IN" dirty="0" err="1"/>
              <a:t>p.pid</a:t>
            </a:r>
            <a:r>
              <a:rPr lang="en-IN" dirty="0"/>
              <a:t>, </a:t>
            </a:r>
            <a:r>
              <a:rPr lang="en-IN" dirty="0" err="1"/>
              <a:t>p.pname</a:t>
            </a:r>
            <a:r>
              <a:rPr lang="en-IN" dirty="0"/>
              <a:t>, </a:t>
            </a:r>
            <a:r>
              <a:rPr lang="en-IN" dirty="0" err="1"/>
              <a:t>p.pgender</a:t>
            </a:r>
            <a:r>
              <a:rPr lang="en-IN" dirty="0"/>
              <a:t>, </a:t>
            </a:r>
            <a:r>
              <a:rPr lang="en-IN" dirty="0" err="1"/>
              <a:t>p.pcity</a:t>
            </a:r>
            <a:r>
              <a:rPr lang="en-IN" dirty="0"/>
              <a:t> FROM passenger p JOIN booking b ON </a:t>
            </a:r>
            <a:r>
              <a:rPr lang="en-IN" dirty="0" err="1"/>
              <a:t>p.pid</a:t>
            </a:r>
            <a:r>
              <a:rPr lang="en-IN" dirty="0"/>
              <a:t> = </a:t>
            </a:r>
            <a:r>
              <a:rPr lang="en-IN" dirty="0" err="1"/>
              <a:t>b.pid</a:t>
            </a:r>
            <a:r>
              <a:rPr lang="en-IN" dirty="0"/>
              <a:t> JOIN agency a ON </a:t>
            </a:r>
            <a:r>
              <a:rPr lang="en-IN" dirty="0" err="1"/>
              <a:t>b.aid</a:t>
            </a:r>
            <a:r>
              <a:rPr lang="en-IN" dirty="0"/>
              <a:t> = </a:t>
            </a:r>
            <a:r>
              <a:rPr lang="en-IN" dirty="0" err="1"/>
              <a:t>a.aid</a:t>
            </a:r>
            <a:r>
              <a:rPr lang="en-IN" dirty="0"/>
              <a:t> WHERE </a:t>
            </a:r>
            <a:r>
              <a:rPr lang="en-IN" dirty="0" err="1"/>
              <a:t>p.pgender</a:t>
            </a:r>
            <a:r>
              <a:rPr lang="en-IN" dirty="0"/>
              <a:t> = 'male' AND </a:t>
            </a:r>
            <a:r>
              <a:rPr lang="en-IN" dirty="0" err="1"/>
              <a:t>a.aname</a:t>
            </a:r>
            <a:r>
              <a:rPr lang="en-IN" dirty="0"/>
              <a:t> = 'Jet';</a:t>
            </a:r>
          </a:p>
        </p:txBody>
      </p:sp>
    </p:spTree>
    <p:extLst>
      <p:ext uri="{BB962C8B-B14F-4D97-AF65-F5344CB8AC3E}">
        <p14:creationId xmlns:p14="http://schemas.microsoft.com/office/powerpoint/2010/main" val="37295575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FAA397A-1929-A803-6655-F605D711DE9F}"/>
              </a:ext>
            </a:extLst>
          </p:cNvPr>
          <p:cNvSpPr txBox="1"/>
          <p:nvPr/>
        </p:nvSpPr>
        <p:spPr>
          <a:xfrm>
            <a:off x="1175657" y="762000"/>
            <a:ext cx="10646229" cy="2246769"/>
          </a:xfrm>
          <a:prstGeom prst="rect">
            <a:avLst/>
          </a:prstGeom>
          <a:noFill/>
        </p:spPr>
        <p:txBody>
          <a:bodyPr wrap="square">
            <a:spAutoFit/>
          </a:bodyPr>
          <a:lstStyle/>
          <a:p>
            <a:pPr algn="just" fontAlgn="base"/>
            <a:r>
              <a:rPr lang="en-US" sz="2800" b="1" i="0" dirty="0">
                <a:effectLst/>
                <a:latin typeface="Nunito" pitchFamily="2" charset="0"/>
              </a:rPr>
              <a:t>Relational Calculus</a:t>
            </a:r>
          </a:p>
          <a:p>
            <a:pPr algn="just" fontAlgn="base"/>
            <a:r>
              <a:rPr lang="en-US" sz="2800" b="0" i="0" dirty="0">
                <a:effectLst/>
                <a:latin typeface="Nunito" pitchFamily="2" charset="0"/>
              </a:rPr>
              <a:t>As Relational Algebra is a procedural query language, </a:t>
            </a:r>
            <a:r>
              <a:rPr lang="en-US" sz="2800" b="0" i="0" u="sng" dirty="0">
                <a:effectLst/>
                <a:latin typeface="Nunito" pitchFamily="2" charset="0"/>
                <a:hlinkClick r:id="rId2">
                  <a:extLst>
                    <a:ext uri="{A12FA001-AC4F-418D-AE19-62706E023703}">
                      <ahyp:hlinkClr xmlns:ahyp="http://schemas.microsoft.com/office/drawing/2018/hyperlinkcolor" xmlns="" val="tx"/>
                    </a:ext>
                  </a:extLst>
                </a:hlinkClick>
              </a:rPr>
              <a:t>Relational Calculus</a:t>
            </a:r>
            <a:r>
              <a:rPr lang="en-US" sz="2800" b="0" i="0" dirty="0">
                <a:effectLst/>
                <a:latin typeface="Nunito" pitchFamily="2" charset="0"/>
              </a:rPr>
              <a:t> is a non-procedural query language. It basically deals with the end results. It always tells me what to do but never tells me how to do it.</a:t>
            </a:r>
          </a:p>
        </p:txBody>
      </p:sp>
      <p:sp>
        <p:nvSpPr>
          <p:cNvPr id="7" name="TextBox 6">
            <a:extLst>
              <a:ext uri="{FF2B5EF4-FFF2-40B4-BE49-F238E27FC236}">
                <a16:creationId xmlns:a16="http://schemas.microsoft.com/office/drawing/2014/main" xmlns="" id="{C20D5F93-EDD8-EF68-5344-10FC53DD10E9}"/>
              </a:ext>
            </a:extLst>
          </p:cNvPr>
          <p:cNvSpPr txBox="1"/>
          <p:nvPr/>
        </p:nvSpPr>
        <p:spPr>
          <a:xfrm>
            <a:off x="1175657" y="3387567"/>
            <a:ext cx="6101442" cy="1200329"/>
          </a:xfrm>
          <a:prstGeom prst="rect">
            <a:avLst/>
          </a:prstGeom>
          <a:noFill/>
        </p:spPr>
        <p:txBody>
          <a:bodyPr wrap="square">
            <a:spAutoFit/>
          </a:bodyPr>
          <a:lstStyle/>
          <a:p>
            <a:pPr algn="just" fontAlgn="base"/>
            <a:r>
              <a:rPr lang="en-US" sz="2400" b="0" i="0" dirty="0">
                <a:effectLst/>
                <a:latin typeface="Nunito" pitchFamily="2" charset="0"/>
              </a:rPr>
              <a:t>There are two types of Relational Calculus</a:t>
            </a:r>
          </a:p>
          <a:p>
            <a:pPr algn="just" fontAlgn="base">
              <a:buFont typeface="+mj-lt"/>
              <a:buAutoNum type="arabicPeriod"/>
            </a:pPr>
            <a:r>
              <a:rPr lang="en-US" sz="2400" b="0" i="0" u="sng" dirty="0">
                <a:effectLst/>
                <a:latin typeface="Nunito" pitchFamily="2" charset="0"/>
                <a:hlinkClick r:id="rId3">
                  <a:extLst>
                    <a:ext uri="{A12FA001-AC4F-418D-AE19-62706E023703}">
                      <ahyp:hlinkClr xmlns:ahyp="http://schemas.microsoft.com/office/drawing/2018/hyperlinkcolor" xmlns="" val="tx"/>
                    </a:ext>
                  </a:extLst>
                </a:hlinkClick>
              </a:rPr>
              <a:t>Tuple Relational Calculus(TRC)</a:t>
            </a:r>
            <a:endParaRPr lang="en-US" sz="2400" b="0" i="0" dirty="0">
              <a:effectLst/>
              <a:latin typeface="Nunito" pitchFamily="2" charset="0"/>
            </a:endParaRPr>
          </a:p>
          <a:p>
            <a:pPr algn="just" fontAlgn="base">
              <a:buFont typeface="+mj-lt"/>
              <a:buAutoNum type="arabicPeriod"/>
            </a:pPr>
            <a:r>
              <a:rPr lang="en-US" sz="2400" b="0" i="0" u="sng" dirty="0">
                <a:effectLst/>
                <a:latin typeface="Nunito" pitchFamily="2" charset="0"/>
                <a:hlinkClick r:id="rId4">
                  <a:extLst>
                    <a:ext uri="{A12FA001-AC4F-418D-AE19-62706E023703}">
                      <ahyp:hlinkClr xmlns:ahyp="http://schemas.microsoft.com/office/drawing/2018/hyperlinkcolor" xmlns="" val="tx"/>
                    </a:ext>
                  </a:extLst>
                </a:hlinkClick>
              </a:rPr>
              <a:t>Domain Relational Calculus(DRC)</a:t>
            </a:r>
            <a:endParaRPr lang="en-US" sz="2400" b="0" i="0" dirty="0">
              <a:effectLst/>
              <a:latin typeface="Nunito" pitchFamily="2" charset="0"/>
            </a:endParaRPr>
          </a:p>
        </p:txBody>
      </p:sp>
    </p:spTree>
    <p:extLst>
      <p:ext uri="{BB962C8B-B14F-4D97-AF65-F5344CB8AC3E}">
        <p14:creationId xmlns:p14="http://schemas.microsoft.com/office/powerpoint/2010/main" val="2292651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4678357C-FB1F-AE3A-A538-A42B5B7C277B}"/>
              </a:ext>
            </a:extLst>
          </p:cNvPr>
          <p:cNvSpPr txBox="1"/>
          <p:nvPr/>
        </p:nvSpPr>
        <p:spPr>
          <a:xfrm>
            <a:off x="401245" y="139225"/>
            <a:ext cx="11389510" cy="6001643"/>
          </a:xfrm>
          <a:prstGeom prst="rect">
            <a:avLst/>
          </a:prstGeom>
          <a:noFill/>
        </p:spPr>
        <p:txBody>
          <a:bodyPr wrap="square">
            <a:spAutoFit/>
          </a:bodyPr>
          <a:lstStyle/>
          <a:p>
            <a:pPr algn="just"/>
            <a:r>
              <a:rPr lang="en-US" sz="2400" b="1" dirty="0"/>
              <a:t>Tuple Relational Calculus (TRC) </a:t>
            </a:r>
            <a:r>
              <a:rPr lang="en-US" sz="2400" dirty="0"/>
              <a:t>is a non-procedural query language used in relational database management systems (RDBMS) to retrieve data from tables. TRC is based on the concept of tuples, which are ordered sets of attribute values that represent a single row or record in a database table.</a:t>
            </a:r>
          </a:p>
          <a:p>
            <a:pPr algn="just"/>
            <a:endParaRPr lang="en-US" sz="2400" dirty="0"/>
          </a:p>
          <a:p>
            <a:pPr algn="just"/>
            <a:r>
              <a:rPr lang="en-US" sz="2400" b="1" dirty="0"/>
              <a:t>TRC</a:t>
            </a:r>
            <a:r>
              <a:rPr lang="en-US" sz="2400" dirty="0"/>
              <a:t> is a declarative language, meaning that it specifies what data is required from the database, rather than how to retrieve it. TRC queries are expressed as logical formulas that describe the desired tuples.</a:t>
            </a:r>
          </a:p>
          <a:p>
            <a:pPr algn="just"/>
            <a:endParaRPr lang="en-US" sz="2400" dirty="0"/>
          </a:p>
          <a:p>
            <a:pPr algn="just"/>
            <a:r>
              <a:rPr lang="en-US" sz="2400" b="1" dirty="0"/>
              <a:t>Syntax: </a:t>
            </a:r>
            <a:r>
              <a:rPr lang="en-US" sz="2400" dirty="0"/>
              <a:t>The basic syntax of TRC is as follows:</a:t>
            </a:r>
          </a:p>
          <a:p>
            <a:pPr algn="just"/>
            <a:endParaRPr lang="en-US" sz="2400" dirty="0"/>
          </a:p>
          <a:p>
            <a:pPr algn="ctr"/>
            <a:r>
              <a:rPr lang="en-US" sz="2400" b="1" dirty="0"/>
              <a:t>{ t | P(t) }</a:t>
            </a:r>
          </a:p>
          <a:p>
            <a:pPr algn="ctr"/>
            <a:endParaRPr lang="en-US" sz="2400" dirty="0"/>
          </a:p>
          <a:p>
            <a:pPr algn="just"/>
            <a:r>
              <a:rPr lang="en-US" sz="2400" dirty="0"/>
              <a:t>where t is a tuple variable and P(t) is a logical formula that describes the conditions that the tuples in the result must satisfy. The curly braces {} are used to indicate that the expression is a set of tuples.</a:t>
            </a:r>
            <a:endParaRPr lang="en-IN" sz="2400" dirty="0"/>
          </a:p>
        </p:txBody>
      </p:sp>
    </p:spTree>
    <p:extLst>
      <p:ext uri="{BB962C8B-B14F-4D97-AF65-F5344CB8AC3E}">
        <p14:creationId xmlns:p14="http://schemas.microsoft.com/office/powerpoint/2010/main" val="2865027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xmlns="" id="{FD93D3B4-2CFB-E6CC-4066-EF1EB39F45C1}"/>
              </a:ext>
            </a:extLst>
          </p:cNvPr>
          <p:cNvGraphicFramePr>
            <a:graphicFrameLocks noGrp="1"/>
          </p:cNvGraphicFramePr>
          <p:nvPr>
            <p:extLst>
              <p:ext uri="{D42A27DB-BD31-4B8C-83A1-F6EECF244321}">
                <p14:modId xmlns:p14="http://schemas.microsoft.com/office/powerpoint/2010/main" val="3440065996"/>
              </p:ext>
            </p:extLst>
          </p:nvPr>
        </p:nvGraphicFramePr>
        <p:xfrm>
          <a:off x="1505404" y="272030"/>
          <a:ext cx="2086882" cy="1473200"/>
        </p:xfrm>
        <a:graphic>
          <a:graphicData uri="http://schemas.openxmlformats.org/drawingml/2006/table">
            <a:tbl>
              <a:tblPr>
                <a:tableStyleId>{69C7853C-536D-4A76-A0AE-DD22124D55A5}</a:tableStyleId>
              </a:tblPr>
              <a:tblGrid>
                <a:gridCol w="2086882">
                  <a:extLst>
                    <a:ext uri="{9D8B030D-6E8A-4147-A177-3AD203B41FA5}">
                      <a16:colId xmlns:a16="http://schemas.microsoft.com/office/drawing/2014/main" xmlns="" val="3244779712"/>
                    </a:ext>
                  </a:extLst>
                </a:gridCol>
              </a:tblGrid>
              <a:tr h="0">
                <a:tc>
                  <a:txBody>
                    <a:bodyPr/>
                    <a:lstStyle/>
                    <a:p>
                      <a:pPr algn="ctr" fontAlgn="ctr"/>
                      <a:r>
                        <a:rPr lang="en-IN" sz="1250" b="0" dirty="0">
                          <a:effectLst/>
                        </a:rPr>
                        <a:t>Employee ID</a:t>
                      </a:r>
                    </a:p>
                  </a:txBody>
                  <a:tcPr marL="63500" marR="63500" marT="88900" marB="88900" anchor="ctr"/>
                </a:tc>
                <a:extLst>
                  <a:ext uri="{0D108BD9-81ED-4DB2-BD59-A6C34878D82A}">
                    <a16:rowId xmlns:a16="http://schemas.microsoft.com/office/drawing/2014/main" xmlns="" val="1082456249"/>
                  </a:ext>
                </a:extLst>
              </a:tr>
              <a:tr h="0">
                <a:tc>
                  <a:txBody>
                    <a:bodyPr/>
                    <a:lstStyle/>
                    <a:p>
                      <a:pPr algn="ctr" fontAlgn="ctr"/>
                      <a:r>
                        <a:rPr lang="en-IN" sz="1250" b="0">
                          <a:effectLst/>
                        </a:rPr>
                        <a:t>Name</a:t>
                      </a:r>
                    </a:p>
                  </a:txBody>
                  <a:tcPr marL="63500" marR="63500" marT="88900" marB="88900" anchor="ctr"/>
                </a:tc>
                <a:extLst>
                  <a:ext uri="{0D108BD9-81ED-4DB2-BD59-A6C34878D82A}">
                    <a16:rowId xmlns:a16="http://schemas.microsoft.com/office/drawing/2014/main" xmlns="" val="167930266"/>
                  </a:ext>
                </a:extLst>
              </a:tr>
              <a:tr h="0">
                <a:tc>
                  <a:txBody>
                    <a:bodyPr/>
                    <a:lstStyle/>
                    <a:p>
                      <a:pPr algn="ctr" fontAlgn="ctr"/>
                      <a:r>
                        <a:rPr lang="en-IN" sz="1250" b="0">
                          <a:effectLst/>
                        </a:rPr>
                        <a:t>Salary</a:t>
                      </a:r>
                    </a:p>
                  </a:txBody>
                  <a:tcPr marL="63500" marR="63500" marT="88900" marB="88900" anchor="ctr"/>
                </a:tc>
                <a:extLst>
                  <a:ext uri="{0D108BD9-81ED-4DB2-BD59-A6C34878D82A}">
                    <a16:rowId xmlns:a16="http://schemas.microsoft.com/office/drawing/2014/main" xmlns="" val="2074556526"/>
                  </a:ext>
                </a:extLst>
              </a:tr>
              <a:tr h="0">
                <a:tc>
                  <a:txBody>
                    <a:bodyPr/>
                    <a:lstStyle/>
                    <a:p>
                      <a:pPr algn="ctr" fontAlgn="ctr"/>
                      <a:r>
                        <a:rPr lang="en-IN" sz="1250" b="0" dirty="0">
                          <a:effectLst/>
                        </a:rPr>
                        <a:t>Department ID</a:t>
                      </a:r>
                    </a:p>
                  </a:txBody>
                  <a:tcPr marL="63500" marR="63500" marT="88900" marB="88900" anchor="ctr"/>
                </a:tc>
                <a:extLst>
                  <a:ext uri="{0D108BD9-81ED-4DB2-BD59-A6C34878D82A}">
                    <a16:rowId xmlns:a16="http://schemas.microsoft.com/office/drawing/2014/main" xmlns="" val="3723962427"/>
                  </a:ext>
                </a:extLst>
              </a:tr>
            </a:tbl>
          </a:graphicData>
        </a:graphic>
      </p:graphicFrame>
      <p:sp>
        <p:nvSpPr>
          <p:cNvPr id="8" name="TextBox 7">
            <a:extLst>
              <a:ext uri="{FF2B5EF4-FFF2-40B4-BE49-F238E27FC236}">
                <a16:creationId xmlns:a16="http://schemas.microsoft.com/office/drawing/2014/main" xmlns="" id="{B2E8D860-D159-56B7-A964-99836937E28E}"/>
              </a:ext>
            </a:extLst>
          </p:cNvPr>
          <p:cNvSpPr txBox="1"/>
          <p:nvPr/>
        </p:nvSpPr>
        <p:spPr>
          <a:xfrm>
            <a:off x="881743" y="1985194"/>
            <a:ext cx="9797143" cy="1569660"/>
          </a:xfrm>
          <a:prstGeom prst="rect">
            <a:avLst/>
          </a:prstGeom>
          <a:noFill/>
        </p:spPr>
        <p:txBody>
          <a:bodyPr wrap="square">
            <a:spAutoFit/>
          </a:bodyPr>
          <a:lstStyle/>
          <a:p>
            <a:pPr algn="just" fontAlgn="base"/>
            <a:r>
              <a:rPr lang="en-US" sz="2400" b="0" i="0" dirty="0">
                <a:solidFill>
                  <a:srgbClr val="273239"/>
                </a:solidFill>
                <a:effectLst/>
                <a:latin typeface="Nunito" pitchFamily="2" charset="0"/>
              </a:rPr>
              <a:t>To retrieve the names of all employees who earn more than $50,000 per year, we can use the following TRC query:</a:t>
            </a:r>
          </a:p>
          <a:p>
            <a:pPr algn="just" fontAlgn="base"/>
            <a:endParaRPr lang="en-US" sz="2400" b="0" i="0" dirty="0">
              <a:solidFill>
                <a:srgbClr val="273239"/>
              </a:solidFill>
              <a:effectLst/>
              <a:latin typeface="Nunito" pitchFamily="2" charset="0"/>
            </a:endParaRPr>
          </a:p>
          <a:p>
            <a:pPr algn="ctr" fontAlgn="base"/>
            <a:r>
              <a:rPr lang="en-US" sz="2400" b="0" i="0" dirty="0">
                <a:solidFill>
                  <a:srgbClr val="273239"/>
                </a:solidFill>
                <a:effectLst/>
                <a:latin typeface="Nunito" pitchFamily="2" charset="0"/>
              </a:rPr>
              <a:t>{ t | Employees(t) ∧ </a:t>
            </a:r>
            <a:r>
              <a:rPr lang="en-US" sz="2400" b="0" i="0" dirty="0" err="1">
                <a:solidFill>
                  <a:srgbClr val="273239"/>
                </a:solidFill>
                <a:effectLst/>
                <a:latin typeface="Nunito" pitchFamily="2" charset="0"/>
              </a:rPr>
              <a:t>t.Salary</a:t>
            </a:r>
            <a:r>
              <a:rPr lang="en-US" sz="2400" b="0" i="0" dirty="0">
                <a:solidFill>
                  <a:srgbClr val="273239"/>
                </a:solidFill>
                <a:effectLst/>
                <a:latin typeface="Nunito" pitchFamily="2" charset="0"/>
              </a:rPr>
              <a:t> &gt; 50000 }</a:t>
            </a:r>
          </a:p>
        </p:txBody>
      </p:sp>
      <p:sp>
        <p:nvSpPr>
          <p:cNvPr id="10" name="TextBox 9">
            <a:extLst>
              <a:ext uri="{FF2B5EF4-FFF2-40B4-BE49-F238E27FC236}">
                <a16:creationId xmlns:a16="http://schemas.microsoft.com/office/drawing/2014/main" xmlns="" id="{04102345-7D5B-BD1F-906E-40A7E0547BEF}"/>
              </a:ext>
            </a:extLst>
          </p:cNvPr>
          <p:cNvSpPr txBox="1"/>
          <p:nvPr/>
        </p:nvSpPr>
        <p:spPr>
          <a:xfrm>
            <a:off x="881743" y="4089151"/>
            <a:ext cx="10036629" cy="1323439"/>
          </a:xfrm>
          <a:prstGeom prst="rect">
            <a:avLst/>
          </a:prstGeom>
          <a:noFill/>
        </p:spPr>
        <p:txBody>
          <a:bodyPr wrap="square">
            <a:spAutoFit/>
          </a:bodyPr>
          <a:lstStyle/>
          <a:p>
            <a:pPr algn="just"/>
            <a:r>
              <a:rPr lang="en-US" sz="2000" b="0" i="0" dirty="0">
                <a:solidFill>
                  <a:srgbClr val="273239"/>
                </a:solidFill>
                <a:effectLst/>
                <a:latin typeface="Nunito" pitchFamily="2" charset="0"/>
              </a:rPr>
              <a:t>In this query, the “Employees(t)” expression specifies that the tuple variable t represents a row in the “Employees” table. The “∧” symbol is the logical AND operator, which is used to combine the condition “</a:t>
            </a:r>
            <a:r>
              <a:rPr lang="en-US" sz="2000" b="0" i="0" dirty="0" err="1">
                <a:solidFill>
                  <a:srgbClr val="273239"/>
                </a:solidFill>
                <a:effectLst/>
                <a:latin typeface="Nunito" pitchFamily="2" charset="0"/>
              </a:rPr>
              <a:t>t.Salary</a:t>
            </a:r>
            <a:r>
              <a:rPr lang="en-US" sz="2000" b="0" i="0" dirty="0">
                <a:solidFill>
                  <a:srgbClr val="273239"/>
                </a:solidFill>
                <a:effectLst/>
                <a:latin typeface="Nunito" pitchFamily="2" charset="0"/>
              </a:rPr>
              <a:t> &gt; 50000” with the table selection.</a:t>
            </a:r>
            <a:endParaRPr lang="en-IN" sz="2000" dirty="0"/>
          </a:p>
        </p:txBody>
      </p:sp>
    </p:spTree>
    <p:extLst>
      <p:ext uri="{BB962C8B-B14F-4D97-AF65-F5344CB8AC3E}">
        <p14:creationId xmlns:p14="http://schemas.microsoft.com/office/powerpoint/2010/main" val="4157421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96B6A2A-8A74-960A-DCEE-1CCF7CB5E000}"/>
              </a:ext>
            </a:extLst>
          </p:cNvPr>
          <p:cNvSpPr txBox="1"/>
          <p:nvPr/>
        </p:nvSpPr>
        <p:spPr>
          <a:xfrm>
            <a:off x="696686" y="502226"/>
            <a:ext cx="9960428" cy="5632311"/>
          </a:xfrm>
          <a:prstGeom prst="rect">
            <a:avLst/>
          </a:prstGeom>
          <a:noFill/>
        </p:spPr>
        <p:txBody>
          <a:bodyPr wrap="square">
            <a:spAutoFit/>
          </a:bodyPr>
          <a:lstStyle/>
          <a:p>
            <a:r>
              <a:rPr lang="en-US" sz="2400" dirty="0"/>
              <a:t>In Tuple Calculus, a query is expressed as</a:t>
            </a:r>
          </a:p>
          <a:p>
            <a:endParaRPr lang="en-US" sz="2400" dirty="0"/>
          </a:p>
          <a:p>
            <a:pPr algn="ctr"/>
            <a:r>
              <a:rPr lang="en-US" sz="2400" dirty="0"/>
              <a:t>{t| P(t)}</a:t>
            </a:r>
          </a:p>
          <a:p>
            <a:pPr algn="ctr"/>
            <a:endParaRPr lang="en-US" sz="2400" dirty="0"/>
          </a:p>
          <a:p>
            <a:r>
              <a:rPr lang="en-US" sz="2400" dirty="0"/>
              <a:t>where t = resulting tuples, </a:t>
            </a:r>
          </a:p>
          <a:p>
            <a:r>
              <a:rPr lang="en-US" sz="2400" dirty="0"/>
              <a:t>P(t) = known as Predicate and these are the conditions that are used to fetch t. Thus, it generates a set of all tuples t, such that Predicate P(t) is true for t.</a:t>
            </a:r>
          </a:p>
          <a:p>
            <a:endParaRPr lang="en-US" sz="2400" dirty="0"/>
          </a:p>
          <a:p>
            <a:r>
              <a:rPr lang="en-US" sz="2400" dirty="0"/>
              <a:t>P(t) may have various conditions logically combined with OR (∨), AND (∧), NOT(¬). </a:t>
            </a:r>
          </a:p>
          <a:p>
            <a:endParaRPr lang="en-US" sz="2400" dirty="0"/>
          </a:p>
          <a:p>
            <a:r>
              <a:rPr lang="en-US" sz="2400" dirty="0"/>
              <a:t>It also uses quantifiers:</a:t>
            </a:r>
          </a:p>
          <a:p>
            <a:r>
              <a:rPr lang="en-US" sz="2400" dirty="0"/>
              <a:t>∃ t ∈ r (Q(t)) = ”there exists” a tuple in t in relation r such that predicate Q(t) is true. </a:t>
            </a:r>
          </a:p>
          <a:p>
            <a:r>
              <a:rPr lang="en-US" sz="2400" dirty="0"/>
              <a:t>∀ t ∈ r (Q(t)) = Q(t) is true “for all” tuples in relation r.</a:t>
            </a:r>
            <a:endParaRPr lang="en-IN" sz="2400" dirty="0"/>
          </a:p>
        </p:txBody>
      </p:sp>
    </p:spTree>
    <p:extLst>
      <p:ext uri="{BB962C8B-B14F-4D97-AF65-F5344CB8AC3E}">
        <p14:creationId xmlns:p14="http://schemas.microsoft.com/office/powerpoint/2010/main" val="11469728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734EE89F-CB3A-D54A-F27A-93E298DDAA9D}"/>
              </a:ext>
            </a:extLst>
          </p:cNvPr>
          <p:cNvGraphicFramePr>
            <a:graphicFrameLocks noGrp="1"/>
          </p:cNvGraphicFramePr>
          <p:nvPr>
            <p:extLst>
              <p:ext uri="{D42A27DB-BD31-4B8C-83A1-F6EECF244321}">
                <p14:modId xmlns:p14="http://schemas.microsoft.com/office/powerpoint/2010/main" val="3943951980"/>
              </p:ext>
            </p:extLst>
          </p:nvPr>
        </p:nvGraphicFramePr>
        <p:xfrm>
          <a:off x="351518" y="1059793"/>
          <a:ext cx="4644573" cy="1813560"/>
        </p:xfrm>
        <a:graphic>
          <a:graphicData uri="http://schemas.openxmlformats.org/drawingml/2006/table">
            <a:tbl>
              <a:tblPr>
                <a:tableStyleId>{69C7853C-536D-4A76-A0AE-DD22124D55A5}</a:tableStyleId>
              </a:tblPr>
              <a:tblGrid>
                <a:gridCol w="1548191">
                  <a:extLst>
                    <a:ext uri="{9D8B030D-6E8A-4147-A177-3AD203B41FA5}">
                      <a16:colId xmlns:a16="http://schemas.microsoft.com/office/drawing/2014/main" xmlns="" val="1798656869"/>
                    </a:ext>
                  </a:extLst>
                </a:gridCol>
                <a:gridCol w="1548191">
                  <a:extLst>
                    <a:ext uri="{9D8B030D-6E8A-4147-A177-3AD203B41FA5}">
                      <a16:colId xmlns:a16="http://schemas.microsoft.com/office/drawing/2014/main" xmlns="" val="3136490565"/>
                    </a:ext>
                  </a:extLst>
                </a:gridCol>
                <a:gridCol w="1548191">
                  <a:extLst>
                    <a:ext uri="{9D8B030D-6E8A-4147-A177-3AD203B41FA5}">
                      <a16:colId xmlns:a16="http://schemas.microsoft.com/office/drawing/2014/main" xmlns="" val="754916772"/>
                    </a:ext>
                  </a:extLst>
                </a:gridCol>
              </a:tblGrid>
              <a:tr h="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Street</a:t>
                      </a:r>
                    </a:p>
                  </a:txBody>
                  <a:tcPr marL="63500" marR="63500" marT="63500" marB="63500" anchor="ctr"/>
                </a:tc>
                <a:tc>
                  <a:txBody>
                    <a:bodyPr/>
                    <a:lstStyle/>
                    <a:p>
                      <a:pPr algn="ctr" fontAlgn="base"/>
                      <a:r>
                        <a:rPr lang="en-IN" sz="1400" b="1">
                          <a:effectLst/>
                        </a:rPr>
                        <a:t>City</a:t>
                      </a:r>
                    </a:p>
                  </a:txBody>
                  <a:tcPr marL="63500" marR="63500" marT="63500" marB="63500" anchor="ctr"/>
                </a:tc>
                <a:extLst>
                  <a:ext uri="{0D108BD9-81ED-4DB2-BD59-A6C34878D82A}">
                    <a16:rowId xmlns:a16="http://schemas.microsoft.com/office/drawing/2014/main" xmlns="" val="904766944"/>
                  </a:ext>
                </a:extLst>
              </a:tr>
              <a:tr h="0">
                <a:tc>
                  <a:txBody>
                    <a:bodyPr/>
                    <a:lstStyle/>
                    <a:p>
                      <a:pPr algn="ctr" fontAlgn="ctr"/>
                      <a:r>
                        <a:rPr lang="en-IN" sz="1250" b="0">
                          <a:effectLst/>
                        </a:rPr>
                        <a:t>Saurabh</a:t>
                      </a:r>
                    </a:p>
                  </a:txBody>
                  <a:tcPr marL="63500" marR="63500" marT="88900" marB="88900" anchor="ctr"/>
                </a:tc>
                <a:tc>
                  <a:txBody>
                    <a:bodyPr/>
                    <a:lstStyle/>
                    <a:p>
                      <a:pPr algn="ctr" fontAlgn="ctr"/>
                      <a:r>
                        <a:rPr lang="en-IN" sz="1250" b="0">
                          <a:effectLst/>
                        </a:rPr>
                        <a:t>A7</a:t>
                      </a:r>
                    </a:p>
                  </a:txBody>
                  <a:tcPr marL="63500" marR="63500" marT="88900" marB="88900" anchor="ctr"/>
                </a:tc>
                <a:tc>
                  <a:txBody>
                    <a:bodyPr/>
                    <a:lstStyle/>
                    <a:p>
                      <a:pPr algn="ctr" fontAlgn="ctr"/>
                      <a:r>
                        <a:rPr lang="en-IN" sz="1250" b="0">
                          <a:effectLst/>
                        </a:rPr>
                        <a:t>Patiala</a:t>
                      </a:r>
                    </a:p>
                  </a:txBody>
                  <a:tcPr marL="63500" marR="63500" marT="88900" marB="88900" anchor="ctr"/>
                </a:tc>
                <a:extLst>
                  <a:ext uri="{0D108BD9-81ED-4DB2-BD59-A6C34878D82A}">
                    <a16:rowId xmlns:a16="http://schemas.microsoft.com/office/drawing/2014/main" xmlns="" val="2146380242"/>
                  </a:ext>
                </a:extLst>
              </a:tr>
              <a:tr h="0">
                <a:tc>
                  <a:txBody>
                    <a:bodyPr/>
                    <a:lstStyle/>
                    <a:p>
                      <a:pPr algn="ctr" fontAlgn="ctr"/>
                      <a:r>
                        <a:rPr lang="en-IN" sz="1250" b="0">
                          <a:effectLst/>
                        </a:rPr>
                        <a:t>Mehak</a:t>
                      </a:r>
                    </a:p>
                  </a:txBody>
                  <a:tcPr marL="63500" marR="63500" marT="88900" marB="88900" anchor="ctr"/>
                </a:tc>
                <a:tc>
                  <a:txBody>
                    <a:bodyPr/>
                    <a:lstStyle/>
                    <a:p>
                      <a:pPr algn="ctr" fontAlgn="ctr"/>
                      <a:r>
                        <a:rPr lang="en-IN" sz="1250" b="0">
                          <a:effectLst/>
                        </a:rPr>
                        <a:t>B6</a:t>
                      </a:r>
                    </a:p>
                  </a:txBody>
                  <a:tcPr marL="63500" marR="63500" marT="88900" marB="88900" anchor="ctr"/>
                </a:tc>
                <a:tc>
                  <a:txBody>
                    <a:bodyPr/>
                    <a:lstStyle/>
                    <a:p>
                      <a:pPr algn="ctr" fontAlgn="ctr"/>
                      <a:r>
                        <a:rPr lang="en-IN" sz="1250" b="0" dirty="0">
                          <a:effectLst/>
                        </a:rPr>
                        <a:t>Jalandhar</a:t>
                      </a:r>
                    </a:p>
                  </a:txBody>
                  <a:tcPr marL="63500" marR="63500" marT="88900" marB="88900" anchor="ctr"/>
                </a:tc>
                <a:extLst>
                  <a:ext uri="{0D108BD9-81ED-4DB2-BD59-A6C34878D82A}">
                    <a16:rowId xmlns:a16="http://schemas.microsoft.com/office/drawing/2014/main" xmlns="" val="4235396142"/>
                  </a:ext>
                </a:extLst>
              </a:tr>
              <a:tr h="0">
                <a:tc>
                  <a:txBody>
                    <a:bodyPr/>
                    <a:lstStyle/>
                    <a:p>
                      <a:pPr algn="ctr" fontAlgn="ctr"/>
                      <a:r>
                        <a:rPr lang="en-IN" sz="1250" b="0">
                          <a:effectLst/>
                        </a:rPr>
                        <a:t>Sumiti</a:t>
                      </a:r>
                    </a:p>
                  </a:txBody>
                  <a:tcPr marL="63500" marR="63500" marT="88900" marB="88900" anchor="ctr"/>
                </a:tc>
                <a:tc>
                  <a:txBody>
                    <a:bodyPr/>
                    <a:lstStyle/>
                    <a:p>
                      <a:pPr algn="ctr" fontAlgn="ctr"/>
                      <a:r>
                        <a:rPr lang="en-IN" sz="1250" b="0">
                          <a:effectLst/>
                        </a:rPr>
                        <a:t>D9</a:t>
                      </a:r>
                    </a:p>
                  </a:txBody>
                  <a:tcPr marL="63500" marR="63500" marT="88900" marB="88900" anchor="ctr"/>
                </a:tc>
                <a:tc>
                  <a:txBody>
                    <a:bodyPr/>
                    <a:lstStyle/>
                    <a:p>
                      <a:pPr algn="ctr" fontAlgn="ctr"/>
                      <a:r>
                        <a:rPr lang="en-IN" sz="1250" b="0">
                          <a:effectLst/>
                        </a:rPr>
                        <a:t>Ludhiana</a:t>
                      </a:r>
                    </a:p>
                  </a:txBody>
                  <a:tcPr marL="63500" marR="63500" marT="88900" marB="88900" anchor="ctr"/>
                </a:tc>
                <a:extLst>
                  <a:ext uri="{0D108BD9-81ED-4DB2-BD59-A6C34878D82A}">
                    <a16:rowId xmlns:a16="http://schemas.microsoft.com/office/drawing/2014/main" xmlns="" val="956792902"/>
                  </a:ext>
                </a:extLst>
              </a:tr>
              <a:tr h="0">
                <a:tc>
                  <a:txBody>
                    <a:bodyPr/>
                    <a:lstStyle/>
                    <a:p>
                      <a:pPr algn="ctr" fontAlgn="ctr"/>
                      <a:r>
                        <a:rPr lang="en-IN" sz="1250" b="0">
                          <a:effectLst/>
                        </a:rPr>
                        <a:t>Ria</a:t>
                      </a:r>
                    </a:p>
                  </a:txBody>
                  <a:tcPr marL="63500" marR="63500" marT="88900" marB="88900" anchor="ctr"/>
                </a:tc>
                <a:tc>
                  <a:txBody>
                    <a:bodyPr/>
                    <a:lstStyle/>
                    <a:p>
                      <a:pPr algn="ctr" fontAlgn="ctr"/>
                      <a:r>
                        <a:rPr lang="en-IN" sz="1250" b="0">
                          <a:effectLst/>
                        </a:rPr>
                        <a:t>A5</a:t>
                      </a:r>
                    </a:p>
                  </a:txBody>
                  <a:tcPr marL="63500" marR="63500" marT="88900" marB="88900" anchor="ctr"/>
                </a:tc>
                <a:tc>
                  <a:txBody>
                    <a:bodyPr/>
                    <a:lstStyle/>
                    <a:p>
                      <a:pPr algn="ctr" fontAlgn="ctr"/>
                      <a:r>
                        <a:rPr lang="en-IN" sz="1250" b="0" dirty="0">
                          <a:effectLst/>
                        </a:rPr>
                        <a:t>Patiala</a:t>
                      </a:r>
                    </a:p>
                  </a:txBody>
                  <a:tcPr marL="63500" marR="63500" marT="88900" marB="88900" anchor="ctr"/>
                </a:tc>
                <a:extLst>
                  <a:ext uri="{0D108BD9-81ED-4DB2-BD59-A6C34878D82A}">
                    <a16:rowId xmlns:a16="http://schemas.microsoft.com/office/drawing/2014/main" xmlns="" val="2382357328"/>
                  </a:ext>
                </a:extLst>
              </a:tr>
            </a:tbl>
          </a:graphicData>
        </a:graphic>
      </p:graphicFrame>
      <p:sp>
        <p:nvSpPr>
          <p:cNvPr id="5" name="TextBox 4">
            <a:extLst>
              <a:ext uri="{FF2B5EF4-FFF2-40B4-BE49-F238E27FC236}">
                <a16:creationId xmlns:a16="http://schemas.microsoft.com/office/drawing/2014/main" xmlns="" id="{6AE40555-BDDB-5ECB-E4C1-450CD63AEEEA}"/>
              </a:ext>
            </a:extLst>
          </p:cNvPr>
          <p:cNvSpPr txBox="1"/>
          <p:nvPr/>
        </p:nvSpPr>
        <p:spPr>
          <a:xfrm>
            <a:off x="274865" y="690461"/>
            <a:ext cx="6101442" cy="369332"/>
          </a:xfrm>
          <a:prstGeom prst="rect">
            <a:avLst/>
          </a:prstGeom>
          <a:noFill/>
        </p:spPr>
        <p:txBody>
          <a:bodyPr wrap="square">
            <a:spAutoFit/>
          </a:bodyPr>
          <a:lstStyle/>
          <a:p>
            <a:r>
              <a:rPr lang="en-IN" b="1" i="0" dirty="0">
                <a:solidFill>
                  <a:srgbClr val="273239"/>
                </a:solidFill>
                <a:effectLst/>
                <a:latin typeface="Nunito" pitchFamily="2" charset="0"/>
              </a:rPr>
              <a:t>Table Customer</a:t>
            </a:r>
            <a:r>
              <a:rPr lang="en-IN" b="0" i="0" dirty="0">
                <a:solidFill>
                  <a:srgbClr val="273239"/>
                </a:solidFill>
                <a:effectLst/>
                <a:latin typeface="Nunito" pitchFamily="2" charset="0"/>
              </a:rPr>
              <a:t> </a:t>
            </a:r>
            <a:endParaRPr lang="en-IN" dirty="0"/>
          </a:p>
        </p:txBody>
      </p:sp>
      <p:graphicFrame>
        <p:nvGraphicFramePr>
          <p:cNvPr id="6" name="Table 5">
            <a:extLst>
              <a:ext uri="{FF2B5EF4-FFF2-40B4-BE49-F238E27FC236}">
                <a16:creationId xmlns:a16="http://schemas.microsoft.com/office/drawing/2014/main" xmlns="" id="{F3BB3E68-8B7F-FA04-04C5-F2A5C4C77D73}"/>
              </a:ext>
            </a:extLst>
          </p:cNvPr>
          <p:cNvGraphicFramePr>
            <a:graphicFrameLocks noGrp="1"/>
          </p:cNvGraphicFramePr>
          <p:nvPr>
            <p:extLst>
              <p:ext uri="{D42A27DB-BD31-4B8C-83A1-F6EECF244321}">
                <p14:modId xmlns:p14="http://schemas.microsoft.com/office/powerpoint/2010/main" val="4102406622"/>
              </p:ext>
            </p:extLst>
          </p:nvPr>
        </p:nvGraphicFramePr>
        <p:xfrm>
          <a:off x="5206546" y="1106295"/>
          <a:ext cx="3012168" cy="1445260"/>
        </p:xfrm>
        <a:graphic>
          <a:graphicData uri="http://schemas.openxmlformats.org/drawingml/2006/table">
            <a:tbl>
              <a:tblPr>
                <a:tableStyleId>{284E427A-3D55-4303-BF80-6455036E1DE7}</a:tableStyleId>
              </a:tblPr>
              <a:tblGrid>
                <a:gridCol w="1506084">
                  <a:extLst>
                    <a:ext uri="{9D8B030D-6E8A-4147-A177-3AD203B41FA5}">
                      <a16:colId xmlns:a16="http://schemas.microsoft.com/office/drawing/2014/main" xmlns="" val="1533270050"/>
                    </a:ext>
                  </a:extLst>
                </a:gridCol>
                <a:gridCol w="1506084">
                  <a:extLst>
                    <a:ext uri="{9D8B030D-6E8A-4147-A177-3AD203B41FA5}">
                      <a16:colId xmlns:a16="http://schemas.microsoft.com/office/drawing/2014/main" xmlns="" val="44979720"/>
                    </a:ext>
                  </a:extLst>
                </a:gridCol>
              </a:tblGrid>
              <a:tr h="340360">
                <a:tc>
                  <a:txBody>
                    <a:bodyPr/>
                    <a:lstStyle/>
                    <a:p>
                      <a:pPr algn="ctr" fontAlgn="base"/>
                      <a:r>
                        <a:rPr lang="en-IN" sz="1400" b="1">
                          <a:effectLst/>
                        </a:rPr>
                        <a:t>Branch name</a:t>
                      </a:r>
                    </a:p>
                  </a:txBody>
                  <a:tcPr marL="38100" marR="38100" marT="63500" marB="63500" anchor="ctr"/>
                </a:tc>
                <a:tc>
                  <a:txBody>
                    <a:bodyPr/>
                    <a:lstStyle/>
                    <a:p>
                      <a:pPr algn="ctr" fontAlgn="base"/>
                      <a:r>
                        <a:rPr lang="en-IN" sz="1400" b="1">
                          <a:effectLst/>
                        </a:rPr>
                        <a:t>Branch City</a:t>
                      </a:r>
                    </a:p>
                  </a:txBody>
                  <a:tcPr marL="63500" marR="63500" marT="63500" marB="63500" anchor="ctr"/>
                </a:tc>
                <a:extLst>
                  <a:ext uri="{0D108BD9-81ED-4DB2-BD59-A6C34878D82A}">
                    <a16:rowId xmlns:a16="http://schemas.microsoft.com/office/drawing/2014/main" xmlns="" val="2998621931"/>
                  </a:ext>
                </a:extLst>
              </a:tr>
              <a:tr h="368300">
                <a:tc>
                  <a:txBody>
                    <a:bodyPr/>
                    <a:lstStyle/>
                    <a:p>
                      <a:pPr algn="ctr" fontAlgn="ctr"/>
                      <a:r>
                        <a:rPr lang="en-IN" sz="1200" b="0" dirty="0">
                          <a:effectLst/>
                        </a:rPr>
                        <a:t>ABC</a:t>
                      </a:r>
                    </a:p>
                  </a:txBody>
                  <a:tcPr marL="63500" marR="63500" marT="88900" marB="88900" anchor="ctr"/>
                </a:tc>
                <a:tc>
                  <a:txBody>
                    <a:bodyPr/>
                    <a:lstStyle/>
                    <a:p>
                      <a:pPr algn="ctr" fontAlgn="ctr"/>
                      <a:r>
                        <a:rPr lang="en-IN" sz="1200" b="0">
                          <a:effectLst/>
                        </a:rPr>
                        <a:t>Patiala</a:t>
                      </a:r>
                    </a:p>
                  </a:txBody>
                  <a:tcPr marL="63500" marR="63500" marT="88900" marB="88900" anchor="ctr"/>
                </a:tc>
                <a:extLst>
                  <a:ext uri="{0D108BD9-81ED-4DB2-BD59-A6C34878D82A}">
                    <a16:rowId xmlns:a16="http://schemas.microsoft.com/office/drawing/2014/main" xmlns="" val="2922653623"/>
                  </a:ext>
                </a:extLst>
              </a:tr>
              <a:tr h="368300">
                <a:tc>
                  <a:txBody>
                    <a:bodyPr/>
                    <a:lstStyle/>
                    <a:p>
                      <a:pPr algn="ctr" fontAlgn="ctr"/>
                      <a:r>
                        <a:rPr lang="en-IN" sz="1200" b="0">
                          <a:effectLst/>
                        </a:rPr>
                        <a:t>DEF</a:t>
                      </a:r>
                    </a:p>
                  </a:txBody>
                  <a:tcPr marL="63500" marR="63500" marT="88900" marB="88900" anchor="ctr"/>
                </a:tc>
                <a:tc>
                  <a:txBody>
                    <a:bodyPr/>
                    <a:lstStyle/>
                    <a:p>
                      <a:pPr algn="ctr" fontAlgn="ctr"/>
                      <a:r>
                        <a:rPr lang="en-IN" sz="1200" b="0">
                          <a:effectLst/>
                        </a:rPr>
                        <a:t>Ludhiana</a:t>
                      </a:r>
                    </a:p>
                  </a:txBody>
                  <a:tcPr marL="63500" marR="63500" marT="88900" marB="88900" anchor="ctr"/>
                </a:tc>
                <a:extLst>
                  <a:ext uri="{0D108BD9-81ED-4DB2-BD59-A6C34878D82A}">
                    <a16:rowId xmlns:a16="http://schemas.microsoft.com/office/drawing/2014/main" xmlns="" val="3402378808"/>
                  </a:ext>
                </a:extLst>
              </a:tr>
              <a:tr h="368300">
                <a:tc>
                  <a:txBody>
                    <a:bodyPr/>
                    <a:lstStyle/>
                    <a:p>
                      <a:pPr algn="ctr" fontAlgn="ctr"/>
                      <a:r>
                        <a:rPr lang="en-IN" sz="1200" b="0">
                          <a:effectLst/>
                        </a:rPr>
                        <a:t>GHI</a:t>
                      </a:r>
                    </a:p>
                  </a:txBody>
                  <a:tcPr marL="63500" marR="63500" marT="88900" marB="88900" anchor="ctr"/>
                </a:tc>
                <a:tc>
                  <a:txBody>
                    <a:bodyPr/>
                    <a:lstStyle/>
                    <a:p>
                      <a:pPr algn="ctr" fontAlgn="ctr"/>
                      <a:r>
                        <a:rPr lang="en-IN" sz="1200" b="0" dirty="0">
                          <a:effectLst/>
                        </a:rPr>
                        <a:t>Jalandhar</a:t>
                      </a:r>
                    </a:p>
                  </a:txBody>
                  <a:tcPr marL="63500" marR="63500" marT="88900" marB="88900" anchor="ctr"/>
                </a:tc>
                <a:extLst>
                  <a:ext uri="{0D108BD9-81ED-4DB2-BD59-A6C34878D82A}">
                    <a16:rowId xmlns:a16="http://schemas.microsoft.com/office/drawing/2014/main" xmlns="" val="2709075863"/>
                  </a:ext>
                </a:extLst>
              </a:tr>
            </a:tbl>
          </a:graphicData>
        </a:graphic>
      </p:graphicFrame>
      <p:sp>
        <p:nvSpPr>
          <p:cNvPr id="8" name="TextBox 7">
            <a:extLst>
              <a:ext uri="{FF2B5EF4-FFF2-40B4-BE49-F238E27FC236}">
                <a16:creationId xmlns:a16="http://schemas.microsoft.com/office/drawing/2014/main" xmlns="" id="{59B70DBC-448C-515D-16B9-5C87B79CCC97}"/>
              </a:ext>
            </a:extLst>
          </p:cNvPr>
          <p:cNvSpPr txBox="1"/>
          <p:nvPr/>
        </p:nvSpPr>
        <p:spPr>
          <a:xfrm>
            <a:off x="4996091" y="597456"/>
            <a:ext cx="6101442" cy="369332"/>
          </a:xfrm>
          <a:prstGeom prst="rect">
            <a:avLst/>
          </a:prstGeom>
          <a:noFill/>
        </p:spPr>
        <p:txBody>
          <a:bodyPr wrap="square">
            <a:spAutoFit/>
          </a:bodyPr>
          <a:lstStyle/>
          <a:p>
            <a:r>
              <a:rPr lang="en-IN" b="1" i="0" dirty="0">
                <a:solidFill>
                  <a:srgbClr val="273239"/>
                </a:solidFill>
                <a:effectLst/>
                <a:latin typeface="Nunito" pitchFamily="2" charset="0"/>
              </a:rPr>
              <a:t>Table Branch</a:t>
            </a:r>
            <a:r>
              <a:rPr lang="en-IN" b="0" i="0" dirty="0">
                <a:solidFill>
                  <a:srgbClr val="273239"/>
                </a:solidFill>
                <a:effectLst/>
                <a:latin typeface="Nunito" pitchFamily="2" charset="0"/>
              </a:rPr>
              <a:t> </a:t>
            </a:r>
            <a:endParaRPr lang="en-IN" dirty="0"/>
          </a:p>
        </p:txBody>
      </p:sp>
      <p:graphicFrame>
        <p:nvGraphicFramePr>
          <p:cNvPr id="11" name="Table 10">
            <a:extLst>
              <a:ext uri="{FF2B5EF4-FFF2-40B4-BE49-F238E27FC236}">
                <a16:creationId xmlns:a16="http://schemas.microsoft.com/office/drawing/2014/main" xmlns="" id="{E67CDA3D-A0C0-F1F1-61BC-582F772EFB42}"/>
              </a:ext>
            </a:extLst>
          </p:cNvPr>
          <p:cNvGraphicFramePr>
            <a:graphicFrameLocks noGrp="1"/>
          </p:cNvGraphicFramePr>
          <p:nvPr>
            <p:extLst>
              <p:ext uri="{D42A27DB-BD31-4B8C-83A1-F6EECF244321}">
                <p14:modId xmlns:p14="http://schemas.microsoft.com/office/powerpoint/2010/main" val="1159015739"/>
              </p:ext>
            </p:extLst>
          </p:nvPr>
        </p:nvGraphicFramePr>
        <p:xfrm>
          <a:off x="274865" y="3705022"/>
          <a:ext cx="2881992" cy="2026920"/>
        </p:xfrm>
        <a:graphic>
          <a:graphicData uri="http://schemas.openxmlformats.org/drawingml/2006/table">
            <a:tbl>
              <a:tblPr>
                <a:tableStyleId>{69C7853C-536D-4A76-A0AE-DD22124D55A5}</a:tableStyleId>
              </a:tblPr>
              <a:tblGrid>
                <a:gridCol w="960664">
                  <a:extLst>
                    <a:ext uri="{9D8B030D-6E8A-4147-A177-3AD203B41FA5}">
                      <a16:colId xmlns:a16="http://schemas.microsoft.com/office/drawing/2014/main" xmlns="" val="2981089061"/>
                    </a:ext>
                  </a:extLst>
                </a:gridCol>
                <a:gridCol w="960664">
                  <a:extLst>
                    <a:ext uri="{9D8B030D-6E8A-4147-A177-3AD203B41FA5}">
                      <a16:colId xmlns:a16="http://schemas.microsoft.com/office/drawing/2014/main" xmlns="" val="3874938397"/>
                    </a:ext>
                  </a:extLst>
                </a:gridCol>
                <a:gridCol w="960664">
                  <a:extLst>
                    <a:ext uri="{9D8B030D-6E8A-4147-A177-3AD203B41FA5}">
                      <a16:colId xmlns:a16="http://schemas.microsoft.com/office/drawing/2014/main" xmlns="" val="3746049345"/>
                    </a:ext>
                  </a:extLst>
                </a:gridCol>
              </a:tblGrid>
              <a:tr h="0">
                <a:tc>
                  <a:txBody>
                    <a:bodyPr/>
                    <a:lstStyle/>
                    <a:p>
                      <a:pPr algn="ctr" fontAlgn="base"/>
                      <a:r>
                        <a:rPr lang="en-IN" sz="1400" b="1">
                          <a:effectLst/>
                        </a:rPr>
                        <a:t>Account number</a:t>
                      </a:r>
                    </a:p>
                  </a:txBody>
                  <a:tcPr marL="38100" marR="38100" marT="63500" marB="63500" anchor="ctr"/>
                </a:tc>
                <a:tc>
                  <a:txBody>
                    <a:bodyPr/>
                    <a:lstStyle/>
                    <a:p>
                      <a:pPr algn="ctr" fontAlgn="base"/>
                      <a:r>
                        <a:rPr lang="en-IN" sz="1400" b="1" dirty="0">
                          <a:effectLst/>
                        </a:rPr>
                        <a:t>Branch name</a:t>
                      </a:r>
                    </a:p>
                  </a:txBody>
                  <a:tcPr marL="63500" marR="63500" marT="63500" marB="63500" anchor="ctr"/>
                </a:tc>
                <a:tc>
                  <a:txBody>
                    <a:bodyPr/>
                    <a:lstStyle/>
                    <a:p>
                      <a:pPr algn="ctr" fontAlgn="base"/>
                      <a:r>
                        <a:rPr lang="en-IN" sz="1400" b="1" dirty="0">
                          <a:effectLst/>
                        </a:rPr>
                        <a:t>Balance</a:t>
                      </a:r>
                    </a:p>
                  </a:txBody>
                  <a:tcPr marL="63500" marR="63500" marT="63500" marB="63500" anchor="ctr"/>
                </a:tc>
                <a:extLst>
                  <a:ext uri="{0D108BD9-81ED-4DB2-BD59-A6C34878D82A}">
                    <a16:rowId xmlns:a16="http://schemas.microsoft.com/office/drawing/2014/main" xmlns="" val="2586714468"/>
                  </a:ext>
                </a:extLst>
              </a:tr>
              <a:tr h="0">
                <a:tc>
                  <a:txBody>
                    <a:bodyPr/>
                    <a:lstStyle/>
                    <a:p>
                      <a:pPr algn="ctr" fontAlgn="ctr"/>
                      <a:r>
                        <a:rPr lang="en-IN" sz="1250" b="0">
                          <a:effectLst/>
                        </a:rPr>
                        <a:t>1111</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50000</a:t>
                      </a:r>
                    </a:p>
                  </a:txBody>
                  <a:tcPr marL="63500" marR="63500" marT="88900" marB="88900" anchor="ctr"/>
                </a:tc>
                <a:extLst>
                  <a:ext uri="{0D108BD9-81ED-4DB2-BD59-A6C34878D82A}">
                    <a16:rowId xmlns:a16="http://schemas.microsoft.com/office/drawing/2014/main" xmlns="" val="1259786920"/>
                  </a:ext>
                </a:extLst>
              </a:tr>
              <a:tr h="0">
                <a:tc>
                  <a:txBody>
                    <a:bodyPr/>
                    <a:lstStyle/>
                    <a:p>
                      <a:pPr algn="ctr" fontAlgn="ctr"/>
                      <a:r>
                        <a:rPr lang="en-IN" sz="1250" b="0">
                          <a:effectLst/>
                        </a:rPr>
                        <a:t>1112</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xmlns="" val="2863903874"/>
                  </a:ext>
                </a:extLst>
              </a:tr>
              <a:tr h="0">
                <a:tc>
                  <a:txBody>
                    <a:bodyPr/>
                    <a:lstStyle/>
                    <a:p>
                      <a:pPr algn="ctr" fontAlgn="ctr"/>
                      <a:r>
                        <a:rPr lang="en-IN" sz="1250" b="0">
                          <a:effectLst/>
                        </a:rPr>
                        <a:t>1113</a:t>
                      </a:r>
                    </a:p>
                  </a:txBody>
                  <a:tcPr marL="63500" marR="63500" marT="88900" marB="88900" anchor="ctr"/>
                </a:tc>
                <a:tc>
                  <a:txBody>
                    <a:bodyPr/>
                    <a:lstStyle/>
                    <a:p>
                      <a:pPr algn="ctr" fontAlgn="ctr"/>
                      <a:r>
                        <a:rPr lang="en-IN" sz="1250" b="0">
                          <a:effectLst/>
                        </a:rPr>
                        <a:t>GHI</a:t>
                      </a:r>
                    </a:p>
                  </a:txBody>
                  <a:tcPr marL="63500" marR="63500" marT="88900" marB="88900" anchor="ctr"/>
                </a:tc>
                <a:tc>
                  <a:txBody>
                    <a:bodyPr/>
                    <a:lstStyle/>
                    <a:p>
                      <a:pPr algn="ctr" fontAlgn="ctr"/>
                      <a:r>
                        <a:rPr lang="en-IN" sz="1250" b="0">
                          <a:effectLst/>
                        </a:rPr>
                        <a:t>9000</a:t>
                      </a:r>
                    </a:p>
                  </a:txBody>
                  <a:tcPr marL="63500" marR="63500" marT="88900" marB="88900" anchor="ctr"/>
                </a:tc>
                <a:extLst>
                  <a:ext uri="{0D108BD9-81ED-4DB2-BD59-A6C34878D82A}">
                    <a16:rowId xmlns:a16="http://schemas.microsoft.com/office/drawing/2014/main" xmlns="" val="407934876"/>
                  </a:ext>
                </a:extLst>
              </a:tr>
              <a:tr h="0">
                <a:tc>
                  <a:txBody>
                    <a:bodyPr/>
                    <a:lstStyle/>
                    <a:p>
                      <a:pPr algn="ctr" fontAlgn="ctr"/>
                      <a:r>
                        <a:rPr lang="en-IN" sz="1250" b="0">
                          <a:effectLst/>
                        </a:rPr>
                        <a:t>1114</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dirty="0">
                          <a:effectLst/>
                        </a:rPr>
                        <a:t>7000</a:t>
                      </a:r>
                    </a:p>
                  </a:txBody>
                  <a:tcPr marL="63500" marR="63500" marT="88900" marB="88900" anchor="ctr"/>
                </a:tc>
                <a:extLst>
                  <a:ext uri="{0D108BD9-81ED-4DB2-BD59-A6C34878D82A}">
                    <a16:rowId xmlns:a16="http://schemas.microsoft.com/office/drawing/2014/main" xmlns="" val="3296624464"/>
                  </a:ext>
                </a:extLst>
              </a:tr>
            </a:tbl>
          </a:graphicData>
        </a:graphic>
      </p:graphicFrame>
      <p:sp>
        <p:nvSpPr>
          <p:cNvPr id="14" name="TextBox 13">
            <a:extLst>
              <a:ext uri="{FF2B5EF4-FFF2-40B4-BE49-F238E27FC236}">
                <a16:creationId xmlns:a16="http://schemas.microsoft.com/office/drawing/2014/main" xmlns="" id="{95844E50-D660-6CEC-AC66-635A563188ED}"/>
              </a:ext>
            </a:extLst>
          </p:cNvPr>
          <p:cNvSpPr txBox="1"/>
          <p:nvPr/>
        </p:nvSpPr>
        <p:spPr>
          <a:xfrm>
            <a:off x="149680" y="3335690"/>
            <a:ext cx="6291942" cy="369332"/>
          </a:xfrm>
          <a:prstGeom prst="rect">
            <a:avLst/>
          </a:prstGeom>
          <a:noFill/>
        </p:spPr>
        <p:txBody>
          <a:bodyPr wrap="square">
            <a:spAutoFit/>
          </a:bodyPr>
          <a:lstStyle/>
          <a:p>
            <a:r>
              <a:rPr lang="en-IN" b="1" i="0" dirty="0">
                <a:solidFill>
                  <a:srgbClr val="273239"/>
                </a:solidFill>
                <a:effectLst/>
                <a:latin typeface="Nunito" pitchFamily="2" charset="0"/>
              </a:rPr>
              <a:t>Table Account</a:t>
            </a:r>
            <a:endParaRPr lang="en-IN" dirty="0"/>
          </a:p>
        </p:txBody>
      </p:sp>
      <p:graphicFrame>
        <p:nvGraphicFramePr>
          <p:cNvPr id="17" name="Table 16">
            <a:extLst>
              <a:ext uri="{FF2B5EF4-FFF2-40B4-BE49-F238E27FC236}">
                <a16:creationId xmlns:a16="http://schemas.microsoft.com/office/drawing/2014/main" xmlns="" id="{44042883-5994-EB1F-E61C-4CEA19F6892D}"/>
              </a:ext>
            </a:extLst>
          </p:cNvPr>
          <p:cNvGraphicFramePr>
            <a:graphicFrameLocks noGrp="1"/>
          </p:cNvGraphicFramePr>
          <p:nvPr>
            <p:extLst>
              <p:ext uri="{D42A27DB-BD31-4B8C-83A1-F6EECF244321}">
                <p14:modId xmlns:p14="http://schemas.microsoft.com/office/powerpoint/2010/main" val="453212759"/>
              </p:ext>
            </p:extLst>
          </p:nvPr>
        </p:nvGraphicFramePr>
        <p:xfrm>
          <a:off x="3453947" y="3826467"/>
          <a:ext cx="3708855" cy="1813560"/>
        </p:xfrm>
        <a:graphic>
          <a:graphicData uri="http://schemas.openxmlformats.org/drawingml/2006/table">
            <a:tbl>
              <a:tblPr>
                <a:tableStyleId>{35758FB7-9AC5-4552-8A53-C91805E547FA}</a:tableStyleId>
              </a:tblPr>
              <a:tblGrid>
                <a:gridCol w="1236285">
                  <a:extLst>
                    <a:ext uri="{9D8B030D-6E8A-4147-A177-3AD203B41FA5}">
                      <a16:colId xmlns:a16="http://schemas.microsoft.com/office/drawing/2014/main" xmlns="" val="2373149452"/>
                    </a:ext>
                  </a:extLst>
                </a:gridCol>
                <a:gridCol w="1236285">
                  <a:extLst>
                    <a:ext uri="{9D8B030D-6E8A-4147-A177-3AD203B41FA5}">
                      <a16:colId xmlns:a16="http://schemas.microsoft.com/office/drawing/2014/main" xmlns="" val="1244965000"/>
                    </a:ext>
                  </a:extLst>
                </a:gridCol>
                <a:gridCol w="1236285">
                  <a:extLst>
                    <a:ext uri="{9D8B030D-6E8A-4147-A177-3AD203B41FA5}">
                      <a16:colId xmlns:a16="http://schemas.microsoft.com/office/drawing/2014/main" xmlns="" val="4008836904"/>
                    </a:ext>
                  </a:extLst>
                </a:gridCol>
              </a:tblGrid>
              <a:tr h="0">
                <a:tc>
                  <a:txBody>
                    <a:bodyPr/>
                    <a:lstStyle/>
                    <a:p>
                      <a:pPr algn="ctr" fontAlgn="base"/>
                      <a:r>
                        <a:rPr lang="en-IN" sz="1400" b="1">
                          <a:effectLst/>
                        </a:rPr>
                        <a:t>Loan number</a:t>
                      </a:r>
                    </a:p>
                  </a:txBody>
                  <a:tcPr marL="38100" marR="38100" marT="63500" marB="63500" anchor="ctr"/>
                </a:tc>
                <a:tc>
                  <a:txBody>
                    <a:bodyPr/>
                    <a:lstStyle/>
                    <a:p>
                      <a:pPr algn="ctr" fontAlgn="base"/>
                      <a:r>
                        <a:rPr lang="en-IN" sz="1400" b="1">
                          <a:effectLst/>
                        </a:rPr>
                        <a:t>Branch name</a:t>
                      </a:r>
                    </a:p>
                  </a:txBody>
                  <a:tcPr marL="63500" marR="63500" marT="63500" marB="63500" anchor="ctr"/>
                </a:tc>
                <a:tc>
                  <a:txBody>
                    <a:bodyPr/>
                    <a:lstStyle/>
                    <a:p>
                      <a:pPr algn="ctr" fontAlgn="base"/>
                      <a:r>
                        <a:rPr lang="en-IN" sz="1400" b="1">
                          <a:effectLst/>
                        </a:rPr>
                        <a:t>Amount</a:t>
                      </a:r>
                    </a:p>
                  </a:txBody>
                  <a:tcPr marL="63500" marR="63500" marT="63500" marB="63500" anchor="ctr"/>
                </a:tc>
                <a:extLst>
                  <a:ext uri="{0D108BD9-81ED-4DB2-BD59-A6C34878D82A}">
                    <a16:rowId xmlns:a16="http://schemas.microsoft.com/office/drawing/2014/main" xmlns="" val="2206519453"/>
                  </a:ext>
                </a:extLst>
              </a:tr>
              <a:tr h="0">
                <a:tc>
                  <a:txBody>
                    <a:bodyPr/>
                    <a:lstStyle/>
                    <a:p>
                      <a:pPr algn="ctr" fontAlgn="ctr"/>
                      <a:r>
                        <a:rPr lang="en-IN" sz="1250" b="0">
                          <a:effectLst/>
                        </a:rPr>
                        <a:t>L33</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xmlns="" val="2748103442"/>
                  </a:ext>
                </a:extLst>
              </a:tr>
              <a:tr h="0">
                <a:tc>
                  <a:txBody>
                    <a:bodyPr/>
                    <a:lstStyle/>
                    <a:p>
                      <a:pPr algn="ctr" fontAlgn="ctr"/>
                      <a:r>
                        <a:rPr lang="en-IN" sz="1250" b="0">
                          <a:effectLst/>
                        </a:rPr>
                        <a:t>L35</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15000</a:t>
                      </a:r>
                    </a:p>
                  </a:txBody>
                  <a:tcPr marL="63500" marR="63500" marT="88900" marB="88900" anchor="ctr"/>
                </a:tc>
                <a:extLst>
                  <a:ext uri="{0D108BD9-81ED-4DB2-BD59-A6C34878D82A}">
                    <a16:rowId xmlns:a16="http://schemas.microsoft.com/office/drawing/2014/main" xmlns="" val="1306429768"/>
                  </a:ext>
                </a:extLst>
              </a:tr>
              <a:tr h="0">
                <a:tc>
                  <a:txBody>
                    <a:bodyPr/>
                    <a:lstStyle/>
                    <a:p>
                      <a:pPr algn="ctr" fontAlgn="ctr"/>
                      <a:r>
                        <a:rPr lang="en-IN" sz="1250" b="0">
                          <a:effectLst/>
                        </a:rPr>
                        <a:t>L49</a:t>
                      </a:r>
                    </a:p>
                  </a:txBody>
                  <a:tcPr marL="63500" marR="63500" marT="88900" marB="88900" anchor="ctr"/>
                </a:tc>
                <a:tc>
                  <a:txBody>
                    <a:bodyPr/>
                    <a:lstStyle/>
                    <a:p>
                      <a:pPr algn="ctr" fontAlgn="ctr"/>
                      <a:r>
                        <a:rPr lang="en-IN" sz="1250" b="0">
                          <a:effectLst/>
                        </a:rPr>
                        <a:t>GHI</a:t>
                      </a:r>
                    </a:p>
                  </a:txBody>
                  <a:tcPr marL="63500" marR="63500" marT="88900" marB="88900" anchor="ctr"/>
                </a:tc>
                <a:tc>
                  <a:txBody>
                    <a:bodyPr/>
                    <a:lstStyle/>
                    <a:p>
                      <a:pPr algn="ctr" fontAlgn="ctr"/>
                      <a:r>
                        <a:rPr lang="en-IN" sz="1250" b="0">
                          <a:effectLst/>
                        </a:rPr>
                        <a:t>9000</a:t>
                      </a:r>
                    </a:p>
                  </a:txBody>
                  <a:tcPr marL="63500" marR="63500" marT="88900" marB="88900" anchor="ctr"/>
                </a:tc>
                <a:extLst>
                  <a:ext uri="{0D108BD9-81ED-4DB2-BD59-A6C34878D82A}">
                    <a16:rowId xmlns:a16="http://schemas.microsoft.com/office/drawing/2014/main" xmlns="" val="2370682780"/>
                  </a:ext>
                </a:extLst>
              </a:tr>
              <a:tr h="0">
                <a:tc>
                  <a:txBody>
                    <a:bodyPr/>
                    <a:lstStyle/>
                    <a:p>
                      <a:pPr algn="ctr" fontAlgn="ctr"/>
                      <a:r>
                        <a:rPr lang="en-IN" sz="1250" b="0">
                          <a:effectLst/>
                        </a:rPr>
                        <a:t>L98</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65000</a:t>
                      </a:r>
                    </a:p>
                  </a:txBody>
                  <a:tcPr marL="63500" marR="63500" marT="88900" marB="88900" anchor="ctr"/>
                </a:tc>
                <a:extLst>
                  <a:ext uri="{0D108BD9-81ED-4DB2-BD59-A6C34878D82A}">
                    <a16:rowId xmlns:a16="http://schemas.microsoft.com/office/drawing/2014/main" xmlns="" val="3415220327"/>
                  </a:ext>
                </a:extLst>
              </a:tr>
            </a:tbl>
          </a:graphicData>
        </a:graphic>
      </p:graphicFrame>
      <p:sp>
        <p:nvSpPr>
          <p:cNvPr id="20" name="TextBox 19">
            <a:extLst>
              <a:ext uri="{FF2B5EF4-FFF2-40B4-BE49-F238E27FC236}">
                <a16:creationId xmlns:a16="http://schemas.microsoft.com/office/drawing/2014/main" xmlns="" id="{378BA11C-DEE8-698B-C69D-47697C75859A}"/>
              </a:ext>
            </a:extLst>
          </p:cNvPr>
          <p:cNvSpPr txBox="1"/>
          <p:nvPr/>
        </p:nvSpPr>
        <p:spPr>
          <a:xfrm>
            <a:off x="3325586" y="3348654"/>
            <a:ext cx="6291942" cy="369332"/>
          </a:xfrm>
          <a:prstGeom prst="rect">
            <a:avLst/>
          </a:prstGeom>
          <a:noFill/>
        </p:spPr>
        <p:txBody>
          <a:bodyPr wrap="square">
            <a:spAutoFit/>
          </a:bodyPr>
          <a:lstStyle/>
          <a:p>
            <a:r>
              <a:rPr lang="en-IN" b="1" i="0" dirty="0">
                <a:solidFill>
                  <a:srgbClr val="273239"/>
                </a:solidFill>
                <a:effectLst/>
                <a:latin typeface="Nunito" pitchFamily="2" charset="0"/>
              </a:rPr>
              <a:t>Table Loan</a:t>
            </a:r>
            <a:r>
              <a:rPr lang="en-IN" b="0" i="0" dirty="0">
                <a:solidFill>
                  <a:srgbClr val="273239"/>
                </a:solidFill>
                <a:effectLst/>
                <a:latin typeface="Nunito" pitchFamily="2" charset="0"/>
              </a:rPr>
              <a:t> </a:t>
            </a:r>
            <a:endParaRPr lang="en-IN" dirty="0"/>
          </a:p>
        </p:txBody>
      </p:sp>
      <p:graphicFrame>
        <p:nvGraphicFramePr>
          <p:cNvPr id="21" name="Table 20">
            <a:extLst>
              <a:ext uri="{FF2B5EF4-FFF2-40B4-BE49-F238E27FC236}">
                <a16:creationId xmlns:a16="http://schemas.microsoft.com/office/drawing/2014/main" xmlns="" id="{EEA3050A-746D-389D-88B9-EE1176D79296}"/>
              </a:ext>
            </a:extLst>
          </p:cNvPr>
          <p:cNvGraphicFramePr>
            <a:graphicFrameLocks noGrp="1"/>
          </p:cNvGraphicFramePr>
          <p:nvPr>
            <p:extLst>
              <p:ext uri="{D42A27DB-BD31-4B8C-83A1-F6EECF244321}">
                <p14:modId xmlns:p14="http://schemas.microsoft.com/office/powerpoint/2010/main" val="1848584904"/>
              </p:ext>
            </p:extLst>
          </p:nvPr>
        </p:nvGraphicFramePr>
        <p:xfrm>
          <a:off x="8599714" y="1086869"/>
          <a:ext cx="3240768" cy="1445260"/>
        </p:xfrm>
        <a:graphic>
          <a:graphicData uri="http://schemas.openxmlformats.org/drawingml/2006/table">
            <a:tbl>
              <a:tblPr>
                <a:tableStyleId>{284E427A-3D55-4303-BF80-6455036E1DE7}</a:tableStyleId>
              </a:tblPr>
              <a:tblGrid>
                <a:gridCol w="1620384">
                  <a:extLst>
                    <a:ext uri="{9D8B030D-6E8A-4147-A177-3AD203B41FA5}">
                      <a16:colId xmlns:a16="http://schemas.microsoft.com/office/drawing/2014/main" xmlns="" val="2981858679"/>
                    </a:ext>
                  </a:extLst>
                </a:gridCol>
                <a:gridCol w="1620384">
                  <a:extLst>
                    <a:ext uri="{9D8B030D-6E8A-4147-A177-3AD203B41FA5}">
                      <a16:colId xmlns:a16="http://schemas.microsoft.com/office/drawing/2014/main" xmlns="" val="2602677144"/>
                    </a:ext>
                  </a:extLst>
                </a:gridCol>
              </a:tblGrid>
              <a:tr h="34036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Loan number</a:t>
                      </a:r>
                    </a:p>
                  </a:txBody>
                  <a:tcPr marL="63500" marR="63500" marT="63500" marB="63500" anchor="ctr"/>
                </a:tc>
                <a:extLst>
                  <a:ext uri="{0D108BD9-81ED-4DB2-BD59-A6C34878D82A}">
                    <a16:rowId xmlns:a16="http://schemas.microsoft.com/office/drawing/2014/main" xmlns="" val="4040689181"/>
                  </a:ext>
                </a:extLst>
              </a:tr>
              <a:tr h="368300">
                <a:tc>
                  <a:txBody>
                    <a:bodyPr/>
                    <a:lstStyle/>
                    <a:p>
                      <a:pPr algn="ctr" fontAlgn="ctr"/>
                      <a:r>
                        <a:rPr lang="en-IN" sz="1200" b="0">
                          <a:effectLst/>
                        </a:rPr>
                        <a:t>Saurabh</a:t>
                      </a:r>
                    </a:p>
                  </a:txBody>
                  <a:tcPr marL="63500" marR="63500" marT="88900" marB="88900" anchor="ctr"/>
                </a:tc>
                <a:tc>
                  <a:txBody>
                    <a:bodyPr/>
                    <a:lstStyle/>
                    <a:p>
                      <a:pPr algn="ctr" fontAlgn="ctr"/>
                      <a:r>
                        <a:rPr lang="en-IN" sz="1200" b="0" dirty="0">
                          <a:effectLst/>
                        </a:rPr>
                        <a:t>L33</a:t>
                      </a:r>
                    </a:p>
                  </a:txBody>
                  <a:tcPr marL="63500" marR="63500" marT="88900" marB="88900" anchor="ctr"/>
                </a:tc>
                <a:extLst>
                  <a:ext uri="{0D108BD9-81ED-4DB2-BD59-A6C34878D82A}">
                    <a16:rowId xmlns:a16="http://schemas.microsoft.com/office/drawing/2014/main" xmlns="" val="2997759738"/>
                  </a:ext>
                </a:extLst>
              </a:tr>
              <a:tr h="368300">
                <a:tc>
                  <a:txBody>
                    <a:bodyPr/>
                    <a:lstStyle/>
                    <a:p>
                      <a:pPr algn="ctr" fontAlgn="ctr"/>
                      <a:r>
                        <a:rPr lang="en-IN" sz="1200" b="0">
                          <a:effectLst/>
                        </a:rPr>
                        <a:t>Mehak</a:t>
                      </a:r>
                    </a:p>
                  </a:txBody>
                  <a:tcPr marL="63500" marR="63500" marT="88900" marB="88900" anchor="ctr"/>
                </a:tc>
                <a:tc>
                  <a:txBody>
                    <a:bodyPr/>
                    <a:lstStyle/>
                    <a:p>
                      <a:pPr algn="ctr" fontAlgn="ctr"/>
                      <a:r>
                        <a:rPr lang="en-IN" sz="1200" b="0">
                          <a:effectLst/>
                        </a:rPr>
                        <a:t>L49</a:t>
                      </a:r>
                    </a:p>
                  </a:txBody>
                  <a:tcPr marL="63500" marR="63500" marT="88900" marB="88900" anchor="ctr"/>
                </a:tc>
                <a:extLst>
                  <a:ext uri="{0D108BD9-81ED-4DB2-BD59-A6C34878D82A}">
                    <a16:rowId xmlns:a16="http://schemas.microsoft.com/office/drawing/2014/main" xmlns="" val="394779568"/>
                  </a:ext>
                </a:extLst>
              </a:tr>
              <a:tr h="368300">
                <a:tc>
                  <a:txBody>
                    <a:bodyPr/>
                    <a:lstStyle/>
                    <a:p>
                      <a:pPr algn="ctr" fontAlgn="ctr"/>
                      <a:r>
                        <a:rPr lang="en-IN" sz="1200" b="0">
                          <a:effectLst/>
                        </a:rPr>
                        <a:t>Ria</a:t>
                      </a:r>
                    </a:p>
                  </a:txBody>
                  <a:tcPr marL="63500" marR="63500" marT="88900" marB="88900" anchor="ctr"/>
                </a:tc>
                <a:tc>
                  <a:txBody>
                    <a:bodyPr/>
                    <a:lstStyle/>
                    <a:p>
                      <a:pPr algn="ctr" fontAlgn="ctr"/>
                      <a:r>
                        <a:rPr lang="en-IN" sz="1200" b="0" dirty="0">
                          <a:effectLst/>
                        </a:rPr>
                        <a:t>L98</a:t>
                      </a:r>
                    </a:p>
                  </a:txBody>
                  <a:tcPr marL="63500" marR="63500" marT="88900" marB="88900" anchor="ctr"/>
                </a:tc>
                <a:extLst>
                  <a:ext uri="{0D108BD9-81ED-4DB2-BD59-A6C34878D82A}">
                    <a16:rowId xmlns:a16="http://schemas.microsoft.com/office/drawing/2014/main" xmlns="" val="1007540081"/>
                  </a:ext>
                </a:extLst>
              </a:tr>
            </a:tbl>
          </a:graphicData>
        </a:graphic>
      </p:graphicFrame>
      <p:sp>
        <p:nvSpPr>
          <p:cNvPr id="24" name="TextBox 23">
            <a:extLst>
              <a:ext uri="{FF2B5EF4-FFF2-40B4-BE49-F238E27FC236}">
                <a16:creationId xmlns:a16="http://schemas.microsoft.com/office/drawing/2014/main" xmlns="" id="{57F6701F-F24E-5E05-65EC-C36FD26EB68D}"/>
              </a:ext>
            </a:extLst>
          </p:cNvPr>
          <p:cNvSpPr txBox="1"/>
          <p:nvPr/>
        </p:nvSpPr>
        <p:spPr>
          <a:xfrm>
            <a:off x="8482693" y="597456"/>
            <a:ext cx="6101442" cy="369332"/>
          </a:xfrm>
          <a:prstGeom prst="rect">
            <a:avLst/>
          </a:prstGeom>
          <a:noFill/>
        </p:spPr>
        <p:txBody>
          <a:bodyPr wrap="square">
            <a:spAutoFit/>
          </a:bodyPr>
          <a:lstStyle/>
          <a:p>
            <a:r>
              <a:rPr lang="en-IN" b="1" i="0" dirty="0">
                <a:solidFill>
                  <a:srgbClr val="273239"/>
                </a:solidFill>
                <a:effectLst/>
                <a:latin typeface="Nunito" pitchFamily="2" charset="0"/>
              </a:rPr>
              <a:t>Table Borrower</a:t>
            </a:r>
            <a:r>
              <a:rPr lang="en-IN" b="0" i="0" dirty="0">
                <a:solidFill>
                  <a:srgbClr val="273239"/>
                </a:solidFill>
                <a:effectLst/>
                <a:latin typeface="Nunito" pitchFamily="2" charset="0"/>
              </a:rPr>
              <a:t> </a:t>
            </a:r>
            <a:endParaRPr lang="en-IN" dirty="0"/>
          </a:p>
        </p:txBody>
      </p:sp>
      <p:graphicFrame>
        <p:nvGraphicFramePr>
          <p:cNvPr id="25" name="Table 24">
            <a:extLst>
              <a:ext uri="{FF2B5EF4-FFF2-40B4-BE49-F238E27FC236}">
                <a16:creationId xmlns:a16="http://schemas.microsoft.com/office/drawing/2014/main" xmlns="" id="{8F0534AA-2279-63AB-A8EF-92EAFC5B0789}"/>
              </a:ext>
            </a:extLst>
          </p:cNvPr>
          <p:cNvGraphicFramePr>
            <a:graphicFrameLocks noGrp="1"/>
          </p:cNvGraphicFramePr>
          <p:nvPr>
            <p:extLst>
              <p:ext uri="{D42A27DB-BD31-4B8C-83A1-F6EECF244321}">
                <p14:modId xmlns:p14="http://schemas.microsoft.com/office/powerpoint/2010/main" val="3170240416"/>
              </p:ext>
            </p:extLst>
          </p:nvPr>
        </p:nvGraphicFramePr>
        <p:xfrm>
          <a:off x="7844970" y="3826467"/>
          <a:ext cx="3545116" cy="1445260"/>
        </p:xfrm>
        <a:graphic>
          <a:graphicData uri="http://schemas.openxmlformats.org/drawingml/2006/table">
            <a:tbl>
              <a:tblPr>
                <a:tableStyleId>{08FB837D-C827-4EFA-A057-4D05807E0F7C}</a:tableStyleId>
              </a:tblPr>
              <a:tblGrid>
                <a:gridCol w="1772558">
                  <a:extLst>
                    <a:ext uri="{9D8B030D-6E8A-4147-A177-3AD203B41FA5}">
                      <a16:colId xmlns:a16="http://schemas.microsoft.com/office/drawing/2014/main" xmlns="" val="1291574892"/>
                    </a:ext>
                  </a:extLst>
                </a:gridCol>
                <a:gridCol w="1772558">
                  <a:extLst>
                    <a:ext uri="{9D8B030D-6E8A-4147-A177-3AD203B41FA5}">
                      <a16:colId xmlns:a16="http://schemas.microsoft.com/office/drawing/2014/main" xmlns="" val="527926021"/>
                    </a:ext>
                  </a:extLst>
                </a:gridCol>
              </a:tblGrid>
              <a:tr h="34036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Account number</a:t>
                      </a:r>
                    </a:p>
                  </a:txBody>
                  <a:tcPr marL="63500" marR="63500" marT="63500" marB="63500" anchor="ctr"/>
                </a:tc>
                <a:extLst>
                  <a:ext uri="{0D108BD9-81ED-4DB2-BD59-A6C34878D82A}">
                    <a16:rowId xmlns:a16="http://schemas.microsoft.com/office/drawing/2014/main" xmlns="" val="288483595"/>
                  </a:ext>
                </a:extLst>
              </a:tr>
              <a:tr h="368300">
                <a:tc>
                  <a:txBody>
                    <a:bodyPr/>
                    <a:lstStyle/>
                    <a:p>
                      <a:pPr algn="ctr" fontAlgn="ctr"/>
                      <a:r>
                        <a:rPr lang="en-IN" sz="1200" b="0">
                          <a:effectLst/>
                        </a:rPr>
                        <a:t>Saurabh</a:t>
                      </a:r>
                    </a:p>
                  </a:txBody>
                  <a:tcPr marL="63500" marR="63500" marT="88900" marB="88900" anchor="ctr"/>
                </a:tc>
                <a:tc>
                  <a:txBody>
                    <a:bodyPr/>
                    <a:lstStyle/>
                    <a:p>
                      <a:pPr algn="ctr" fontAlgn="ctr"/>
                      <a:r>
                        <a:rPr lang="en-IN" sz="1200" b="0">
                          <a:effectLst/>
                        </a:rPr>
                        <a:t>1111</a:t>
                      </a:r>
                    </a:p>
                  </a:txBody>
                  <a:tcPr marL="63500" marR="63500" marT="88900" marB="88900" anchor="ctr"/>
                </a:tc>
                <a:extLst>
                  <a:ext uri="{0D108BD9-81ED-4DB2-BD59-A6C34878D82A}">
                    <a16:rowId xmlns:a16="http://schemas.microsoft.com/office/drawing/2014/main" xmlns="" val="272622709"/>
                  </a:ext>
                </a:extLst>
              </a:tr>
              <a:tr h="368300">
                <a:tc>
                  <a:txBody>
                    <a:bodyPr/>
                    <a:lstStyle/>
                    <a:p>
                      <a:pPr algn="ctr" fontAlgn="ctr"/>
                      <a:r>
                        <a:rPr lang="en-IN" sz="1200" b="0">
                          <a:effectLst/>
                        </a:rPr>
                        <a:t>Mehak</a:t>
                      </a:r>
                    </a:p>
                  </a:txBody>
                  <a:tcPr marL="63500" marR="63500" marT="88900" marB="88900" anchor="ctr"/>
                </a:tc>
                <a:tc>
                  <a:txBody>
                    <a:bodyPr/>
                    <a:lstStyle/>
                    <a:p>
                      <a:pPr algn="ctr" fontAlgn="ctr"/>
                      <a:r>
                        <a:rPr lang="en-IN" sz="1200" b="0">
                          <a:effectLst/>
                        </a:rPr>
                        <a:t>1113</a:t>
                      </a:r>
                    </a:p>
                  </a:txBody>
                  <a:tcPr marL="63500" marR="63500" marT="88900" marB="88900" anchor="ctr"/>
                </a:tc>
                <a:extLst>
                  <a:ext uri="{0D108BD9-81ED-4DB2-BD59-A6C34878D82A}">
                    <a16:rowId xmlns:a16="http://schemas.microsoft.com/office/drawing/2014/main" xmlns="" val="4023108577"/>
                  </a:ext>
                </a:extLst>
              </a:tr>
              <a:tr h="368300">
                <a:tc>
                  <a:txBody>
                    <a:bodyPr/>
                    <a:lstStyle/>
                    <a:p>
                      <a:pPr algn="ctr" fontAlgn="ctr"/>
                      <a:r>
                        <a:rPr lang="en-IN" sz="1200" b="0">
                          <a:effectLst/>
                        </a:rPr>
                        <a:t>Suniti</a:t>
                      </a:r>
                    </a:p>
                  </a:txBody>
                  <a:tcPr marL="63500" marR="63500" marT="88900" marB="88900" anchor="ctr"/>
                </a:tc>
                <a:tc>
                  <a:txBody>
                    <a:bodyPr/>
                    <a:lstStyle/>
                    <a:p>
                      <a:pPr algn="ctr" fontAlgn="ctr"/>
                      <a:r>
                        <a:rPr lang="en-IN" sz="1200" b="0" dirty="0">
                          <a:effectLst/>
                        </a:rPr>
                        <a:t>1114</a:t>
                      </a:r>
                    </a:p>
                  </a:txBody>
                  <a:tcPr marL="63500" marR="63500" marT="88900" marB="88900" anchor="ctr"/>
                </a:tc>
                <a:extLst>
                  <a:ext uri="{0D108BD9-81ED-4DB2-BD59-A6C34878D82A}">
                    <a16:rowId xmlns:a16="http://schemas.microsoft.com/office/drawing/2014/main" xmlns="" val="1297238864"/>
                  </a:ext>
                </a:extLst>
              </a:tr>
            </a:tbl>
          </a:graphicData>
        </a:graphic>
      </p:graphicFrame>
      <p:sp>
        <p:nvSpPr>
          <p:cNvPr id="27" name="TextBox 26">
            <a:extLst>
              <a:ext uri="{FF2B5EF4-FFF2-40B4-BE49-F238E27FC236}">
                <a16:creationId xmlns:a16="http://schemas.microsoft.com/office/drawing/2014/main" xmlns="" id="{8F44E2F6-DA40-2EF2-4084-67EB63D8DC23}"/>
              </a:ext>
            </a:extLst>
          </p:cNvPr>
          <p:cNvSpPr txBox="1"/>
          <p:nvPr/>
        </p:nvSpPr>
        <p:spPr>
          <a:xfrm>
            <a:off x="7743372" y="3457135"/>
            <a:ext cx="7293428" cy="369332"/>
          </a:xfrm>
          <a:prstGeom prst="rect">
            <a:avLst/>
          </a:prstGeom>
          <a:noFill/>
        </p:spPr>
        <p:txBody>
          <a:bodyPr wrap="square">
            <a:spAutoFit/>
          </a:bodyPr>
          <a:lstStyle/>
          <a:p>
            <a:r>
              <a:rPr lang="en-IN" b="1" i="0" dirty="0">
                <a:solidFill>
                  <a:srgbClr val="273239"/>
                </a:solidFill>
                <a:effectLst/>
                <a:latin typeface="Nunito" pitchFamily="2" charset="0"/>
              </a:rPr>
              <a:t>Table Depositor</a:t>
            </a:r>
            <a:r>
              <a:rPr lang="en-IN" b="0" i="0" dirty="0">
                <a:solidFill>
                  <a:srgbClr val="273239"/>
                </a:solidFill>
                <a:effectLst/>
                <a:latin typeface="Nunito" pitchFamily="2" charset="0"/>
              </a:rPr>
              <a:t> </a:t>
            </a:r>
            <a:endParaRPr lang="en-IN" dirty="0"/>
          </a:p>
        </p:txBody>
      </p:sp>
    </p:spTree>
    <p:extLst>
      <p:ext uri="{BB962C8B-B14F-4D97-AF65-F5344CB8AC3E}">
        <p14:creationId xmlns:p14="http://schemas.microsoft.com/office/powerpoint/2010/main" val="2974713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4243D3C3-A746-FE47-8372-7A94610096F8}"/>
              </a:ext>
            </a:extLst>
          </p:cNvPr>
          <p:cNvSpPr txBox="1"/>
          <p:nvPr/>
        </p:nvSpPr>
        <p:spPr>
          <a:xfrm>
            <a:off x="228600" y="482964"/>
            <a:ext cx="11734800" cy="1200329"/>
          </a:xfrm>
          <a:prstGeom prst="rect">
            <a:avLst/>
          </a:prstGeom>
          <a:noFill/>
        </p:spPr>
        <p:txBody>
          <a:bodyPr wrap="square">
            <a:spAutoFit/>
          </a:bodyPr>
          <a:lstStyle/>
          <a:p>
            <a:r>
              <a:rPr lang="en-US" sz="2400" dirty="0"/>
              <a:t>Find the loan number, branch, and amount of loans greater than or equal to 10000 amount.</a:t>
            </a:r>
          </a:p>
          <a:p>
            <a:endParaRPr lang="en-US" sz="2400" dirty="0"/>
          </a:p>
          <a:p>
            <a:r>
              <a:rPr lang="en-US" sz="2400" dirty="0"/>
              <a:t>{t| t ∈ loan  ∧ t[amount]&gt;=10000}</a:t>
            </a:r>
            <a:endParaRPr lang="en-IN" sz="2400" dirty="0"/>
          </a:p>
        </p:txBody>
      </p:sp>
      <p:graphicFrame>
        <p:nvGraphicFramePr>
          <p:cNvPr id="7" name="Table 6">
            <a:extLst>
              <a:ext uri="{FF2B5EF4-FFF2-40B4-BE49-F238E27FC236}">
                <a16:creationId xmlns:a16="http://schemas.microsoft.com/office/drawing/2014/main" xmlns="" id="{E10545EC-7521-3B4B-D293-D18ECB3A6D23}"/>
              </a:ext>
            </a:extLst>
          </p:cNvPr>
          <p:cNvGraphicFramePr>
            <a:graphicFrameLocks noGrp="1"/>
          </p:cNvGraphicFramePr>
          <p:nvPr>
            <p:extLst>
              <p:ext uri="{D42A27DB-BD31-4B8C-83A1-F6EECF244321}">
                <p14:modId xmlns:p14="http://schemas.microsoft.com/office/powerpoint/2010/main" val="308908014"/>
              </p:ext>
            </p:extLst>
          </p:nvPr>
        </p:nvGraphicFramePr>
        <p:xfrm>
          <a:off x="2321832" y="2256314"/>
          <a:ext cx="6081939" cy="1445260"/>
        </p:xfrm>
        <a:graphic>
          <a:graphicData uri="http://schemas.openxmlformats.org/drawingml/2006/table">
            <a:tbl>
              <a:tblPr>
                <a:tableStyleId>{284E427A-3D55-4303-BF80-6455036E1DE7}</a:tableStyleId>
              </a:tblPr>
              <a:tblGrid>
                <a:gridCol w="2027313">
                  <a:extLst>
                    <a:ext uri="{9D8B030D-6E8A-4147-A177-3AD203B41FA5}">
                      <a16:colId xmlns:a16="http://schemas.microsoft.com/office/drawing/2014/main" xmlns="" val="2098494781"/>
                    </a:ext>
                  </a:extLst>
                </a:gridCol>
                <a:gridCol w="2027313">
                  <a:extLst>
                    <a:ext uri="{9D8B030D-6E8A-4147-A177-3AD203B41FA5}">
                      <a16:colId xmlns:a16="http://schemas.microsoft.com/office/drawing/2014/main" xmlns="" val="804663925"/>
                    </a:ext>
                  </a:extLst>
                </a:gridCol>
                <a:gridCol w="2027313">
                  <a:extLst>
                    <a:ext uri="{9D8B030D-6E8A-4147-A177-3AD203B41FA5}">
                      <a16:colId xmlns:a16="http://schemas.microsoft.com/office/drawing/2014/main" xmlns="" val="980752536"/>
                    </a:ext>
                  </a:extLst>
                </a:gridCol>
              </a:tblGrid>
              <a:tr h="0">
                <a:tc>
                  <a:txBody>
                    <a:bodyPr/>
                    <a:lstStyle/>
                    <a:p>
                      <a:pPr algn="ctr" fontAlgn="base"/>
                      <a:r>
                        <a:rPr lang="en-IN" sz="1400" b="1">
                          <a:effectLst/>
                        </a:rPr>
                        <a:t>Loan number</a:t>
                      </a:r>
                    </a:p>
                  </a:txBody>
                  <a:tcPr marL="38100" marR="38100" marT="63500" marB="63500" anchor="ctr"/>
                </a:tc>
                <a:tc>
                  <a:txBody>
                    <a:bodyPr/>
                    <a:lstStyle/>
                    <a:p>
                      <a:pPr algn="ctr" fontAlgn="base"/>
                      <a:r>
                        <a:rPr lang="en-IN" sz="1400" b="1">
                          <a:effectLst/>
                        </a:rPr>
                        <a:t>Branch name</a:t>
                      </a:r>
                    </a:p>
                  </a:txBody>
                  <a:tcPr marL="63500" marR="63500" marT="63500" marB="63500" anchor="ctr"/>
                </a:tc>
                <a:tc>
                  <a:txBody>
                    <a:bodyPr/>
                    <a:lstStyle/>
                    <a:p>
                      <a:pPr algn="ctr" fontAlgn="base"/>
                      <a:r>
                        <a:rPr lang="en-IN" sz="1400" b="1">
                          <a:effectLst/>
                        </a:rPr>
                        <a:t>Amount</a:t>
                      </a:r>
                    </a:p>
                  </a:txBody>
                  <a:tcPr marL="63500" marR="63500" marT="63500" marB="63500" anchor="ctr"/>
                </a:tc>
                <a:extLst>
                  <a:ext uri="{0D108BD9-81ED-4DB2-BD59-A6C34878D82A}">
                    <a16:rowId xmlns:a16="http://schemas.microsoft.com/office/drawing/2014/main" xmlns="" val="747303756"/>
                  </a:ext>
                </a:extLst>
              </a:tr>
              <a:tr h="0">
                <a:tc>
                  <a:txBody>
                    <a:bodyPr/>
                    <a:lstStyle/>
                    <a:p>
                      <a:pPr algn="ctr" fontAlgn="ctr"/>
                      <a:r>
                        <a:rPr lang="en-IN" sz="1250" b="0">
                          <a:effectLst/>
                        </a:rPr>
                        <a:t>L33</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xmlns="" val="4155460285"/>
                  </a:ext>
                </a:extLst>
              </a:tr>
              <a:tr h="0">
                <a:tc>
                  <a:txBody>
                    <a:bodyPr/>
                    <a:lstStyle/>
                    <a:p>
                      <a:pPr algn="ctr" fontAlgn="ctr"/>
                      <a:r>
                        <a:rPr lang="en-IN" sz="1250" b="0">
                          <a:effectLst/>
                        </a:rPr>
                        <a:t>L35</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a:effectLst/>
                        </a:rPr>
                        <a:t>15000</a:t>
                      </a:r>
                    </a:p>
                  </a:txBody>
                  <a:tcPr marL="63500" marR="63500" marT="88900" marB="88900" anchor="ctr"/>
                </a:tc>
                <a:extLst>
                  <a:ext uri="{0D108BD9-81ED-4DB2-BD59-A6C34878D82A}">
                    <a16:rowId xmlns:a16="http://schemas.microsoft.com/office/drawing/2014/main" xmlns="" val="3128828174"/>
                  </a:ext>
                </a:extLst>
              </a:tr>
              <a:tr h="0">
                <a:tc>
                  <a:txBody>
                    <a:bodyPr/>
                    <a:lstStyle/>
                    <a:p>
                      <a:pPr algn="ctr" fontAlgn="ctr"/>
                      <a:r>
                        <a:rPr lang="en-IN" sz="1250" b="0">
                          <a:effectLst/>
                        </a:rPr>
                        <a:t>L98</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65000</a:t>
                      </a:r>
                    </a:p>
                  </a:txBody>
                  <a:tcPr marL="63500" marR="63500" marT="88900" marB="88900" anchor="ctr"/>
                </a:tc>
                <a:extLst>
                  <a:ext uri="{0D108BD9-81ED-4DB2-BD59-A6C34878D82A}">
                    <a16:rowId xmlns:a16="http://schemas.microsoft.com/office/drawing/2014/main" xmlns="" val="1455897625"/>
                  </a:ext>
                </a:extLst>
              </a:tr>
            </a:tbl>
          </a:graphicData>
        </a:graphic>
      </p:graphicFrame>
      <p:sp>
        <p:nvSpPr>
          <p:cNvPr id="2" name="Rectangle 1"/>
          <p:cNvSpPr/>
          <p:nvPr/>
        </p:nvSpPr>
        <p:spPr>
          <a:xfrm>
            <a:off x="1270000" y="4198035"/>
            <a:ext cx="9144000" cy="369332"/>
          </a:xfrm>
          <a:prstGeom prst="rect">
            <a:avLst/>
          </a:prstGeom>
        </p:spPr>
        <p:txBody>
          <a:bodyPr wrap="square">
            <a:spAutoFit/>
          </a:bodyPr>
          <a:lstStyle/>
          <a:p>
            <a:r>
              <a:rPr lang="en-US" dirty="0" smtClean="0"/>
              <a:t>π_Loan </a:t>
            </a:r>
            <a:r>
              <a:rPr lang="en-US" dirty="0"/>
              <a:t>number, Branch name, Amount (</a:t>
            </a:r>
            <a:r>
              <a:rPr lang="en-US" dirty="0" err="1"/>
              <a:t>σ_Amount</a:t>
            </a:r>
            <a:r>
              <a:rPr lang="en-US" dirty="0"/>
              <a:t> ≥ 10000 (Loan))</a:t>
            </a:r>
            <a:endParaRPr lang="en-IN" dirty="0"/>
          </a:p>
        </p:txBody>
      </p:sp>
      <p:sp>
        <p:nvSpPr>
          <p:cNvPr id="3" name="Rectangle 2"/>
          <p:cNvSpPr/>
          <p:nvPr/>
        </p:nvSpPr>
        <p:spPr>
          <a:xfrm>
            <a:off x="1270000" y="4960035"/>
            <a:ext cx="9766300" cy="369332"/>
          </a:xfrm>
          <a:prstGeom prst="rect">
            <a:avLst/>
          </a:prstGeom>
        </p:spPr>
        <p:txBody>
          <a:bodyPr wrap="square">
            <a:spAutoFit/>
          </a:bodyPr>
          <a:lstStyle/>
          <a:p>
            <a:r>
              <a:rPr lang="en-US" dirty="0"/>
              <a:t>SELECT </a:t>
            </a:r>
            <a:r>
              <a:rPr lang="en-US" dirty="0" err="1"/>
              <a:t>Loan_number</a:t>
            </a:r>
            <a:r>
              <a:rPr lang="en-US" dirty="0"/>
              <a:t>, </a:t>
            </a:r>
            <a:r>
              <a:rPr lang="en-US" dirty="0" err="1"/>
              <a:t>Branch_name</a:t>
            </a:r>
            <a:r>
              <a:rPr lang="en-US" dirty="0"/>
              <a:t>, Amount FROM Loan WHERE Amount &gt;= 10000;</a:t>
            </a:r>
            <a:endParaRPr lang="en-IN" dirty="0"/>
          </a:p>
        </p:txBody>
      </p:sp>
    </p:spTree>
    <p:extLst>
      <p:ext uri="{BB962C8B-B14F-4D97-AF65-F5344CB8AC3E}">
        <p14:creationId xmlns:p14="http://schemas.microsoft.com/office/powerpoint/2010/main" val="2183915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D3A3E6AB-1B19-56F7-4256-AEC81105A178}"/>
              </a:ext>
            </a:extLst>
          </p:cNvPr>
          <p:cNvSpPr txBox="1"/>
          <p:nvPr/>
        </p:nvSpPr>
        <p:spPr>
          <a:xfrm>
            <a:off x="533400" y="290035"/>
            <a:ext cx="9198428" cy="1938992"/>
          </a:xfrm>
          <a:prstGeom prst="rect">
            <a:avLst/>
          </a:prstGeom>
          <a:noFill/>
        </p:spPr>
        <p:txBody>
          <a:bodyPr wrap="square">
            <a:spAutoFit/>
          </a:bodyPr>
          <a:lstStyle/>
          <a:p>
            <a:r>
              <a:rPr lang="en-US" sz="2400" dirty="0"/>
              <a:t>Find the loan number for each loan of an amount greater or equal to 10000.  </a:t>
            </a:r>
          </a:p>
          <a:p>
            <a:endParaRPr lang="en-US" sz="2400" dirty="0"/>
          </a:p>
          <a:p>
            <a:r>
              <a:rPr lang="en-US" sz="2400" dirty="0"/>
              <a:t>{t| ∃ s ∈ loan(t[loan number] = s[loan number]  </a:t>
            </a:r>
          </a:p>
          <a:p>
            <a:r>
              <a:rPr lang="en-US" sz="2400" dirty="0"/>
              <a:t>                   ∧ s[amount]&gt;=10000)}</a:t>
            </a:r>
            <a:endParaRPr lang="en-IN" sz="2400" dirty="0"/>
          </a:p>
        </p:txBody>
      </p:sp>
      <p:graphicFrame>
        <p:nvGraphicFramePr>
          <p:cNvPr id="6" name="Table 5">
            <a:extLst>
              <a:ext uri="{FF2B5EF4-FFF2-40B4-BE49-F238E27FC236}">
                <a16:creationId xmlns:a16="http://schemas.microsoft.com/office/drawing/2014/main" xmlns="" id="{3EF94C06-CDB9-FF60-C9E6-7FC80AB0AA96}"/>
              </a:ext>
            </a:extLst>
          </p:cNvPr>
          <p:cNvGraphicFramePr>
            <a:graphicFrameLocks noGrp="1"/>
          </p:cNvGraphicFramePr>
          <p:nvPr>
            <p:extLst>
              <p:ext uri="{D42A27DB-BD31-4B8C-83A1-F6EECF244321}">
                <p14:modId xmlns:p14="http://schemas.microsoft.com/office/powerpoint/2010/main" val="4036429485"/>
              </p:ext>
            </p:extLst>
          </p:nvPr>
        </p:nvGraphicFramePr>
        <p:xfrm>
          <a:off x="3617233" y="2822371"/>
          <a:ext cx="3599996" cy="1445260"/>
        </p:xfrm>
        <a:graphic>
          <a:graphicData uri="http://schemas.openxmlformats.org/drawingml/2006/table">
            <a:tbl>
              <a:tblPr>
                <a:tableStyleId>{69C7853C-536D-4A76-A0AE-DD22124D55A5}</a:tableStyleId>
              </a:tblPr>
              <a:tblGrid>
                <a:gridCol w="3599996">
                  <a:extLst>
                    <a:ext uri="{9D8B030D-6E8A-4147-A177-3AD203B41FA5}">
                      <a16:colId xmlns:a16="http://schemas.microsoft.com/office/drawing/2014/main" xmlns="" val="1968259785"/>
                    </a:ext>
                  </a:extLst>
                </a:gridCol>
              </a:tblGrid>
              <a:tr h="0">
                <a:tc>
                  <a:txBody>
                    <a:bodyPr/>
                    <a:lstStyle/>
                    <a:p>
                      <a:pPr algn="ctr" fontAlgn="base"/>
                      <a:r>
                        <a:rPr lang="en-IN" sz="1400" b="1">
                          <a:effectLst/>
                        </a:rPr>
                        <a:t>Loan number</a:t>
                      </a:r>
                    </a:p>
                  </a:txBody>
                  <a:tcPr marL="38100" marR="38100" marT="63500" marB="63500" anchor="ctr"/>
                </a:tc>
                <a:extLst>
                  <a:ext uri="{0D108BD9-81ED-4DB2-BD59-A6C34878D82A}">
                    <a16:rowId xmlns:a16="http://schemas.microsoft.com/office/drawing/2014/main" xmlns="" val="1544383235"/>
                  </a:ext>
                </a:extLst>
              </a:tr>
              <a:tr h="0">
                <a:tc>
                  <a:txBody>
                    <a:bodyPr/>
                    <a:lstStyle/>
                    <a:p>
                      <a:pPr algn="ctr" fontAlgn="ctr"/>
                      <a:r>
                        <a:rPr lang="en-IN" sz="1250" b="0">
                          <a:effectLst/>
                        </a:rPr>
                        <a:t>L33</a:t>
                      </a:r>
                    </a:p>
                  </a:txBody>
                  <a:tcPr marL="63500" marR="63500" marT="88900" marB="88900" anchor="ctr"/>
                </a:tc>
                <a:extLst>
                  <a:ext uri="{0D108BD9-81ED-4DB2-BD59-A6C34878D82A}">
                    <a16:rowId xmlns:a16="http://schemas.microsoft.com/office/drawing/2014/main" xmlns="" val="1659763568"/>
                  </a:ext>
                </a:extLst>
              </a:tr>
              <a:tr h="0">
                <a:tc>
                  <a:txBody>
                    <a:bodyPr/>
                    <a:lstStyle/>
                    <a:p>
                      <a:pPr algn="ctr" fontAlgn="ctr"/>
                      <a:r>
                        <a:rPr lang="en-IN" sz="1250" b="0">
                          <a:effectLst/>
                        </a:rPr>
                        <a:t>L35</a:t>
                      </a:r>
                    </a:p>
                  </a:txBody>
                  <a:tcPr marL="63500" marR="63500" marT="88900" marB="88900" anchor="ctr"/>
                </a:tc>
                <a:extLst>
                  <a:ext uri="{0D108BD9-81ED-4DB2-BD59-A6C34878D82A}">
                    <a16:rowId xmlns:a16="http://schemas.microsoft.com/office/drawing/2014/main" xmlns="" val="2927626854"/>
                  </a:ext>
                </a:extLst>
              </a:tr>
              <a:tr h="0">
                <a:tc>
                  <a:txBody>
                    <a:bodyPr/>
                    <a:lstStyle/>
                    <a:p>
                      <a:pPr algn="ctr" fontAlgn="ctr"/>
                      <a:r>
                        <a:rPr lang="en-IN" sz="1250" b="0" dirty="0">
                          <a:effectLst/>
                        </a:rPr>
                        <a:t>L98</a:t>
                      </a:r>
                    </a:p>
                  </a:txBody>
                  <a:tcPr marL="63500" marR="63500" marT="88900" marB="88900" anchor="ctr"/>
                </a:tc>
                <a:extLst>
                  <a:ext uri="{0D108BD9-81ED-4DB2-BD59-A6C34878D82A}">
                    <a16:rowId xmlns:a16="http://schemas.microsoft.com/office/drawing/2014/main" xmlns="" val="2794087971"/>
                  </a:ext>
                </a:extLst>
              </a:tr>
            </a:tbl>
          </a:graphicData>
        </a:graphic>
      </p:graphicFrame>
      <p:sp>
        <p:nvSpPr>
          <p:cNvPr id="2" name="Rectangle 1"/>
          <p:cNvSpPr/>
          <p:nvPr/>
        </p:nvSpPr>
        <p:spPr>
          <a:xfrm>
            <a:off x="2149602" y="4679434"/>
            <a:ext cx="4438395" cy="369332"/>
          </a:xfrm>
          <a:prstGeom prst="rect">
            <a:avLst/>
          </a:prstGeom>
        </p:spPr>
        <p:txBody>
          <a:bodyPr wrap="none">
            <a:spAutoFit/>
          </a:bodyPr>
          <a:lstStyle/>
          <a:p>
            <a:r>
              <a:rPr lang="en-US" dirty="0"/>
              <a:t>π_Loan number (</a:t>
            </a:r>
            <a:r>
              <a:rPr lang="en-US" dirty="0" err="1"/>
              <a:t>σ_Amount</a:t>
            </a:r>
            <a:r>
              <a:rPr lang="en-US" dirty="0"/>
              <a:t> ≥ 10000 (Loan))</a:t>
            </a:r>
            <a:endParaRPr lang="en-IN" dirty="0"/>
          </a:p>
        </p:txBody>
      </p:sp>
      <p:sp>
        <p:nvSpPr>
          <p:cNvPr id="3" name="Rectangle 2"/>
          <p:cNvSpPr/>
          <p:nvPr/>
        </p:nvSpPr>
        <p:spPr>
          <a:xfrm>
            <a:off x="1678639" y="5479534"/>
            <a:ext cx="6142323" cy="369332"/>
          </a:xfrm>
          <a:prstGeom prst="rect">
            <a:avLst/>
          </a:prstGeom>
        </p:spPr>
        <p:txBody>
          <a:bodyPr wrap="none">
            <a:spAutoFit/>
          </a:bodyPr>
          <a:lstStyle/>
          <a:p>
            <a:r>
              <a:rPr lang="en-US" dirty="0"/>
              <a:t>SELECT </a:t>
            </a:r>
            <a:r>
              <a:rPr lang="en-US" dirty="0" err="1"/>
              <a:t>Loan_number</a:t>
            </a:r>
            <a:r>
              <a:rPr lang="en-US" dirty="0"/>
              <a:t> FROM Loan WHERE Amount &gt;= 10000;</a:t>
            </a:r>
            <a:endParaRPr lang="en-IN" dirty="0"/>
          </a:p>
        </p:txBody>
      </p:sp>
    </p:spTree>
    <p:extLst>
      <p:ext uri="{BB962C8B-B14F-4D97-AF65-F5344CB8AC3E}">
        <p14:creationId xmlns:p14="http://schemas.microsoft.com/office/powerpoint/2010/main" val="2313745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122291DF-AC7F-259F-8332-435FCBCC003A}"/>
              </a:ext>
            </a:extLst>
          </p:cNvPr>
          <p:cNvSpPr txBox="1"/>
          <p:nvPr/>
        </p:nvSpPr>
        <p:spPr>
          <a:xfrm>
            <a:off x="1273629" y="290036"/>
            <a:ext cx="8730342" cy="1938992"/>
          </a:xfrm>
          <a:prstGeom prst="rect">
            <a:avLst/>
          </a:prstGeom>
          <a:noFill/>
        </p:spPr>
        <p:txBody>
          <a:bodyPr wrap="square">
            <a:spAutoFit/>
          </a:bodyPr>
          <a:lstStyle/>
          <a:p>
            <a:r>
              <a:rPr lang="en-US" sz="2400" dirty="0" smtClean="0"/>
              <a:t>Find the names of all customers who have a loan and an account at the bank.  </a:t>
            </a:r>
          </a:p>
          <a:p>
            <a:endParaRPr lang="en-US" sz="2400" dirty="0" smtClean="0"/>
          </a:p>
          <a:p>
            <a:r>
              <a:rPr lang="en-US" sz="2400" dirty="0" smtClean="0"/>
              <a:t>{</a:t>
            </a:r>
            <a:r>
              <a:rPr lang="en-US" sz="2400" dirty="0"/>
              <a:t>t | ∃ s ∈ borrower( t[customer-name] = s[customer-name])   </a:t>
            </a:r>
          </a:p>
          <a:p>
            <a:r>
              <a:rPr lang="en-US" sz="2400" dirty="0"/>
              <a:t>∧  ∃ u ∈ depositor( t[customer-name] = u[customer-name])}</a:t>
            </a:r>
            <a:endParaRPr lang="en-IN" sz="2400" dirty="0"/>
          </a:p>
        </p:txBody>
      </p:sp>
      <p:graphicFrame>
        <p:nvGraphicFramePr>
          <p:cNvPr id="8" name="Table 7">
            <a:extLst>
              <a:ext uri="{FF2B5EF4-FFF2-40B4-BE49-F238E27FC236}">
                <a16:creationId xmlns:a16="http://schemas.microsoft.com/office/drawing/2014/main" xmlns="" id="{ED4A8CBF-268A-3AB4-E83E-C46A3E771114}"/>
              </a:ext>
            </a:extLst>
          </p:cNvPr>
          <p:cNvGraphicFramePr>
            <a:graphicFrameLocks noGrp="1"/>
          </p:cNvGraphicFramePr>
          <p:nvPr>
            <p:extLst>
              <p:ext uri="{D42A27DB-BD31-4B8C-83A1-F6EECF244321}">
                <p14:modId xmlns:p14="http://schemas.microsoft.com/office/powerpoint/2010/main" val="220192972"/>
              </p:ext>
            </p:extLst>
          </p:nvPr>
        </p:nvGraphicFramePr>
        <p:xfrm>
          <a:off x="4934405" y="2984750"/>
          <a:ext cx="3012168" cy="1076960"/>
        </p:xfrm>
        <a:graphic>
          <a:graphicData uri="http://schemas.openxmlformats.org/drawingml/2006/table">
            <a:tbl>
              <a:tblPr>
                <a:tableStyleId>{775DCB02-9BB8-47FD-8907-85C794F793BA}</a:tableStyleId>
              </a:tblPr>
              <a:tblGrid>
                <a:gridCol w="3012168">
                  <a:extLst>
                    <a:ext uri="{9D8B030D-6E8A-4147-A177-3AD203B41FA5}">
                      <a16:colId xmlns:a16="http://schemas.microsoft.com/office/drawing/2014/main" xmlns="" val="1025548465"/>
                    </a:ext>
                  </a:extLst>
                </a:gridCol>
              </a:tblGrid>
              <a:tr h="0">
                <a:tc>
                  <a:txBody>
                    <a:bodyPr/>
                    <a:lstStyle/>
                    <a:p>
                      <a:pPr algn="ctr" fontAlgn="base"/>
                      <a:r>
                        <a:rPr lang="en-IN" sz="1400" b="1">
                          <a:effectLst/>
                        </a:rPr>
                        <a:t>Customer name</a:t>
                      </a:r>
                    </a:p>
                  </a:txBody>
                  <a:tcPr marL="38100" marR="38100" marT="63500" marB="63500" anchor="ctr"/>
                </a:tc>
                <a:extLst>
                  <a:ext uri="{0D108BD9-81ED-4DB2-BD59-A6C34878D82A}">
                    <a16:rowId xmlns:a16="http://schemas.microsoft.com/office/drawing/2014/main" xmlns="" val="3817665876"/>
                  </a:ext>
                </a:extLst>
              </a:tr>
              <a:tr h="0">
                <a:tc>
                  <a:txBody>
                    <a:bodyPr/>
                    <a:lstStyle/>
                    <a:p>
                      <a:pPr algn="ctr" fontAlgn="ctr"/>
                      <a:r>
                        <a:rPr lang="en-IN" sz="1250" b="0">
                          <a:effectLst/>
                        </a:rPr>
                        <a:t>Saurabh</a:t>
                      </a:r>
                    </a:p>
                  </a:txBody>
                  <a:tcPr marL="63500" marR="63500" marT="88900" marB="88900" anchor="ctr"/>
                </a:tc>
                <a:extLst>
                  <a:ext uri="{0D108BD9-81ED-4DB2-BD59-A6C34878D82A}">
                    <a16:rowId xmlns:a16="http://schemas.microsoft.com/office/drawing/2014/main" xmlns="" val="2123182768"/>
                  </a:ext>
                </a:extLst>
              </a:tr>
              <a:tr h="0">
                <a:tc>
                  <a:txBody>
                    <a:bodyPr/>
                    <a:lstStyle/>
                    <a:p>
                      <a:pPr algn="ctr" fontAlgn="ctr"/>
                      <a:r>
                        <a:rPr lang="en-IN" sz="1250" b="0" dirty="0">
                          <a:effectLst/>
                        </a:rPr>
                        <a:t>Mehak</a:t>
                      </a:r>
                    </a:p>
                  </a:txBody>
                  <a:tcPr marL="63500" marR="63500" marT="88900" marB="88900" anchor="ctr"/>
                </a:tc>
                <a:extLst>
                  <a:ext uri="{0D108BD9-81ED-4DB2-BD59-A6C34878D82A}">
                    <a16:rowId xmlns:a16="http://schemas.microsoft.com/office/drawing/2014/main" xmlns="" val="1290996572"/>
                  </a:ext>
                </a:extLst>
              </a:tr>
            </a:tbl>
          </a:graphicData>
        </a:graphic>
      </p:graphicFrame>
      <p:sp>
        <p:nvSpPr>
          <p:cNvPr id="2" name="Rectangle 1"/>
          <p:cNvSpPr/>
          <p:nvPr/>
        </p:nvSpPr>
        <p:spPr>
          <a:xfrm>
            <a:off x="2514600" y="4543168"/>
            <a:ext cx="6921500" cy="369332"/>
          </a:xfrm>
          <a:prstGeom prst="rect">
            <a:avLst/>
          </a:prstGeom>
        </p:spPr>
        <p:txBody>
          <a:bodyPr wrap="square">
            <a:spAutoFit/>
          </a:bodyPr>
          <a:lstStyle/>
          <a:p>
            <a:r>
              <a:rPr lang="el-GR" dirty="0" smtClean="0"/>
              <a:t>π_</a:t>
            </a:r>
            <a:r>
              <a:rPr lang="en-IN" dirty="0" err="1" smtClean="0"/>
              <a:t>Customer_name</a:t>
            </a:r>
            <a:r>
              <a:rPr lang="en-IN" dirty="0" smtClean="0"/>
              <a:t> (Borrower) ∩ </a:t>
            </a:r>
            <a:r>
              <a:rPr lang="el-GR" dirty="0" smtClean="0"/>
              <a:t>π_</a:t>
            </a:r>
            <a:r>
              <a:rPr lang="en-IN" dirty="0" err="1" smtClean="0"/>
              <a:t>Customer_name</a:t>
            </a:r>
            <a:r>
              <a:rPr lang="en-IN" dirty="0" smtClean="0"/>
              <a:t> (Depositor)</a:t>
            </a:r>
            <a:endParaRPr lang="en-IN" dirty="0"/>
          </a:p>
        </p:txBody>
      </p:sp>
      <p:sp>
        <p:nvSpPr>
          <p:cNvPr id="3" name="Rectangle 2"/>
          <p:cNvSpPr/>
          <p:nvPr/>
        </p:nvSpPr>
        <p:spPr>
          <a:xfrm>
            <a:off x="2095500" y="5534631"/>
            <a:ext cx="8559800" cy="646331"/>
          </a:xfrm>
          <a:prstGeom prst="rect">
            <a:avLst/>
          </a:prstGeom>
        </p:spPr>
        <p:txBody>
          <a:bodyPr wrap="square">
            <a:spAutoFit/>
          </a:bodyPr>
          <a:lstStyle/>
          <a:p>
            <a:r>
              <a:rPr lang="en-US" dirty="0"/>
              <a:t>SELECT DISTINCT </a:t>
            </a:r>
            <a:r>
              <a:rPr lang="en-US" dirty="0" err="1"/>
              <a:t>Borrower.Customer_name</a:t>
            </a:r>
            <a:r>
              <a:rPr lang="en-US" dirty="0"/>
              <a:t> FROM Borrower JOIN Depositor ON </a:t>
            </a:r>
            <a:r>
              <a:rPr lang="en-US" dirty="0" err="1"/>
              <a:t>Borrower.Customer_name</a:t>
            </a:r>
            <a:r>
              <a:rPr lang="en-US" dirty="0"/>
              <a:t> = </a:t>
            </a:r>
            <a:r>
              <a:rPr lang="en-US" dirty="0" err="1"/>
              <a:t>Depositor.Customer_name</a:t>
            </a:r>
            <a:r>
              <a:rPr lang="en-US" dirty="0"/>
              <a:t>;</a:t>
            </a:r>
            <a:endParaRPr lang="en-IN" dirty="0"/>
          </a:p>
        </p:txBody>
      </p:sp>
    </p:spTree>
    <p:extLst>
      <p:ext uri="{BB962C8B-B14F-4D97-AF65-F5344CB8AC3E}">
        <p14:creationId xmlns:p14="http://schemas.microsoft.com/office/powerpoint/2010/main" val="1460714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9823FB1-9A5D-308E-5F9A-C0E76534A6DA}"/>
              </a:ext>
            </a:extLst>
          </p:cNvPr>
          <p:cNvSpPr txBox="1"/>
          <p:nvPr/>
        </p:nvSpPr>
        <p:spPr>
          <a:xfrm>
            <a:off x="1382487" y="467222"/>
            <a:ext cx="9568542" cy="2308324"/>
          </a:xfrm>
          <a:prstGeom prst="rect">
            <a:avLst/>
          </a:prstGeom>
          <a:noFill/>
        </p:spPr>
        <p:txBody>
          <a:bodyPr wrap="square">
            <a:spAutoFit/>
          </a:bodyPr>
          <a:lstStyle/>
          <a:p>
            <a:r>
              <a:rPr lang="en-US" sz="2400" dirty="0"/>
              <a:t>Find the names of all customers having a loan at the “ABC” branch.  </a:t>
            </a:r>
          </a:p>
          <a:p>
            <a:endParaRPr lang="en-US" sz="2400" dirty="0"/>
          </a:p>
          <a:p>
            <a:endParaRPr lang="en-US" sz="2400" dirty="0"/>
          </a:p>
          <a:p>
            <a:r>
              <a:rPr lang="en-US" sz="2400" dirty="0"/>
              <a:t>{t | ∃ s ∈ borrower(t[customer-name] = s[customer-name]  </a:t>
            </a:r>
          </a:p>
          <a:p>
            <a:r>
              <a:rPr lang="en-US" sz="2400" dirty="0"/>
              <a:t>   ∧ ∃ u ∈  loan(u[branch-name] = “ABC” ∧ u[loan-number] = s[loan-number]))}</a:t>
            </a:r>
            <a:endParaRPr lang="en-IN" sz="2400" dirty="0"/>
          </a:p>
        </p:txBody>
      </p:sp>
      <p:graphicFrame>
        <p:nvGraphicFramePr>
          <p:cNvPr id="5" name="Table 4">
            <a:extLst>
              <a:ext uri="{FF2B5EF4-FFF2-40B4-BE49-F238E27FC236}">
                <a16:creationId xmlns:a16="http://schemas.microsoft.com/office/drawing/2014/main" xmlns="" id="{C921FEC9-AFB8-8E38-8113-A14ADB08FAA1}"/>
              </a:ext>
            </a:extLst>
          </p:cNvPr>
          <p:cNvGraphicFramePr>
            <a:graphicFrameLocks noGrp="1"/>
          </p:cNvGraphicFramePr>
          <p:nvPr>
            <p:extLst>
              <p:ext uri="{D42A27DB-BD31-4B8C-83A1-F6EECF244321}">
                <p14:modId xmlns:p14="http://schemas.microsoft.com/office/powerpoint/2010/main" val="1154234937"/>
              </p:ext>
            </p:extLst>
          </p:nvPr>
        </p:nvGraphicFramePr>
        <p:xfrm>
          <a:off x="4401004" y="3517243"/>
          <a:ext cx="2489653" cy="708660"/>
        </p:xfrm>
        <a:graphic>
          <a:graphicData uri="http://schemas.openxmlformats.org/drawingml/2006/table">
            <a:tbl>
              <a:tblPr>
                <a:tableStyleId>{775DCB02-9BB8-47FD-8907-85C794F793BA}</a:tableStyleId>
              </a:tblPr>
              <a:tblGrid>
                <a:gridCol w="2489653">
                  <a:extLst>
                    <a:ext uri="{9D8B030D-6E8A-4147-A177-3AD203B41FA5}">
                      <a16:colId xmlns:a16="http://schemas.microsoft.com/office/drawing/2014/main" xmlns="" val="1548241319"/>
                    </a:ext>
                  </a:extLst>
                </a:gridCol>
              </a:tblGrid>
              <a:tr h="0">
                <a:tc>
                  <a:txBody>
                    <a:bodyPr/>
                    <a:lstStyle/>
                    <a:p>
                      <a:pPr algn="ctr" fontAlgn="base"/>
                      <a:r>
                        <a:rPr lang="en-IN" sz="1400" b="1">
                          <a:effectLst/>
                        </a:rPr>
                        <a:t>Customer name</a:t>
                      </a:r>
                    </a:p>
                  </a:txBody>
                  <a:tcPr marL="38100" marR="38100" marT="63500" marB="63500" anchor="ctr"/>
                </a:tc>
                <a:extLst>
                  <a:ext uri="{0D108BD9-81ED-4DB2-BD59-A6C34878D82A}">
                    <a16:rowId xmlns:a16="http://schemas.microsoft.com/office/drawing/2014/main" xmlns="" val="786411230"/>
                  </a:ext>
                </a:extLst>
              </a:tr>
              <a:tr h="0">
                <a:tc>
                  <a:txBody>
                    <a:bodyPr/>
                    <a:lstStyle/>
                    <a:p>
                      <a:pPr algn="ctr" fontAlgn="ctr"/>
                      <a:r>
                        <a:rPr lang="en-IN" sz="1250" b="0" dirty="0">
                          <a:effectLst/>
                        </a:rPr>
                        <a:t>Saurabh</a:t>
                      </a:r>
                    </a:p>
                  </a:txBody>
                  <a:tcPr marL="63500" marR="63500" marT="88900" marB="88900" anchor="ctr"/>
                </a:tc>
                <a:extLst>
                  <a:ext uri="{0D108BD9-81ED-4DB2-BD59-A6C34878D82A}">
                    <a16:rowId xmlns:a16="http://schemas.microsoft.com/office/drawing/2014/main" xmlns="" val="539818497"/>
                  </a:ext>
                </a:extLst>
              </a:tr>
            </a:tbl>
          </a:graphicData>
        </a:graphic>
      </p:graphicFrame>
      <p:sp>
        <p:nvSpPr>
          <p:cNvPr id="3" name="Rectangle 2"/>
          <p:cNvSpPr/>
          <p:nvPr/>
        </p:nvSpPr>
        <p:spPr>
          <a:xfrm>
            <a:off x="1382486" y="4363135"/>
            <a:ext cx="9793513" cy="369332"/>
          </a:xfrm>
          <a:prstGeom prst="rect">
            <a:avLst/>
          </a:prstGeom>
        </p:spPr>
        <p:txBody>
          <a:bodyPr wrap="square">
            <a:spAutoFit/>
          </a:bodyPr>
          <a:lstStyle/>
          <a:p>
            <a:r>
              <a:rPr lang="en-US" dirty="0"/>
              <a:t>π_</a:t>
            </a:r>
            <a:r>
              <a:rPr lang="en-US" dirty="0" err="1"/>
              <a:t>Customer_name</a:t>
            </a:r>
            <a:r>
              <a:rPr lang="en-US" dirty="0"/>
              <a:t> (</a:t>
            </a:r>
            <a:r>
              <a:rPr lang="en-US" dirty="0" err="1"/>
              <a:t>σ_Branch_name</a:t>
            </a:r>
            <a:r>
              <a:rPr lang="en-US" dirty="0"/>
              <a:t> = "ABC" (Loan) ⨝ </a:t>
            </a:r>
            <a:r>
              <a:rPr lang="en-US" dirty="0" err="1"/>
              <a:t>Loan_number</a:t>
            </a:r>
            <a:r>
              <a:rPr lang="en-US" dirty="0"/>
              <a:t> = </a:t>
            </a:r>
            <a:r>
              <a:rPr lang="en-US" dirty="0" err="1"/>
              <a:t>Loan_number</a:t>
            </a:r>
            <a:r>
              <a:rPr lang="en-US" dirty="0"/>
              <a:t> Borrower)</a:t>
            </a:r>
          </a:p>
        </p:txBody>
      </p:sp>
      <p:sp>
        <p:nvSpPr>
          <p:cNvPr id="6" name="Rectangle 5"/>
          <p:cNvSpPr/>
          <p:nvPr/>
        </p:nvSpPr>
        <p:spPr>
          <a:xfrm>
            <a:off x="3124199" y="4895672"/>
            <a:ext cx="9452429" cy="1200329"/>
          </a:xfrm>
          <a:prstGeom prst="rect">
            <a:avLst/>
          </a:prstGeom>
        </p:spPr>
        <p:txBody>
          <a:bodyPr wrap="square">
            <a:spAutoFit/>
          </a:bodyPr>
          <a:lstStyle/>
          <a:p>
            <a:r>
              <a:rPr lang="en-US" dirty="0"/>
              <a:t>SELECT DISTINCT </a:t>
            </a:r>
            <a:r>
              <a:rPr lang="en-US" dirty="0" err="1"/>
              <a:t>Borrower.Customer_name</a:t>
            </a:r>
            <a:endParaRPr lang="en-US" dirty="0"/>
          </a:p>
          <a:p>
            <a:r>
              <a:rPr lang="en-US" dirty="0"/>
              <a:t>FROM Borrower</a:t>
            </a:r>
          </a:p>
          <a:p>
            <a:r>
              <a:rPr lang="en-US" dirty="0"/>
              <a:t>JOIN Loan ON </a:t>
            </a:r>
            <a:r>
              <a:rPr lang="en-US" dirty="0" err="1"/>
              <a:t>Borrower.Loan_number</a:t>
            </a:r>
            <a:r>
              <a:rPr lang="en-US" dirty="0"/>
              <a:t> = </a:t>
            </a:r>
            <a:r>
              <a:rPr lang="en-US" dirty="0" err="1"/>
              <a:t>Loan.Loan_number</a:t>
            </a:r>
            <a:endParaRPr lang="en-US" dirty="0"/>
          </a:p>
          <a:p>
            <a:r>
              <a:rPr lang="en-US" dirty="0"/>
              <a:t>WHERE </a:t>
            </a:r>
            <a:r>
              <a:rPr lang="en-US" dirty="0" err="1"/>
              <a:t>Loan.Branch_name</a:t>
            </a:r>
            <a:r>
              <a:rPr lang="en-US" dirty="0"/>
              <a:t> = 'ABC';</a:t>
            </a:r>
          </a:p>
        </p:txBody>
      </p:sp>
    </p:spTree>
    <p:extLst>
      <p:ext uri="{BB962C8B-B14F-4D97-AF65-F5344CB8AC3E}">
        <p14:creationId xmlns:p14="http://schemas.microsoft.com/office/powerpoint/2010/main" val="22927091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6240FF2-36E8-05C2-C2F6-A5C3D63A3AEF}"/>
              </a:ext>
            </a:extLst>
          </p:cNvPr>
          <p:cNvSpPr txBox="1"/>
          <p:nvPr/>
        </p:nvSpPr>
        <p:spPr>
          <a:xfrm>
            <a:off x="1034143" y="174172"/>
            <a:ext cx="9808028" cy="3539430"/>
          </a:xfrm>
          <a:prstGeom prst="rect">
            <a:avLst/>
          </a:prstGeom>
          <a:noFill/>
        </p:spPr>
        <p:txBody>
          <a:bodyPr wrap="square">
            <a:spAutoFit/>
          </a:bodyPr>
          <a:lstStyle/>
          <a:p>
            <a:r>
              <a:rPr lang="en-US" sz="2800" b="1" dirty="0"/>
              <a:t>Domain Relational Calculus (DRC)</a:t>
            </a:r>
          </a:p>
          <a:p>
            <a:endParaRPr lang="en-US" sz="2800" b="1" dirty="0"/>
          </a:p>
          <a:p>
            <a:r>
              <a:rPr lang="en-US" sz="2400" dirty="0"/>
              <a:t>Domain Relational Calculus is similar to Tuple Relational Calculus, where it makes a list of the attributes that are to be chosen from the relations as per the conditions.</a:t>
            </a:r>
          </a:p>
          <a:p>
            <a:endParaRPr lang="en-US" sz="2400" dirty="0"/>
          </a:p>
          <a:p>
            <a:r>
              <a:rPr lang="en-US" sz="2400" dirty="0"/>
              <a:t>{&lt;a1,a2,a3,.....an&gt; | P(a1,a2,a3,.....an)}</a:t>
            </a:r>
          </a:p>
          <a:p>
            <a:endParaRPr lang="en-US" sz="2400" dirty="0"/>
          </a:p>
          <a:p>
            <a:r>
              <a:rPr lang="en-US" sz="2400" dirty="0"/>
              <a:t>where a1,a2,…an are the attributes of the relation and P is the condition.</a:t>
            </a:r>
            <a:endParaRPr lang="en-IN" sz="2400" dirty="0"/>
          </a:p>
        </p:txBody>
      </p:sp>
    </p:spTree>
    <p:extLst>
      <p:ext uri="{BB962C8B-B14F-4D97-AF65-F5344CB8AC3E}">
        <p14:creationId xmlns:p14="http://schemas.microsoft.com/office/powerpoint/2010/main" val="830492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4AC8495-27A7-2098-AF07-36B3688D8AEC}"/>
              </a:ext>
            </a:extLst>
          </p:cNvPr>
          <p:cNvSpPr txBox="1"/>
          <p:nvPr/>
        </p:nvSpPr>
        <p:spPr>
          <a:xfrm>
            <a:off x="732064" y="463034"/>
            <a:ext cx="6101442" cy="369332"/>
          </a:xfrm>
          <a:prstGeom prst="rect">
            <a:avLst/>
          </a:prstGeom>
          <a:noFill/>
        </p:spPr>
        <p:txBody>
          <a:bodyPr wrap="square">
            <a:spAutoFit/>
          </a:bodyPr>
          <a:lstStyle/>
          <a:p>
            <a:r>
              <a:rPr lang="en-IN" b="1" i="0" dirty="0">
                <a:solidFill>
                  <a:srgbClr val="273239"/>
                </a:solidFill>
                <a:effectLst/>
                <a:latin typeface="Nunito" pitchFamily="2" charset="0"/>
              </a:rPr>
              <a:t>Customer</a:t>
            </a:r>
            <a:endParaRPr lang="en-IN" dirty="0"/>
          </a:p>
        </p:txBody>
      </p:sp>
      <p:graphicFrame>
        <p:nvGraphicFramePr>
          <p:cNvPr id="8" name="Table 7">
            <a:extLst>
              <a:ext uri="{FF2B5EF4-FFF2-40B4-BE49-F238E27FC236}">
                <a16:creationId xmlns:a16="http://schemas.microsoft.com/office/drawing/2014/main" xmlns="" id="{8806B9DA-F33D-7963-CCC9-0D8F4B915712}"/>
              </a:ext>
            </a:extLst>
          </p:cNvPr>
          <p:cNvGraphicFramePr>
            <a:graphicFrameLocks noGrp="1"/>
          </p:cNvGraphicFramePr>
          <p:nvPr>
            <p:extLst>
              <p:ext uri="{D42A27DB-BD31-4B8C-83A1-F6EECF244321}">
                <p14:modId xmlns:p14="http://schemas.microsoft.com/office/powerpoint/2010/main" val="3724062880"/>
              </p:ext>
            </p:extLst>
          </p:nvPr>
        </p:nvGraphicFramePr>
        <p:xfrm>
          <a:off x="732065" y="1027861"/>
          <a:ext cx="3382737" cy="2001520"/>
        </p:xfrm>
        <a:graphic>
          <a:graphicData uri="http://schemas.openxmlformats.org/drawingml/2006/table">
            <a:tbl>
              <a:tblPr>
                <a:tableStyleId>{775DCB02-9BB8-47FD-8907-85C794F793BA}</a:tableStyleId>
              </a:tblPr>
              <a:tblGrid>
                <a:gridCol w="1127579">
                  <a:extLst>
                    <a:ext uri="{9D8B030D-6E8A-4147-A177-3AD203B41FA5}">
                      <a16:colId xmlns:a16="http://schemas.microsoft.com/office/drawing/2014/main" xmlns="" val="2113553148"/>
                    </a:ext>
                  </a:extLst>
                </a:gridCol>
                <a:gridCol w="1127579">
                  <a:extLst>
                    <a:ext uri="{9D8B030D-6E8A-4147-A177-3AD203B41FA5}">
                      <a16:colId xmlns:a16="http://schemas.microsoft.com/office/drawing/2014/main" xmlns="" val="525691725"/>
                    </a:ext>
                  </a:extLst>
                </a:gridCol>
                <a:gridCol w="1127579">
                  <a:extLst>
                    <a:ext uri="{9D8B030D-6E8A-4147-A177-3AD203B41FA5}">
                      <a16:colId xmlns:a16="http://schemas.microsoft.com/office/drawing/2014/main" xmlns="" val="1155224932"/>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Street</a:t>
                      </a:r>
                    </a:p>
                  </a:txBody>
                  <a:tcPr marL="50800" marR="50800" marT="50800" marB="50800" anchor="ctr"/>
                </a:tc>
                <a:tc>
                  <a:txBody>
                    <a:bodyPr/>
                    <a:lstStyle/>
                    <a:p>
                      <a:pPr algn="ctr" fontAlgn="base"/>
                      <a:r>
                        <a:rPr lang="en-IN" sz="1400" b="1">
                          <a:effectLst/>
                        </a:rPr>
                        <a:t>City</a:t>
                      </a:r>
                    </a:p>
                  </a:txBody>
                  <a:tcPr marL="50800" marR="50800" marT="50800" marB="50800" anchor="ctr"/>
                </a:tc>
                <a:extLst>
                  <a:ext uri="{0D108BD9-81ED-4DB2-BD59-A6C34878D82A}">
                    <a16:rowId xmlns:a16="http://schemas.microsoft.com/office/drawing/2014/main" xmlns="" val="64820731"/>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Kadamtala</a:t>
                      </a:r>
                    </a:p>
                  </a:txBody>
                  <a:tcPr marL="63500" marR="63500" marT="88900" marB="88900" anchor="ctr"/>
                </a:tc>
                <a:tc>
                  <a:txBody>
                    <a:bodyPr/>
                    <a:lstStyle/>
                    <a:p>
                      <a:pPr algn="ctr" fontAlgn="ctr"/>
                      <a:r>
                        <a:rPr lang="en-IN" sz="1250" b="0">
                          <a:effectLst/>
                        </a:rPr>
                        <a:t>Alipurduar</a:t>
                      </a:r>
                    </a:p>
                  </a:txBody>
                  <a:tcPr marL="63500" marR="63500" marT="88900" marB="88900" anchor="ctr"/>
                </a:tc>
                <a:extLst>
                  <a:ext uri="{0D108BD9-81ED-4DB2-BD59-A6C34878D82A}">
                    <a16:rowId xmlns:a16="http://schemas.microsoft.com/office/drawing/2014/main" xmlns="" val="1730026202"/>
                  </a:ext>
                </a:extLst>
              </a:tr>
              <a:tr h="0">
                <a:tc>
                  <a:txBody>
                    <a:bodyPr/>
                    <a:lstStyle/>
                    <a:p>
                      <a:pPr algn="ctr" fontAlgn="ctr"/>
                      <a:r>
                        <a:rPr lang="en-IN" sz="1250" b="0">
                          <a:effectLst/>
                        </a:rPr>
                        <a:t>Sayantan</a:t>
                      </a:r>
                    </a:p>
                  </a:txBody>
                  <a:tcPr marL="63500" marR="63500" marT="88900" marB="88900" anchor="ctr"/>
                </a:tc>
                <a:tc>
                  <a:txBody>
                    <a:bodyPr/>
                    <a:lstStyle/>
                    <a:p>
                      <a:pPr algn="ctr" fontAlgn="ctr"/>
                      <a:r>
                        <a:rPr lang="en-IN" sz="1250" b="0">
                          <a:effectLst/>
                        </a:rPr>
                        <a:t>Udaypur</a:t>
                      </a:r>
                    </a:p>
                  </a:txBody>
                  <a:tcPr marL="63500" marR="63500" marT="88900" marB="88900" anchor="ctr"/>
                </a:tc>
                <a:tc>
                  <a:txBody>
                    <a:bodyPr/>
                    <a:lstStyle/>
                    <a:p>
                      <a:pPr algn="ctr" fontAlgn="ctr"/>
                      <a:r>
                        <a:rPr lang="en-IN" sz="1250" b="0">
                          <a:effectLst/>
                        </a:rPr>
                        <a:t>Balurghat</a:t>
                      </a:r>
                    </a:p>
                  </a:txBody>
                  <a:tcPr marL="63500" marR="63500" marT="88900" marB="88900" anchor="ctr"/>
                </a:tc>
                <a:extLst>
                  <a:ext uri="{0D108BD9-81ED-4DB2-BD59-A6C34878D82A}">
                    <a16:rowId xmlns:a16="http://schemas.microsoft.com/office/drawing/2014/main" xmlns="" val="3484028203"/>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a:effectLst/>
                        </a:rPr>
                        <a:t>Nutanchati</a:t>
                      </a:r>
                    </a:p>
                  </a:txBody>
                  <a:tcPr marL="63500" marR="63500" marT="88900" marB="88900" anchor="ctr"/>
                </a:tc>
                <a:tc>
                  <a:txBody>
                    <a:bodyPr/>
                    <a:lstStyle/>
                    <a:p>
                      <a:pPr algn="ctr" fontAlgn="ctr"/>
                      <a:r>
                        <a:rPr lang="en-IN" sz="1250" b="0">
                          <a:effectLst/>
                        </a:rPr>
                        <a:t>Bankura</a:t>
                      </a:r>
                    </a:p>
                  </a:txBody>
                  <a:tcPr marL="63500" marR="63500" marT="88900" marB="88900" anchor="ctr"/>
                </a:tc>
                <a:extLst>
                  <a:ext uri="{0D108BD9-81ED-4DB2-BD59-A6C34878D82A}">
                    <a16:rowId xmlns:a16="http://schemas.microsoft.com/office/drawing/2014/main" xmlns="" val="2362752249"/>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Juhu</a:t>
                      </a:r>
                    </a:p>
                  </a:txBody>
                  <a:tcPr marL="63500" marR="63500" marT="88900" marB="88900" anchor="ctr"/>
                </a:tc>
                <a:tc>
                  <a:txBody>
                    <a:bodyPr/>
                    <a:lstStyle/>
                    <a:p>
                      <a:pPr algn="ctr" fontAlgn="ctr"/>
                      <a:r>
                        <a:rPr lang="en-IN" sz="1250" b="0" dirty="0">
                          <a:effectLst/>
                        </a:rPr>
                        <a:t>Mumbai</a:t>
                      </a:r>
                    </a:p>
                  </a:txBody>
                  <a:tcPr marL="63500" marR="63500" marT="88900" marB="88900" anchor="ctr"/>
                </a:tc>
                <a:extLst>
                  <a:ext uri="{0D108BD9-81ED-4DB2-BD59-A6C34878D82A}">
                    <a16:rowId xmlns:a16="http://schemas.microsoft.com/office/drawing/2014/main" xmlns="" val="4216703281"/>
                  </a:ext>
                </a:extLst>
              </a:tr>
            </a:tbl>
          </a:graphicData>
        </a:graphic>
      </p:graphicFrame>
      <p:sp>
        <p:nvSpPr>
          <p:cNvPr id="10" name="TextBox 9">
            <a:extLst>
              <a:ext uri="{FF2B5EF4-FFF2-40B4-BE49-F238E27FC236}">
                <a16:creationId xmlns:a16="http://schemas.microsoft.com/office/drawing/2014/main" xmlns="" id="{7EE29958-F60E-4E4B-ABDD-F745F22D1BF2}"/>
              </a:ext>
            </a:extLst>
          </p:cNvPr>
          <p:cNvSpPr txBox="1"/>
          <p:nvPr/>
        </p:nvSpPr>
        <p:spPr>
          <a:xfrm>
            <a:off x="6294665" y="560782"/>
            <a:ext cx="6101442" cy="369332"/>
          </a:xfrm>
          <a:prstGeom prst="rect">
            <a:avLst/>
          </a:prstGeom>
          <a:noFill/>
        </p:spPr>
        <p:txBody>
          <a:bodyPr wrap="square">
            <a:spAutoFit/>
          </a:bodyPr>
          <a:lstStyle/>
          <a:p>
            <a:r>
              <a:rPr lang="en-IN" b="1" i="0" dirty="0">
                <a:solidFill>
                  <a:srgbClr val="273239"/>
                </a:solidFill>
                <a:effectLst/>
                <a:latin typeface="Nunito" pitchFamily="2" charset="0"/>
              </a:rPr>
              <a:t>Loan</a:t>
            </a:r>
            <a:endParaRPr lang="en-IN" dirty="0"/>
          </a:p>
        </p:txBody>
      </p:sp>
      <p:graphicFrame>
        <p:nvGraphicFramePr>
          <p:cNvPr id="11" name="Table 10">
            <a:extLst>
              <a:ext uri="{FF2B5EF4-FFF2-40B4-BE49-F238E27FC236}">
                <a16:creationId xmlns:a16="http://schemas.microsoft.com/office/drawing/2014/main" xmlns="" id="{11848E8F-A834-FCF9-F6BD-DB70EB0A7ACF}"/>
              </a:ext>
            </a:extLst>
          </p:cNvPr>
          <p:cNvGraphicFramePr>
            <a:graphicFrameLocks noGrp="1"/>
          </p:cNvGraphicFramePr>
          <p:nvPr>
            <p:extLst>
              <p:ext uri="{D42A27DB-BD31-4B8C-83A1-F6EECF244321}">
                <p14:modId xmlns:p14="http://schemas.microsoft.com/office/powerpoint/2010/main" val="2684689952"/>
              </p:ext>
            </p:extLst>
          </p:nvPr>
        </p:nvGraphicFramePr>
        <p:xfrm>
          <a:off x="6172840" y="1027861"/>
          <a:ext cx="3808719" cy="1788160"/>
        </p:xfrm>
        <a:graphic>
          <a:graphicData uri="http://schemas.openxmlformats.org/drawingml/2006/table">
            <a:tbl>
              <a:tblPr>
                <a:tableStyleId>{775DCB02-9BB8-47FD-8907-85C794F793BA}</a:tableStyleId>
              </a:tblPr>
              <a:tblGrid>
                <a:gridCol w="1269573">
                  <a:extLst>
                    <a:ext uri="{9D8B030D-6E8A-4147-A177-3AD203B41FA5}">
                      <a16:colId xmlns:a16="http://schemas.microsoft.com/office/drawing/2014/main" xmlns="" val="1816099018"/>
                    </a:ext>
                  </a:extLst>
                </a:gridCol>
                <a:gridCol w="1269573">
                  <a:extLst>
                    <a:ext uri="{9D8B030D-6E8A-4147-A177-3AD203B41FA5}">
                      <a16:colId xmlns:a16="http://schemas.microsoft.com/office/drawing/2014/main" xmlns="" val="3762149148"/>
                    </a:ext>
                  </a:extLst>
                </a:gridCol>
                <a:gridCol w="1269573">
                  <a:extLst>
                    <a:ext uri="{9D8B030D-6E8A-4147-A177-3AD203B41FA5}">
                      <a16:colId xmlns:a16="http://schemas.microsoft.com/office/drawing/2014/main" xmlns="" val="1318894298"/>
                    </a:ext>
                  </a:extLst>
                </a:gridCol>
              </a:tblGrid>
              <a:tr h="0">
                <a:tc>
                  <a:txBody>
                    <a:bodyPr/>
                    <a:lstStyle/>
                    <a:p>
                      <a:pPr algn="ctr" fontAlgn="base"/>
                      <a:r>
                        <a:rPr lang="en-IN" sz="1400" b="1">
                          <a:effectLst/>
                        </a:rPr>
                        <a:t>Loan number</a:t>
                      </a:r>
                    </a:p>
                  </a:txBody>
                  <a:tcPr marL="50800" marR="50800" marT="50800" marB="50800" anchor="ctr"/>
                </a:tc>
                <a:tc>
                  <a:txBody>
                    <a:bodyPr/>
                    <a:lstStyle/>
                    <a:p>
                      <a:pPr algn="ctr" fontAlgn="base"/>
                      <a:r>
                        <a:rPr lang="en-IN" sz="1400" b="1">
                          <a:effectLst/>
                        </a:rPr>
                        <a:t>Branch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xmlns="" val="3545082261"/>
                  </a:ext>
                </a:extLst>
              </a:tr>
              <a:tr h="0">
                <a:tc>
                  <a:txBody>
                    <a:bodyPr/>
                    <a:lstStyle/>
                    <a:p>
                      <a:pPr algn="ctr" fontAlgn="ctr"/>
                      <a:r>
                        <a:rPr lang="en-IN" sz="1250" b="0">
                          <a:effectLst/>
                        </a:rPr>
                        <a:t>L01</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xmlns="" val="3563483837"/>
                  </a:ext>
                </a:extLst>
              </a:tr>
              <a:tr h="0">
                <a:tc>
                  <a:txBody>
                    <a:bodyPr/>
                    <a:lstStyle/>
                    <a:p>
                      <a:pPr algn="ctr" fontAlgn="ctr"/>
                      <a:r>
                        <a:rPr lang="en-IN" sz="1250" b="0">
                          <a:effectLst/>
                        </a:rPr>
                        <a:t>L03</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150</a:t>
                      </a:r>
                    </a:p>
                  </a:txBody>
                  <a:tcPr marL="63500" marR="63500" marT="88900" marB="88900" anchor="ctr"/>
                </a:tc>
                <a:extLst>
                  <a:ext uri="{0D108BD9-81ED-4DB2-BD59-A6C34878D82A}">
                    <a16:rowId xmlns:a16="http://schemas.microsoft.com/office/drawing/2014/main" xmlns="" val="656395137"/>
                  </a:ext>
                </a:extLst>
              </a:tr>
              <a:tr h="0">
                <a:tc>
                  <a:txBody>
                    <a:bodyPr/>
                    <a:lstStyle/>
                    <a:p>
                      <a:pPr algn="ctr" fontAlgn="ctr"/>
                      <a:r>
                        <a:rPr lang="en-IN" sz="1250" b="0">
                          <a:effectLst/>
                        </a:rPr>
                        <a:t>L10</a:t>
                      </a:r>
                    </a:p>
                  </a:txBody>
                  <a:tcPr marL="63500" marR="63500" marT="88900" marB="88900" anchor="ctr"/>
                </a:tc>
                <a:tc>
                  <a:txBody>
                    <a:bodyPr/>
                    <a:lstStyle/>
                    <a:p>
                      <a:pPr algn="ctr" fontAlgn="ctr"/>
                      <a:r>
                        <a:rPr lang="en-IN" sz="1250" b="0">
                          <a:effectLst/>
                        </a:rPr>
                        <a:t>Sub</a:t>
                      </a:r>
                    </a:p>
                  </a:txBody>
                  <a:tcPr marL="63500" marR="63500" marT="88900" marB="88900" anchor="ctr"/>
                </a:tc>
                <a:tc>
                  <a:txBody>
                    <a:bodyPr/>
                    <a:lstStyle/>
                    <a:p>
                      <a:pPr algn="ctr" fontAlgn="ctr"/>
                      <a:r>
                        <a:rPr lang="en-IN" sz="1250" b="0">
                          <a:effectLst/>
                        </a:rPr>
                        <a:t>90</a:t>
                      </a:r>
                    </a:p>
                  </a:txBody>
                  <a:tcPr marL="63500" marR="63500" marT="88900" marB="88900" anchor="ctr"/>
                </a:tc>
                <a:extLst>
                  <a:ext uri="{0D108BD9-81ED-4DB2-BD59-A6C34878D82A}">
                    <a16:rowId xmlns:a16="http://schemas.microsoft.com/office/drawing/2014/main" xmlns="" val="1272320006"/>
                  </a:ext>
                </a:extLst>
              </a:tr>
              <a:tr h="0">
                <a:tc>
                  <a:txBody>
                    <a:bodyPr/>
                    <a:lstStyle/>
                    <a:p>
                      <a:pPr algn="ctr" fontAlgn="ctr"/>
                      <a:r>
                        <a:rPr lang="en-IN" sz="1250" b="0">
                          <a:effectLst/>
                        </a:rPr>
                        <a:t>L08</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dirty="0">
                          <a:effectLst/>
                        </a:rPr>
                        <a:t>60</a:t>
                      </a:r>
                    </a:p>
                  </a:txBody>
                  <a:tcPr marL="63500" marR="63500" marT="88900" marB="88900" anchor="ctr"/>
                </a:tc>
                <a:extLst>
                  <a:ext uri="{0D108BD9-81ED-4DB2-BD59-A6C34878D82A}">
                    <a16:rowId xmlns:a16="http://schemas.microsoft.com/office/drawing/2014/main" xmlns="" val="3237116160"/>
                  </a:ext>
                </a:extLst>
              </a:tr>
            </a:tbl>
          </a:graphicData>
        </a:graphic>
      </p:graphicFrame>
      <p:sp>
        <p:nvSpPr>
          <p:cNvPr id="13" name="TextBox 12">
            <a:extLst>
              <a:ext uri="{FF2B5EF4-FFF2-40B4-BE49-F238E27FC236}">
                <a16:creationId xmlns:a16="http://schemas.microsoft.com/office/drawing/2014/main" xmlns="" id="{96607C27-5D2E-699F-58D6-24BCE06EB4ED}"/>
              </a:ext>
            </a:extLst>
          </p:cNvPr>
          <p:cNvSpPr txBox="1"/>
          <p:nvPr/>
        </p:nvSpPr>
        <p:spPr>
          <a:xfrm>
            <a:off x="4427764" y="3429000"/>
            <a:ext cx="6199414" cy="369332"/>
          </a:xfrm>
          <a:prstGeom prst="rect">
            <a:avLst/>
          </a:prstGeom>
          <a:noFill/>
        </p:spPr>
        <p:txBody>
          <a:bodyPr wrap="square">
            <a:spAutoFit/>
          </a:bodyPr>
          <a:lstStyle/>
          <a:p>
            <a:r>
              <a:rPr lang="en-IN" b="1" i="0" dirty="0">
                <a:solidFill>
                  <a:srgbClr val="273239"/>
                </a:solidFill>
                <a:effectLst/>
                <a:latin typeface="Nunito" pitchFamily="2" charset="0"/>
              </a:rPr>
              <a:t> Borrower</a:t>
            </a:r>
            <a:endParaRPr lang="en-IN" dirty="0"/>
          </a:p>
        </p:txBody>
      </p:sp>
      <p:graphicFrame>
        <p:nvGraphicFramePr>
          <p:cNvPr id="14" name="Table 13">
            <a:extLst>
              <a:ext uri="{FF2B5EF4-FFF2-40B4-BE49-F238E27FC236}">
                <a16:creationId xmlns:a16="http://schemas.microsoft.com/office/drawing/2014/main" xmlns="" id="{0C667DBA-382E-DDC4-D98F-6E3722DE0D2B}"/>
              </a:ext>
            </a:extLst>
          </p:cNvPr>
          <p:cNvGraphicFramePr>
            <a:graphicFrameLocks noGrp="1"/>
          </p:cNvGraphicFramePr>
          <p:nvPr>
            <p:extLst>
              <p:ext uri="{D42A27DB-BD31-4B8C-83A1-F6EECF244321}">
                <p14:modId xmlns:p14="http://schemas.microsoft.com/office/powerpoint/2010/main" val="231861066"/>
              </p:ext>
            </p:extLst>
          </p:nvPr>
        </p:nvGraphicFramePr>
        <p:xfrm>
          <a:off x="3914615" y="3992795"/>
          <a:ext cx="3727156" cy="1419860"/>
        </p:xfrm>
        <a:graphic>
          <a:graphicData uri="http://schemas.openxmlformats.org/drawingml/2006/table">
            <a:tbl>
              <a:tblPr>
                <a:tableStyleId>{35758FB7-9AC5-4552-8A53-C91805E547FA}</a:tableStyleId>
              </a:tblPr>
              <a:tblGrid>
                <a:gridCol w="1863578">
                  <a:extLst>
                    <a:ext uri="{9D8B030D-6E8A-4147-A177-3AD203B41FA5}">
                      <a16:colId xmlns:a16="http://schemas.microsoft.com/office/drawing/2014/main" xmlns="" val="1016352611"/>
                    </a:ext>
                  </a:extLst>
                </a:gridCol>
                <a:gridCol w="1863578">
                  <a:extLst>
                    <a:ext uri="{9D8B030D-6E8A-4147-A177-3AD203B41FA5}">
                      <a16:colId xmlns:a16="http://schemas.microsoft.com/office/drawing/2014/main" xmlns="" val="3101013352"/>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Loan number</a:t>
                      </a:r>
                    </a:p>
                  </a:txBody>
                  <a:tcPr marL="50800" marR="50800" marT="50800" marB="50800" anchor="ctr"/>
                </a:tc>
                <a:extLst>
                  <a:ext uri="{0D108BD9-81ED-4DB2-BD59-A6C34878D82A}">
                    <a16:rowId xmlns:a16="http://schemas.microsoft.com/office/drawing/2014/main" xmlns="" val="4209506223"/>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L01</a:t>
                      </a:r>
                    </a:p>
                  </a:txBody>
                  <a:tcPr marL="63500" marR="63500" marT="88900" marB="88900" anchor="ctr"/>
                </a:tc>
                <a:extLst>
                  <a:ext uri="{0D108BD9-81ED-4DB2-BD59-A6C34878D82A}">
                    <a16:rowId xmlns:a16="http://schemas.microsoft.com/office/drawing/2014/main" xmlns="" val="643892399"/>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L08</a:t>
                      </a:r>
                    </a:p>
                  </a:txBody>
                  <a:tcPr marL="63500" marR="63500" marT="88900" marB="88900" anchor="ctr"/>
                </a:tc>
                <a:extLst>
                  <a:ext uri="{0D108BD9-81ED-4DB2-BD59-A6C34878D82A}">
                    <a16:rowId xmlns:a16="http://schemas.microsoft.com/office/drawing/2014/main" xmlns="" val="3547479478"/>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dirty="0">
                          <a:effectLst/>
                        </a:rPr>
                        <a:t>L03</a:t>
                      </a:r>
                    </a:p>
                  </a:txBody>
                  <a:tcPr marL="63500" marR="63500" marT="88900" marB="88900" anchor="ctr"/>
                </a:tc>
                <a:extLst>
                  <a:ext uri="{0D108BD9-81ED-4DB2-BD59-A6C34878D82A}">
                    <a16:rowId xmlns:a16="http://schemas.microsoft.com/office/drawing/2014/main" xmlns="" val="4015671500"/>
                  </a:ext>
                </a:extLst>
              </a:tr>
            </a:tbl>
          </a:graphicData>
        </a:graphic>
      </p:graphicFrame>
    </p:spTree>
    <p:extLst>
      <p:ext uri="{BB962C8B-B14F-4D97-AF65-F5344CB8AC3E}">
        <p14:creationId xmlns:p14="http://schemas.microsoft.com/office/powerpoint/2010/main" val="2146976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CC1CB54-A7B6-8EF1-0134-328D1759511B}"/>
              </a:ext>
            </a:extLst>
          </p:cNvPr>
          <p:cNvSpPr txBox="1"/>
          <p:nvPr/>
        </p:nvSpPr>
        <p:spPr>
          <a:xfrm>
            <a:off x="435429" y="341449"/>
            <a:ext cx="11027228" cy="1015663"/>
          </a:xfrm>
          <a:prstGeom prst="rect">
            <a:avLst/>
          </a:prstGeom>
          <a:noFill/>
        </p:spPr>
        <p:txBody>
          <a:bodyPr wrap="square">
            <a:spAutoFit/>
          </a:bodyPr>
          <a:lstStyle/>
          <a:p>
            <a:r>
              <a:rPr lang="en-US" sz="2000" dirty="0"/>
              <a:t>Query-1: Find the loan number, branch, amount of loans of greater than or equal to 100 amount.</a:t>
            </a:r>
          </a:p>
          <a:p>
            <a:endParaRPr lang="en-US" sz="2000" dirty="0"/>
          </a:p>
          <a:p>
            <a:pPr algn="ctr"/>
            <a:r>
              <a:rPr lang="en-US" sz="2000" b="1" dirty="0"/>
              <a:t>{≺l, b, a≻ | ≺l, b, a≻ ∈ loan ∧ (a ≥ 100)}</a:t>
            </a:r>
            <a:endParaRPr lang="en-IN" sz="2000" b="1" dirty="0"/>
          </a:p>
        </p:txBody>
      </p:sp>
      <p:graphicFrame>
        <p:nvGraphicFramePr>
          <p:cNvPr id="5" name="Table 4">
            <a:extLst>
              <a:ext uri="{FF2B5EF4-FFF2-40B4-BE49-F238E27FC236}">
                <a16:creationId xmlns:a16="http://schemas.microsoft.com/office/drawing/2014/main" xmlns="" id="{D81B47F3-E625-B204-D7F3-682F1883E889}"/>
              </a:ext>
            </a:extLst>
          </p:cNvPr>
          <p:cNvGraphicFramePr>
            <a:graphicFrameLocks noGrp="1"/>
          </p:cNvGraphicFramePr>
          <p:nvPr>
            <p:extLst>
              <p:ext uri="{D42A27DB-BD31-4B8C-83A1-F6EECF244321}">
                <p14:modId xmlns:p14="http://schemas.microsoft.com/office/powerpoint/2010/main" val="291649811"/>
              </p:ext>
            </p:extLst>
          </p:nvPr>
        </p:nvGraphicFramePr>
        <p:xfrm>
          <a:off x="4371253" y="1715113"/>
          <a:ext cx="3449493" cy="1264920"/>
        </p:xfrm>
        <a:graphic>
          <a:graphicData uri="http://schemas.openxmlformats.org/drawingml/2006/table">
            <a:tbl>
              <a:tblPr>
                <a:tableStyleId>{638B1855-1B75-4FBE-930C-398BA8C253C6}</a:tableStyleId>
              </a:tblPr>
              <a:tblGrid>
                <a:gridCol w="1149831">
                  <a:extLst>
                    <a:ext uri="{9D8B030D-6E8A-4147-A177-3AD203B41FA5}">
                      <a16:colId xmlns:a16="http://schemas.microsoft.com/office/drawing/2014/main" xmlns="" val="3216633045"/>
                    </a:ext>
                  </a:extLst>
                </a:gridCol>
                <a:gridCol w="1149831">
                  <a:extLst>
                    <a:ext uri="{9D8B030D-6E8A-4147-A177-3AD203B41FA5}">
                      <a16:colId xmlns:a16="http://schemas.microsoft.com/office/drawing/2014/main" xmlns="" val="3628576108"/>
                    </a:ext>
                  </a:extLst>
                </a:gridCol>
                <a:gridCol w="1149831">
                  <a:extLst>
                    <a:ext uri="{9D8B030D-6E8A-4147-A177-3AD203B41FA5}">
                      <a16:colId xmlns:a16="http://schemas.microsoft.com/office/drawing/2014/main" xmlns="" val="199834496"/>
                    </a:ext>
                  </a:extLst>
                </a:gridCol>
              </a:tblGrid>
              <a:tr h="0">
                <a:tc>
                  <a:txBody>
                    <a:bodyPr/>
                    <a:lstStyle/>
                    <a:p>
                      <a:pPr algn="ctr" fontAlgn="base"/>
                      <a:r>
                        <a:rPr lang="en-IN" sz="1400" b="1">
                          <a:effectLst/>
                        </a:rPr>
                        <a:t>Loan number</a:t>
                      </a:r>
                    </a:p>
                  </a:txBody>
                  <a:tcPr marL="50800" marR="50800" marT="50800" marB="50800" anchor="ctr"/>
                </a:tc>
                <a:tc>
                  <a:txBody>
                    <a:bodyPr/>
                    <a:lstStyle/>
                    <a:p>
                      <a:pPr algn="ctr" fontAlgn="base"/>
                      <a:r>
                        <a:rPr lang="en-IN" sz="1400" b="1">
                          <a:effectLst/>
                        </a:rPr>
                        <a:t>Branch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xmlns="" val="2331907712"/>
                  </a:ext>
                </a:extLst>
              </a:tr>
              <a:tr h="0">
                <a:tc>
                  <a:txBody>
                    <a:bodyPr/>
                    <a:lstStyle/>
                    <a:p>
                      <a:pPr algn="ctr" fontAlgn="ctr"/>
                      <a:r>
                        <a:rPr lang="en-IN" sz="1250" b="0">
                          <a:effectLst/>
                        </a:rPr>
                        <a:t>L01</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xmlns="" val="1382946546"/>
                  </a:ext>
                </a:extLst>
              </a:tr>
              <a:tr h="0">
                <a:tc>
                  <a:txBody>
                    <a:bodyPr/>
                    <a:lstStyle/>
                    <a:p>
                      <a:pPr algn="ctr" fontAlgn="ctr"/>
                      <a:r>
                        <a:rPr lang="en-IN" sz="1250" b="0">
                          <a:effectLst/>
                        </a:rPr>
                        <a:t>L03</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dirty="0">
                          <a:effectLst/>
                        </a:rPr>
                        <a:t>150</a:t>
                      </a:r>
                    </a:p>
                  </a:txBody>
                  <a:tcPr marL="63500" marR="63500" marT="88900" marB="88900" anchor="ctr"/>
                </a:tc>
                <a:extLst>
                  <a:ext uri="{0D108BD9-81ED-4DB2-BD59-A6C34878D82A}">
                    <a16:rowId xmlns:a16="http://schemas.microsoft.com/office/drawing/2014/main" xmlns="" val="16197921"/>
                  </a:ext>
                </a:extLst>
              </a:tr>
            </a:tbl>
          </a:graphicData>
        </a:graphic>
      </p:graphicFrame>
    </p:spTree>
    <p:extLst>
      <p:ext uri="{BB962C8B-B14F-4D97-AF65-F5344CB8AC3E}">
        <p14:creationId xmlns:p14="http://schemas.microsoft.com/office/powerpoint/2010/main" val="2983500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B5A48D0-9E55-B872-4DBA-56685D454013}"/>
              </a:ext>
            </a:extLst>
          </p:cNvPr>
          <p:cNvSpPr txBox="1"/>
          <p:nvPr/>
        </p:nvSpPr>
        <p:spPr>
          <a:xfrm>
            <a:off x="838200" y="403974"/>
            <a:ext cx="11027228" cy="923330"/>
          </a:xfrm>
          <a:prstGeom prst="rect">
            <a:avLst/>
          </a:prstGeom>
          <a:noFill/>
        </p:spPr>
        <p:txBody>
          <a:bodyPr wrap="square">
            <a:spAutoFit/>
          </a:bodyPr>
          <a:lstStyle/>
          <a:p>
            <a:r>
              <a:rPr lang="en-US" dirty="0"/>
              <a:t>Query-2: Find the loan number for each loan of an amount greater or equal to 150.</a:t>
            </a:r>
          </a:p>
          <a:p>
            <a:endParaRPr lang="en-US" dirty="0"/>
          </a:p>
          <a:p>
            <a:pPr algn="ctr"/>
            <a:r>
              <a:rPr lang="en-US" b="1" dirty="0"/>
              <a:t>{≺l≻ | ∃ b, a (≺l, b, a≻ ∈ loan ∧ (a ≥ 150)}</a:t>
            </a:r>
            <a:endParaRPr lang="en-IN" b="1" dirty="0"/>
          </a:p>
        </p:txBody>
      </p:sp>
      <p:graphicFrame>
        <p:nvGraphicFramePr>
          <p:cNvPr id="4" name="Table 3">
            <a:extLst>
              <a:ext uri="{FF2B5EF4-FFF2-40B4-BE49-F238E27FC236}">
                <a16:creationId xmlns:a16="http://schemas.microsoft.com/office/drawing/2014/main" xmlns="" id="{CF5E287B-A4C1-5EF7-FC14-445DA4C00368}"/>
              </a:ext>
            </a:extLst>
          </p:cNvPr>
          <p:cNvGraphicFramePr>
            <a:graphicFrameLocks noGrp="1"/>
          </p:cNvGraphicFramePr>
          <p:nvPr>
            <p:extLst>
              <p:ext uri="{D42A27DB-BD31-4B8C-83A1-F6EECF244321}">
                <p14:modId xmlns:p14="http://schemas.microsoft.com/office/powerpoint/2010/main" val="251876277"/>
              </p:ext>
            </p:extLst>
          </p:nvPr>
        </p:nvGraphicFramePr>
        <p:xfrm>
          <a:off x="4905975" y="2137477"/>
          <a:ext cx="2380050" cy="1563664"/>
        </p:xfrm>
        <a:graphic>
          <a:graphicData uri="http://schemas.openxmlformats.org/drawingml/2006/table">
            <a:tbl>
              <a:tblPr>
                <a:tableStyleId>{775DCB02-9BB8-47FD-8907-85C794F793BA}</a:tableStyleId>
              </a:tblPr>
              <a:tblGrid>
                <a:gridCol w="2380050">
                  <a:extLst>
                    <a:ext uri="{9D8B030D-6E8A-4147-A177-3AD203B41FA5}">
                      <a16:colId xmlns:a16="http://schemas.microsoft.com/office/drawing/2014/main" xmlns="" val="4227495479"/>
                    </a:ext>
                  </a:extLst>
                </a:gridCol>
              </a:tblGrid>
              <a:tr h="468344">
                <a:tc>
                  <a:txBody>
                    <a:bodyPr/>
                    <a:lstStyle/>
                    <a:p>
                      <a:pPr algn="ctr" fontAlgn="base"/>
                      <a:r>
                        <a:rPr lang="en-IN" sz="1400" b="1">
                          <a:effectLst/>
                        </a:rPr>
                        <a:t>Loan number</a:t>
                      </a:r>
                    </a:p>
                  </a:txBody>
                  <a:tcPr marL="50800" marR="50800" marT="50800" marB="50800" anchor="ctr"/>
                </a:tc>
                <a:extLst>
                  <a:ext uri="{0D108BD9-81ED-4DB2-BD59-A6C34878D82A}">
                    <a16:rowId xmlns:a16="http://schemas.microsoft.com/office/drawing/2014/main" xmlns="" val="2917148572"/>
                  </a:ext>
                </a:extLst>
              </a:tr>
              <a:tr h="547660">
                <a:tc>
                  <a:txBody>
                    <a:bodyPr/>
                    <a:lstStyle/>
                    <a:p>
                      <a:pPr algn="ctr" fontAlgn="ctr"/>
                      <a:r>
                        <a:rPr lang="en-IN" sz="1250" b="0">
                          <a:effectLst/>
                        </a:rPr>
                        <a:t>L01</a:t>
                      </a:r>
                    </a:p>
                  </a:txBody>
                  <a:tcPr marL="63500" marR="63500" marT="88900" marB="88900" anchor="ctr"/>
                </a:tc>
                <a:extLst>
                  <a:ext uri="{0D108BD9-81ED-4DB2-BD59-A6C34878D82A}">
                    <a16:rowId xmlns:a16="http://schemas.microsoft.com/office/drawing/2014/main" xmlns="" val="2519367342"/>
                  </a:ext>
                </a:extLst>
              </a:tr>
              <a:tr h="547660">
                <a:tc>
                  <a:txBody>
                    <a:bodyPr/>
                    <a:lstStyle/>
                    <a:p>
                      <a:pPr algn="ctr" fontAlgn="ctr"/>
                      <a:r>
                        <a:rPr lang="en-IN" sz="1250" b="0" dirty="0">
                          <a:effectLst/>
                        </a:rPr>
                        <a:t>L03</a:t>
                      </a:r>
                    </a:p>
                  </a:txBody>
                  <a:tcPr marL="63500" marR="63500" marT="88900" marB="88900" anchor="ctr"/>
                </a:tc>
                <a:extLst>
                  <a:ext uri="{0D108BD9-81ED-4DB2-BD59-A6C34878D82A}">
                    <a16:rowId xmlns:a16="http://schemas.microsoft.com/office/drawing/2014/main" xmlns="" val="4189328180"/>
                  </a:ext>
                </a:extLst>
              </a:tr>
            </a:tbl>
          </a:graphicData>
        </a:graphic>
      </p:graphicFrame>
    </p:spTree>
    <p:extLst>
      <p:ext uri="{BB962C8B-B14F-4D97-AF65-F5344CB8AC3E}">
        <p14:creationId xmlns:p14="http://schemas.microsoft.com/office/powerpoint/2010/main" val="13541104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3937665-2E79-B727-CC94-66EEF805F02F}"/>
              </a:ext>
            </a:extLst>
          </p:cNvPr>
          <p:cNvSpPr txBox="1"/>
          <p:nvPr/>
        </p:nvSpPr>
        <p:spPr>
          <a:xfrm>
            <a:off x="642257" y="496864"/>
            <a:ext cx="11059886" cy="1569660"/>
          </a:xfrm>
          <a:prstGeom prst="rect">
            <a:avLst/>
          </a:prstGeom>
          <a:noFill/>
        </p:spPr>
        <p:txBody>
          <a:bodyPr wrap="square">
            <a:spAutoFit/>
          </a:bodyPr>
          <a:lstStyle/>
          <a:p>
            <a:r>
              <a:rPr lang="en-US" sz="2400" dirty="0"/>
              <a:t>Query-3: Find the names of all customers having a loan at the “Main” branch and find the loan amount .</a:t>
            </a:r>
          </a:p>
          <a:p>
            <a:endParaRPr lang="en-US" sz="2400" dirty="0"/>
          </a:p>
          <a:p>
            <a:pPr algn="ctr"/>
            <a:r>
              <a:rPr lang="en-US" sz="2400" b="1" dirty="0"/>
              <a:t>{≺c, a≻ | ∃ l (≺c, l≻ ∈ borrower ∧ ∃ b (≺l, b, a≻ ∈ loan ∧ (b = “Main”)))}</a:t>
            </a:r>
            <a:endParaRPr lang="en-IN" sz="2400" b="1" dirty="0"/>
          </a:p>
        </p:txBody>
      </p:sp>
      <p:graphicFrame>
        <p:nvGraphicFramePr>
          <p:cNvPr id="5" name="Table 4">
            <a:extLst>
              <a:ext uri="{FF2B5EF4-FFF2-40B4-BE49-F238E27FC236}">
                <a16:creationId xmlns:a16="http://schemas.microsoft.com/office/drawing/2014/main" xmlns="" id="{BA249590-FDDA-C13F-8847-D5E67E49C1F1}"/>
              </a:ext>
            </a:extLst>
          </p:cNvPr>
          <p:cNvGraphicFramePr>
            <a:graphicFrameLocks noGrp="1"/>
          </p:cNvGraphicFramePr>
          <p:nvPr>
            <p:extLst>
              <p:ext uri="{D42A27DB-BD31-4B8C-83A1-F6EECF244321}">
                <p14:modId xmlns:p14="http://schemas.microsoft.com/office/powerpoint/2010/main" val="1743988437"/>
              </p:ext>
            </p:extLst>
          </p:nvPr>
        </p:nvGraphicFramePr>
        <p:xfrm>
          <a:off x="3298371" y="2924334"/>
          <a:ext cx="4144816" cy="1419860"/>
        </p:xfrm>
        <a:graphic>
          <a:graphicData uri="http://schemas.openxmlformats.org/drawingml/2006/table">
            <a:tbl>
              <a:tblPr>
                <a:tableStyleId>{284E427A-3D55-4303-BF80-6455036E1DE7}</a:tableStyleId>
              </a:tblPr>
              <a:tblGrid>
                <a:gridCol w="2072408">
                  <a:extLst>
                    <a:ext uri="{9D8B030D-6E8A-4147-A177-3AD203B41FA5}">
                      <a16:colId xmlns:a16="http://schemas.microsoft.com/office/drawing/2014/main" xmlns="" val="1503349864"/>
                    </a:ext>
                  </a:extLst>
                </a:gridCol>
                <a:gridCol w="2072408">
                  <a:extLst>
                    <a:ext uri="{9D8B030D-6E8A-4147-A177-3AD203B41FA5}">
                      <a16:colId xmlns:a16="http://schemas.microsoft.com/office/drawing/2014/main" xmlns="" val="3061419150"/>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xmlns="" val="852725800"/>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xmlns="" val="3022602420"/>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60</a:t>
                      </a:r>
                    </a:p>
                  </a:txBody>
                  <a:tcPr marL="63500" marR="63500" marT="88900" marB="88900" anchor="ctr"/>
                </a:tc>
                <a:extLst>
                  <a:ext uri="{0D108BD9-81ED-4DB2-BD59-A6C34878D82A}">
                    <a16:rowId xmlns:a16="http://schemas.microsoft.com/office/drawing/2014/main" xmlns="" val="2453845090"/>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dirty="0">
                          <a:effectLst/>
                        </a:rPr>
                        <a:t>150</a:t>
                      </a:r>
                    </a:p>
                  </a:txBody>
                  <a:tcPr marL="63500" marR="63500" marT="88900" marB="88900" anchor="ctr"/>
                </a:tc>
                <a:extLst>
                  <a:ext uri="{0D108BD9-81ED-4DB2-BD59-A6C34878D82A}">
                    <a16:rowId xmlns:a16="http://schemas.microsoft.com/office/drawing/2014/main" xmlns="" val="3060846624"/>
                  </a:ext>
                </a:extLst>
              </a:tr>
            </a:tbl>
          </a:graphicData>
        </a:graphic>
      </p:graphicFrame>
    </p:spTree>
    <p:extLst>
      <p:ext uri="{BB962C8B-B14F-4D97-AF65-F5344CB8AC3E}">
        <p14:creationId xmlns:p14="http://schemas.microsoft.com/office/powerpoint/2010/main" val="14868246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BBD4E28B-3746-CC54-AE4F-909A132C7377}"/>
              </a:ext>
            </a:extLst>
          </p:cNvPr>
          <p:cNvGraphicFramePr>
            <a:graphicFrameLocks noGrp="1"/>
          </p:cNvGraphicFramePr>
          <p:nvPr>
            <p:extLst>
              <p:ext uri="{D42A27DB-BD31-4B8C-83A1-F6EECF244321}">
                <p14:modId xmlns:p14="http://schemas.microsoft.com/office/powerpoint/2010/main" val="4261161562"/>
              </p:ext>
            </p:extLst>
          </p:nvPr>
        </p:nvGraphicFramePr>
        <p:xfrm>
          <a:off x="97969" y="108857"/>
          <a:ext cx="11974288" cy="6666798"/>
        </p:xfrm>
        <a:graphic>
          <a:graphicData uri="http://schemas.openxmlformats.org/drawingml/2006/table">
            <a:tbl>
              <a:tblPr>
                <a:tableStyleId>{35758FB7-9AC5-4552-8A53-C91805E547FA}</a:tableStyleId>
              </a:tblPr>
              <a:tblGrid>
                <a:gridCol w="2993572">
                  <a:extLst>
                    <a:ext uri="{9D8B030D-6E8A-4147-A177-3AD203B41FA5}">
                      <a16:colId xmlns:a16="http://schemas.microsoft.com/office/drawing/2014/main" xmlns="" val="1830911769"/>
                    </a:ext>
                  </a:extLst>
                </a:gridCol>
                <a:gridCol w="2993572">
                  <a:extLst>
                    <a:ext uri="{9D8B030D-6E8A-4147-A177-3AD203B41FA5}">
                      <a16:colId xmlns:a16="http://schemas.microsoft.com/office/drawing/2014/main" xmlns="" val="2605858843"/>
                    </a:ext>
                  </a:extLst>
                </a:gridCol>
                <a:gridCol w="2993572">
                  <a:extLst>
                    <a:ext uri="{9D8B030D-6E8A-4147-A177-3AD203B41FA5}">
                      <a16:colId xmlns:a16="http://schemas.microsoft.com/office/drawing/2014/main" xmlns="" val="2683413090"/>
                    </a:ext>
                  </a:extLst>
                </a:gridCol>
                <a:gridCol w="2993572">
                  <a:extLst>
                    <a:ext uri="{9D8B030D-6E8A-4147-A177-3AD203B41FA5}">
                      <a16:colId xmlns:a16="http://schemas.microsoft.com/office/drawing/2014/main" xmlns="" val="1984009935"/>
                    </a:ext>
                  </a:extLst>
                </a:gridCol>
              </a:tblGrid>
              <a:tr h="314030">
                <a:tc>
                  <a:txBody>
                    <a:bodyPr/>
                    <a:lstStyle/>
                    <a:p>
                      <a:pPr algn="ctr" fontAlgn="base"/>
                      <a:r>
                        <a:rPr lang="en-IN" sz="1100" b="1">
                          <a:effectLst/>
                        </a:rPr>
                        <a:t>S. No.</a:t>
                      </a:r>
                    </a:p>
                  </a:txBody>
                  <a:tcPr marL="12124" marR="12124" marT="20206" marB="20206" anchor="ctr"/>
                </a:tc>
                <a:tc>
                  <a:txBody>
                    <a:bodyPr/>
                    <a:lstStyle/>
                    <a:p>
                      <a:pPr algn="ctr" fontAlgn="base"/>
                      <a:r>
                        <a:rPr lang="en-IN" sz="1100" b="1">
                          <a:effectLst/>
                        </a:rPr>
                        <a:t>Basis of Comparison</a:t>
                      </a:r>
                    </a:p>
                  </a:txBody>
                  <a:tcPr marL="20206" marR="20206" marT="20206" marB="20206" anchor="ctr"/>
                </a:tc>
                <a:tc>
                  <a:txBody>
                    <a:bodyPr/>
                    <a:lstStyle/>
                    <a:p>
                      <a:pPr algn="ctr" fontAlgn="base"/>
                      <a:r>
                        <a:rPr lang="en-IN" sz="1100" b="1">
                          <a:effectLst/>
                        </a:rPr>
                        <a:t>Tuple Relational Calculus (TRC)</a:t>
                      </a:r>
                    </a:p>
                  </a:txBody>
                  <a:tcPr marL="20206" marR="20206" marT="20206" marB="20206" anchor="ctr"/>
                </a:tc>
                <a:tc>
                  <a:txBody>
                    <a:bodyPr/>
                    <a:lstStyle/>
                    <a:p>
                      <a:pPr algn="ctr" fontAlgn="base"/>
                      <a:r>
                        <a:rPr lang="en-IN" sz="1100" b="1">
                          <a:effectLst/>
                        </a:rPr>
                        <a:t>Domain Relational Calculus (DRC)</a:t>
                      </a:r>
                    </a:p>
                  </a:txBody>
                  <a:tcPr marL="20206" marR="20206" marT="20206" marB="20206" anchor="ctr"/>
                </a:tc>
                <a:extLst>
                  <a:ext uri="{0D108BD9-81ED-4DB2-BD59-A6C34878D82A}">
                    <a16:rowId xmlns:a16="http://schemas.microsoft.com/office/drawing/2014/main" xmlns="" val="3589008439"/>
                  </a:ext>
                </a:extLst>
              </a:tr>
              <a:tr h="771847">
                <a:tc>
                  <a:txBody>
                    <a:bodyPr/>
                    <a:lstStyle/>
                    <a:p>
                      <a:pPr algn="ctr" fontAlgn="ctr"/>
                      <a:r>
                        <a:rPr lang="en-IN" sz="1100" b="1">
                          <a:effectLst/>
                        </a:rPr>
                        <a:t>1.</a:t>
                      </a:r>
                      <a:endParaRPr lang="en-IN" sz="1100" b="0">
                        <a:effectLst/>
                      </a:endParaRPr>
                    </a:p>
                  </a:txBody>
                  <a:tcPr marL="20206" marR="20206" marT="28289" marB="28289" anchor="ctr"/>
                </a:tc>
                <a:tc>
                  <a:txBody>
                    <a:bodyPr/>
                    <a:lstStyle/>
                    <a:p>
                      <a:pPr algn="ctr" fontAlgn="ctr"/>
                      <a:r>
                        <a:rPr lang="en-IN" sz="1100" b="1">
                          <a:effectLst/>
                        </a:rPr>
                        <a:t>Definition</a:t>
                      </a:r>
                      <a:endParaRPr lang="en-IN" sz="1100" b="0">
                        <a:effectLst/>
                      </a:endParaRPr>
                    </a:p>
                  </a:txBody>
                  <a:tcPr marL="20206" marR="20206" marT="28289" marB="28289" anchor="ctr"/>
                </a:tc>
                <a:tc>
                  <a:txBody>
                    <a:bodyPr/>
                    <a:lstStyle/>
                    <a:p>
                      <a:pPr algn="ctr" fontAlgn="ctr"/>
                      <a:r>
                        <a:rPr lang="en-US" sz="1100" b="0">
                          <a:effectLst/>
                        </a:rPr>
                        <a:t>The Tuple Relational Calculus (TRC) is used to select tuples from a relation. The tuples with specific range values, tuples with certain attribute values, and so on can be selected.</a:t>
                      </a:r>
                    </a:p>
                  </a:txBody>
                  <a:tcPr marL="20206" marR="20206" marT="28289" marB="28289" anchor="ctr"/>
                </a:tc>
                <a:tc>
                  <a:txBody>
                    <a:bodyPr/>
                    <a:lstStyle/>
                    <a:p>
                      <a:pPr algn="ctr" fontAlgn="ctr"/>
                      <a:r>
                        <a:rPr lang="en-US" sz="1100" b="0">
                          <a:effectLst/>
                        </a:rPr>
                        <a:t>The Domain Relational Calculus (DRC) employs a list of attributes from which to choose based on the condition. It’s similar to TRC, but instead of selecting entire tuples, it selects attributes.</a:t>
                      </a:r>
                    </a:p>
                  </a:txBody>
                  <a:tcPr marL="20206" marR="20206" marT="28289" marB="28289" anchor="ctr"/>
                </a:tc>
                <a:extLst>
                  <a:ext uri="{0D108BD9-81ED-4DB2-BD59-A6C34878D82A}">
                    <a16:rowId xmlns:a16="http://schemas.microsoft.com/office/drawing/2014/main" xmlns="" val="42379920"/>
                  </a:ext>
                </a:extLst>
              </a:tr>
              <a:tr h="424948">
                <a:tc>
                  <a:txBody>
                    <a:bodyPr/>
                    <a:lstStyle/>
                    <a:p>
                      <a:pPr algn="ctr" fontAlgn="ctr"/>
                      <a:r>
                        <a:rPr lang="en-IN" sz="1100" b="1">
                          <a:effectLst/>
                        </a:rPr>
                        <a:t>2.</a:t>
                      </a:r>
                      <a:endParaRPr lang="en-IN" sz="1100" b="0">
                        <a:effectLst/>
                      </a:endParaRPr>
                    </a:p>
                  </a:txBody>
                  <a:tcPr marL="20206" marR="20206" marT="28289" marB="28289" anchor="ctr"/>
                </a:tc>
                <a:tc>
                  <a:txBody>
                    <a:bodyPr/>
                    <a:lstStyle/>
                    <a:p>
                      <a:pPr algn="ctr" fontAlgn="ctr"/>
                      <a:r>
                        <a:rPr lang="en-IN" sz="1100" b="1">
                          <a:effectLst/>
                        </a:rPr>
                        <a:t>Representation of variables</a:t>
                      </a:r>
                      <a:endParaRPr lang="en-IN" sz="1100" b="0">
                        <a:effectLst/>
                      </a:endParaRPr>
                    </a:p>
                  </a:txBody>
                  <a:tcPr marL="20206" marR="20206" marT="28289" marB="28289" anchor="ctr"/>
                </a:tc>
                <a:tc>
                  <a:txBody>
                    <a:bodyPr/>
                    <a:lstStyle/>
                    <a:p>
                      <a:pPr algn="ctr" fontAlgn="ctr"/>
                      <a:r>
                        <a:rPr lang="en-US" sz="1100" b="0">
                          <a:effectLst/>
                        </a:rPr>
                        <a:t>In TRC, the variables represent the tuples from specified relations.</a:t>
                      </a:r>
                    </a:p>
                  </a:txBody>
                  <a:tcPr marL="20206" marR="20206" marT="28289" marB="28289" anchor="ctr"/>
                </a:tc>
                <a:tc>
                  <a:txBody>
                    <a:bodyPr/>
                    <a:lstStyle/>
                    <a:p>
                      <a:pPr algn="ctr" fontAlgn="ctr"/>
                      <a:r>
                        <a:rPr lang="en-US" sz="1100" b="0">
                          <a:effectLst/>
                        </a:rPr>
                        <a:t>In DRC, the variables represent the value drawn from a specified domain.</a:t>
                      </a:r>
                    </a:p>
                  </a:txBody>
                  <a:tcPr marL="20206" marR="20206" marT="28289" marB="28289" anchor="ctr"/>
                </a:tc>
                <a:extLst>
                  <a:ext uri="{0D108BD9-81ED-4DB2-BD59-A6C34878D82A}">
                    <a16:rowId xmlns:a16="http://schemas.microsoft.com/office/drawing/2014/main" xmlns="" val="1095348503"/>
                  </a:ext>
                </a:extLst>
              </a:tr>
              <a:tr h="424948">
                <a:tc>
                  <a:txBody>
                    <a:bodyPr/>
                    <a:lstStyle/>
                    <a:p>
                      <a:pPr algn="ctr" fontAlgn="ctr"/>
                      <a:r>
                        <a:rPr lang="en-IN" sz="1100" b="1">
                          <a:effectLst/>
                        </a:rPr>
                        <a:t>3.</a:t>
                      </a:r>
                      <a:endParaRPr lang="en-IN" sz="1100" b="0">
                        <a:effectLst/>
                      </a:endParaRPr>
                    </a:p>
                  </a:txBody>
                  <a:tcPr marL="20206" marR="20206" marT="28289" marB="28289" anchor="ctr"/>
                </a:tc>
                <a:tc>
                  <a:txBody>
                    <a:bodyPr/>
                    <a:lstStyle/>
                    <a:p>
                      <a:pPr algn="ctr" fontAlgn="ctr"/>
                      <a:r>
                        <a:rPr lang="en-IN" sz="1100" b="1">
                          <a:effectLst/>
                        </a:rPr>
                        <a:t>Tuple/ Domain</a:t>
                      </a:r>
                      <a:endParaRPr lang="en-IN" sz="1100" b="0">
                        <a:effectLst/>
                      </a:endParaRPr>
                    </a:p>
                  </a:txBody>
                  <a:tcPr marL="20206" marR="20206" marT="28289" marB="28289" anchor="ctr"/>
                </a:tc>
                <a:tc>
                  <a:txBody>
                    <a:bodyPr/>
                    <a:lstStyle/>
                    <a:p>
                      <a:pPr algn="ctr" fontAlgn="ctr"/>
                      <a:r>
                        <a:rPr lang="en-US" sz="1100" b="0">
                          <a:effectLst/>
                        </a:rPr>
                        <a:t>A tuple is a single element of relation. In database terms, it is a row.</a:t>
                      </a:r>
                    </a:p>
                  </a:txBody>
                  <a:tcPr marL="20206" marR="20206" marT="28289" marB="28289" anchor="ctr"/>
                </a:tc>
                <a:tc>
                  <a:txBody>
                    <a:bodyPr/>
                    <a:lstStyle/>
                    <a:p>
                      <a:pPr algn="ctr" fontAlgn="ctr"/>
                      <a:r>
                        <a:rPr lang="en-US" sz="1100" b="0">
                          <a:effectLst/>
                        </a:rPr>
                        <a:t>A domain is equivalent to column data type and any constraints on the value of data.</a:t>
                      </a:r>
                    </a:p>
                  </a:txBody>
                  <a:tcPr marL="20206" marR="20206" marT="28289" marB="28289" anchor="ctr"/>
                </a:tc>
                <a:extLst>
                  <a:ext uri="{0D108BD9-81ED-4DB2-BD59-A6C34878D82A}">
                    <a16:rowId xmlns:a16="http://schemas.microsoft.com/office/drawing/2014/main" xmlns="" val="30768869"/>
                  </a:ext>
                </a:extLst>
              </a:tr>
              <a:tr h="418700">
                <a:tc>
                  <a:txBody>
                    <a:bodyPr/>
                    <a:lstStyle/>
                    <a:p>
                      <a:pPr algn="ctr" fontAlgn="ctr"/>
                      <a:r>
                        <a:rPr lang="en-IN" sz="1100" b="1">
                          <a:effectLst/>
                        </a:rPr>
                        <a:t>4.</a:t>
                      </a:r>
                      <a:endParaRPr lang="en-IN" sz="1100" b="0">
                        <a:effectLst/>
                      </a:endParaRPr>
                    </a:p>
                  </a:txBody>
                  <a:tcPr marL="20206" marR="20206" marT="28289" marB="28289" anchor="ctr"/>
                </a:tc>
                <a:tc>
                  <a:txBody>
                    <a:bodyPr/>
                    <a:lstStyle/>
                    <a:p>
                      <a:pPr algn="ctr" fontAlgn="ctr"/>
                      <a:r>
                        <a:rPr lang="en-IN" sz="1100" b="1">
                          <a:effectLst/>
                        </a:rPr>
                        <a:t>Filtering</a:t>
                      </a:r>
                      <a:endParaRPr lang="en-IN" sz="1100" b="0">
                        <a:effectLst/>
                      </a:endParaRPr>
                    </a:p>
                  </a:txBody>
                  <a:tcPr marL="20206" marR="20206" marT="28289" marB="28289" anchor="ctr"/>
                </a:tc>
                <a:tc>
                  <a:txBody>
                    <a:bodyPr/>
                    <a:lstStyle/>
                    <a:p>
                      <a:pPr algn="ctr" fontAlgn="ctr"/>
                      <a:r>
                        <a:rPr lang="en-US" sz="1100" b="0">
                          <a:effectLst/>
                        </a:rPr>
                        <a:t>This filtering variable uses a tuple of relations.</a:t>
                      </a:r>
                    </a:p>
                  </a:txBody>
                  <a:tcPr marL="20206" marR="20206" marT="28289" marB="28289" anchor="ctr"/>
                </a:tc>
                <a:tc>
                  <a:txBody>
                    <a:bodyPr/>
                    <a:lstStyle/>
                    <a:p>
                      <a:pPr algn="ctr" fontAlgn="ctr"/>
                      <a:r>
                        <a:rPr lang="en-US" sz="1100" b="0">
                          <a:effectLst/>
                        </a:rPr>
                        <a:t>This filtering is done based on the domain of attributes.</a:t>
                      </a:r>
                    </a:p>
                  </a:txBody>
                  <a:tcPr marL="20206" marR="20206" marT="28289" marB="28289" anchor="ctr"/>
                </a:tc>
                <a:extLst>
                  <a:ext uri="{0D108BD9-81ED-4DB2-BD59-A6C34878D82A}">
                    <a16:rowId xmlns:a16="http://schemas.microsoft.com/office/drawing/2014/main" xmlns="" val="60205534"/>
                  </a:ext>
                </a:extLst>
              </a:tr>
              <a:tr h="771847">
                <a:tc>
                  <a:txBody>
                    <a:bodyPr/>
                    <a:lstStyle/>
                    <a:p>
                      <a:pPr algn="ctr" fontAlgn="ctr"/>
                      <a:r>
                        <a:rPr lang="en-IN" sz="1100" b="1">
                          <a:effectLst/>
                        </a:rPr>
                        <a:t>5.</a:t>
                      </a:r>
                      <a:endParaRPr lang="en-IN" sz="1100" b="0">
                        <a:effectLst/>
                      </a:endParaRPr>
                    </a:p>
                  </a:txBody>
                  <a:tcPr marL="20206" marR="20206" marT="28289" marB="28289" anchor="ctr"/>
                </a:tc>
                <a:tc>
                  <a:txBody>
                    <a:bodyPr/>
                    <a:lstStyle/>
                    <a:p>
                      <a:pPr algn="ctr" fontAlgn="ctr"/>
                      <a:r>
                        <a:rPr lang="en-IN" sz="1100" b="1">
                          <a:effectLst/>
                        </a:rPr>
                        <a:t>Return Value</a:t>
                      </a:r>
                      <a:endParaRPr lang="en-IN" sz="1100" b="0">
                        <a:effectLst/>
                      </a:endParaRPr>
                    </a:p>
                  </a:txBody>
                  <a:tcPr marL="20206" marR="20206" marT="28289" marB="28289" anchor="ctr"/>
                </a:tc>
                <a:tc>
                  <a:txBody>
                    <a:bodyPr/>
                    <a:lstStyle/>
                    <a:p>
                      <a:pPr algn="ctr" fontAlgn="ctr"/>
                      <a:r>
                        <a:rPr lang="en-US" sz="1100" b="0">
                          <a:effectLst/>
                        </a:rPr>
                        <a:t>The predicate expression condition associated with the TRC is used to test every row using a tuple variable and return those tuples that met the condition.</a:t>
                      </a:r>
                    </a:p>
                  </a:txBody>
                  <a:tcPr marL="20206" marR="20206" marT="28289" marB="28289" anchor="ctr"/>
                </a:tc>
                <a:tc>
                  <a:txBody>
                    <a:bodyPr/>
                    <a:lstStyle/>
                    <a:p>
                      <a:pPr algn="ctr" fontAlgn="ctr"/>
                      <a:r>
                        <a:rPr lang="en-US" sz="1100" b="0">
                          <a:effectLst/>
                        </a:rPr>
                        <a:t>DRC takes advantage of domain variables and, based on the condition set, returns the required attribute or column that satisfies the criteria of the condition.</a:t>
                      </a:r>
                    </a:p>
                  </a:txBody>
                  <a:tcPr marL="20206" marR="20206" marT="28289" marB="28289" anchor="ctr"/>
                </a:tc>
                <a:extLst>
                  <a:ext uri="{0D108BD9-81ED-4DB2-BD59-A6C34878D82A}">
                    <a16:rowId xmlns:a16="http://schemas.microsoft.com/office/drawing/2014/main" xmlns="" val="3029445868"/>
                  </a:ext>
                </a:extLst>
              </a:tr>
              <a:tr h="418700">
                <a:tc>
                  <a:txBody>
                    <a:bodyPr/>
                    <a:lstStyle/>
                    <a:p>
                      <a:pPr algn="ctr" fontAlgn="ctr"/>
                      <a:r>
                        <a:rPr lang="en-IN" sz="1100" b="1">
                          <a:effectLst/>
                        </a:rPr>
                        <a:t>5.</a:t>
                      </a:r>
                      <a:endParaRPr lang="en-IN" sz="1100" b="0">
                        <a:effectLst/>
                      </a:endParaRPr>
                    </a:p>
                  </a:txBody>
                  <a:tcPr marL="20206" marR="20206" marT="28289" marB="28289" anchor="ctr"/>
                </a:tc>
                <a:tc>
                  <a:txBody>
                    <a:bodyPr/>
                    <a:lstStyle/>
                    <a:p>
                      <a:pPr algn="ctr" fontAlgn="ctr"/>
                      <a:r>
                        <a:rPr lang="en-IN" sz="1100" b="1">
                          <a:effectLst/>
                        </a:rPr>
                        <a:t>Membership condition</a:t>
                      </a:r>
                      <a:endParaRPr lang="en-IN" sz="1100" b="0">
                        <a:effectLst/>
                      </a:endParaRPr>
                    </a:p>
                  </a:txBody>
                  <a:tcPr marL="20206" marR="20206" marT="28289" marB="28289" anchor="ctr"/>
                </a:tc>
                <a:tc>
                  <a:txBody>
                    <a:bodyPr/>
                    <a:lstStyle/>
                    <a:p>
                      <a:pPr algn="ctr" fontAlgn="ctr"/>
                      <a:r>
                        <a:rPr lang="en-US" sz="1100" b="0">
                          <a:effectLst/>
                        </a:rPr>
                        <a:t>The query cannot be expressed using a membership condition.</a:t>
                      </a:r>
                    </a:p>
                  </a:txBody>
                  <a:tcPr marL="20206" marR="20206" marT="28289" marB="28289" anchor="ctr"/>
                </a:tc>
                <a:tc>
                  <a:txBody>
                    <a:bodyPr/>
                    <a:lstStyle/>
                    <a:p>
                      <a:pPr algn="ctr" fontAlgn="ctr"/>
                      <a:r>
                        <a:rPr lang="en-US" sz="1100" b="0">
                          <a:effectLst/>
                        </a:rPr>
                        <a:t>The query can be expressed using a membership condition.</a:t>
                      </a:r>
                    </a:p>
                  </a:txBody>
                  <a:tcPr marL="20206" marR="20206" marT="28289" marB="28289" anchor="ctr"/>
                </a:tc>
                <a:extLst>
                  <a:ext uri="{0D108BD9-81ED-4DB2-BD59-A6C34878D82A}">
                    <a16:rowId xmlns:a16="http://schemas.microsoft.com/office/drawing/2014/main" xmlns="" val="2071020282"/>
                  </a:ext>
                </a:extLst>
              </a:tr>
              <a:tr h="418700">
                <a:tc>
                  <a:txBody>
                    <a:bodyPr/>
                    <a:lstStyle/>
                    <a:p>
                      <a:pPr algn="ctr" fontAlgn="ctr"/>
                      <a:r>
                        <a:rPr lang="en-IN" sz="1100" b="1">
                          <a:effectLst/>
                        </a:rPr>
                        <a:t>6.</a:t>
                      </a:r>
                      <a:endParaRPr lang="en-IN" sz="1100" b="0">
                        <a:effectLst/>
                      </a:endParaRPr>
                    </a:p>
                  </a:txBody>
                  <a:tcPr marL="20206" marR="20206" marT="28289" marB="28289" anchor="ctr"/>
                </a:tc>
                <a:tc>
                  <a:txBody>
                    <a:bodyPr/>
                    <a:lstStyle/>
                    <a:p>
                      <a:pPr algn="ctr" fontAlgn="ctr"/>
                      <a:r>
                        <a:rPr lang="en-IN" sz="1100" b="1">
                          <a:effectLst/>
                        </a:rPr>
                        <a:t>Query Language</a:t>
                      </a:r>
                      <a:endParaRPr lang="en-IN" sz="1100" b="0">
                        <a:effectLst/>
                      </a:endParaRPr>
                    </a:p>
                  </a:txBody>
                  <a:tcPr marL="20206" marR="20206" marT="28289" marB="28289" anchor="ctr"/>
                </a:tc>
                <a:tc>
                  <a:txBody>
                    <a:bodyPr/>
                    <a:lstStyle/>
                    <a:p>
                      <a:pPr algn="ctr" fontAlgn="ctr"/>
                      <a:r>
                        <a:rPr lang="en-US" sz="1100" b="0">
                          <a:effectLst/>
                        </a:rPr>
                        <a:t>The QUEL or Query Language is a query language related to it, </a:t>
                      </a:r>
                    </a:p>
                  </a:txBody>
                  <a:tcPr marL="20206" marR="20206" marT="28289" marB="28289" anchor="ctr"/>
                </a:tc>
                <a:tc>
                  <a:txBody>
                    <a:bodyPr/>
                    <a:lstStyle/>
                    <a:p>
                      <a:pPr algn="ctr" fontAlgn="ctr"/>
                      <a:r>
                        <a:rPr lang="en-US" sz="1100" b="0">
                          <a:effectLst/>
                        </a:rPr>
                        <a:t>The QBE or Query-By-Example is query language related to it.</a:t>
                      </a:r>
                    </a:p>
                  </a:txBody>
                  <a:tcPr marL="20206" marR="20206" marT="28289" marB="28289" anchor="ctr"/>
                </a:tc>
                <a:extLst>
                  <a:ext uri="{0D108BD9-81ED-4DB2-BD59-A6C34878D82A}">
                    <a16:rowId xmlns:a16="http://schemas.microsoft.com/office/drawing/2014/main" xmlns="" val="144245540"/>
                  </a:ext>
                </a:extLst>
              </a:tr>
              <a:tr h="316909">
                <a:tc>
                  <a:txBody>
                    <a:bodyPr/>
                    <a:lstStyle/>
                    <a:p>
                      <a:pPr algn="ctr" fontAlgn="ctr"/>
                      <a:r>
                        <a:rPr lang="en-IN" sz="1100" b="1">
                          <a:effectLst/>
                        </a:rPr>
                        <a:t>7.</a:t>
                      </a:r>
                      <a:endParaRPr lang="en-IN" sz="1100" b="0">
                        <a:effectLst/>
                      </a:endParaRPr>
                    </a:p>
                  </a:txBody>
                  <a:tcPr marL="20206" marR="20206" marT="28289" marB="28289" anchor="ctr"/>
                </a:tc>
                <a:tc>
                  <a:txBody>
                    <a:bodyPr/>
                    <a:lstStyle/>
                    <a:p>
                      <a:pPr algn="ctr" fontAlgn="ctr"/>
                      <a:r>
                        <a:rPr lang="en-IN" sz="1100" b="1">
                          <a:effectLst/>
                        </a:rPr>
                        <a:t>Similarity</a:t>
                      </a:r>
                      <a:endParaRPr lang="en-IN" sz="1100" b="0">
                        <a:effectLst/>
                      </a:endParaRPr>
                    </a:p>
                  </a:txBody>
                  <a:tcPr marL="20206" marR="20206" marT="28289" marB="28289" anchor="ctr"/>
                </a:tc>
                <a:tc>
                  <a:txBody>
                    <a:bodyPr/>
                    <a:lstStyle/>
                    <a:p>
                      <a:pPr algn="ctr" fontAlgn="ctr"/>
                      <a:r>
                        <a:rPr lang="en-IN" sz="1100" b="0">
                          <a:effectLst/>
                        </a:rPr>
                        <a:t>It reflects traditional pre-relational file structures. </a:t>
                      </a:r>
                    </a:p>
                  </a:txBody>
                  <a:tcPr marL="20206" marR="20206" marT="28289" marB="28289" anchor="ctr"/>
                </a:tc>
                <a:tc>
                  <a:txBody>
                    <a:bodyPr/>
                    <a:lstStyle/>
                    <a:p>
                      <a:pPr algn="ctr" fontAlgn="ctr"/>
                      <a:r>
                        <a:rPr lang="en-US" sz="1100" b="0">
                          <a:effectLst/>
                        </a:rPr>
                        <a:t>It is more similar to logic as a modeling language.</a:t>
                      </a:r>
                    </a:p>
                  </a:txBody>
                  <a:tcPr marL="20206" marR="20206" marT="28289" marB="28289" anchor="ctr"/>
                </a:tc>
                <a:extLst>
                  <a:ext uri="{0D108BD9-81ED-4DB2-BD59-A6C34878D82A}">
                    <a16:rowId xmlns:a16="http://schemas.microsoft.com/office/drawing/2014/main" xmlns="" val="325104063"/>
                  </a:ext>
                </a:extLst>
              </a:tr>
              <a:tr h="316909">
                <a:tc>
                  <a:txBody>
                    <a:bodyPr/>
                    <a:lstStyle/>
                    <a:p>
                      <a:pPr algn="ctr" fontAlgn="ctr"/>
                      <a:r>
                        <a:rPr lang="en-IN" sz="1100" b="1">
                          <a:effectLst/>
                        </a:rPr>
                        <a:t>8.</a:t>
                      </a:r>
                      <a:endParaRPr lang="en-IN" sz="1100" b="0">
                        <a:effectLst/>
                      </a:endParaRPr>
                    </a:p>
                  </a:txBody>
                  <a:tcPr marL="20206" marR="20206" marT="28289" marB="28289" anchor="ctr"/>
                </a:tc>
                <a:tc>
                  <a:txBody>
                    <a:bodyPr/>
                    <a:lstStyle/>
                    <a:p>
                      <a:pPr algn="ctr" fontAlgn="ctr"/>
                      <a:r>
                        <a:rPr lang="en-IN" sz="1100" b="1">
                          <a:effectLst/>
                        </a:rPr>
                        <a:t>Syntax</a:t>
                      </a:r>
                      <a:endParaRPr lang="en-IN" sz="1100" b="0">
                        <a:effectLst/>
                      </a:endParaRPr>
                    </a:p>
                  </a:txBody>
                  <a:tcPr marL="20206" marR="20206" marT="28289" marB="28289" anchor="ctr"/>
                </a:tc>
                <a:tc>
                  <a:txBody>
                    <a:bodyPr/>
                    <a:lstStyle/>
                    <a:p>
                      <a:pPr algn="ctr" fontAlgn="ctr"/>
                      <a:r>
                        <a:rPr lang="fr-FR" sz="1100" b="0">
                          <a:effectLst/>
                        </a:rPr>
                        <a:t>Notation:  {T | P (T)} or {T | Condition (T)}</a:t>
                      </a:r>
                    </a:p>
                  </a:txBody>
                  <a:tcPr marL="20206" marR="20206" marT="28289" marB="28289" anchor="ctr"/>
                </a:tc>
                <a:tc>
                  <a:txBody>
                    <a:bodyPr/>
                    <a:lstStyle/>
                    <a:p>
                      <a:pPr algn="ctr" fontAlgn="ctr"/>
                      <a:r>
                        <a:rPr lang="en-IN" sz="1100" b="0">
                          <a:effectLst/>
                        </a:rPr>
                        <a:t>Notation: { a1, a2, a3, …, an | P (a1, a2, a3, …, an)}</a:t>
                      </a:r>
                    </a:p>
                  </a:txBody>
                  <a:tcPr marL="20206" marR="20206" marT="28289" marB="28289" anchor="ctr"/>
                </a:tc>
                <a:extLst>
                  <a:ext uri="{0D108BD9-81ED-4DB2-BD59-A6C34878D82A}">
                    <a16:rowId xmlns:a16="http://schemas.microsoft.com/office/drawing/2014/main" xmlns="" val="4213516397"/>
                  </a:ext>
                </a:extLst>
              </a:tr>
              <a:tr h="316909">
                <a:tc>
                  <a:txBody>
                    <a:bodyPr/>
                    <a:lstStyle/>
                    <a:p>
                      <a:pPr algn="ctr" fontAlgn="ctr"/>
                      <a:r>
                        <a:rPr lang="en-IN" sz="1100" b="1">
                          <a:effectLst/>
                        </a:rPr>
                        <a:t>9.</a:t>
                      </a:r>
                      <a:endParaRPr lang="en-IN" sz="1100" b="0">
                        <a:effectLst/>
                      </a:endParaRPr>
                    </a:p>
                  </a:txBody>
                  <a:tcPr marL="20206" marR="20206" marT="28289" marB="28289" anchor="ctr"/>
                </a:tc>
                <a:tc>
                  <a:txBody>
                    <a:bodyPr/>
                    <a:lstStyle/>
                    <a:p>
                      <a:pPr algn="ctr" fontAlgn="ctr"/>
                      <a:r>
                        <a:rPr lang="en-IN" sz="1100" b="1">
                          <a:effectLst/>
                        </a:rPr>
                        <a:t>Example</a:t>
                      </a:r>
                      <a:endParaRPr lang="en-IN" sz="1100" b="0">
                        <a:effectLst/>
                      </a:endParaRPr>
                    </a:p>
                  </a:txBody>
                  <a:tcPr marL="20206" marR="20206" marT="28289" marB="28289" anchor="ctr"/>
                </a:tc>
                <a:tc>
                  <a:txBody>
                    <a:bodyPr/>
                    <a:lstStyle/>
                    <a:p>
                      <a:pPr algn="ctr" fontAlgn="ctr"/>
                      <a:r>
                        <a:rPr lang="en-US" sz="1100" b="0">
                          <a:effectLst/>
                        </a:rPr>
                        <a:t>{T | EMPLOYEE (T) AND T.DEPT_ID = 10}</a:t>
                      </a:r>
                    </a:p>
                  </a:txBody>
                  <a:tcPr marL="20206" marR="20206" marT="28289" marB="28289" anchor="ctr"/>
                </a:tc>
                <a:tc>
                  <a:txBody>
                    <a:bodyPr/>
                    <a:lstStyle/>
                    <a:p>
                      <a:pPr algn="ctr" fontAlgn="ctr"/>
                      <a:r>
                        <a:rPr lang="en-IN" sz="1100" b="0">
                          <a:effectLst/>
                        </a:rPr>
                        <a:t>{ | &lt; EMPLOYEE &gt; DEPT_ID = 10 }</a:t>
                      </a:r>
                    </a:p>
                  </a:txBody>
                  <a:tcPr marL="20206" marR="20206" marT="28289" marB="28289" anchor="ctr"/>
                </a:tc>
                <a:extLst>
                  <a:ext uri="{0D108BD9-81ED-4DB2-BD59-A6C34878D82A}">
                    <a16:rowId xmlns:a16="http://schemas.microsoft.com/office/drawing/2014/main" xmlns="" val="2824334918"/>
                  </a:ext>
                </a:extLst>
              </a:tr>
              <a:tr h="316909">
                <a:tc>
                  <a:txBody>
                    <a:bodyPr/>
                    <a:lstStyle/>
                    <a:p>
                      <a:pPr algn="ctr" fontAlgn="ctr"/>
                      <a:r>
                        <a:rPr lang="en-IN" sz="1100" b="1">
                          <a:effectLst/>
                        </a:rPr>
                        <a:t>10.</a:t>
                      </a:r>
                      <a:endParaRPr lang="en-IN" sz="1100" b="0">
                        <a:effectLst/>
                      </a:endParaRPr>
                    </a:p>
                  </a:txBody>
                  <a:tcPr marL="20206" marR="20206" marT="28289" marB="28289" anchor="ctr"/>
                </a:tc>
                <a:tc>
                  <a:txBody>
                    <a:bodyPr/>
                    <a:lstStyle/>
                    <a:p>
                      <a:pPr algn="ctr" fontAlgn="ctr"/>
                      <a:r>
                        <a:rPr lang="en-IN" sz="1100" b="1">
                          <a:effectLst/>
                        </a:rPr>
                        <a:t>Focus </a:t>
                      </a:r>
                      <a:endParaRPr lang="en-IN" sz="1100" b="0">
                        <a:effectLst/>
                      </a:endParaRPr>
                    </a:p>
                  </a:txBody>
                  <a:tcPr marL="20206" marR="20206" marT="28289" marB="28289" anchor="ctr"/>
                </a:tc>
                <a:tc>
                  <a:txBody>
                    <a:bodyPr/>
                    <a:lstStyle/>
                    <a:p>
                      <a:pPr algn="ctr" fontAlgn="ctr"/>
                      <a:r>
                        <a:rPr lang="en-US" sz="1100" b="0">
                          <a:effectLst/>
                        </a:rPr>
                        <a:t>Focuses on selecting tuples from a relation</a:t>
                      </a:r>
                    </a:p>
                  </a:txBody>
                  <a:tcPr marL="20206" marR="20206" marT="28289" marB="28289" anchor="ctr"/>
                </a:tc>
                <a:tc>
                  <a:txBody>
                    <a:bodyPr/>
                    <a:lstStyle/>
                    <a:p>
                      <a:pPr algn="ctr" fontAlgn="ctr"/>
                      <a:r>
                        <a:rPr lang="en-US" sz="1100" b="0">
                          <a:effectLst/>
                        </a:rPr>
                        <a:t>Focuses on selecting values from a relation</a:t>
                      </a:r>
                    </a:p>
                  </a:txBody>
                  <a:tcPr marL="20206" marR="20206" marT="28289" marB="28289" anchor="ctr"/>
                </a:tc>
                <a:extLst>
                  <a:ext uri="{0D108BD9-81ED-4DB2-BD59-A6C34878D82A}">
                    <a16:rowId xmlns:a16="http://schemas.microsoft.com/office/drawing/2014/main" xmlns="" val="2067264920"/>
                  </a:ext>
                </a:extLst>
              </a:tr>
              <a:tr h="316909">
                <a:tc>
                  <a:txBody>
                    <a:bodyPr/>
                    <a:lstStyle/>
                    <a:p>
                      <a:pPr algn="ctr" fontAlgn="ctr"/>
                      <a:r>
                        <a:rPr lang="en-IN" sz="1100" b="1">
                          <a:effectLst/>
                        </a:rPr>
                        <a:t>11.</a:t>
                      </a:r>
                      <a:endParaRPr lang="en-IN" sz="1100" b="0">
                        <a:effectLst/>
                      </a:endParaRPr>
                    </a:p>
                  </a:txBody>
                  <a:tcPr marL="20206" marR="20206" marT="28289" marB="28289" anchor="ctr"/>
                </a:tc>
                <a:tc>
                  <a:txBody>
                    <a:bodyPr/>
                    <a:lstStyle/>
                    <a:p>
                      <a:pPr algn="ctr" fontAlgn="ctr"/>
                      <a:r>
                        <a:rPr lang="en-IN" sz="1100" b="1">
                          <a:effectLst/>
                        </a:rPr>
                        <a:t>Variables</a:t>
                      </a:r>
                      <a:endParaRPr lang="en-IN" sz="1100" b="0">
                        <a:effectLst/>
                      </a:endParaRPr>
                    </a:p>
                  </a:txBody>
                  <a:tcPr marL="20206" marR="20206" marT="28289" marB="28289" anchor="ctr"/>
                </a:tc>
                <a:tc>
                  <a:txBody>
                    <a:bodyPr/>
                    <a:lstStyle/>
                    <a:p>
                      <a:pPr algn="ctr" fontAlgn="ctr"/>
                      <a:r>
                        <a:rPr lang="fr-FR" sz="1100" b="0">
                          <a:effectLst/>
                        </a:rPr>
                        <a:t>Uses tuple variables (e.g., t)</a:t>
                      </a:r>
                    </a:p>
                  </a:txBody>
                  <a:tcPr marL="20206" marR="20206" marT="28289" marB="28289" anchor="ctr"/>
                </a:tc>
                <a:tc>
                  <a:txBody>
                    <a:bodyPr/>
                    <a:lstStyle/>
                    <a:p>
                      <a:pPr algn="ctr" fontAlgn="ctr"/>
                      <a:r>
                        <a:rPr lang="en-IN" sz="1100" b="0">
                          <a:effectLst/>
                        </a:rPr>
                        <a:t>Uses scalar variables (e.g., a1, a2, …, an)</a:t>
                      </a:r>
                    </a:p>
                  </a:txBody>
                  <a:tcPr marL="20206" marR="20206" marT="28289" marB="28289" anchor="ctr"/>
                </a:tc>
                <a:extLst>
                  <a:ext uri="{0D108BD9-81ED-4DB2-BD59-A6C34878D82A}">
                    <a16:rowId xmlns:a16="http://schemas.microsoft.com/office/drawing/2014/main" xmlns="" val="3932158238"/>
                  </a:ext>
                </a:extLst>
              </a:tr>
              <a:tr h="242126">
                <a:tc>
                  <a:txBody>
                    <a:bodyPr/>
                    <a:lstStyle/>
                    <a:p>
                      <a:pPr algn="ctr" fontAlgn="ctr"/>
                      <a:r>
                        <a:rPr lang="en-IN" sz="1100" b="1">
                          <a:effectLst/>
                        </a:rPr>
                        <a:t>12.</a:t>
                      </a:r>
                      <a:endParaRPr lang="en-IN" sz="1100" b="0">
                        <a:effectLst/>
                      </a:endParaRPr>
                    </a:p>
                  </a:txBody>
                  <a:tcPr marL="20206" marR="20206" marT="28289" marB="28289" anchor="ctr"/>
                </a:tc>
                <a:tc>
                  <a:txBody>
                    <a:bodyPr/>
                    <a:lstStyle/>
                    <a:p>
                      <a:pPr algn="ctr" fontAlgn="ctr"/>
                      <a:r>
                        <a:rPr lang="en-IN" sz="1100" b="1">
                          <a:effectLst/>
                        </a:rPr>
                        <a:t>Expressiveness</a:t>
                      </a:r>
                      <a:endParaRPr lang="en-IN" sz="1100" b="0">
                        <a:effectLst/>
                      </a:endParaRPr>
                    </a:p>
                  </a:txBody>
                  <a:tcPr marL="20206" marR="20206" marT="28289" marB="28289" anchor="ctr"/>
                </a:tc>
                <a:tc>
                  <a:txBody>
                    <a:bodyPr/>
                    <a:lstStyle/>
                    <a:p>
                      <a:pPr algn="ctr" fontAlgn="ctr"/>
                      <a:r>
                        <a:rPr lang="en-IN" sz="1100" b="0">
                          <a:effectLst/>
                        </a:rPr>
                        <a:t>Less expressive</a:t>
                      </a:r>
                    </a:p>
                  </a:txBody>
                  <a:tcPr marL="20206" marR="20206" marT="28289" marB="28289" anchor="ctr"/>
                </a:tc>
                <a:tc>
                  <a:txBody>
                    <a:bodyPr/>
                    <a:lstStyle/>
                    <a:p>
                      <a:pPr algn="ctr" fontAlgn="ctr"/>
                      <a:r>
                        <a:rPr lang="en-IN" sz="1100" b="0">
                          <a:effectLst/>
                        </a:rPr>
                        <a:t>More expressive</a:t>
                      </a:r>
                    </a:p>
                  </a:txBody>
                  <a:tcPr marL="20206" marR="20206" marT="28289" marB="28289" anchor="ctr"/>
                </a:tc>
                <a:extLst>
                  <a:ext uri="{0D108BD9-81ED-4DB2-BD59-A6C34878D82A}">
                    <a16:rowId xmlns:a16="http://schemas.microsoft.com/office/drawing/2014/main" xmlns="" val="277015851"/>
                  </a:ext>
                </a:extLst>
              </a:tr>
              <a:tr h="316909">
                <a:tc>
                  <a:txBody>
                    <a:bodyPr/>
                    <a:lstStyle/>
                    <a:p>
                      <a:pPr algn="ctr" fontAlgn="ctr"/>
                      <a:r>
                        <a:rPr lang="en-IN" sz="1100" b="1">
                          <a:effectLst/>
                        </a:rPr>
                        <a:t>13.</a:t>
                      </a:r>
                      <a:endParaRPr lang="en-IN" sz="1100" b="0">
                        <a:effectLst/>
                      </a:endParaRPr>
                    </a:p>
                  </a:txBody>
                  <a:tcPr marL="20206" marR="20206" marT="28289" marB="28289" anchor="ctr"/>
                </a:tc>
                <a:tc>
                  <a:txBody>
                    <a:bodyPr/>
                    <a:lstStyle/>
                    <a:p>
                      <a:pPr algn="ctr" fontAlgn="ctr"/>
                      <a:r>
                        <a:rPr lang="en-IN" sz="1100" b="1">
                          <a:effectLst/>
                        </a:rPr>
                        <a:t>Ease of use </a:t>
                      </a:r>
                      <a:endParaRPr lang="en-IN" sz="1100" b="0">
                        <a:effectLst/>
                      </a:endParaRPr>
                    </a:p>
                  </a:txBody>
                  <a:tcPr marL="20206" marR="20206" marT="28289" marB="28289" anchor="ctr"/>
                </a:tc>
                <a:tc>
                  <a:txBody>
                    <a:bodyPr/>
                    <a:lstStyle/>
                    <a:p>
                      <a:pPr algn="ctr" fontAlgn="ctr"/>
                      <a:r>
                        <a:rPr lang="en-US" sz="1100" b="0">
                          <a:effectLst/>
                        </a:rPr>
                        <a:t>Easier to use for simple queries.</a:t>
                      </a:r>
                    </a:p>
                  </a:txBody>
                  <a:tcPr marL="20206" marR="20206" marT="28289" marB="28289" anchor="ctr"/>
                </a:tc>
                <a:tc>
                  <a:txBody>
                    <a:bodyPr/>
                    <a:lstStyle/>
                    <a:p>
                      <a:pPr algn="ctr" fontAlgn="ctr"/>
                      <a:r>
                        <a:rPr lang="en-US" sz="1100" b="0">
                          <a:effectLst/>
                        </a:rPr>
                        <a:t>More difficult to use for simple queries.</a:t>
                      </a:r>
                    </a:p>
                  </a:txBody>
                  <a:tcPr marL="20206" marR="20206" marT="28289" marB="28289" anchor="ctr"/>
                </a:tc>
                <a:extLst>
                  <a:ext uri="{0D108BD9-81ED-4DB2-BD59-A6C34878D82A}">
                    <a16:rowId xmlns:a16="http://schemas.microsoft.com/office/drawing/2014/main" xmlns="" val="4119768771"/>
                  </a:ext>
                </a:extLst>
              </a:tr>
              <a:tr h="532986">
                <a:tc>
                  <a:txBody>
                    <a:bodyPr/>
                    <a:lstStyle/>
                    <a:p>
                      <a:pPr algn="ctr" fontAlgn="ctr"/>
                      <a:r>
                        <a:rPr lang="en-IN" sz="1100" b="1">
                          <a:effectLst/>
                        </a:rPr>
                        <a:t>14.</a:t>
                      </a:r>
                      <a:endParaRPr lang="en-IN" sz="1100" b="0">
                        <a:effectLst/>
                      </a:endParaRPr>
                    </a:p>
                  </a:txBody>
                  <a:tcPr marL="20206" marR="20206" marT="28289" marB="28289" anchor="ctr"/>
                </a:tc>
                <a:tc>
                  <a:txBody>
                    <a:bodyPr/>
                    <a:lstStyle/>
                    <a:p>
                      <a:pPr algn="ctr" fontAlgn="ctr"/>
                      <a:r>
                        <a:rPr lang="en-IN" sz="1100" b="1">
                          <a:effectLst/>
                        </a:rPr>
                        <a:t>Use case </a:t>
                      </a:r>
                      <a:endParaRPr lang="en-IN" sz="1100" b="0">
                        <a:effectLst/>
                      </a:endParaRPr>
                    </a:p>
                  </a:txBody>
                  <a:tcPr marL="20206" marR="20206" marT="28289" marB="28289" anchor="ctr"/>
                </a:tc>
                <a:tc>
                  <a:txBody>
                    <a:bodyPr/>
                    <a:lstStyle/>
                    <a:p>
                      <a:pPr algn="ctr" fontAlgn="ctr"/>
                      <a:r>
                        <a:rPr lang="en-US" sz="1100" b="0">
                          <a:effectLst/>
                        </a:rPr>
                        <a:t>Useful for selecting tuples that satisfy a certain condition or for retrieving a subset of a relation.</a:t>
                      </a:r>
                    </a:p>
                  </a:txBody>
                  <a:tcPr marL="20206" marR="20206" marT="28289" marB="28289" anchor="ctr"/>
                </a:tc>
                <a:tc>
                  <a:txBody>
                    <a:bodyPr/>
                    <a:lstStyle/>
                    <a:p>
                      <a:pPr algn="ctr" fontAlgn="ctr"/>
                      <a:r>
                        <a:rPr lang="en-US" sz="1100" b="0" dirty="0">
                          <a:effectLst/>
                        </a:rPr>
                        <a:t>Useful for selecting specific values or for constructing more complex queries that involve multiple relations.</a:t>
                      </a:r>
                    </a:p>
                  </a:txBody>
                  <a:tcPr marL="20206" marR="20206" marT="28289" marB="28289" anchor="ctr"/>
                </a:tc>
                <a:extLst>
                  <a:ext uri="{0D108BD9-81ED-4DB2-BD59-A6C34878D82A}">
                    <a16:rowId xmlns:a16="http://schemas.microsoft.com/office/drawing/2014/main" xmlns="" val="711029946"/>
                  </a:ext>
                </a:extLst>
              </a:tr>
            </a:tbl>
          </a:graphicData>
        </a:graphic>
      </p:graphicFrame>
    </p:spTree>
    <p:extLst>
      <p:ext uri="{BB962C8B-B14F-4D97-AF65-F5344CB8AC3E}">
        <p14:creationId xmlns:p14="http://schemas.microsoft.com/office/powerpoint/2010/main" val="528393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2A839CE-127F-748A-A174-3825055DB652}"/>
              </a:ext>
            </a:extLst>
          </p:cNvPr>
          <p:cNvSpPr txBox="1"/>
          <p:nvPr/>
        </p:nvSpPr>
        <p:spPr>
          <a:xfrm>
            <a:off x="1436914" y="359230"/>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6F9ADA5E-B548-2CC4-3858-D72D001798EC}"/>
              </a:ext>
            </a:extLst>
          </p:cNvPr>
          <p:cNvSpPr txBox="1"/>
          <p:nvPr/>
        </p:nvSpPr>
        <p:spPr>
          <a:xfrm>
            <a:off x="710294" y="3513338"/>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Tree>
    <p:extLst>
      <p:ext uri="{BB962C8B-B14F-4D97-AF65-F5344CB8AC3E}">
        <p14:creationId xmlns:p14="http://schemas.microsoft.com/office/powerpoint/2010/main" val="36955930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2A839CE-127F-748A-A174-3825055DB652}"/>
              </a:ext>
            </a:extLst>
          </p:cNvPr>
          <p:cNvSpPr txBox="1"/>
          <p:nvPr/>
        </p:nvSpPr>
        <p:spPr>
          <a:xfrm>
            <a:off x="1436913" y="359230"/>
            <a:ext cx="9798645"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6F9ADA5E-B548-2CC4-3858-D72D001798EC}"/>
              </a:ext>
            </a:extLst>
          </p:cNvPr>
          <p:cNvSpPr txBox="1"/>
          <p:nvPr/>
        </p:nvSpPr>
        <p:spPr>
          <a:xfrm>
            <a:off x="2791342" y="3088574"/>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
        <p:nvSpPr>
          <p:cNvPr id="7" name="TextBox 6">
            <a:extLst>
              <a:ext uri="{FF2B5EF4-FFF2-40B4-BE49-F238E27FC236}">
                <a16:creationId xmlns:a16="http://schemas.microsoft.com/office/drawing/2014/main" xmlns="" id="{EDCAF935-27B0-5798-7E07-A4E629D9CFEE}"/>
              </a:ext>
            </a:extLst>
          </p:cNvPr>
          <p:cNvSpPr txBox="1"/>
          <p:nvPr/>
        </p:nvSpPr>
        <p:spPr>
          <a:xfrm>
            <a:off x="6667878" y="3457906"/>
            <a:ext cx="5345445" cy="461665"/>
          </a:xfrm>
          <a:prstGeom prst="rect">
            <a:avLst/>
          </a:prstGeom>
          <a:noFill/>
        </p:spPr>
        <p:txBody>
          <a:bodyPr wrap="square">
            <a:spAutoFit/>
          </a:bodyPr>
          <a:lstStyle/>
          <a:p>
            <a:r>
              <a:rPr lang="en-US" sz="2400" b="0" i="0" dirty="0">
                <a:solidFill>
                  <a:srgbClr val="222222"/>
                </a:solidFill>
                <a:effectLst/>
                <a:latin typeface="book antiqua" panose="02040602050305030304" pitchFamily="18" charset="0"/>
              </a:rPr>
              <a:t>σ </a:t>
            </a:r>
            <a:r>
              <a:rPr lang="en-US" sz="2400" b="0" i="1" baseline="-25000" dirty="0">
                <a:solidFill>
                  <a:srgbClr val="222222"/>
                </a:solidFill>
                <a:effectLst/>
                <a:latin typeface="book antiqua" panose="02040602050305030304" pitchFamily="18" charset="0"/>
              </a:rPr>
              <a:t>destination = “New Delhi”</a:t>
            </a:r>
            <a:r>
              <a:rPr lang="en-US" sz="2400" b="0" i="0" baseline="-25000" dirty="0">
                <a:solidFill>
                  <a:srgbClr val="222222"/>
                </a:solidFill>
                <a:effectLst/>
                <a:latin typeface="book antiqua" panose="02040602050305030304" pitchFamily="18" charset="0"/>
              </a:rPr>
              <a:t> </a:t>
            </a:r>
            <a:r>
              <a:rPr lang="en-US" sz="2400" b="0" i="0" dirty="0">
                <a:solidFill>
                  <a:srgbClr val="222222"/>
                </a:solidFill>
                <a:effectLst/>
                <a:latin typeface="book antiqua" panose="02040602050305030304" pitchFamily="18" charset="0"/>
              </a:rPr>
              <a:t>(flight)</a:t>
            </a:r>
            <a:endParaRPr lang="en-IN" sz="2400" dirty="0"/>
          </a:p>
        </p:txBody>
      </p:sp>
      <p:sp>
        <p:nvSpPr>
          <p:cNvPr id="2" name="Rectangle 1"/>
          <p:cNvSpPr/>
          <p:nvPr/>
        </p:nvSpPr>
        <p:spPr>
          <a:xfrm>
            <a:off x="277873" y="3457906"/>
            <a:ext cx="6723050" cy="369332"/>
          </a:xfrm>
          <a:prstGeom prst="rect">
            <a:avLst/>
          </a:prstGeom>
        </p:spPr>
        <p:txBody>
          <a:bodyPr wrap="square">
            <a:spAutoFit/>
          </a:bodyPr>
          <a:lstStyle/>
          <a:p>
            <a:r>
              <a:rPr lang="en-US" dirty="0"/>
              <a:t>SELECT * FROM flight WHERE </a:t>
            </a:r>
            <a:r>
              <a:rPr lang="en-US" dirty="0" err="1"/>
              <a:t>dest</a:t>
            </a:r>
            <a:r>
              <a:rPr lang="en-US" dirty="0"/>
              <a:t> = 'New Delhi';</a:t>
            </a:r>
            <a:endParaRPr lang="en-IN" dirty="0"/>
          </a:p>
        </p:txBody>
      </p:sp>
      <p:sp>
        <p:nvSpPr>
          <p:cNvPr id="4" name="Rectangle 3"/>
          <p:cNvSpPr/>
          <p:nvPr/>
        </p:nvSpPr>
        <p:spPr>
          <a:xfrm>
            <a:off x="2139701" y="4063075"/>
            <a:ext cx="8044824" cy="523220"/>
          </a:xfrm>
          <a:prstGeom prst="rect">
            <a:avLst/>
          </a:prstGeom>
        </p:spPr>
        <p:txBody>
          <a:bodyPr wrap="square">
            <a:spAutoFit/>
          </a:bodyPr>
          <a:lstStyle/>
          <a:p>
            <a:r>
              <a:rPr lang="en-IN" sz="2800" dirty="0"/>
              <a:t>{ t | t ∈ flight ∧ t[</a:t>
            </a:r>
            <a:r>
              <a:rPr lang="en-IN" sz="2800" dirty="0" err="1"/>
              <a:t>dest</a:t>
            </a:r>
            <a:r>
              <a:rPr lang="en-IN" sz="2800" dirty="0"/>
              <a:t>] = 'New Delhi' }</a:t>
            </a:r>
          </a:p>
        </p:txBody>
      </p:sp>
      <p:sp>
        <p:nvSpPr>
          <p:cNvPr id="6" name="Rectangle 5"/>
          <p:cNvSpPr/>
          <p:nvPr/>
        </p:nvSpPr>
        <p:spPr>
          <a:xfrm>
            <a:off x="1555408" y="4927137"/>
            <a:ext cx="8573309" cy="523220"/>
          </a:xfrm>
          <a:prstGeom prst="rect">
            <a:avLst/>
          </a:prstGeom>
        </p:spPr>
        <p:txBody>
          <a:bodyPr wrap="none">
            <a:spAutoFit/>
          </a:bodyPr>
          <a:lstStyle/>
          <a:p>
            <a:r>
              <a:rPr lang="en-US" sz="2800" dirty="0"/>
              <a:t>{ &lt;f, d, t, s, ds&gt; | &lt;f, d, t, s, ds&gt; ∈ flight ∧ ds = 'New Delhi' }</a:t>
            </a:r>
            <a:endParaRPr lang="en-IN" sz="2800" dirty="0"/>
          </a:p>
        </p:txBody>
      </p:sp>
    </p:spTree>
    <p:extLst>
      <p:ext uri="{BB962C8B-B14F-4D97-AF65-F5344CB8AC3E}">
        <p14:creationId xmlns:p14="http://schemas.microsoft.com/office/powerpoint/2010/main" val="36955930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5141440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293241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5" name="TextBox 4">
            <a:extLst>
              <a:ext uri="{FF2B5EF4-FFF2-40B4-BE49-F238E27FC236}">
                <a16:creationId xmlns:a16="http://schemas.microsoft.com/office/drawing/2014/main" xmlns="" id="{42BDC7C2-365C-5855-E3BC-4C8FF081FADA}"/>
              </a:ext>
            </a:extLst>
          </p:cNvPr>
          <p:cNvSpPr txBox="1"/>
          <p:nvPr/>
        </p:nvSpPr>
        <p:spPr>
          <a:xfrm>
            <a:off x="8048115" y="3291154"/>
            <a:ext cx="6101442" cy="369332"/>
          </a:xfrm>
          <a:prstGeom prst="rect">
            <a:avLst/>
          </a:prstGeom>
          <a:noFill/>
        </p:spPr>
        <p:txBody>
          <a:bodyPr wrap="square">
            <a:spAutoFit/>
          </a:bodyPr>
          <a:lstStyle/>
          <a:p>
            <a:r>
              <a:rPr lang="en-US" b="0" i="0" dirty="0" smtClean="0">
                <a:solidFill>
                  <a:srgbClr val="222222"/>
                </a:solidFill>
                <a:effectLst/>
                <a:latin typeface="book antiqua" panose="02040602050305030304" pitchFamily="18" charset="0"/>
              </a:rPr>
              <a:t>σ </a:t>
            </a:r>
            <a:r>
              <a:rPr lang="en-US" b="0" i="1" baseline="-25000" dirty="0" err="1" smtClean="0">
                <a:solidFill>
                  <a:srgbClr val="222222"/>
                </a:solidFill>
                <a:effectLst/>
                <a:latin typeface="book antiqua" panose="02040602050305030304" pitchFamily="18" charset="0"/>
              </a:rPr>
              <a:t>src</a:t>
            </a:r>
            <a:r>
              <a:rPr lang="en-US" b="0" i="1" baseline="-25000" dirty="0" smtClean="0">
                <a:solidFill>
                  <a:srgbClr val="222222"/>
                </a:solidFill>
                <a:effectLst/>
                <a:latin typeface="book antiqua" panose="02040602050305030304" pitchFamily="18" charset="0"/>
              </a:rPr>
              <a:t> = “Chennai” ^ </a:t>
            </a:r>
            <a:r>
              <a:rPr lang="en-US" b="0" i="1" baseline="-25000" dirty="0" err="1" smtClean="0">
                <a:solidFill>
                  <a:srgbClr val="222222"/>
                </a:solidFill>
                <a:effectLst/>
                <a:latin typeface="book antiqua" panose="02040602050305030304" pitchFamily="18" charset="0"/>
              </a:rPr>
              <a:t>dest</a:t>
            </a:r>
            <a:r>
              <a:rPr lang="en-US" b="0" i="1" baseline="-25000" dirty="0" smtClean="0">
                <a:solidFill>
                  <a:srgbClr val="222222"/>
                </a:solidFill>
                <a:effectLst/>
                <a:latin typeface="book antiqua" panose="02040602050305030304" pitchFamily="18" charset="0"/>
              </a:rPr>
              <a:t> = “New Delhi”</a:t>
            </a:r>
            <a:r>
              <a:rPr lang="en-US" b="0" i="0" dirty="0" smtClean="0">
                <a:solidFill>
                  <a:srgbClr val="222222"/>
                </a:solidFill>
                <a:effectLst/>
                <a:latin typeface="book antiqua" panose="02040602050305030304" pitchFamily="18" charset="0"/>
              </a:rPr>
              <a:t> (flight)</a:t>
            </a:r>
            <a:endParaRPr lang="en-IN"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10381684"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2" name="Rectangle 1"/>
          <p:cNvSpPr/>
          <p:nvPr/>
        </p:nvSpPr>
        <p:spPr>
          <a:xfrm>
            <a:off x="569541" y="3321932"/>
            <a:ext cx="6577493" cy="338554"/>
          </a:xfrm>
          <a:prstGeom prst="rect">
            <a:avLst/>
          </a:prstGeom>
        </p:spPr>
        <p:txBody>
          <a:bodyPr wrap="square">
            <a:spAutoFit/>
          </a:bodyPr>
          <a:lstStyle/>
          <a:p>
            <a:r>
              <a:rPr lang="en-US" sz="1600" dirty="0"/>
              <a:t>SELECT * FROM flight WHERE </a:t>
            </a:r>
            <a:r>
              <a:rPr lang="en-US" sz="1600" dirty="0" err="1"/>
              <a:t>src</a:t>
            </a:r>
            <a:r>
              <a:rPr lang="en-US" sz="1600" dirty="0"/>
              <a:t> = 'Chennai' AND </a:t>
            </a:r>
            <a:r>
              <a:rPr lang="en-US" sz="1600" dirty="0" err="1"/>
              <a:t>dest</a:t>
            </a:r>
            <a:r>
              <a:rPr lang="en-US" sz="1600" dirty="0"/>
              <a:t> = 'New Delhi';</a:t>
            </a:r>
            <a:endParaRPr lang="en-IN" sz="1600" dirty="0"/>
          </a:p>
        </p:txBody>
      </p:sp>
      <p:sp>
        <p:nvSpPr>
          <p:cNvPr id="4" name="Rectangle 3"/>
          <p:cNvSpPr/>
          <p:nvPr/>
        </p:nvSpPr>
        <p:spPr>
          <a:xfrm>
            <a:off x="2288265" y="3927507"/>
            <a:ext cx="7648312" cy="523220"/>
          </a:xfrm>
          <a:prstGeom prst="rect">
            <a:avLst/>
          </a:prstGeom>
        </p:spPr>
        <p:txBody>
          <a:bodyPr wrap="none">
            <a:spAutoFit/>
          </a:bodyPr>
          <a:lstStyle/>
          <a:p>
            <a:r>
              <a:rPr lang="en-IN" sz="2800" dirty="0"/>
              <a:t>{</a:t>
            </a:r>
            <a:r>
              <a:rPr lang="en-IN" sz="2800" dirty="0" err="1"/>
              <a:t>t∣t∈flight</a:t>
            </a:r>
            <a:r>
              <a:rPr lang="en-IN" sz="2800" dirty="0"/>
              <a:t> ∧ t[</a:t>
            </a:r>
            <a:r>
              <a:rPr lang="en-IN" sz="2800" dirty="0" err="1"/>
              <a:t>src</a:t>
            </a:r>
            <a:r>
              <a:rPr lang="en-IN" sz="2800" dirty="0"/>
              <a:t>]=′Chennai′ ∧ t[</a:t>
            </a:r>
            <a:r>
              <a:rPr lang="en-IN" sz="2800" dirty="0" err="1"/>
              <a:t>dest</a:t>
            </a:r>
            <a:r>
              <a:rPr lang="en-IN" sz="2800" dirty="0"/>
              <a:t>]=′</a:t>
            </a:r>
            <a:r>
              <a:rPr lang="en-IN" sz="2800" dirty="0" err="1"/>
              <a:t>NewDelhi</a:t>
            </a:r>
            <a:r>
              <a:rPr lang="en-IN" sz="2800" dirty="0"/>
              <a:t>′}</a:t>
            </a:r>
          </a:p>
        </p:txBody>
      </p:sp>
      <p:sp>
        <p:nvSpPr>
          <p:cNvPr id="6" name="Rectangle 5"/>
          <p:cNvSpPr/>
          <p:nvPr/>
        </p:nvSpPr>
        <p:spPr>
          <a:xfrm>
            <a:off x="1835458" y="4947010"/>
            <a:ext cx="8954054" cy="523220"/>
          </a:xfrm>
          <a:prstGeom prst="rect">
            <a:avLst/>
          </a:prstGeom>
        </p:spPr>
        <p:txBody>
          <a:bodyPr wrap="none">
            <a:spAutoFit/>
          </a:bodyPr>
          <a:lstStyle/>
          <a:p>
            <a:r>
              <a:rPr lang="en-IN" sz="2800" dirty="0"/>
              <a:t>{⟨</a:t>
            </a:r>
            <a:r>
              <a:rPr lang="en-IN" sz="2800" dirty="0" err="1"/>
              <a:t>f,d,t,s,ds</a:t>
            </a:r>
            <a:r>
              <a:rPr lang="en-IN" sz="2800" dirty="0"/>
              <a:t>⟩∣⟨</a:t>
            </a:r>
            <a:r>
              <a:rPr lang="en-IN" sz="2800" dirty="0" err="1"/>
              <a:t>f,d,t,s,ds</a:t>
            </a:r>
            <a:r>
              <a:rPr lang="en-IN" sz="2800" dirty="0"/>
              <a:t>⟩∈flight ∧ s=′Chennai′ ∧ ds=′</a:t>
            </a:r>
            <a:r>
              <a:rPr lang="en-IN" sz="2800" dirty="0" err="1"/>
              <a:t>NewDelhi</a:t>
            </a:r>
            <a:r>
              <a:rPr lang="en-IN" sz="2800" dirty="0"/>
              <a:t>′}</a:t>
            </a:r>
          </a:p>
        </p:txBody>
      </p:sp>
    </p:spTree>
    <p:extLst>
      <p:ext uri="{BB962C8B-B14F-4D97-AF65-F5344CB8AC3E}">
        <p14:creationId xmlns:p14="http://schemas.microsoft.com/office/powerpoint/2010/main" val="35141440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2944396"/>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49" y="402599"/>
            <a:ext cx="10549849"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0545162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1" y="2944396"/>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49" y="402599"/>
            <a:ext cx="10549849"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2" name="Rectangle 1"/>
          <p:cNvSpPr/>
          <p:nvPr/>
        </p:nvSpPr>
        <p:spPr>
          <a:xfrm>
            <a:off x="569540" y="3860971"/>
            <a:ext cx="10949798" cy="307777"/>
          </a:xfrm>
          <a:prstGeom prst="rect">
            <a:avLst/>
          </a:prstGeom>
        </p:spPr>
        <p:txBody>
          <a:bodyPr wrap="square">
            <a:spAutoFit/>
          </a:bodyPr>
          <a:lstStyle/>
          <a:p>
            <a:r>
              <a:rPr lang="en-US" sz="1400" dirty="0"/>
              <a:t>SELECT </a:t>
            </a:r>
            <a:r>
              <a:rPr lang="en-US" sz="1400" dirty="0" err="1"/>
              <a:t>b.fid</a:t>
            </a:r>
            <a:r>
              <a:rPr lang="en-US" sz="1400" dirty="0"/>
              <a:t> FROM booking b JOIN flight f ON </a:t>
            </a:r>
            <a:r>
              <a:rPr lang="en-US" sz="1400" dirty="0" err="1"/>
              <a:t>b.fid</a:t>
            </a:r>
            <a:r>
              <a:rPr lang="en-US" sz="1400" dirty="0"/>
              <a:t> = </a:t>
            </a:r>
            <a:r>
              <a:rPr lang="en-US" sz="1400" dirty="0" err="1"/>
              <a:t>f.fid</a:t>
            </a:r>
            <a:r>
              <a:rPr lang="en-US" sz="1400" dirty="0"/>
              <a:t> WHERE </a:t>
            </a:r>
            <a:r>
              <a:rPr lang="en-US" sz="1400" dirty="0" err="1"/>
              <a:t>b.pid</a:t>
            </a:r>
            <a:r>
              <a:rPr lang="en-US" sz="1400" dirty="0"/>
              <a:t> = 123 AND </a:t>
            </a:r>
            <a:r>
              <a:rPr lang="en-US" sz="1400" dirty="0" err="1"/>
              <a:t>f.dest</a:t>
            </a:r>
            <a:r>
              <a:rPr lang="en-US" sz="1400" dirty="0"/>
              <a:t> = 'Chennai' AND </a:t>
            </a:r>
            <a:r>
              <a:rPr lang="en-US" sz="1400" dirty="0" err="1"/>
              <a:t>b.fdate</a:t>
            </a:r>
            <a:r>
              <a:rPr lang="en-US" sz="1400" dirty="0"/>
              <a:t> &lt; '2020-11-06';</a:t>
            </a:r>
            <a:endParaRPr lang="en-IN" sz="1400" dirty="0"/>
          </a:p>
        </p:txBody>
      </p:sp>
      <p:sp>
        <p:nvSpPr>
          <p:cNvPr id="5" name="Rectangle 4"/>
          <p:cNvSpPr/>
          <p:nvPr/>
        </p:nvSpPr>
        <p:spPr>
          <a:xfrm>
            <a:off x="569540" y="4168748"/>
            <a:ext cx="9112470" cy="338554"/>
          </a:xfrm>
          <a:prstGeom prst="rect">
            <a:avLst/>
          </a:prstGeom>
        </p:spPr>
        <p:txBody>
          <a:bodyPr wrap="square">
            <a:spAutoFit/>
          </a:bodyPr>
          <a:lstStyle/>
          <a:p>
            <a:r>
              <a:rPr lang="el-GR" sz="1600" dirty="0"/>
              <a:t>Π</a:t>
            </a:r>
            <a:r>
              <a:rPr lang="en-IN" sz="1100" dirty="0"/>
              <a:t>fid​</a:t>
            </a:r>
            <a:r>
              <a:rPr lang="en-IN" sz="1600" dirty="0"/>
              <a:t>(</a:t>
            </a:r>
            <a:r>
              <a:rPr lang="el-GR" sz="1600" dirty="0"/>
              <a:t>σ</a:t>
            </a:r>
            <a:r>
              <a:rPr lang="en-IN" sz="1050" dirty="0" err="1"/>
              <a:t>pid</a:t>
            </a:r>
            <a:r>
              <a:rPr lang="en-IN" sz="1050" dirty="0"/>
              <a:t>=123 ∧ </a:t>
            </a:r>
            <a:r>
              <a:rPr lang="en-IN" sz="1050" dirty="0" err="1"/>
              <a:t>dest</a:t>
            </a:r>
            <a:r>
              <a:rPr lang="en-IN" sz="1050" dirty="0"/>
              <a:t>=′Chennai′ ∧ </a:t>
            </a:r>
            <a:r>
              <a:rPr lang="en-IN" sz="1050" dirty="0" err="1"/>
              <a:t>fdate</a:t>
            </a:r>
            <a:r>
              <a:rPr lang="en-IN" sz="1050" dirty="0"/>
              <a:t>&lt;′06/11/2020′​</a:t>
            </a:r>
            <a:r>
              <a:rPr lang="en-IN" sz="1600" dirty="0"/>
              <a:t>(</a:t>
            </a:r>
            <a:r>
              <a:rPr lang="en-IN" sz="1600" dirty="0" err="1"/>
              <a:t>booking⋈flight</a:t>
            </a:r>
            <a:r>
              <a:rPr lang="en-IN" sz="1600" dirty="0"/>
              <a:t>))</a:t>
            </a:r>
          </a:p>
        </p:txBody>
      </p:sp>
      <p:sp>
        <p:nvSpPr>
          <p:cNvPr id="6" name="Rectangle 5"/>
          <p:cNvSpPr/>
          <p:nvPr/>
        </p:nvSpPr>
        <p:spPr>
          <a:xfrm>
            <a:off x="806152" y="4507302"/>
            <a:ext cx="10476573" cy="830997"/>
          </a:xfrm>
          <a:prstGeom prst="rect">
            <a:avLst/>
          </a:prstGeom>
        </p:spPr>
        <p:txBody>
          <a:bodyPr wrap="square">
            <a:spAutoFit/>
          </a:bodyPr>
          <a:lstStyle/>
          <a:p>
            <a:r>
              <a:rPr lang="en-IN" sz="2400" dirty="0"/>
              <a:t>{t∣∃</a:t>
            </a:r>
            <a:r>
              <a:rPr lang="en-IN" sz="2400" dirty="0" err="1"/>
              <a:t>b∈booking</a:t>
            </a:r>
            <a:r>
              <a:rPr lang="en-IN" sz="2400" dirty="0"/>
              <a:t> ∃</a:t>
            </a:r>
            <a:r>
              <a:rPr lang="en-IN" sz="2400" dirty="0" err="1"/>
              <a:t>f∈flight</a:t>
            </a:r>
            <a:r>
              <a:rPr lang="en-IN" sz="2400" dirty="0"/>
              <a:t> (b[fid]=f[fid] ∧ b[</a:t>
            </a:r>
            <a:r>
              <a:rPr lang="en-IN" sz="2400" dirty="0" err="1"/>
              <a:t>pid</a:t>
            </a:r>
            <a:r>
              <a:rPr lang="en-IN" sz="2400" dirty="0"/>
              <a:t>]=123 ∧ f[</a:t>
            </a:r>
            <a:r>
              <a:rPr lang="en-IN" sz="2400" dirty="0" err="1"/>
              <a:t>dest</a:t>
            </a:r>
            <a:r>
              <a:rPr lang="en-IN" sz="2400" dirty="0"/>
              <a:t>]=′Chennai′ ∧ b[</a:t>
            </a:r>
            <a:r>
              <a:rPr lang="en-IN" sz="2400" dirty="0" err="1"/>
              <a:t>fdate</a:t>
            </a:r>
            <a:r>
              <a:rPr lang="en-IN" sz="2400" dirty="0"/>
              <a:t>]&lt;′06/11/2020′ ∧ t[fid]=b[fid])}</a:t>
            </a:r>
          </a:p>
        </p:txBody>
      </p:sp>
      <p:sp>
        <p:nvSpPr>
          <p:cNvPr id="9" name="Rectangle 8"/>
          <p:cNvSpPr/>
          <p:nvPr/>
        </p:nvSpPr>
        <p:spPr>
          <a:xfrm>
            <a:off x="714703" y="5660529"/>
            <a:ext cx="10476573" cy="461665"/>
          </a:xfrm>
          <a:prstGeom prst="rect">
            <a:avLst/>
          </a:prstGeom>
        </p:spPr>
        <p:txBody>
          <a:bodyPr wrap="square">
            <a:spAutoFit/>
          </a:bodyPr>
          <a:lstStyle/>
          <a:p>
            <a:r>
              <a:rPr lang="en-IN" sz="2400" dirty="0"/>
              <a:t>{⟨f⟩∣∃</a:t>
            </a:r>
            <a:r>
              <a:rPr lang="en-IN" sz="2400" dirty="0" err="1"/>
              <a:t>a∃d</a:t>
            </a:r>
            <a:r>
              <a:rPr lang="en-IN" sz="2400" dirty="0"/>
              <a:t>(⟨123,a,f,d⟩∈booking ∧ ∃</a:t>
            </a:r>
            <a:r>
              <a:rPr lang="en-IN" sz="2400" dirty="0" err="1"/>
              <a:t>t∃s</a:t>
            </a:r>
            <a:r>
              <a:rPr lang="en-IN" sz="2400" dirty="0"/>
              <a:t>(⟨</a:t>
            </a:r>
            <a:r>
              <a:rPr lang="en-IN" sz="2400" dirty="0" err="1"/>
              <a:t>f,d,t,s,′Chennai</a:t>
            </a:r>
            <a:r>
              <a:rPr lang="en-IN" sz="2400" dirty="0"/>
              <a:t>′⟩∈flight) ∧ d&lt;′06/11/2020′)}</a:t>
            </a:r>
          </a:p>
        </p:txBody>
      </p:sp>
    </p:spTree>
    <p:extLst>
      <p:ext uri="{BB962C8B-B14F-4D97-AF65-F5344CB8AC3E}">
        <p14:creationId xmlns:p14="http://schemas.microsoft.com/office/powerpoint/2010/main" val="2054516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875326"/>
            <a:ext cx="10621735" cy="830997"/>
          </a:xfrm>
          <a:prstGeom prst="rect">
            <a:avLst/>
          </a:prstGeom>
          <a:noFill/>
        </p:spPr>
        <p:txBody>
          <a:bodyPr wrap="square">
            <a:spAutoFit/>
          </a:bodyPr>
          <a:lstStyle/>
          <a:p>
            <a:r>
              <a:rPr lang="en-US" sz="2400" b="1" i="0" dirty="0">
                <a:solidFill>
                  <a:srgbClr val="800080"/>
                </a:solidFill>
                <a:effectLst/>
                <a:latin typeface="book antiqua" panose="02040602050305030304" pitchFamily="18" charset="0"/>
              </a:rPr>
              <a:t>d) Find the passenger names for passengers who have bookings on at least one flight.</a:t>
            </a:r>
            <a:endParaRPr lang="en-IN" sz="28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4862783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274537" y="2590432"/>
            <a:ext cx="11929241" cy="400110"/>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d) Find the passenger names for passengers who have bookings on at least one flight.</a:t>
            </a:r>
            <a:endParaRPr lang="en-IN" sz="2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97799"/>
            <a:ext cx="10318622"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01F02033-12F3-69C4-D293-A4D6B8072C3B}"/>
              </a:ext>
            </a:extLst>
          </p:cNvPr>
          <p:cNvSpPr txBox="1"/>
          <p:nvPr/>
        </p:nvSpPr>
        <p:spPr>
          <a:xfrm>
            <a:off x="395219" y="3355004"/>
            <a:ext cx="6101442" cy="338554"/>
          </a:xfrm>
          <a:prstGeom prst="rect">
            <a:avLst/>
          </a:prstGeom>
          <a:noFill/>
        </p:spPr>
        <p:txBody>
          <a:bodyPr wrap="square">
            <a:spAutoFit/>
          </a:bodyPr>
          <a:lstStyle/>
          <a:p>
            <a:r>
              <a:rPr lang="el-GR" sz="1600" b="1" i="0" dirty="0" smtClean="0">
                <a:solidFill>
                  <a:srgbClr val="222222"/>
                </a:solidFill>
                <a:effectLst/>
                <a:latin typeface="book antiqua" panose="02040602050305030304" pitchFamily="18" charset="0"/>
              </a:rPr>
              <a:t>Π</a:t>
            </a:r>
            <a:r>
              <a:rPr lang="el-GR" sz="1600" b="1" i="0" baseline="-25000" dirty="0" smtClean="0">
                <a:solidFill>
                  <a:srgbClr val="222222"/>
                </a:solidFill>
                <a:effectLst/>
                <a:latin typeface="book antiqua" panose="02040602050305030304" pitchFamily="18" charset="0"/>
              </a:rPr>
              <a:t> </a:t>
            </a:r>
            <a:r>
              <a:rPr lang="en-IN" sz="1600" b="1" i="1" baseline="-25000" dirty="0" err="1" smtClean="0">
                <a:solidFill>
                  <a:srgbClr val="222222"/>
                </a:solidFill>
                <a:effectLst/>
                <a:latin typeface="book antiqua" panose="02040602050305030304" pitchFamily="18" charset="0"/>
              </a:rPr>
              <a:t>pname</a:t>
            </a:r>
            <a:r>
              <a:rPr lang="en-IN" sz="1600" b="1" i="0" baseline="-25000" dirty="0" smtClean="0">
                <a:solidFill>
                  <a:srgbClr val="222222"/>
                </a:solidFill>
                <a:effectLst/>
                <a:latin typeface="book antiqua" panose="02040602050305030304" pitchFamily="18" charset="0"/>
              </a:rPr>
              <a:t> </a:t>
            </a:r>
            <a:r>
              <a:rPr lang="en-IN" sz="1600" b="1" i="0" dirty="0" smtClean="0">
                <a:solidFill>
                  <a:srgbClr val="222222"/>
                </a:solidFill>
                <a:effectLst/>
                <a:latin typeface="book antiqua" panose="02040602050305030304" pitchFamily="18" charset="0"/>
              </a:rPr>
              <a:t>(passenger </a:t>
            </a:r>
            <a:r>
              <a:rPr lang="en-IN" sz="1600" b="1" i="0" dirty="0" smtClean="0">
                <a:solidFill>
                  <a:srgbClr val="222222"/>
                </a:solidFill>
                <a:effectLst/>
                <a:latin typeface="cambria math" panose="02040503050406030204" pitchFamily="18" charset="0"/>
              </a:rPr>
              <a:t>⨝</a:t>
            </a:r>
            <a:r>
              <a:rPr lang="en-IN" sz="1600" b="1" i="0" dirty="0" smtClean="0">
                <a:solidFill>
                  <a:srgbClr val="222222"/>
                </a:solidFill>
                <a:effectLst/>
                <a:latin typeface="book antiqua" panose="02040602050305030304" pitchFamily="18" charset="0"/>
              </a:rPr>
              <a:t> booking)</a:t>
            </a:r>
            <a:endParaRPr lang="en-IN" sz="1600" b="1" dirty="0"/>
          </a:p>
        </p:txBody>
      </p:sp>
      <p:sp>
        <p:nvSpPr>
          <p:cNvPr id="2" name="Rectangle 1"/>
          <p:cNvSpPr/>
          <p:nvPr/>
        </p:nvSpPr>
        <p:spPr>
          <a:xfrm>
            <a:off x="274537" y="3016450"/>
            <a:ext cx="11719034" cy="338554"/>
          </a:xfrm>
          <a:prstGeom prst="rect">
            <a:avLst/>
          </a:prstGeom>
        </p:spPr>
        <p:txBody>
          <a:bodyPr wrap="square">
            <a:spAutoFit/>
          </a:bodyPr>
          <a:lstStyle/>
          <a:p>
            <a:r>
              <a:rPr lang="en-US" sz="1600" dirty="0"/>
              <a:t>SELECT DISTINCT </a:t>
            </a:r>
            <a:r>
              <a:rPr lang="en-US" sz="1600" dirty="0" err="1"/>
              <a:t>p.pname</a:t>
            </a:r>
            <a:r>
              <a:rPr lang="en-US" sz="1600" dirty="0"/>
              <a:t> FROM passenger p JOIN booking b ON </a:t>
            </a:r>
            <a:r>
              <a:rPr lang="en-US" sz="1600" dirty="0" err="1"/>
              <a:t>p.pid</a:t>
            </a:r>
            <a:r>
              <a:rPr lang="en-US" sz="1600" dirty="0"/>
              <a:t> = </a:t>
            </a:r>
            <a:r>
              <a:rPr lang="en-US" sz="1600" dirty="0" err="1"/>
              <a:t>b.pid</a:t>
            </a:r>
            <a:r>
              <a:rPr lang="en-US" sz="1600" dirty="0"/>
              <a:t>;</a:t>
            </a:r>
            <a:endParaRPr lang="en-IN" sz="1600" dirty="0"/>
          </a:p>
        </p:txBody>
      </p:sp>
      <p:sp>
        <p:nvSpPr>
          <p:cNvPr id="5" name="Rectangle 4"/>
          <p:cNvSpPr/>
          <p:nvPr/>
        </p:nvSpPr>
        <p:spPr>
          <a:xfrm>
            <a:off x="400660" y="4062276"/>
            <a:ext cx="11255311" cy="523220"/>
          </a:xfrm>
          <a:prstGeom prst="rect">
            <a:avLst/>
          </a:prstGeom>
        </p:spPr>
        <p:txBody>
          <a:bodyPr wrap="square">
            <a:spAutoFit/>
          </a:bodyPr>
          <a:lstStyle/>
          <a:p>
            <a:r>
              <a:rPr lang="en-IN" sz="2800" dirty="0" smtClean="0"/>
              <a:t>{t∣∃</a:t>
            </a:r>
            <a:r>
              <a:rPr lang="en-IN" sz="2800" dirty="0" err="1" smtClean="0"/>
              <a:t>p∈passenger</a:t>
            </a:r>
            <a:r>
              <a:rPr lang="en-IN" sz="2800" dirty="0" smtClean="0"/>
              <a:t> ∃</a:t>
            </a:r>
            <a:r>
              <a:rPr lang="en-IN" sz="2800" dirty="0" err="1" smtClean="0"/>
              <a:t>b∈booking</a:t>
            </a:r>
            <a:r>
              <a:rPr lang="en-IN" sz="2800" dirty="0" smtClean="0"/>
              <a:t> (p[</a:t>
            </a:r>
            <a:r>
              <a:rPr lang="en-IN" sz="2800" dirty="0" err="1" smtClean="0"/>
              <a:t>pid</a:t>
            </a:r>
            <a:r>
              <a:rPr lang="en-IN" sz="2800" dirty="0" smtClean="0"/>
              <a:t>]=b[</a:t>
            </a:r>
            <a:r>
              <a:rPr lang="en-IN" sz="2800" dirty="0" err="1" smtClean="0"/>
              <a:t>pid</a:t>
            </a:r>
            <a:r>
              <a:rPr lang="en-IN" sz="2800" dirty="0" smtClean="0"/>
              <a:t>] ∧ t[</a:t>
            </a:r>
            <a:r>
              <a:rPr lang="en-IN" sz="2800" dirty="0" err="1" smtClean="0"/>
              <a:t>pname</a:t>
            </a:r>
            <a:r>
              <a:rPr lang="en-IN" sz="2800" dirty="0" smtClean="0"/>
              <a:t>]=p[</a:t>
            </a:r>
            <a:r>
              <a:rPr lang="en-IN" sz="2800" dirty="0" err="1" smtClean="0"/>
              <a:t>pname</a:t>
            </a:r>
            <a:r>
              <a:rPr lang="en-IN" sz="2800" dirty="0" smtClean="0"/>
              <a:t>])}</a:t>
            </a:r>
            <a:endParaRPr lang="en-IN" sz="2800" dirty="0"/>
          </a:p>
        </p:txBody>
      </p:sp>
      <p:sp>
        <p:nvSpPr>
          <p:cNvPr id="6" name="Rectangle 5"/>
          <p:cNvSpPr/>
          <p:nvPr/>
        </p:nvSpPr>
        <p:spPr>
          <a:xfrm>
            <a:off x="483475" y="5018718"/>
            <a:ext cx="10993821" cy="523220"/>
          </a:xfrm>
          <a:prstGeom prst="rect">
            <a:avLst/>
          </a:prstGeom>
        </p:spPr>
        <p:txBody>
          <a:bodyPr wrap="square">
            <a:spAutoFit/>
          </a:bodyPr>
          <a:lstStyle/>
          <a:p>
            <a:r>
              <a:rPr lang="en-IN" sz="2800" dirty="0"/>
              <a:t>{⟨</a:t>
            </a:r>
            <a:r>
              <a:rPr lang="en-IN" sz="2800" dirty="0" err="1"/>
              <a:t>pn</a:t>
            </a:r>
            <a:r>
              <a:rPr lang="en-IN" sz="2800" dirty="0"/>
              <a:t>⟩∣∃</a:t>
            </a:r>
            <a:r>
              <a:rPr lang="en-IN" sz="2800" dirty="0" err="1"/>
              <a:t>id∃g∃c</a:t>
            </a:r>
            <a:r>
              <a:rPr lang="en-IN" sz="2800" dirty="0"/>
              <a:t> (⟨</a:t>
            </a:r>
            <a:r>
              <a:rPr lang="en-IN" sz="2800" dirty="0" err="1"/>
              <a:t>id,pn,g,c</a:t>
            </a:r>
            <a:r>
              <a:rPr lang="en-IN" sz="2800" dirty="0"/>
              <a:t>⟩∈passenger ∧ ∃</a:t>
            </a:r>
            <a:r>
              <a:rPr lang="en-IN" sz="2800" dirty="0" err="1"/>
              <a:t>a∃f∃d</a:t>
            </a:r>
            <a:r>
              <a:rPr lang="en-IN" sz="2800" dirty="0"/>
              <a:t> (⟨</a:t>
            </a:r>
            <a:r>
              <a:rPr lang="en-IN" sz="2800" dirty="0" err="1"/>
              <a:t>id,a,f,d</a:t>
            </a:r>
            <a:r>
              <a:rPr lang="en-IN" sz="2800" dirty="0"/>
              <a:t>⟩∈booking))}</a:t>
            </a:r>
          </a:p>
        </p:txBody>
      </p:sp>
    </p:spTree>
    <p:extLst>
      <p:ext uri="{BB962C8B-B14F-4D97-AF65-F5344CB8AC3E}">
        <p14:creationId xmlns:p14="http://schemas.microsoft.com/office/powerpoint/2010/main" val="24862783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716092" y="3427014"/>
            <a:ext cx="10621735" cy="2046714"/>
          </a:xfrm>
          <a:prstGeom prst="rect">
            <a:avLst/>
          </a:prstGeom>
          <a:noFill/>
        </p:spPr>
        <p:txBody>
          <a:bodyPr wrap="square">
            <a:spAutoFit/>
          </a:bodyPr>
          <a:lstStyle/>
          <a:p>
            <a:pPr marL="0" marR="0" algn="just">
              <a:spcBef>
                <a:spcPts val="600"/>
              </a:spcBef>
              <a:spcAft>
                <a:spcPts val="600"/>
              </a:spcAft>
            </a:pPr>
            <a:r>
              <a:rPr lang="en-US" sz="2000" b="1" i="0" dirty="0">
                <a:solidFill>
                  <a:srgbClr val="800080"/>
                </a:solidFill>
                <a:effectLst/>
                <a:latin typeface="book antiqua" panose="02040602050305030304" pitchFamily="18" charset="0"/>
              </a:rPr>
              <a:t>e) Find the passenger names for those who do not have any bookings in any flights</a:t>
            </a:r>
            <a:r>
              <a:rPr lang="en-US" sz="2000" b="1" i="0" dirty="0" smtClean="0">
                <a:solidFill>
                  <a:srgbClr val="800080"/>
                </a:solidFill>
                <a:effectLst/>
                <a:latin typeface="book antiqua" panose="02040602050305030304" pitchFamily="18" charset="0"/>
              </a:rPr>
              <a:t>.</a:t>
            </a:r>
          </a:p>
          <a:p>
            <a:pPr marL="0" marR="0" algn="just">
              <a:spcBef>
                <a:spcPts val="600"/>
              </a:spcBef>
              <a:spcAft>
                <a:spcPts val="600"/>
              </a:spcAft>
            </a:pPr>
            <a:endParaRPr lang="en-US" sz="2800" b="0" i="0" dirty="0">
              <a:solidFill>
                <a:srgbClr val="222222"/>
              </a:solidFill>
              <a:effectLst/>
              <a:latin typeface="Arial" panose="020B0604020202020204" pitchFamily="34" charset="0"/>
            </a:endParaRPr>
          </a:p>
          <a:p>
            <a:r>
              <a:rPr lang="en-US" sz="2800" dirty="0"/>
              <a:t/>
            </a:r>
            <a:br>
              <a:rPr lang="en-US" sz="2800" dirty="0"/>
            </a:br>
            <a:endParaRPr lang="en-IN" sz="32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239922" y="160861"/>
            <a:ext cx="10097905"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977477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309022" y="2670269"/>
            <a:ext cx="10621735" cy="2046714"/>
          </a:xfrm>
          <a:prstGeom prst="rect">
            <a:avLst/>
          </a:prstGeom>
          <a:noFill/>
        </p:spPr>
        <p:txBody>
          <a:bodyPr wrap="square">
            <a:spAutoFit/>
          </a:bodyPr>
          <a:lstStyle/>
          <a:p>
            <a:pPr marL="0" marR="0" algn="just">
              <a:spcBef>
                <a:spcPts val="600"/>
              </a:spcBef>
              <a:spcAft>
                <a:spcPts val="600"/>
              </a:spcAft>
            </a:pPr>
            <a:r>
              <a:rPr lang="en-US" sz="2000" b="1" i="0" dirty="0">
                <a:solidFill>
                  <a:srgbClr val="800080"/>
                </a:solidFill>
                <a:effectLst/>
                <a:latin typeface="book antiqua" panose="02040602050305030304" pitchFamily="18" charset="0"/>
              </a:rPr>
              <a:t>e) Find the passenger names for those who do not have any bookings in any flights</a:t>
            </a:r>
            <a:r>
              <a:rPr lang="en-US" sz="2000" b="1" i="0" dirty="0" smtClean="0">
                <a:solidFill>
                  <a:srgbClr val="800080"/>
                </a:solidFill>
                <a:effectLst/>
                <a:latin typeface="book antiqua" panose="02040602050305030304" pitchFamily="18" charset="0"/>
              </a:rPr>
              <a:t>.</a:t>
            </a:r>
          </a:p>
          <a:p>
            <a:pPr marL="0" marR="0" algn="just">
              <a:spcBef>
                <a:spcPts val="600"/>
              </a:spcBef>
              <a:spcAft>
                <a:spcPts val="600"/>
              </a:spcAft>
            </a:pPr>
            <a:endParaRPr lang="en-US" sz="2800" b="0" i="0" dirty="0">
              <a:solidFill>
                <a:srgbClr val="222222"/>
              </a:solidFill>
              <a:effectLst/>
              <a:latin typeface="Arial" panose="020B0604020202020204" pitchFamily="34" charset="0"/>
            </a:endParaRPr>
          </a:p>
          <a:p>
            <a:r>
              <a:rPr lang="en-US" sz="2800" dirty="0"/>
              <a:t/>
            </a:r>
            <a:br>
              <a:rPr lang="en-US" sz="2800" dirty="0"/>
            </a:br>
            <a:endParaRPr lang="en-IN" sz="32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239922" y="160861"/>
            <a:ext cx="10097905" cy="2523768"/>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294A9E39-32C7-1236-A9BE-EDADD610A9AF}"/>
              </a:ext>
            </a:extLst>
          </p:cNvPr>
          <p:cNvSpPr txBox="1"/>
          <p:nvPr/>
        </p:nvSpPr>
        <p:spPr>
          <a:xfrm>
            <a:off x="1499843" y="3462793"/>
            <a:ext cx="8403771" cy="307777"/>
          </a:xfrm>
          <a:prstGeom prst="rect">
            <a:avLst/>
          </a:prstGeom>
          <a:noFill/>
        </p:spPr>
        <p:txBody>
          <a:bodyPr wrap="square">
            <a:spAutoFit/>
          </a:bodyPr>
          <a:lstStyle/>
          <a:p>
            <a:r>
              <a:rPr lang="el-GR" sz="1400" b="0" i="0" dirty="0" smtClean="0">
                <a:effectLst/>
                <a:latin typeface="book antiqua" panose="02040602050305030304" pitchFamily="18" charset="0"/>
              </a:rPr>
              <a:t>Π</a:t>
            </a:r>
            <a:r>
              <a:rPr lang="el-GR" sz="1400" b="0" i="0" baseline="-25000" dirty="0" smtClean="0">
                <a:effectLst/>
                <a:latin typeface="book antiqua" panose="02040602050305030304" pitchFamily="18" charset="0"/>
              </a:rPr>
              <a:t> </a:t>
            </a:r>
            <a:r>
              <a:rPr lang="en-IN" sz="1400" b="0" i="1" baseline="-25000" dirty="0" err="1" smtClean="0">
                <a:effectLst/>
                <a:latin typeface="book antiqua" panose="02040602050305030304" pitchFamily="18" charset="0"/>
              </a:rPr>
              <a:t>pname</a:t>
            </a:r>
            <a:r>
              <a:rPr lang="en-IN" sz="1400" b="0" i="1" baseline="-25000" dirty="0" smtClean="0">
                <a:effectLst/>
                <a:latin typeface="book antiqua" panose="02040602050305030304" pitchFamily="18" charset="0"/>
              </a:rPr>
              <a:t> </a:t>
            </a:r>
            <a:r>
              <a:rPr lang="en-IN" sz="1400" b="0" i="0" dirty="0" smtClean="0">
                <a:effectLst/>
                <a:latin typeface="book antiqua" panose="02040602050305030304" pitchFamily="18" charset="0"/>
              </a:rPr>
              <a:t>((</a:t>
            </a:r>
            <a:r>
              <a:rPr lang="el-GR" sz="1400" b="0" i="0" dirty="0" smtClean="0">
                <a:effectLst/>
                <a:latin typeface="book antiqua" panose="02040602050305030304" pitchFamily="18" charset="0"/>
              </a:rPr>
              <a:t>Π</a:t>
            </a:r>
            <a:r>
              <a:rPr lang="el-GR" sz="1400" b="0" i="1" baseline="-25000" dirty="0" smtClean="0">
                <a:effectLst/>
                <a:latin typeface="book antiqua" panose="02040602050305030304" pitchFamily="18" charset="0"/>
              </a:rPr>
              <a:t> </a:t>
            </a:r>
            <a:r>
              <a:rPr lang="en-IN" sz="1400" b="0" i="1" baseline="-25000" dirty="0" err="1" smtClean="0">
                <a:effectLst/>
                <a:latin typeface="book antiqua" panose="02040602050305030304" pitchFamily="18" charset="0"/>
              </a:rPr>
              <a:t>pid</a:t>
            </a:r>
            <a:r>
              <a:rPr lang="en-IN" sz="1400" b="0" i="1" baseline="-25000" dirty="0" smtClean="0">
                <a:effectLst/>
                <a:latin typeface="book antiqua" panose="02040602050305030304" pitchFamily="18" charset="0"/>
              </a:rPr>
              <a:t> </a:t>
            </a:r>
            <a:r>
              <a:rPr lang="en-IN" sz="1400" b="0" i="0" dirty="0" smtClean="0">
                <a:effectLst/>
                <a:latin typeface="book antiqua" panose="02040602050305030304" pitchFamily="18" charset="0"/>
              </a:rPr>
              <a:t>(passenger) - </a:t>
            </a:r>
            <a:r>
              <a:rPr lang="el-GR" sz="1400" b="0" i="0" dirty="0" smtClean="0">
                <a:effectLst/>
                <a:latin typeface="book antiqua" panose="02040602050305030304" pitchFamily="18" charset="0"/>
              </a:rPr>
              <a:t>Π</a:t>
            </a:r>
            <a:r>
              <a:rPr lang="el-GR" sz="1400" b="0" i="1" baseline="-25000" dirty="0" smtClean="0">
                <a:effectLst/>
                <a:latin typeface="book antiqua" panose="02040602050305030304" pitchFamily="18" charset="0"/>
              </a:rPr>
              <a:t> </a:t>
            </a:r>
            <a:r>
              <a:rPr lang="en-IN" sz="1400" b="0" i="1" baseline="-25000" dirty="0" err="1" smtClean="0">
                <a:effectLst/>
                <a:latin typeface="book antiqua" panose="02040602050305030304" pitchFamily="18" charset="0"/>
              </a:rPr>
              <a:t>pid</a:t>
            </a:r>
            <a:r>
              <a:rPr lang="en-IN" sz="1400" b="0" i="1" baseline="-25000" dirty="0" smtClean="0">
                <a:effectLst/>
                <a:latin typeface="book antiqua" panose="02040602050305030304" pitchFamily="18" charset="0"/>
              </a:rPr>
              <a:t> </a:t>
            </a:r>
            <a:r>
              <a:rPr lang="en-IN" sz="1400" b="0" i="0" dirty="0" smtClean="0">
                <a:effectLst/>
                <a:latin typeface="book antiqua" panose="02040602050305030304" pitchFamily="18" charset="0"/>
              </a:rPr>
              <a:t>(booking)) </a:t>
            </a:r>
            <a:r>
              <a:rPr lang="en-IN" sz="1400" b="0" i="0" dirty="0" smtClean="0">
                <a:effectLst/>
                <a:latin typeface="cambria math" panose="02040503050406030204" pitchFamily="18" charset="0"/>
              </a:rPr>
              <a:t>⨝</a:t>
            </a:r>
            <a:r>
              <a:rPr lang="en-IN" sz="1400" b="0" i="0" dirty="0" smtClean="0">
                <a:effectLst/>
                <a:latin typeface="book antiqua" panose="02040602050305030304" pitchFamily="18" charset="0"/>
              </a:rPr>
              <a:t> passenger)</a:t>
            </a:r>
            <a:endParaRPr lang="en-IN" sz="1400" dirty="0"/>
          </a:p>
        </p:txBody>
      </p:sp>
      <p:sp>
        <p:nvSpPr>
          <p:cNvPr id="5" name="Rectangle 4"/>
          <p:cNvSpPr/>
          <p:nvPr/>
        </p:nvSpPr>
        <p:spPr>
          <a:xfrm>
            <a:off x="1373720" y="3115825"/>
            <a:ext cx="9409892" cy="307777"/>
          </a:xfrm>
          <a:prstGeom prst="rect">
            <a:avLst/>
          </a:prstGeom>
        </p:spPr>
        <p:txBody>
          <a:bodyPr wrap="square">
            <a:spAutoFit/>
          </a:bodyPr>
          <a:lstStyle/>
          <a:p>
            <a:r>
              <a:rPr lang="en-US" sz="1400" dirty="0"/>
              <a:t>SELECT </a:t>
            </a:r>
            <a:r>
              <a:rPr lang="en-US" sz="1400" dirty="0" err="1"/>
              <a:t>pname</a:t>
            </a:r>
            <a:r>
              <a:rPr lang="en-US" sz="1400" dirty="0"/>
              <a:t> FROM passenger WHERE </a:t>
            </a:r>
            <a:r>
              <a:rPr lang="en-US" sz="1400" dirty="0" err="1"/>
              <a:t>pid</a:t>
            </a:r>
            <a:r>
              <a:rPr lang="en-US" sz="1400" dirty="0"/>
              <a:t> NOT IN ( SELECT </a:t>
            </a:r>
            <a:r>
              <a:rPr lang="en-US" sz="1400" dirty="0" err="1"/>
              <a:t>pid</a:t>
            </a:r>
            <a:r>
              <a:rPr lang="en-US" sz="1400" dirty="0"/>
              <a:t> FROM booking );</a:t>
            </a:r>
            <a:endParaRPr lang="en-IN" sz="1400" dirty="0"/>
          </a:p>
        </p:txBody>
      </p:sp>
      <p:sp>
        <p:nvSpPr>
          <p:cNvPr id="2" name="Rectangle 1"/>
          <p:cNvSpPr/>
          <p:nvPr/>
        </p:nvSpPr>
        <p:spPr>
          <a:xfrm>
            <a:off x="1373719" y="4230442"/>
            <a:ext cx="9964107" cy="461665"/>
          </a:xfrm>
          <a:prstGeom prst="rect">
            <a:avLst/>
          </a:prstGeom>
        </p:spPr>
        <p:txBody>
          <a:bodyPr wrap="square">
            <a:spAutoFit/>
          </a:bodyPr>
          <a:lstStyle/>
          <a:p>
            <a:r>
              <a:rPr lang="en-IN" sz="2400" dirty="0"/>
              <a:t>{t∣∃</a:t>
            </a:r>
            <a:r>
              <a:rPr lang="en-IN" sz="2400" dirty="0" err="1"/>
              <a:t>p∈passenger</a:t>
            </a:r>
            <a:r>
              <a:rPr lang="en-IN" sz="2400" dirty="0"/>
              <a:t> (t[</a:t>
            </a:r>
            <a:r>
              <a:rPr lang="en-IN" sz="2400" dirty="0" err="1"/>
              <a:t>pname</a:t>
            </a:r>
            <a:r>
              <a:rPr lang="en-IN" sz="2400" dirty="0"/>
              <a:t>]=p[</a:t>
            </a:r>
            <a:r>
              <a:rPr lang="en-IN" sz="2400" dirty="0" err="1"/>
              <a:t>pname</a:t>
            </a:r>
            <a:r>
              <a:rPr lang="en-IN" sz="2400" dirty="0"/>
              <a:t>] ∧ ¬∃</a:t>
            </a:r>
            <a:r>
              <a:rPr lang="en-IN" sz="2400" dirty="0" err="1"/>
              <a:t>b∈booking</a:t>
            </a:r>
            <a:r>
              <a:rPr lang="en-IN" sz="2400" dirty="0"/>
              <a:t> (b[</a:t>
            </a:r>
            <a:r>
              <a:rPr lang="en-IN" sz="2400" dirty="0" err="1"/>
              <a:t>pid</a:t>
            </a:r>
            <a:r>
              <a:rPr lang="en-IN" sz="2400" dirty="0"/>
              <a:t>]=p[</a:t>
            </a:r>
            <a:r>
              <a:rPr lang="en-IN" sz="2400" dirty="0" err="1"/>
              <a:t>pid</a:t>
            </a:r>
            <a:r>
              <a:rPr lang="en-IN" sz="2400" dirty="0"/>
              <a:t>]))}</a:t>
            </a:r>
          </a:p>
        </p:txBody>
      </p:sp>
      <p:sp>
        <p:nvSpPr>
          <p:cNvPr id="6" name="Rectangle 5"/>
          <p:cNvSpPr/>
          <p:nvPr/>
        </p:nvSpPr>
        <p:spPr>
          <a:xfrm>
            <a:off x="557048" y="4945145"/>
            <a:ext cx="11140966" cy="523220"/>
          </a:xfrm>
          <a:prstGeom prst="rect">
            <a:avLst/>
          </a:prstGeom>
        </p:spPr>
        <p:txBody>
          <a:bodyPr wrap="square">
            <a:spAutoFit/>
          </a:bodyPr>
          <a:lstStyle/>
          <a:p>
            <a:r>
              <a:rPr lang="en-IN" sz="2800" dirty="0"/>
              <a:t>{⟨</a:t>
            </a:r>
            <a:r>
              <a:rPr lang="en-IN" sz="2800" dirty="0" err="1"/>
              <a:t>pn</a:t>
            </a:r>
            <a:r>
              <a:rPr lang="en-IN" sz="2800" dirty="0"/>
              <a:t>⟩∣∃</a:t>
            </a:r>
            <a:r>
              <a:rPr lang="en-IN" sz="2800" dirty="0" err="1"/>
              <a:t>id∃g∃c</a:t>
            </a:r>
            <a:r>
              <a:rPr lang="en-IN" sz="2800" dirty="0"/>
              <a:t> (⟨</a:t>
            </a:r>
            <a:r>
              <a:rPr lang="en-IN" sz="2800" dirty="0" err="1"/>
              <a:t>id,pn,g,c</a:t>
            </a:r>
            <a:r>
              <a:rPr lang="en-IN" sz="2800" dirty="0"/>
              <a:t>⟩∈passenger ∧ ¬∃</a:t>
            </a:r>
            <a:r>
              <a:rPr lang="en-IN" sz="2800" dirty="0" err="1"/>
              <a:t>a∃f∃d</a:t>
            </a:r>
            <a:r>
              <a:rPr lang="en-IN" sz="2800" dirty="0"/>
              <a:t> (⟨</a:t>
            </a:r>
            <a:r>
              <a:rPr lang="en-IN" sz="2800" dirty="0" err="1"/>
              <a:t>id,a,f,d</a:t>
            </a:r>
            <a:r>
              <a:rPr lang="en-IN" sz="2800" dirty="0"/>
              <a:t>⟩∈booking))}</a:t>
            </a:r>
          </a:p>
        </p:txBody>
      </p:sp>
    </p:spTree>
    <p:extLst>
      <p:ext uri="{BB962C8B-B14F-4D97-AF65-F5344CB8AC3E}">
        <p14:creationId xmlns:p14="http://schemas.microsoft.com/office/powerpoint/2010/main" val="2977477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280788"/>
            <a:ext cx="10163771" cy="1384995"/>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f) Find the agency names for agencies that located in the same city as passenger with passenger id 123.</a:t>
            </a:r>
            <a:r>
              <a:rPr lang="en-US" sz="3200" dirty="0"/>
              <a:t/>
            </a:r>
            <a:br>
              <a:rPr lang="en-US" sz="3200" dirty="0"/>
            </a:b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9441081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453929" y="2366388"/>
            <a:ext cx="11738071" cy="800219"/>
          </a:xfrm>
          <a:prstGeom prst="rect">
            <a:avLst/>
          </a:prstGeom>
          <a:noFill/>
        </p:spPr>
        <p:txBody>
          <a:bodyPr wrap="square">
            <a:spAutoFit/>
          </a:bodyPr>
          <a:lstStyle/>
          <a:p>
            <a:pPr marL="0" marR="0" algn="ctr">
              <a:spcBef>
                <a:spcPts val="600"/>
              </a:spcBef>
              <a:spcAft>
                <a:spcPts val="600"/>
              </a:spcAft>
            </a:pPr>
            <a:r>
              <a:rPr lang="en-US" b="1" i="0" dirty="0">
                <a:solidFill>
                  <a:srgbClr val="800080"/>
                </a:solidFill>
                <a:effectLst/>
                <a:latin typeface="book antiqua" panose="02040602050305030304" pitchFamily="18" charset="0"/>
              </a:rPr>
              <a:t>f) Find the agency names for agencies that located in the same city as passenger with passenger id 123.</a:t>
            </a:r>
            <a:r>
              <a:rPr lang="en-US" sz="2400" dirty="0"/>
              <a:t/>
            </a:r>
            <a:br>
              <a:rPr lang="en-US" sz="2400" dirty="0"/>
            </a:br>
            <a:endParaRPr lang="en-IN" sz="28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526535" y="0"/>
            <a:ext cx="9540857" cy="2154436"/>
          </a:xfrm>
          <a:prstGeom prst="rect">
            <a:avLst/>
          </a:prstGeom>
          <a:noFill/>
        </p:spPr>
        <p:txBody>
          <a:bodyPr wrap="square">
            <a:spAutoFit/>
          </a:bodyPr>
          <a:lstStyle/>
          <a:p>
            <a:pPr marL="0" marR="0" algn="just">
              <a:spcBef>
                <a:spcPts val="600"/>
              </a:spcBef>
              <a:spcAft>
                <a:spcPts val="600"/>
              </a:spcAft>
            </a:pPr>
            <a:r>
              <a:rPr lang="en-IN" sz="1400" b="1" i="0" u="sng" dirty="0">
                <a:solidFill>
                  <a:srgbClr val="222222"/>
                </a:solidFill>
                <a:effectLst/>
                <a:latin typeface="book antiqua" panose="02040602050305030304" pitchFamily="18" charset="0"/>
              </a:rPr>
              <a:t>Question:</a:t>
            </a:r>
            <a:endParaRPr lang="en-IN" sz="1400" b="0" i="0" dirty="0">
              <a:solidFill>
                <a:srgbClr val="222222"/>
              </a:solidFill>
              <a:effectLst/>
              <a:latin typeface="Arial" panose="020B0604020202020204" pitchFamily="34" charset="0"/>
            </a:endParaRPr>
          </a:p>
          <a:p>
            <a:pPr marL="0" marR="0" algn="just">
              <a:spcBef>
                <a:spcPts val="600"/>
              </a:spcBef>
              <a:spcAft>
                <a:spcPts val="600"/>
              </a:spcAft>
            </a:pPr>
            <a:r>
              <a:rPr lang="en-IN" sz="1400" b="0" i="0" dirty="0">
                <a:solidFill>
                  <a:srgbClr val="222222"/>
                </a:solidFill>
                <a:effectLst/>
                <a:latin typeface="book antiqua" panose="02040602050305030304" pitchFamily="18" charset="0"/>
              </a:rPr>
              <a:t>Consider the following relational database schema consisting of the four relation schemas:</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passenger </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pid</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pname</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pgender</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pcity</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agency </a:t>
            </a:r>
            <a:r>
              <a:rPr lang="en-IN" sz="1400" b="0" i="0" dirty="0">
                <a:solidFill>
                  <a:srgbClr val="222222"/>
                </a:solidFill>
                <a:effectLst/>
                <a:latin typeface="book antiqua" panose="02040602050305030304" pitchFamily="18" charset="0"/>
              </a:rPr>
              <a:t>( aid, </a:t>
            </a:r>
            <a:r>
              <a:rPr lang="en-IN" sz="1400" b="0" i="0" dirty="0" err="1">
                <a:solidFill>
                  <a:srgbClr val="222222"/>
                </a:solidFill>
                <a:effectLst/>
                <a:latin typeface="book antiqua" panose="02040602050305030304" pitchFamily="18" charset="0"/>
              </a:rPr>
              <a:t>aname</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acity</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flight </a:t>
            </a:r>
            <a:r>
              <a:rPr lang="en-IN" sz="1400" b="0" i="0" dirty="0">
                <a:solidFill>
                  <a:srgbClr val="222222"/>
                </a:solidFill>
                <a:effectLst/>
                <a:latin typeface="book antiqua" panose="02040602050305030304" pitchFamily="18" charset="0"/>
              </a:rPr>
              <a:t>(fid, </a:t>
            </a:r>
            <a:r>
              <a:rPr lang="en-IN" sz="1400" b="0" i="0" dirty="0" err="1">
                <a:solidFill>
                  <a:srgbClr val="222222"/>
                </a:solidFill>
                <a:effectLst/>
                <a:latin typeface="book antiqua" panose="02040602050305030304" pitchFamily="18" charset="0"/>
              </a:rPr>
              <a:t>fdate</a:t>
            </a:r>
            <a:r>
              <a:rPr lang="en-IN" sz="1400" b="0" i="0" dirty="0">
                <a:solidFill>
                  <a:srgbClr val="222222"/>
                </a:solidFill>
                <a:effectLst/>
                <a:latin typeface="book antiqua" panose="02040602050305030304" pitchFamily="18" charset="0"/>
              </a:rPr>
              <a:t>, time, </a:t>
            </a:r>
            <a:r>
              <a:rPr lang="en-IN" sz="1400" b="0" i="0" dirty="0" err="1">
                <a:solidFill>
                  <a:srgbClr val="222222"/>
                </a:solidFill>
                <a:effectLst/>
                <a:latin typeface="book antiqua" panose="02040602050305030304" pitchFamily="18" charset="0"/>
              </a:rPr>
              <a:t>src</a:t>
            </a:r>
            <a:r>
              <a:rPr lang="en-IN" sz="1400" b="0" i="0" dirty="0">
                <a:solidFill>
                  <a:srgbClr val="222222"/>
                </a:solidFill>
                <a:effectLst/>
                <a:latin typeface="book antiqua" panose="02040602050305030304" pitchFamily="18" charset="0"/>
              </a:rPr>
              <a:t>, </a:t>
            </a:r>
            <a:r>
              <a:rPr lang="en-IN" sz="1400" b="0" i="0" dirty="0" err="1">
                <a:solidFill>
                  <a:srgbClr val="222222"/>
                </a:solidFill>
                <a:effectLst/>
                <a:latin typeface="book antiqua" panose="02040602050305030304" pitchFamily="18" charset="0"/>
              </a:rPr>
              <a:t>dest</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a:p>
            <a:pPr marL="457200" marR="0" algn="just">
              <a:spcBef>
                <a:spcPts val="600"/>
              </a:spcBef>
              <a:spcAft>
                <a:spcPts val="600"/>
              </a:spcAft>
            </a:pPr>
            <a:r>
              <a:rPr lang="en-IN" sz="1400" b="1" i="0" dirty="0">
                <a:solidFill>
                  <a:srgbClr val="222222"/>
                </a:solidFill>
                <a:effectLst/>
                <a:latin typeface="book antiqua" panose="02040602050305030304" pitchFamily="18" charset="0"/>
              </a:rPr>
              <a:t>booking </a:t>
            </a:r>
            <a:r>
              <a:rPr lang="en-IN" sz="1400" b="0" i="0" dirty="0">
                <a:solidFill>
                  <a:srgbClr val="222222"/>
                </a:solidFill>
                <a:effectLst/>
                <a:latin typeface="book antiqua" panose="02040602050305030304" pitchFamily="18" charset="0"/>
              </a:rPr>
              <a:t>(</a:t>
            </a:r>
            <a:r>
              <a:rPr lang="en-IN" sz="1400" b="0" i="0" dirty="0" err="1">
                <a:solidFill>
                  <a:srgbClr val="222222"/>
                </a:solidFill>
                <a:effectLst/>
                <a:latin typeface="book antiqua" panose="02040602050305030304" pitchFamily="18" charset="0"/>
              </a:rPr>
              <a:t>pid</a:t>
            </a:r>
            <a:r>
              <a:rPr lang="en-IN" sz="1400" b="0" i="0" dirty="0">
                <a:solidFill>
                  <a:srgbClr val="222222"/>
                </a:solidFill>
                <a:effectLst/>
                <a:latin typeface="book antiqua" panose="02040602050305030304" pitchFamily="18" charset="0"/>
              </a:rPr>
              <a:t>, aid, fid, </a:t>
            </a:r>
            <a:r>
              <a:rPr lang="en-IN" sz="1400" b="0" i="0" dirty="0" err="1">
                <a:solidFill>
                  <a:srgbClr val="222222"/>
                </a:solidFill>
                <a:effectLst/>
                <a:latin typeface="book antiqua" panose="02040602050305030304" pitchFamily="18" charset="0"/>
              </a:rPr>
              <a:t>fdate</a:t>
            </a:r>
            <a:r>
              <a:rPr lang="en-IN" sz="1400" b="0" i="0" dirty="0">
                <a:solidFill>
                  <a:srgbClr val="222222"/>
                </a:solidFill>
                <a:effectLst/>
                <a:latin typeface="book antiqua" panose="02040602050305030304" pitchFamily="18" charset="0"/>
              </a:rPr>
              <a:t>)</a:t>
            </a:r>
            <a:endParaRPr lang="en-IN" sz="1400"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DD474691-13C7-F598-DD72-7EBE92C5C668}"/>
              </a:ext>
            </a:extLst>
          </p:cNvPr>
          <p:cNvSpPr txBox="1"/>
          <p:nvPr/>
        </p:nvSpPr>
        <p:spPr>
          <a:xfrm>
            <a:off x="976264" y="3552238"/>
            <a:ext cx="7074585" cy="338554"/>
          </a:xfrm>
          <a:prstGeom prst="rect">
            <a:avLst/>
          </a:prstGeom>
          <a:noFill/>
        </p:spPr>
        <p:txBody>
          <a:bodyPr wrap="square">
            <a:spAutoFit/>
          </a:bodyPr>
          <a:lstStyle/>
          <a:p>
            <a:r>
              <a:rPr lang="en-US" sz="1600" b="0" i="0" dirty="0" smtClean="0">
                <a:effectLst/>
                <a:latin typeface="book antiqua" panose="02040602050305030304" pitchFamily="18" charset="0"/>
              </a:rPr>
              <a:t>Π</a:t>
            </a:r>
            <a:r>
              <a:rPr lang="en-US" sz="1600" b="0" i="1" baseline="-25000" dirty="0" smtClean="0">
                <a:effectLst/>
                <a:latin typeface="book antiqua" panose="02040602050305030304" pitchFamily="18" charset="0"/>
              </a:rPr>
              <a:t> </a:t>
            </a:r>
            <a:r>
              <a:rPr lang="en-US" sz="1600" b="0" i="1" baseline="-25000" dirty="0" err="1" smtClean="0">
                <a:effectLst/>
                <a:latin typeface="book antiqua" panose="02040602050305030304" pitchFamily="18" charset="0"/>
              </a:rPr>
              <a:t>aname</a:t>
            </a:r>
            <a:r>
              <a:rPr lang="en-US" sz="1600" b="0" i="1" baseline="-25000" dirty="0" smtClean="0">
                <a:effectLst/>
                <a:latin typeface="book antiqua" panose="02040602050305030304" pitchFamily="18" charset="0"/>
              </a:rPr>
              <a:t> </a:t>
            </a:r>
            <a:r>
              <a:rPr lang="en-US" sz="1600" b="0" i="0" dirty="0" smtClean="0">
                <a:effectLst/>
                <a:latin typeface="book antiqua" panose="02040602050305030304" pitchFamily="18" charset="0"/>
              </a:rPr>
              <a:t>(agency </a:t>
            </a:r>
            <a:r>
              <a:rPr lang="en-US" sz="1600" b="0" i="0" dirty="0" smtClean="0">
                <a:effectLst/>
                <a:latin typeface="cambria math" panose="02040503050406030204" pitchFamily="18" charset="0"/>
              </a:rPr>
              <a:t>⨝</a:t>
            </a:r>
            <a:r>
              <a:rPr lang="en-US" sz="1600" b="0" i="1" baseline="-25000" dirty="0" smtClean="0">
                <a:effectLst/>
                <a:latin typeface="book antiqua" panose="02040602050305030304" pitchFamily="18" charset="0"/>
              </a:rPr>
              <a:t> </a:t>
            </a:r>
            <a:r>
              <a:rPr lang="en-US" sz="1600" b="0" i="1" baseline="-25000" dirty="0" err="1" smtClean="0">
                <a:effectLst/>
                <a:latin typeface="book antiqua" panose="02040602050305030304" pitchFamily="18" charset="0"/>
              </a:rPr>
              <a:t>acity</a:t>
            </a:r>
            <a:r>
              <a:rPr lang="en-US" sz="1600" b="0" i="1" baseline="-25000" dirty="0" smtClean="0">
                <a:effectLst/>
                <a:latin typeface="book antiqua" panose="02040602050305030304" pitchFamily="18" charset="0"/>
              </a:rPr>
              <a:t> = </a:t>
            </a:r>
            <a:r>
              <a:rPr lang="en-US" sz="1600" b="0" i="1" baseline="-25000" dirty="0" err="1" smtClean="0">
                <a:effectLst/>
                <a:latin typeface="book antiqua" panose="02040602050305030304" pitchFamily="18" charset="0"/>
              </a:rPr>
              <a:t>pcity</a:t>
            </a:r>
            <a:r>
              <a:rPr lang="en-US" sz="1600" b="0" i="1" baseline="-25000" dirty="0" smtClean="0">
                <a:effectLst/>
                <a:latin typeface="book antiqua" panose="02040602050305030304" pitchFamily="18" charset="0"/>
              </a:rPr>
              <a:t> </a:t>
            </a:r>
            <a:r>
              <a:rPr lang="en-US" sz="1600" b="0" i="0" dirty="0" smtClean="0">
                <a:effectLst/>
                <a:latin typeface="book antiqua" panose="02040602050305030304" pitchFamily="18" charset="0"/>
              </a:rPr>
              <a:t>(σ</a:t>
            </a:r>
            <a:r>
              <a:rPr lang="en-US" sz="1600" b="0" i="1" baseline="-25000" dirty="0" smtClean="0">
                <a:effectLst/>
                <a:latin typeface="book antiqua" panose="02040602050305030304" pitchFamily="18" charset="0"/>
              </a:rPr>
              <a:t> </a:t>
            </a:r>
            <a:r>
              <a:rPr lang="en-US" sz="1600" b="0" i="1" baseline="-25000" dirty="0" err="1" smtClean="0">
                <a:effectLst/>
                <a:latin typeface="book antiqua" panose="02040602050305030304" pitchFamily="18" charset="0"/>
              </a:rPr>
              <a:t>pid</a:t>
            </a:r>
            <a:r>
              <a:rPr lang="en-US" sz="1600" b="0" i="1" baseline="-25000" dirty="0" smtClean="0">
                <a:effectLst/>
                <a:latin typeface="book antiqua" panose="02040602050305030304" pitchFamily="18" charset="0"/>
              </a:rPr>
              <a:t> = 123 </a:t>
            </a:r>
            <a:r>
              <a:rPr lang="en-US" sz="1600" b="0" i="0" dirty="0" smtClean="0">
                <a:effectLst/>
                <a:latin typeface="book antiqua" panose="02040602050305030304" pitchFamily="18" charset="0"/>
              </a:rPr>
              <a:t>(passenger)))</a:t>
            </a:r>
            <a:endParaRPr lang="en-IN" sz="1600" dirty="0"/>
          </a:p>
        </p:txBody>
      </p:sp>
      <p:sp>
        <p:nvSpPr>
          <p:cNvPr id="2" name="Rectangle 1"/>
          <p:cNvSpPr/>
          <p:nvPr/>
        </p:nvSpPr>
        <p:spPr>
          <a:xfrm>
            <a:off x="976264" y="2813574"/>
            <a:ext cx="10693400" cy="276999"/>
          </a:xfrm>
          <a:prstGeom prst="rect">
            <a:avLst/>
          </a:prstGeom>
        </p:spPr>
        <p:txBody>
          <a:bodyPr wrap="square">
            <a:spAutoFit/>
          </a:bodyPr>
          <a:lstStyle/>
          <a:p>
            <a:r>
              <a:rPr lang="en-US" sz="1200" dirty="0"/>
              <a:t>SELECT </a:t>
            </a:r>
            <a:r>
              <a:rPr lang="en-US" sz="1200" dirty="0" err="1"/>
              <a:t>aname</a:t>
            </a:r>
            <a:r>
              <a:rPr lang="en-US" sz="1200" dirty="0"/>
              <a:t> FROM agency WHERE </a:t>
            </a:r>
            <a:r>
              <a:rPr lang="en-US" sz="1200" dirty="0" err="1"/>
              <a:t>acity</a:t>
            </a:r>
            <a:r>
              <a:rPr lang="en-US" sz="1200" dirty="0"/>
              <a:t> = ( SELECT </a:t>
            </a:r>
            <a:r>
              <a:rPr lang="en-US" sz="1200" dirty="0" err="1"/>
              <a:t>pcity</a:t>
            </a:r>
            <a:r>
              <a:rPr lang="en-US" sz="1200" dirty="0"/>
              <a:t> FROM passenger WHERE </a:t>
            </a:r>
            <a:r>
              <a:rPr lang="en-US" sz="1200" dirty="0" err="1"/>
              <a:t>pid</a:t>
            </a:r>
            <a:r>
              <a:rPr lang="en-US" sz="1200" dirty="0"/>
              <a:t> = 123 );</a:t>
            </a:r>
            <a:endParaRPr lang="en-IN" sz="1200" dirty="0"/>
          </a:p>
        </p:txBody>
      </p:sp>
      <p:sp>
        <p:nvSpPr>
          <p:cNvPr id="5" name="Rectangle 4"/>
          <p:cNvSpPr/>
          <p:nvPr/>
        </p:nvSpPr>
        <p:spPr>
          <a:xfrm>
            <a:off x="976264" y="3182906"/>
            <a:ext cx="9768113" cy="276999"/>
          </a:xfrm>
          <a:prstGeom prst="rect">
            <a:avLst/>
          </a:prstGeom>
        </p:spPr>
        <p:txBody>
          <a:bodyPr wrap="square">
            <a:spAutoFit/>
          </a:bodyPr>
          <a:lstStyle/>
          <a:p>
            <a:r>
              <a:rPr lang="en-US" sz="1200" dirty="0"/>
              <a:t>SELECT </a:t>
            </a:r>
            <a:r>
              <a:rPr lang="en-US" sz="1200" dirty="0" err="1"/>
              <a:t>a.aname</a:t>
            </a:r>
            <a:r>
              <a:rPr lang="en-US" sz="1200" dirty="0"/>
              <a:t> FROM agency a JOIN passenger p ON </a:t>
            </a:r>
            <a:r>
              <a:rPr lang="en-US" sz="1200" dirty="0" err="1"/>
              <a:t>a.acity</a:t>
            </a:r>
            <a:r>
              <a:rPr lang="en-US" sz="1200" dirty="0"/>
              <a:t> = </a:t>
            </a:r>
            <a:r>
              <a:rPr lang="en-US" sz="1200" dirty="0" err="1"/>
              <a:t>p.pcity</a:t>
            </a:r>
            <a:r>
              <a:rPr lang="en-US" sz="1200" dirty="0"/>
              <a:t> WHERE </a:t>
            </a:r>
            <a:r>
              <a:rPr lang="en-US" sz="1200" dirty="0" err="1"/>
              <a:t>p.pid</a:t>
            </a:r>
            <a:r>
              <a:rPr lang="en-US" sz="1200" dirty="0"/>
              <a:t> = 123;</a:t>
            </a:r>
            <a:endParaRPr lang="en-IN" sz="1200" dirty="0"/>
          </a:p>
        </p:txBody>
      </p:sp>
      <p:sp>
        <p:nvSpPr>
          <p:cNvPr id="6" name="Rectangle 5"/>
          <p:cNvSpPr/>
          <p:nvPr/>
        </p:nvSpPr>
        <p:spPr>
          <a:xfrm>
            <a:off x="1135117" y="4251463"/>
            <a:ext cx="10951780" cy="461665"/>
          </a:xfrm>
          <a:prstGeom prst="rect">
            <a:avLst/>
          </a:prstGeom>
        </p:spPr>
        <p:txBody>
          <a:bodyPr wrap="square">
            <a:spAutoFit/>
          </a:bodyPr>
          <a:lstStyle/>
          <a:p>
            <a:r>
              <a:rPr lang="en-IN" sz="2400" dirty="0"/>
              <a:t>{t∣∃</a:t>
            </a:r>
            <a:r>
              <a:rPr lang="en-IN" sz="2400" dirty="0" err="1"/>
              <a:t>a∈agency</a:t>
            </a:r>
            <a:r>
              <a:rPr lang="en-IN" sz="2400" dirty="0"/>
              <a:t> ∃</a:t>
            </a:r>
            <a:r>
              <a:rPr lang="en-IN" sz="2400" dirty="0" err="1"/>
              <a:t>p∈passenger</a:t>
            </a:r>
            <a:r>
              <a:rPr lang="en-IN" sz="2400" dirty="0"/>
              <a:t> (p[</a:t>
            </a:r>
            <a:r>
              <a:rPr lang="en-IN" sz="2400" dirty="0" err="1"/>
              <a:t>pid</a:t>
            </a:r>
            <a:r>
              <a:rPr lang="en-IN" sz="2400" dirty="0"/>
              <a:t>]=123 ∧ a[</a:t>
            </a:r>
            <a:r>
              <a:rPr lang="en-IN" sz="2400" dirty="0" err="1"/>
              <a:t>acity</a:t>
            </a:r>
            <a:r>
              <a:rPr lang="en-IN" sz="2400" dirty="0"/>
              <a:t>]=p[</a:t>
            </a:r>
            <a:r>
              <a:rPr lang="en-IN" sz="2400" dirty="0" err="1"/>
              <a:t>pcity</a:t>
            </a:r>
            <a:r>
              <a:rPr lang="en-IN" sz="2400" dirty="0"/>
              <a:t>] ∧ t[</a:t>
            </a:r>
            <a:r>
              <a:rPr lang="en-IN" sz="2400" dirty="0" err="1"/>
              <a:t>aname</a:t>
            </a:r>
            <a:r>
              <a:rPr lang="en-IN" sz="2400" dirty="0"/>
              <a:t>]=a[</a:t>
            </a:r>
            <a:r>
              <a:rPr lang="en-IN" sz="2400" dirty="0" err="1"/>
              <a:t>aname</a:t>
            </a:r>
            <a:r>
              <a:rPr lang="en-IN" sz="2400" dirty="0"/>
              <a:t>])}</a:t>
            </a:r>
          </a:p>
        </p:txBody>
      </p:sp>
      <p:sp>
        <p:nvSpPr>
          <p:cNvPr id="7" name="Rectangle 6"/>
          <p:cNvSpPr/>
          <p:nvPr/>
        </p:nvSpPr>
        <p:spPr>
          <a:xfrm>
            <a:off x="1282261" y="5050249"/>
            <a:ext cx="10258097" cy="523220"/>
          </a:xfrm>
          <a:prstGeom prst="rect">
            <a:avLst/>
          </a:prstGeom>
        </p:spPr>
        <p:txBody>
          <a:bodyPr wrap="square">
            <a:spAutoFit/>
          </a:bodyPr>
          <a:lstStyle/>
          <a:p>
            <a:r>
              <a:rPr lang="en-IN" sz="2800" dirty="0"/>
              <a:t>{⟨an⟩∣∃</a:t>
            </a:r>
            <a:r>
              <a:rPr lang="en-IN" sz="2800" dirty="0" err="1"/>
              <a:t>id∃ct</a:t>
            </a:r>
            <a:r>
              <a:rPr lang="en-IN" sz="2800" dirty="0"/>
              <a:t> (⟨</a:t>
            </a:r>
            <a:r>
              <a:rPr lang="en-IN" sz="2800" dirty="0" err="1"/>
              <a:t>id,an,ct</a:t>
            </a:r>
            <a:r>
              <a:rPr lang="en-IN" sz="2800" dirty="0"/>
              <a:t>⟩∈agency ∧ ∃</a:t>
            </a:r>
            <a:r>
              <a:rPr lang="en-IN" sz="2800" dirty="0" err="1"/>
              <a:t>pn∃g</a:t>
            </a:r>
            <a:r>
              <a:rPr lang="en-IN" sz="2800" dirty="0"/>
              <a:t> (⟨123,pn,g,ct⟩∈passenger))} </a:t>
            </a:r>
          </a:p>
        </p:txBody>
      </p:sp>
    </p:spTree>
    <p:extLst>
      <p:ext uri="{BB962C8B-B14F-4D97-AF65-F5344CB8AC3E}">
        <p14:creationId xmlns:p14="http://schemas.microsoft.com/office/powerpoint/2010/main" val="39441081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g) Get the details of flights that are scheduled on both dates 01/12/2020 and 02/12/2020 at 16:00 hours.</a:t>
            </a: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0646970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495968" y="2183183"/>
            <a:ext cx="10163771" cy="338554"/>
          </a:xfrm>
          <a:prstGeom prst="rect">
            <a:avLst/>
          </a:prstGeom>
          <a:noFill/>
        </p:spPr>
        <p:txBody>
          <a:bodyPr wrap="square">
            <a:spAutoFit/>
          </a:bodyPr>
          <a:lstStyle/>
          <a:p>
            <a:pPr marL="0" marR="0" algn="ctr">
              <a:spcBef>
                <a:spcPts val="600"/>
              </a:spcBef>
              <a:spcAft>
                <a:spcPts val="600"/>
              </a:spcAft>
            </a:pPr>
            <a:r>
              <a:rPr lang="en-US" sz="1600" b="1" i="0" dirty="0">
                <a:solidFill>
                  <a:srgbClr val="800080"/>
                </a:solidFill>
                <a:effectLst/>
                <a:latin typeface="book antiqua" panose="02040602050305030304" pitchFamily="18" charset="0"/>
              </a:rPr>
              <a:t>g) Get the details of flights that are scheduled on both dates 01/12/2020 and 02/12/2020 at 16:00 hours.</a:t>
            </a:r>
            <a:endParaRPr lang="en-IN" sz="2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169184" y="213413"/>
            <a:ext cx="10749547" cy="1969770"/>
          </a:xfrm>
          <a:prstGeom prst="rect">
            <a:avLst/>
          </a:prstGeom>
          <a:noFill/>
        </p:spPr>
        <p:txBody>
          <a:bodyPr wrap="square">
            <a:spAutoFit/>
          </a:bodyPr>
          <a:lstStyle/>
          <a:p>
            <a:pPr marL="0" marR="0" algn="just">
              <a:spcBef>
                <a:spcPts val="600"/>
              </a:spcBef>
              <a:spcAft>
                <a:spcPts val="600"/>
              </a:spcAft>
            </a:pPr>
            <a:r>
              <a:rPr lang="en-IN" sz="1200" b="1" i="0" u="sng" dirty="0">
                <a:solidFill>
                  <a:srgbClr val="222222"/>
                </a:solidFill>
                <a:effectLst/>
                <a:latin typeface="book antiqua" panose="02040602050305030304" pitchFamily="18" charset="0"/>
              </a:rPr>
              <a:t>Question:</a:t>
            </a:r>
            <a:endParaRPr lang="en-IN" sz="1200" b="0" i="0" dirty="0">
              <a:solidFill>
                <a:srgbClr val="222222"/>
              </a:solidFill>
              <a:effectLst/>
              <a:latin typeface="Arial" panose="020B0604020202020204" pitchFamily="34" charset="0"/>
            </a:endParaRPr>
          </a:p>
          <a:p>
            <a:pPr marL="0" marR="0" algn="just">
              <a:spcBef>
                <a:spcPts val="600"/>
              </a:spcBef>
              <a:spcAft>
                <a:spcPts val="600"/>
              </a:spcAft>
            </a:pPr>
            <a:r>
              <a:rPr lang="en-IN" sz="1200" b="0" i="0" dirty="0">
                <a:solidFill>
                  <a:srgbClr val="222222"/>
                </a:solidFill>
                <a:effectLst/>
                <a:latin typeface="book antiqua" panose="02040602050305030304" pitchFamily="18" charset="0"/>
              </a:rPr>
              <a:t>Consider the following relational database schema consisting of the four relation schemas:</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passenger </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pid</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pname</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pgender</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pcity</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agency </a:t>
            </a:r>
            <a:r>
              <a:rPr lang="en-IN" sz="1200" b="0" i="0" dirty="0">
                <a:solidFill>
                  <a:srgbClr val="222222"/>
                </a:solidFill>
                <a:effectLst/>
                <a:latin typeface="book antiqua" panose="02040602050305030304" pitchFamily="18" charset="0"/>
              </a:rPr>
              <a:t>( aid, </a:t>
            </a:r>
            <a:r>
              <a:rPr lang="en-IN" sz="1200" b="0" i="0" dirty="0" err="1">
                <a:solidFill>
                  <a:srgbClr val="222222"/>
                </a:solidFill>
                <a:effectLst/>
                <a:latin typeface="book antiqua" panose="02040602050305030304" pitchFamily="18" charset="0"/>
              </a:rPr>
              <a:t>aname</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acity</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flight </a:t>
            </a:r>
            <a:r>
              <a:rPr lang="en-IN" sz="1200" b="0" i="0" dirty="0">
                <a:solidFill>
                  <a:srgbClr val="222222"/>
                </a:solidFill>
                <a:effectLst/>
                <a:latin typeface="book antiqua" panose="02040602050305030304" pitchFamily="18" charset="0"/>
              </a:rPr>
              <a:t>(fid, </a:t>
            </a:r>
            <a:r>
              <a:rPr lang="en-IN" sz="1200" b="0" i="0" dirty="0" err="1">
                <a:solidFill>
                  <a:srgbClr val="222222"/>
                </a:solidFill>
                <a:effectLst/>
                <a:latin typeface="book antiqua" panose="02040602050305030304" pitchFamily="18" charset="0"/>
              </a:rPr>
              <a:t>fdate</a:t>
            </a:r>
            <a:r>
              <a:rPr lang="en-IN" sz="1200" b="0" i="0" dirty="0">
                <a:solidFill>
                  <a:srgbClr val="222222"/>
                </a:solidFill>
                <a:effectLst/>
                <a:latin typeface="book antiqua" panose="02040602050305030304" pitchFamily="18" charset="0"/>
              </a:rPr>
              <a:t>, time, </a:t>
            </a:r>
            <a:r>
              <a:rPr lang="en-IN" sz="1200" b="0" i="0" dirty="0" err="1">
                <a:solidFill>
                  <a:srgbClr val="222222"/>
                </a:solidFill>
                <a:effectLst/>
                <a:latin typeface="book antiqua" panose="02040602050305030304" pitchFamily="18" charset="0"/>
              </a:rPr>
              <a:t>src</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dest</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booking </a:t>
            </a:r>
            <a:r>
              <a:rPr lang="en-IN" sz="1200" b="0" i="0" dirty="0">
                <a:solidFill>
                  <a:srgbClr val="222222"/>
                </a:solidFill>
                <a:effectLst/>
                <a:latin typeface="book antiqua" panose="02040602050305030304" pitchFamily="18" charset="0"/>
              </a:rPr>
              <a:t>(</a:t>
            </a:r>
            <a:r>
              <a:rPr lang="en-IN" sz="1200" b="0" i="0" dirty="0" err="1">
                <a:solidFill>
                  <a:srgbClr val="222222"/>
                </a:solidFill>
                <a:effectLst/>
                <a:latin typeface="book antiqua" panose="02040602050305030304" pitchFamily="18" charset="0"/>
              </a:rPr>
              <a:t>pid</a:t>
            </a:r>
            <a:r>
              <a:rPr lang="en-IN" sz="1200" b="0" i="0" dirty="0">
                <a:solidFill>
                  <a:srgbClr val="222222"/>
                </a:solidFill>
                <a:effectLst/>
                <a:latin typeface="book antiqua" panose="02040602050305030304" pitchFamily="18" charset="0"/>
              </a:rPr>
              <a:t>, aid, fid, </a:t>
            </a:r>
            <a:r>
              <a:rPr lang="en-IN" sz="1200" b="0" i="0" dirty="0" err="1">
                <a:solidFill>
                  <a:srgbClr val="222222"/>
                </a:solidFill>
                <a:effectLst/>
                <a:latin typeface="book antiqua" panose="02040602050305030304" pitchFamily="18" charset="0"/>
              </a:rPr>
              <a:t>fdate</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9BF6C7F0-8CA2-BD4F-E2F3-155EE065F15D}"/>
              </a:ext>
            </a:extLst>
          </p:cNvPr>
          <p:cNvSpPr txBox="1"/>
          <p:nvPr/>
        </p:nvSpPr>
        <p:spPr>
          <a:xfrm>
            <a:off x="495968" y="2630846"/>
            <a:ext cx="10896600" cy="369332"/>
          </a:xfrm>
          <a:prstGeom prst="rect">
            <a:avLst/>
          </a:prstGeom>
          <a:noFill/>
        </p:spPr>
        <p:txBody>
          <a:bodyPr wrap="square">
            <a:spAutoFit/>
          </a:bodyPr>
          <a:lstStyle/>
          <a:p>
            <a:r>
              <a:rPr lang="en-US" b="0" i="0" dirty="0">
                <a:effectLst/>
                <a:latin typeface="book antiqua" panose="02040602050305030304" pitchFamily="18" charset="0"/>
              </a:rPr>
              <a:t>(σ</a:t>
            </a:r>
            <a:r>
              <a:rPr lang="en-US" b="0" i="1" baseline="-25000" dirty="0">
                <a:effectLst/>
                <a:latin typeface="book antiqua" panose="02040602050305030304" pitchFamily="18" charset="0"/>
              </a:rPr>
              <a:t> </a:t>
            </a:r>
            <a:r>
              <a:rPr lang="en-US" b="0" i="1" baseline="-25000" dirty="0" err="1">
                <a:effectLst/>
                <a:latin typeface="book antiqua" panose="02040602050305030304" pitchFamily="18" charset="0"/>
              </a:rPr>
              <a:t>fdate</a:t>
            </a:r>
            <a:r>
              <a:rPr lang="en-US" b="0" i="1" baseline="-25000" dirty="0">
                <a:effectLst/>
                <a:latin typeface="book antiqua" panose="02040602050305030304" pitchFamily="18" charset="0"/>
              </a:rPr>
              <a:t> = 01/12/2020 ^ time = 16:00 </a:t>
            </a:r>
            <a:r>
              <a:rPr lang="en-US" b="0" i="0" dirty="0">
                <a:effectLst/>
                <a:latin typeface="book antiqua" panose="02040602050305030304" pitchFamily="18" charset="0"/>
              </a:rPr>
              <a:t>(flight)) </a:t>
            </a:r>
            <a:r>
              <a:rPr lang="en-US" b="0" i="0" dirty="0">
                <a:effectLst/>
                <a:latin typeface="Arial" panose="020B0604020202020204" pitchFamily="34" charset="0"/>
              </a:rPr>
              <a:t>∩</a:t>
            </a:r>
            <a:r>
              <a:rPr lang="en-US" b="0" i="0" dirty="0">
                <a:effectLst/>
                <a:latin typeface="book antiqua" panose="02040602050305030304" pitchFamily="18" charset="0"/>
              </a:rPr>
              <a:t> (σ</a:t>
            </a:r>
            <a:r>
              <a:rPr lang="en-US" b="0" i="1" baseline="-25000" dirty="0">
                <a:effectLst/>
                <a:latin typeface="book antiqua" panose="02040602050305030304" pitchFamily="18" charset="0"/>
              </a:rPr>
              <a:t> </a:t>
            </a:r>
            <a:r>
              <a:rPr lang="en-US" b="0" i="1" baseline="-25000" dirty="0" err="1">
                <a:effectLst/>
                <a:latin typeface="book antiqua" panose="02040602050305030304" pitchFamily="18" charset="0"/>
              </a:rPr>
              <a:t>fdate</a:t>
            </a:r>
            <a:r>
              <a:rPr lang="en-US" b="0" i="1" baseline="-25000" dirty="0">
                <a:effectLst/>
                <a:latin typeface="book antiqua" panose="02040602050305030304" pitchFamily="18" charset="0"/>
              </a:rPr>
              <a:t> = 02/12/2020 ^ time = 16:00 </a:t>
            </a:r>
            <a:r>
              <a:rPr lang="en-US" b="0" i="0" dirty="0">
                <a:effectLst/>
                <a:latin typeface="book antiqua" panose="02040602050305030304" pitchFamily="18" charset="0"/>
              </a:rPr>
              <a:t>(flight))</a:t>
            </a:r>
            <a:endParaRPr lang="en-IN" dirty="0"/>
          </a:p>
        </p:txBody>
      </p:sp>
      <p:sp>
        <p:nvSpPr>
          <p:cNvPr id="5" name="Rectangle 4"/>
          <p:cNvSpPr/>
          <p:nvPr/>
        </p:nvSpPr>
        <p:spPr>
          <a:xfrm>
            <a:off x="495968" y="3010687"/>
            <a:ext cx="10005201" cy="523220"/>
          </a:xfrm>
          <a:prstGeom prst="rect">
            <a:avLst/>
          </a:prstGeom>
        </p:spPr>
        <p:txBody>
          <a:bodyPr wrap="square">
            <a:spAutoFit/>
          </a:bodyPr>
          <a:lstStyle/>
          <a:p>
            <a:r>
              <a:rPr lang="en-US" sz="1400" dirty="0"/>
              <a:t>SELECT f1.fid, f1.fdate, f1.time, f1.src, f1.dest </a:t>
            </a:r>
            <a:r>
              <a:rPr lang="en-US" sz="1400" dirty="0" smtClean="0"/>
              <a:t>FROM </a:t>
            </a:r>
            <a:r>
              <a:rPr lang="en-US" sz="1400" dirty="0"/>
              <a:t>flight f1 JOIN flight f2 </a:t>
            </a:r>
            <a:r>
              <a:rPr lang="en-US" sz="1400" dirty="0" smtClean="0"/>
              <a:t>ON </a:t>
            </a:r>
            <a:r>
              <a:rPr lang="en-US" sz="1400" dirty="0"/>
              <a:t>f1.fid = f2.fid </a:t>
            </a:r>
            <a:r>
              <a:rPr lang="en-US" sz="1400" dirty="0" smtClean="0"/>
              <a:t>WHERE </a:t>
            </a:r>
            <a:r>
              <a:rPr lang="en-US" sz="1400" dirty="0"/>
              <a:t>f1.fdate = '2020-12-01' AND f1.time = '16:00' </a:t>
            </a:r>
            <a:r>
              <a:rPr lang="en-US" sz="1400" dirty="0" smtClean="0"/>
              <a:t>AND </a:t>
            </a:r>
            <a:r>
              <a:rPr lang="en-US" sz="1400" dirty="0"/>
              <a:t>f2.fdate = '2020-12-02' AND f2.time = '16:00';</a:t>
            </a:r>
            <a:endParaRPr lang="en-IN" sz="1400" dirty="0"/>
          </a:p>
        </p:txBody>
      </p:sp>
      <p:sp>
        <p:nvSpPr>
          <p:cNvPr id="6" name="Rectangle 5"/>
          <p:cNvSpPr/>
          <p:nvPr/>
        </p:nvSpPr>
        <p:spPr>
          <a:xfrm>
            <a:off x="1" y="3680174"/>
            <a:ext cx="12192000" cy="954107"/>
          </a:xfrm>
          <a:prstGeom prst="rect">
            <a:avLst/>
          </a:prstGeom>
        </p:spPr>
        <p:txBody>
          <a:bodyPr wrap="square">
            <a:spAutoFit/>
          </a:bodyPr>
          <a:lstStyle/>
          <a:p>
            <a:r>
              <a:rPr lang="en-IN" sz="2800" dirty="0"/>
              <a:t>{t∣∃f1​∈flight ∃f2​∈flight ( f1​[fid]=f2​[fid] ∧ f1​[</a:t>
            </a:r>
            <a:r>
              <a:rPr lang="en-IN" sz="2800" dirty="0" err="1"/>
              <a:t>fdate</a:t>
            </a:r>
            <a:r>
              <a:rPr lang="en-IN" sz="2800" dirty="0"/>
              <a:t>]=′01/12/2020′ ∧ f1​[time]=′16:00′ ∧ f2​[</a:t>
            </a:r>
            <a:r>
              <a:rPr lang="en-IN" sz="2800" dirty="0" err="1"/>
              <a:t>fdate</a:t>
            </a:r>
            <a:r>
              <a:rPr lang="en-IN" sz="2800" dirty="0"/>
              <a:t>]=′02/12/2020′ ∧ f2​[time]=′16:00′ ∧ t=f1​ )}</a:t>
            </a:r>
          </a:p>
        </p:txBody>
      </p:sp>
      <p:sp>
        <p:nvSpPr>
          <p:cNvPr id="7" name="Rectangle 6"/>
          <p:cNvSpPr/>
          <p:nvPr/>
        </p:nvSpPr>
        <p:spPr>
          <a:xfrm>
            <a:off x="346843" y="4966139"/>
            <a:ext cx="11498316" cy="954107"/>
          </a:xfrm>
          <a:prstGeom prst="rect">
            <a:avLst/>
          </a:prstGeom>
        </p:spPr>
        <p:txBody>
          <a:bodyPr wrap="square">
            <a:spAutoFit/>
          </a:bodyPr>
          <a:lstStyle/>
          <a:p>
            <a:r>
              <a:rPr lang="en-IN" sz="2800" dirty="0"/>
              <a:t>{⟨f,d1​,</a:t>
            </a:r>
            <a:r>
              <a:rPr lang="en-IN" sz="2800" dirty="0" err="1"/>
              <a:t>tm,s,ds</a:t>
            </a:r>
            <a:r>
              <a:rPr lang="en-IN" sz="2800" dirty="0"/>
              <a:t>⟩∣ ⟨f,d1​,</a:t>
            </a:r>
            <a:r>
              <a:rPr lang="en-IN" sz="2800" dirty="0" err="1"/>
              <a:t>tm,s,ds</a:t>
            </a:r>
            <a:r>
              <a:rPr lang="en-IN" sz="2800" dirty="0"/>
              <a:t>⟩∈flight ∧ d1​=′01/12/2020′ ∧ tm=′16:00′ ∧ ∃s2​∃ds2​ ( ⟨f,′02/12/2020′,′16:00′,s2​,ds2​⟩∈flight )}</a:t>
            </a:r>
          </a:p>
        </p:txBody>
      </p:sp>
    </p:spTree>
    <p:extLst>
      <p:ext uri="{BB962C8B-B14F-4D97-AF65-F5344CB8AC3E}">
        <p14:creationId xmlns:p14="http://schemas.microsoft.com/office/powerpoint/2010/main" val="8428064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36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3727445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995064" y="2347269"/>
            <a:ext cx="10163771" cy="307777"/>
          </a:xfrm>
          <a:prstGeom prst="rect">
            <a:avLst/>
          </a:prstGeom>
          <a:noFill/>
        </p:spPr>
        <p:txBody>
          <a:bodyPr wrap="square">
            <a:spAutoFit/>
          </a:bodyPr>
          <a:lstStyle/>
          <a:p>
            <a:pPr marL="0" marR="0" algn="ctr">
              <a:spcBef>
                <a:spcPts val="600"/>
              </a:spcBef>
              <a:spcAft>
                <a:spcPts val="600"/>
              </a:spcAft>
            </a:pPr>
            <a:r>
              <a:rPr lang="en-US" sz="1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20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022916" y="160861"/>
            <a:ext cx="10991284" cy="1969770"/>
          </a:xfrm>
          <a:prstGeom prst="rect">
            <a:avLst/>
          </a:prstGeom>
          <a:noFill/>
        </p:spPr>
        <p:txBody>
          <a:bodyPr wrap="square">
            <a:spAutoFit/>
          </a:bodyPr>
          <a:lstStyle/>
          <a:p>
            <a:pPr marL="0" marR="0" algn="just">
              <a:spcBef>
                <a:spcPts val="600"/>
              </a:spcBef>
              <a:spcAft>
                <a:spcPts val="600"/>
              </a:spcAft>
            </a:pPr>
            <a:r>
              <a:rPr lang="en-IN" sz="1200" b="1" i="0" u="sng" dirty="0">
                <a:solidFill>
                  <a:srgbClr val="222222"/>
                </a:solidFill>
                <a:effectLst/>
                <a:latin typeface="book antiqua" panose="02040602050305030304" pitchFamily="18" charset="0"/>
              </a:rPr>
              <a:t>Question:</a:t>
            </a:r>
            <a:endParaRPr lang="en-IN" sz="1200" b="0" i="0" dirty="0">
              <a:solidFill>
                <a:srgbClr val="222222"/>
              </a:solidFill>
              <a:effectLst/>
              <a:latin typeface="Arial" panose="020B0604020202020204" pitchFamily="34" charset="0"/>
            </a:endParaRPr>
          </a:p>
          <a:p>
            <a:pPr marL="0" marR="0" algn="just">
              <a:spcBef>
                <a:spcPts val="600"/>
              </a:spcBef>
              <a:spcAft>
                <a:spcPts val="600"/>
              </a:spcAft>
            </a:pPr>
            <a:r>
              <a:rPr lang="en-IN" sz="1200" b="0" i="0" dirty="0">
                <a:solidFill>
                  <a:srgbClr val="222222"/>
                </a:solidFill>
                <a:effectLst/>
                <a:latin typeface="book antiqua" panose="02040602050305030304" pitchFamily="18" charset="0"/>
              </a:rPr>
              <a:t>Consider the following relational database schema consisting of the four relation schemas:</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passenger </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pid</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pname</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pgender</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pcity</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agency </a:t>
            </a:r>
            <a:r>
              <a:rPr lang="en-IN" sz="1200" b="0" i="0" dirty="0">
                <a:solidFill>
                  <a:srgbClr val="222222"/>
                </a:solidFill>
                <a:effectLst/>
                <a:latin typeface="book antiqua" panose="02040602050305030304" pitchFamily="18" charset="0"/>
              </a:rPr>
              <a:t>( aid, </a:t>
            </a:r>
            <a:r>
              <a:rPr lang="en-IN" sz="1200" b="0" i="0" dirty="0" err="1">
                <a:solidFill>
                  <a:srgbClr val="222222"/>
                </a:solidFill>
                <a:effectLst/>
                <a:latin typeface="book antiqua" panose="02040602050305030304" pitchFamily="18" charset="0"/>
              </a:rPr>
              <a:t>aname</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acity</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flight </a:t>
            </a:r>
            <a:r>
              <a:rPr lang="en-IN" sz="1200" b="0" i="0" dirty="0">
                <a:solidFill>
                  <a:srgbClr val="222222"/>
                </a:solidFill>
                <a:effectLst/>
                <a:latin typeface="book antiqua" panose="02040602050305030304" pitchFamily="18" charset="0"/>
              </a:rPr>
              <a:t>(fid, </a:t>
            </a:r>
            <a:r>
              <a:rPr lang="en-IN" sz="1200" b="0" i="0" dirty="0" err="1">
                <a:solidFill>
                  <a:srgbClr val="222222"/>
                </a:solidFill>
                <a:effectLst/>
                <a:latin typeface="book antiqua" panose="02040602050305030304" pitchFamily="18" charset="0"/>
              </a:rPr>
              <a:t>fdate</a:t>
            </a:r>
            <a:r>
              <a:rPr lang="en-IN" sz="1200" b="0" i="0" dirty="0">
                <a:solidFill>
                  <a:srgbClr val="222222"/>
                </a:solidFill>
                <a:effectLst/>
                <a:latin typeface="book antiqua" panose="02040602050305030304" pitchFamily="18" charset="0"/>
              </a:rPr>
              <a:t>, time, </a:t>
            </a:r>
            <a:r>
              <a:rPr lang="en-IN" sz="1200" b="0" i="0" dirty="0" err="1">
                <a:solidFill>
                  <a:srgbClr val="222222"/>
                </a:solidFill>
                <a:effectLst/>
                <a:latin typeface="book antiqua" panose="02040602050305030304" pitchFamily="18" charset="0"/>
              </a:rPr>
              <a:t>src</a:t>
            </a:r>
            <a:r>
              <a:rPr lang="en-IN" sz="1200" b="0" i="0" dirty="0">
                <a:solidFill>
                  <a:srgbClr val="222222"/>
                </a:solidFill>
                <a:effectLst/>
                <a:latin typeface="book antiqua" panose="02040602050305030304" pitchFamily="18" charset="0"/>
              </a:rPr>
              <a:t>, </a:t>
            </a:r>
            <a:r>
              <a:rPr lang="en-IN" sz="1200" b="0" i="0" dirty="0" err="1">
                <a:solidFill>
                  <a:srgbClr val="222222"/>
                </a:solidFill>
                <a:effectLst/>
                <a:latin typeface="book antiqua" panose="02040602050305030304" pitchFamily="18" charset="0"/>
              </a:rPr>
              <a:t>dest</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a:p>
            <a:pPr marL="457200" marR="0" algn="just">
              <a:spcBef>
                <a:spcPts val="600"/>
              </a:spcBef>
              <a:spcAft>
                <a:spcPts val="600"/>
              </a:spcAft>
            </a:pPr>
            <a:r>
              <a:rPr lang="en-IN" sz="1200" b="1" i="0" dirty="0">
                <a:solidFill>
                  <a:srgbClr val="222222"/>
                </a:solidFill>
                <a:effectLst/>
                <a:latin typeface="book antiqua" panose="02040602050305030304" pitchFamily="18" charset="0"/>
              </a:rPr>
              <a:t>booking </a:t>
            </a:r>
            <a:r>
              <a:rPr lang="en-IN" sz="1200" b="0" i="0" dirty="0">
                <a:solidFill>
                  <a:srgbClr val="222222"/>
                </a:solidFill>
                <a:effectLst/>
                <a:latin typeface="book antiqua" panose="02040602050305030304" pitchFamily="18" charset="0"/>
              </a:rPr>
              <a:t>(</a:t>
            </a:r>
            <a:r>
              <a:rPr lang="en-IN" sz="1200" b="0" i="0" dirty="0" err="1">
                <a:solidFill>
                  <a:srgbClr val="222222"/>
                </a:solidFill>
                <a:effectLst/>
                <a:latin typeface="book antiqua" panose="02040602050305030304" pitchFamily="18" charset="0"/>
              </a:rPr>
              <a:t>pid</a:t>
            </a:r>
            <a:r>
              <a:rPr lang="en-IN" sz="1200" b="0" i="0" dirty="0">
                <a:solidFill>
                  <a:srgbClr val="222222"/>
                </a:solidFill>
                <a:effectLst/>
                <a:latin typeface="book antiqua" panose="02040602050305030304" pitchFamily="18" charset="0"/>
              </a:rPr>
              <a:t>, aid, fid, </a:t>
            </a:r>
            <a:r>
              <a:rPr lang="en-IN" sz="1200" b="0" i="0" dirty="0" err="1">
                <a:solidFill>
                  <a:srgbClr val="222222"/>
                </a:solidFill>
                <a:effectLst/>
                <a:latin typeface="book antiqua" panose="02040602050305030304" pitchFamily="18" charset="0"/>
              </a:rPr>
              <a:t>fdate</a:t>
            </a:r>
            <a:r>
              <a:rPr lang="en-IN" sz="1200" b="0" i="0" dirty="0">
                <a:solidFill>
                  <a:srgbClr val="222222"/>
                </a:solidFill>
                <a:effectLst/>
                <a:latin typeface="book antiqua" panose="02040602050305030304" pitchFamily="18" charset="0"/>
              </a:rPr>
              <a:t>)</a:t>
            </a:r>
            <a:endParaRPr lang="en-IN" sz="1200"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46F1B93A-1AFC-F6A0-D9BE-12C3332523C6}"/>
              </a:ext>
            </a:extLst>
          </p:cNvPr>
          <p:cNvSpPr txBox="1"/>
          <p:nvPr/>
        </p:nvSpPr>
        <p:spPr>
          <a:xfrm>
            <a:off x="674538" y="3076311"/>
            <a:ext cx="11059885" cy="369332"/>
          </a:xfrm>
          <a:prstGeom prst="rect">
            <a:avLst/>
          </a:prstGeom>
          <a:noFill/>
        </p:spPr>
        <p:txBody>
          <a:bodyPr wrap="square">
            <a:spAutoFit/>
          </a:bodyPr>
          <a:lstStyle/>
          <a:p>
            <a:r>
              <a:rPr lang="en-US" b="0" i="0" dirty="0">
                <a:solidFill>
                  <a:srgbClr val="222222"/>
                </a:solidFill>
                <a:effectLst/>
                <a:latin typeface="book antiqua" panose="02040602050305030304" pitchFamily="18" charset="0"/>
              </a:rPr>
              <a:t>(σ</a:t>
            </a:r>
            <a:r>
              <a:rPr lang="en-US" b="0" i="1" baseline="-25000" dirty="0">
                <a:solidFill>
                  <a:srgbClr val="222222"/>
                </a:solidFill>
                <a:effectLst/>
                <a:latin typeface="book antiqua" panose="02040602050305030304" pitchFamily="18" charset="0"/>
              </a:rPr>
              <a:t> </a:t>
            </a:r>
            <a:r>
              <a:rPr lang="en-US" b="0" i="1" baseline="-25000" dirty="0" err="1">
                <a:solidFill>
                  <a:srgbClr val="222222"/>
                </a:solidFill>
                <a:effectLst/>
                <a:latin typeface="book antiqua" panose="02040602050305030304" pitchFamily="18" charset="0"/>
              </a:rPr>
              <a:t>fdate</a:t>
            </a:r>
            <a:r>
              <a:rPr lang="en-US" b="0" i="1" baseline="-25000" dirty="0">
                <a:solidFill>
                  <a:srgbClr val="222222"/>
                </a:solidFill>
                <a:effectLst/>
                <a:latin typeface="book antiqua" panose="02040602050305030304" pitchFamily="18" charset="0"/>
              </a:rPr>
              <a:t> = 01/12/2020 ^ time = 16:00 </a:t>
            </a:r>
            <a:r>
              <a:rPr lang="en-US" b="0" i="0" dirty="0">
                <a:solidFill>
                  <a:srgbClr val="222222"/>
                </a:solidFill>
                <a:effectLst/>
                <a:latin typeface="book antiqua" panose="02040602050305030304" pitchFamily="18" charset="0"/>
              </a:rPr>
              <a:t>(flight)) </a:t>
            </a:r>
            <a:r>
              <a:rPr lang="en-US" b="0" i="0" dirty="0">
                <a:solidFill>
                  <a:srgbClr val="222222"/>
                </a:solidFill>
                <a:effectLst/>
                <a:latin typeface="Arial" panose="020B0604020202020204" pitchFamily="34" charset="0"/>
              </a:rPr>
              <a:t>∪</a:t>
            </a:r>
            <a:r>
              <a:rPr lang="en-US" b="0" i="0" dirty="0">
                <a:solidFill>
                  <a:srgbClr val="222222"/>
                </a:solidFill>
                <a:effectLst/>
                <a:latin typeface="book antiqua" panose="02040602050305030304" pitchFamily="18" charset="0"/>
              </a:rPr>
              <a:t> (σ</a:t>
            </a:r>
            <a:r>
              <a:rPr lang="en-US" b="0" i="1" baseline="-25000" dirty="0">
                <a:solidFill>
                  <a:srgbClr val="222222"/>
                </a:solidFill>
                <a:effectLst/>
                <a:latin typeface="book antiqua" panose="02040602050305030304" pitchFamily="18" charset="0"/>
              </a:rPr>
              <a:t> </a:t>
            </a:r>
            <a:r>
              <a:rPr lang="en-US" b="0" i="1" baseline="-25000" dirty="0" err="1">
                <a:solidFill>
                  <a:srgbClr val="222222"/>
                </a:solidFill>
                <a:effectLst/>
                <a:latin typeface="book antiqua" panose="02040602050305030304" pitchFamily="18" charset="0"/>
              </a:rPr>
              <a:t>fdate</a:t>
            </a:r>
            <a:r>
              <a:rPr lang="en-US" b="0" i="1" baseline="-25000" dirty="0">
                <a:solidFill>
                  <a:srgbClr val="222222"/>
                </a:solidFill>
                <a:effectLst/>
                <a:latin typeface="book antiqua" panose="02040602050305030304" pitchFamily="18" charset="0"/>
              </a:rPr>
              <a:t> = 02/12/2020 ^ time = 16:00 </a:t>
            </a:r>
            <a:r>
              <a:rPr lang="en-US" b="0" i="0" dirty="0">
                <a:solidFill>
                  <a:srgbClr val="222222"/>
                </a:solidFill>
                <a:effectLst/>
                <a:latin typeface="book antiqua" panose="02040602050305030304" pitchFamily="18" charset="0"/>
              </a:rPr>
              <a:t>(flight))</a:t>
            </a:r>
            <a:endParaRPr lang="en-IN" dirty="0"/>
          </a:p>
        </p:txBody>
      </p:sp>
      <p:sp>
        <p:nvSpPr>
          <p:cNvPr id="2" name="Rectangle 1"/>
          <p:cNvSpPr/>
          <p:nvPr/>
        </p:nvSpPr>
        <p:spPr>
          <a:xfrm>
            <a:off x="674538" y="2768534"/>
            <a:ext cx="11874500" cy="307777"/>
          </a:xfrm>
          <a:prstGeom prst="rect">
            <a:avLst/>
          </a:prstGeom>
        </p:spPr>
        <p:txBody>
          <a:bodyPr wrap="square">
            <a:spAutoFit/>
          </a:bodyPr>
          <a:lstStyle/>
          <a:p>
            <a:r>
              <a:rPr lang="en-US" sz="1400" dirty="0"/>
              <a:t>SELECT </a:t>
            </a:r>
            <a:r>
              <a:rPr lang="en-US" sz="1400" dirty="0" smtClean="0"/>
              <a:t>* FROM </a:t>
            </a:r>
            <a:r>
              <a:rPr lang="en-US" sz="1400" dirty="0"/>
              <a:t>flight </a:t>
            </a:r>
            <a:r>
              <a:rPr lang="en-US" sz="1400" dirty="0" smtClean="0"/>
              <a:t>WHERE </a:t>
            </a:r>
            <a:r>
              <a:rPr lang="en-US" sz="1400" dirty="0"/>
              <a:t>(</a:t>
            </a:r>
            <a:r>
              <a:rPr lang="en-US" sz="1400" dirty="0" err="1"/>
              <a:t>fdate</a:t>
            </a:r>
            <a:r>
              <a:rPr lang="en-US" sz="1400" dirty="0"/>
              <a:t> = '2020-12-01' OR </a:t>
            </a:r>
            <a:r>
              <a:rPr lang="en-US" sz="1400" dirty="0" err="1"/>
              <a:t>fdate</a:t>
            </a:r>
            <a:r>
              <a:rPr lang="en-US" sz="1400" dirty="0"/>
              <a:t> = '2020-12-02</a:t>
            </a:r>
            <a:r>
              <a:rPr lang="en-US" sz="1400" dirty="0" smtClean="0"/>
              <a:t>') AND </a:t>
            </a:r>
            <a:r>
              <a:rPr lang="en-US" sz="1400" dirty="0"/>
              <a:t>time = '16:00:00';</a:t>
            </a:r>
            <a:endParaRPr lang="en-IN" sz="1400" dirty="0"/>
          </a:p>
        </p:txBody>
      </p:sp>
      <p:sp>
        <p:nvSpPr>
          <p:cNvPr id="5" name="Rectangle 4"/>
          <p:cNvSpPr/>
          <p:nvPr/>
        </p:nvSpPr>
        <p:spPr>
          <a:xfrm>
            <a:off x="451946" y="3752166"/>
            <a:ext cx="11562254" cy="523220"/>
          </a:xfrm>
          <a:prstGeom prst="rect">
            <a:avLst/>
          </a:prstGeom>
        </p:spPr>
        <p:txBody>
          <a:bodyPr wrap="square">
            <a:spAutoFit/>
          </a:bodyPr>
          <a:lstStyle/>
          <a:p>
            <a:r>
              <a:rPr lang="en-IN" sz="2800" dirty="0"/>
              <a:t>{</a:t>
            </a:r>
            <a:r>
              <a:rPr lang="en-IN" sz="2800" dirty="0" err="1"/>
              <a:t>t∣t∈flight</a:t>
            </a:r>
            <a:r>
              <a:rPr lang="en-IN" sz="2800" dirty="0"/>
              <a:t> ∧ t[time]=′16:00′ ∧ (t[</a:t>
            </a:r>
            <a:r>
              <a:rPr lang="en-IN" sz="2800" dirty="0" err="1"/>
              <a:t>fdate</a:t>
            </a:r>
            <a:r>
              <a:rPr lang="en-IN" sz="2800" dirty="0"/>
              <a:t>]=′01/12/2020′ ∨ t[</a:t>
            </a:r>
            <a:r>
              <a:rPr lang="en-IN" sz="2800" dirty="0" err="1"/>
              <a:t>fdate</a:t>
            </a:r>
            <a:r>
              <a:rPr lang="en-IN" sz="2800" dirty="0"/>
              <a:t>]=′02/12/2020′)}</a:t>
            </a:r>
          </a:p>
        </p:txBody>
      </p:sp>
      <p:sp>
        <p:nvSpPr>
          <p:cNvPr id="6" name="Rectangle 5"/>
          <p:cNvSpPr/>
          <p:nvPr/>
        </p:nvSpPr>
        <p:spPr>
          <a:xfrm>
            <a:off x="515787" y="4819022"/>
            <a:ext cx="11218635" cy="461665"/>
          </a:xfrm>
          <a:prstGeom prst="rect">
            <a:avLst/>
          </a:prstGeom>
        </p:spPr>
        <p:txBody>
          <a:bodyPr wrap="square">
            <a:spAutoFit/>
          </a:bodyPr>
          <a:lstStyle/>
          <a:p>
            <a:r>
              <a:rPr lang="en-IN" sz="2400" dirty="0"/>
              <a:t>{⟨</a:t>
            </a:r>
            <a:r>
              <a:rPr lang="en-IN" sz="2400" dirty="0" err="1"/>
              <a:t>f,d,tm,s,ds</a:t>
            </a:r>
            <a:r>
              <a:rPr lang="en-IN" sz="2400" dirty="0"/>
              <a:t>⟩∣⟨</a:t>
            </a:r>
            <a:r>
              <a:rPr lang="en-IN" sz="2400" dirty="0" err="1"/>
              <a:t>f,d,tm,s,ds</a:t>
            </a:r>
            <a:r>
              <a:rPr lang="en-IN" sz="2400" dirty="0"/>
              <a:t>⟩∈flight ∧ tm=′16:00′ ∧ (d=′01/12/2020′ ∨ d=′02/12/2020′)}</a:t>
            </a:r>
          </a:p>
        </p:txBody>
      </p:sp>
    </p:spTree>
    <p:extLst>
      <p:ext uri="{BB962C8B-B14F-4D97-AF65-F5344CB8AC3E}">
        <p14:creationId xmlns:p14="http://schemas.microsoft.com/office/powerpoint/2010/main" val="38634050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err="1">
                <a:solidFill>
                  <a:srgbClr val="800080"/>
                </a:solidFill>
                <a:effectLst/>
                <a:latin typeface="book antiqua" panose="02040602050305030304" pitchFamily="18" charset="0"/>
              </a:rPr>
              <a:t>i</a:t>
            </a:r>
            <a:r>
              <a:rPr lang="en-US" sz="2400" b="1" i="0" dirty="0">
                <a:solidFill>
                  <a:srgbClr val="800080"/>
                </a:solidFill>
                <a:effectLst/>
                <a:latin typeface="book antiqua" panose="02040602050305030304" pitchFamily="18" charset="0"/>
              </a:rPr>
              <a:t>) Find the agency names for agencies who do not have any bookings for passenger with id 123.</a:t>
            </a:r>
            <a:endParaRPr lang="en-IN" sz="44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6098908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9EA8F38-56C3-8CC3-3F03-764B20C1450B}"/>
              </a:ext>
            </a:extLst>
          </p:cNvPr>
          <p:cNvSpPr txBox="1"/>
          <p:nvPr/>
        </p:nvSpPr>
        <p:spPr>
          <a:xfrm>
            <a:off x="569542" y="2280036"/>
            <a:ext cx="11443782" cy="338554"/>
          </a:xfrm>
          <a:prstGeom prst="rect">
            <a:avLst/>
          </a:prstGeom>
          <a:noFill/>
        </p:spPr>
        <p:txBody>
          <a:bodyPr wrap="square">
            <a:spAutoFit/>
          </a:bodyPr>
          <a:lstStyle/>
          <a:p>
            <a:pPr marL="0" marR="0" algn="ctr">
              <a:spcBef>
                <a:spcPts val="600"/>
              </a:spcBef>
              <a:spcAft>
                <a:spcPts val="600"/>
              </a:spcAft>
            </a:pPr>
            <a:r>
              <a:rPr lang="en-US" sz="1600" b="1" i="0" dirty="0" err="1">
                <a:solidFill>
                  <a:srgbClr val="800080"/>
                </a:solidFill>
                <a:effectLst/>
                <a:latin typeface="book antiqua" panose="02040602050305030304" pitchFamily="18" charset="0"/>
              </a:rPr>
              <a:t>i</a:t>
            </a:r>
            <a:r>
              <a:rPr lang="en-US" sz="1600" b="1" i="0" dirty="0">
                <a:solidFill>
                  <a:srgbClr val="800080"/>
                </a:solidFill>
                <a:effectLst/>
                <a:latin typeface="book antiqua" panose="02040602050305030304" pitchFamily="18" charset="0"/>
              </a:rPr>
              <a:t>) Find the agency names for agencies who do not have any bookings for passenger with id 123.</a:t>
            </a:r>
            <a:endParaRPr lang="en-IN" sz="3200" dirty="0"/>
          </a:p>
        </p:txBody>
      </p:sp>
      <p:sp>
        <p:nvSpPr>
          <p:cNvPr id="8" name="TextBox 7">
            <a:extLst>
              <a:ext uri="{FF2B5EF4-FFF2-40B4-BE49-F238E27FC236}">
                <a16:creationId xmlns:a16="http://schemas.microsoft.com/office/drawing/2014/main" xmlns="" id="{71625461-909F-C397-75E4-A9C6FECB004A}"/>
              </a:ext>
            </a:extLst>
          </p:cNvPr>
          <p:cNvSpPr txBox="1"/>
          <p:nvPr/>
        </p:nvSpPr>
        <p:spPr>
          <a:xfrm>
            <a:off x="1337349" y="402599"/>
            <a:ext cx="10528829" cy="1877437"/>
          </a:xfrm>
          <a:prstGeom prst="rect">
            <a:avLst/>
          </a:prstGeom>
          <a:noFill/>
        </p:spPr>
        <p:txBody>
          <a:bodyPr wrap="square">
            <a:spAutoFit/>
          </a:bodyPr>
          <a:lstStyle/>
          <a:p>
            <a:pPr marL="0" marR="0" algn="just">
              <a:spcBef>
                <a:spcPts val="600"/>
              </a:spcBef>
              <a:spcAft>
                <a:spcPts val="600"/>
              </a:spcAft>
            </a:pPr>
            <a:r>
              <a:rPr lang="en-IN" sz="1100" b="1" i="0" u="sng" dirty="0">
                <a:solidFill>
                  <a:srgbClr val="222222"/>
                </a:solidFill>
                <a:effectLst/>
                <a:latin typeface="book antiqua" panose="02040602050305030304" pitchFamily="18" charset="0"/>
              </a:rPr>
              <a:t>Question:</a:t>
            </a:r>
            <a:endParaRPr lang="en-IN" sz="1100" b="0" i="0" dirty="0">
              <a:solidFill>
                <a:srgbClr val="222222"/>
              </a:solidFill>
              <a:effectLst/>
              <a:latin typeface="Arial" panose="020B0604020202020204" pitchFamily="34" charset="0"/>
            </a:endParaRPr>
          </a:p>
          <a:p>
            <a:pPr marL="0" marR="0" algn="just">
              <a:spcBef>
                <a:spcPts val="600"/>
              </a:spcBef>
              <a:spcAft>
                <a:spcPts val="600"/>
              </a:spcAft>
            </a:pPr>
            <a:r>
              <a:rPr lang="en-IN" sz="1100" b="0" i="0" dirty="0">
                <a:solidFill>
                  <a:srgbClr val="222222"/>
                </a:solidFill>
                <a:effectLst/>
                <a:latin typeface="book antiqua" panose="02040602050305030304" pitchFamily="18" charset="0"/>
              </a:rPr>
              <a:t>Consider the following relational database schema consisting of the four relation schemas:</a:t>
            </a:r>
            <a:endParaRPr lang="en-IN" sz="1100" b="0" i="0" dirty="0">
              <a:solidFill>
                <a:srgbClr val="222222"/>
              </a:solidFill>
              <a:effectLst/>
              <a:latin typeface="Arial" panose="020B0604020202020204" pitchFamily="34" charset="0"/>
            </a:endParaRPr>
          </a:p>
          <a:p>
            <a:pPr marL="457200" marR="0" algn="just">
              <a:spcBef>
                <a:spcPts val="600"/>
              </a:spcBef>
              <a:spcAft>
                <a:spcPts val="600"/>
              </a:spcAft>
            </a:pPr>
            <a:r>
              <a:rPr lang="en-IN" sz="1100" b="1" i="0" dirty="0">
                <a:solidFill>
                  <a:srgbClr val="222222"/>
                </a:solidFill>
                <a:effectLst/>
                <a:latin typeface="book antiqua" panose="02040602050305030304" pitchFamily="18" charset="0"/>
              </a:rPr>
              <a:t>passenger </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pid</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pname</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pgender</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pcity</a:t>
            </a:r>
            <a:r>
              <a:rPr lang="en-IN" sz="1100" b="0" i="0" dirty="0">
                <a:solidFill>
                  <a:srgbClr val="222222"/>
                </a:solidFill>
                <a:effectLst/>
                <a:latin typeface="book antiqua" panose="02040602050305030304" pitchFamily="18" charset="0"/>
              </a:rPr>
              <a:t>)</a:t>
            </a:r>
            <a:endParaRPr lang="en-IN" sz="1100" b="0" i="0" dirty="0">
              <a:solidFill>
                <a:srgbClr val="222222"/>
              </a:solidFill>
              <a:effectLst/>
              <a:latin typeface="Arial" panose="020B0604020202020204" pitchFamily="34" charset="0"/>
            </a:endParaRPr>
          </a:p>
          <a:p>
            <a:pPr marL="457200" marR="0" algn="just">
              <a:spcBef>
                <a:spcPts val="600"/>
              </a:spcBef>
              <a:spcAft>
                <a:spcPts val="600"/>
              </a:spcAft>
            </a:pPr>
            <a:r>
              <a:rPr lang="en-IN" sz="1100" b="1" i="0" dirty="0">
                <a:solidFill>
                  <a:srgbClr val="222222"/>
                </a:solidFill>
                <a:effectLst/>
                <a:latin typeface="book antiqua" panose="02040602050305030304" pitchFamily="18" charset="0"/>
              </a:rPr>
              <a:t>agency </a:t>
            </a:r>
            <a:r>
              <a:rPr lang="en-IN" sz="1100" b="0" i="0" dirty="0">
                <a:solidFill>
                  <a:srgbClr val="222222"/>
                </a:solidFill>
                <a:effectLst/>
                <a:latin typeface="book antiqua" panose="02040602050305030304" pitchFamily="18" charset="0"/>
              </a:rPr>
              <a:t>( aid, </a:t>
            </a:r>
            <a:r>
              <a:rPr lang="en-IN" sz="1100" b="0" i="0" dirty="0" err="1">
                <a:solidFill>
                  <a:srgbClr val="222222"/>
                </a:solidFill>
                <a:effectLst/>
                <a:latin typeface="book antiqua" panose="02040602050305030304" pitchFamily="18" charset="0"/>
              </a:rPr>
              <a:t>aname</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acity</a:t>
            </a:r>
            <a:r>
              <a:rPr lang="en-IN" sz="1100" b="0" i="0" dirty="0">
                <a:solidFill>
                  <a:srgbClr val="222222"/>
                </a:solidFill>
                <a:effectLst/>
                <a:latin typeface="book antiqua" panose="02040602050305030304" pitchFamily="18" charset="0"/>
              </a:rPr>
              <a:t>)</a:t>
            </a:r>
            <a:endParaRPr lang="en-IN" sz="1100" b="0" i="0" dirty="0">
              <a:solidFill>
                <a:srgbClr val="222222"/>
              </a:solidFill>
              <a:effectLst/>
              <a:latin typeface="Arial" panose="020B0604020202020204" pitchFamily="34" charset="0"/>
            </a:endParaRPr>
          </a:p>
          <a:p>
            <a:pPr marL="457200" marR="0" algn="just">
              <a:spcBef>
                <a:spcPts val="600"/>
              </a:spcBef>
              <a:spcAft>
                <a:spcPts val="600"/>
              </a:spcAft>
            </a:pPr>
            <a:r>
              <a:rPr lang="en-IN" sz="1100" b="1" i="0" dirty="0">
                <a:solidFill>
                  <a:srgbClr val="222222"/>
                </a:solidFill>
                <a:effectLst/>
                <a:latin typeface="book antiqua" panose="02040602050305030304" pitchFamily="18" charset="0"/>
              </a:rPr>
              <a:t>flight </a:t>
            </a:r>
            <a:r>
              <a:rPr lang="en-IN" sz="1100" b="0" i="0" dirty="0">
                <a:solidFill>
                  <a:srgbClr val="222222"/>
                </a:solidFill>
                <a:effectLst/>
                <a:latin typeface="book antiqua" panose="02040602050305030304" pitchFamily="18" charset="0"/>
              </a:rPr>
              <a:t>(fid, </a:t>
            </a:r>
            <a:r>
              <a:rPr lang="en-IN" sz="1100" b="0" i="0" dirty="0" err="1">
                <a:solidFill>
                  <a:srgbClr val="222222"/>
                </a:solidFill>
                <a:effectLst/>
                <a:latin typeface="book antiqua" panose="02040602050305030304" pitchFamily="18" charset="0"/>
              </a:rPr>
              <a:t>fdate</a:t>
            </a:r>
            <a:r>
              <a:rPr lang="en-IN" sz="1100" b="0" i="0" dirty="0">
                <a:solidFill>
                  <a:srgbClr val="222222"/>
                </a:solidFill>
                <a:effectLst/>
                <a:latin typeface="book antiqua" panose="02040602050305030304" pitchFamily="18" charset="0"/>
              </a:rPr>
              <a:t>, time, </a:t>
            </a:r>
            <a:r>
              <a:rPr lang="en-IN" sz="1100" b="0" i="0" dirty="0" err="1">
                <a:solidFill>
                  <a:srgbClr val="222222"/>
                </a:solidFill>
                <a:effectLst/>
                <a:latin typeface="book antiqua" panose="02040602050305030304" pitchFamily="18" charset="0"/>
              </a:rPr>
              <a:t>src</a:t>
            </a:r>
            <a:r>
              <a:rPr lang="en-IN" sz="1100" b="0" i="0" dirty="0">
                <a:solidFill>
                  <a:srgbClr val="222222"/>
                </a:solidFill>
                <a:effectLst/>
                <a:latin typeface="book antiqua" panose="02040602050305030304" pitchFamily="18" charset="0"/>
              </a:rPr>
              <a:t>, </a:t>
            </a:r>
            <a:r>
              <a:rPr lang="en-IN" sz="1100" b="0" i="0" dirty="0" err="1">
                <a:solidFill>
                  <a:srgbClr val="222222"/>
                </a:solidFill>
                <a:effectLst/>
                <a:latin typeface="book antiqua" panose="02040602050305030304" pitchFamily="18" charset="0"/>
              </a:rPr>
              <a:t>dest</a:t>
            </a:r>
            <a:r>
              <a:rPr lang="en-IN" sz="1100" b="0" i="0" dirty="0">
                <a:solidFill>
                  <a:srgbClr val="222222"/>
                </a:solidFill>
                <a:effectLst/>
                <a:latin typeface="book antiqua" panose="02040602050305030304" pitchFamily="18" charset="0"/>
              </a:rPr>
              <a:t>)</a:t>
            </a:r>
            <a:endParaRPr lang="en-IN" sz="1100" b="0" i="0" dirty="0">
              <a:solidFill>
                <a:srgbClr val="222222"/>
              </a:solidFill>
              <a:effectLst/>
              <a:latin typeface="Arial" panose="020B0604020202020204" pitchFamily="34" charset="0"/>
            </a:endParaRPr>
          </a:p>
          <a:p>
            <a:pPr marL="457200" marR="0" algn="just">
              <a:spcBef>
                <a:spcPts val="600"/>
              </a:spcBef>
              <a:spcAft>
                <a:spcPts val="600"/>
              </a:spcAft>
            </a:pPr>
            <a:r>
              <a:rPr lang="en-IN" sz="1100" b="1" i="0" dirty="0">
                <a:solidFill>
                  <a:srgbClr val="222222"/>
                </a:solidFill>
                <a:effectLst/>
                <a:latin typeface="book antiqua" panose="02040602050305030304" pitchFamily="18" charset="0"/>
              </a:rPr>
              <a:t>booking </a:t>
            </a:r>
            <a:r>
              <a:rPr lang="en-IN" sz="1100" b="0" i="0" dirty="0">
                <a:solidFill>
                  <a:srgbClr val="222222"/>
                </a:solidFill>
                <a:effectLst/>
                <a:latin typeface="book antiqua" panose="02040602050305030304" pitchFamily="18" charset="0"/>
              </a:rPr>
              <a:t>(</a:t>
            </a:r>
            <a:r>
              <a:rPr lang="en-IN" sz="1100" b="0" i="0" dirty="0" err="1">
                <a:solidFill>
                  <a:srgbClr val="222222"/>
                </a:solidFill>
                <a:effectLst/>
                <a:latin typeface="book antiqua" panose="02040602050305030304" pitchFamily="18" charset="0"/>
              </a:rPr>
              <a:t>pid</a:t>
            </a:r>
            <a:r>
              <a:rPr lang="en-IN" sz="1100" b="0" i="0" dirty="0">
                <a:solidFill>
                  <a:srgbClr val="222222"/>
                </a:solidFill>
                <a:effectLst/>
                <a:latin typeface="book antiqua" panose="02040602050305030304" pitchFamily="18" charset="0"/>
              </a:rPr>
              <a:t>, aid, fid, </a:t>
            </a:r>
            <a:r>
              <a:rPr lang="en-IN" sz="1100" b="0" i="0" dirty="0" err="1">
                <a:solidFill>
                  <a:srgbClr val="222222"/>
                </a:solidFill>
                <a:effectLst/>
                <a:latin typeface="book antiqua" panose="02040602050305030304" pitchFamily="18" charset="0"/>
              </a:rPr>
              <a:t>fdate</a:t>
            </a:r>
            <a:r>
              <a:rPr lang="en-IN" sz="1100" b="0" i="0" dirty="0">
                <a:solidFill>
                  <a:srgbClr val="222222"/>
                </a:solidFill>
                <a:effectLst/>
                <a:latin typeface="book antiqua" panose="02040602050305030304" pitchFamily="18" charset="0"/>
              </a:rPr>
              <a:t>)</a:t>
            </a:r>
            <a:endParaRPr lang="en-IN" sz="1100"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8B92A27C-A7A6-03CC-0E98-02DCA0C684A7}"/>
              </a:ext>
            </a:extLst>
          </p:cNvPr>
          <p:cNvSpPr txBox="1"/>
          <p:nvPr/>
        </p:nvSpPr>
        <p:spPr>
          <a:xfrm>
            <a:off x="569542" y="2655326"/>
            <a:ext cx="9189136" cy="338554"/>
          </a:xfrm>
          <a:prstGeom prst="rect">
            <a:avLst/>
          </a:prstGeom>
          <a:noFill/>
        </p:spPr>
        <p:txBody>
          <a:bodyPr wrap="square">
            <a:spAutoFit/>
          </a:bodyPr>
          <a:lstStyle/>
          <a:p>
            <a:r>
              <a:rPr lang="en-US" sz="1600" b="0" i="0" dirty="0">
                <a:effectLst/>
                <a:latin typeface="book antiqua" panose="02040602050305030304" pitchFamily="18" charset="0"/>
              </a:rPr>
              <a:t>Π</a:t>
            </a:r>
            <a:r>
              <a:rPr lang="en-US" sz="1600" b="0" i="1" baseline="-25000" dirty="0">
                <a:effectLst/>
                <a:latin typeface="book antiqua" panose="02040602050305030304" pitchFamily="18" charset="0"/>
              </a:rPr>
              <a:t> </a:t>
            </a:r>
            <a:r>
              <a:rPr lang="en-US" sz="1600" b="0" i="1" baseline="-25000" dirty="0" err="1">
                <a:effectLst/>
                <a:latin typeface="book antiqua" panose="02040602050305030304" pitchFamily="18" charset="0"/>
              </a:rPr>
              <a:t>aname</a:t>
            </a:r>
            <a:r>
              <a:rPr lang="en-US" sz="1600" b="0" i="1" baseline="-25000" dirty="0">
                <a:effectLst/>
                <a:latin typeface="book antiqua" panose="02040602050305030304" pitchFamily="18" charset="0"/>
              </a:rPr>
              <a:t> </a:t>
            </a:r>
            <a:r>
              <a:rPr lang="en-US" sz="1600" b="0" i="0" dirty="0">
                <a:effectLst/>
                <a:latin typeface="book antiqua" panose="02040602050305030304" pitchFamily="18" charset="0"/>
              </a:rPr>
              <a:t>(agency </a:t>
            </a:r>
            <a:r>
              <a:rPr lang="en-US" sz="1600" b="0" i="0" dirty="0">
                <a:effectLst/>
                <a:latin typeface="cambria math" panose="02040503050406030204" pitchFamily="18" charset="0"/>
              </a:rPr>
              <a:t>⨝</a:t>
            </a:r>
            <a:r>
              <a:rPr lang="en-US" sz="1600" b="0" i="0" dirty="0">
                <a:effectLst/>
                <a:latin typeface="book antiqua" panose="02040602050305030304" pitchFamily="18" charset="0"/>
              </a:rPr>
              <a:t> (Π</a:t>
            </a:r>
            <a:r>
              <a:rPr lang="en-US" sz="1600" b="0" i="0" baseline="-25000" dirty="0">
                <a:effectLst/>
                <a:latin typeface="book antiqua" panose="02040602050305030304" pitchFamily="18" charset="0"/>
              </a:rPr>
              <a:t> aid </a:t>
            </a:r>
            <a:r>
              <a:rPr lang="en-US" sz="1600" b="0" i="0" dirty="0">
                <a:effectLst/>
                <a:latin typeface="book antiqua" panose="02040602050305030304" pitchFamily="18" charset="0"/>
              </a:rPr>
              <a:t>(agency) – Π</a:t>
            </a:r>
            <a:r>
              <a:rPr lang="en-US" sz="1600" b="0" i="0" baseline="-25000" dirty="0">
                <a:effectLst/>
                <a:latin typeface="book antiqua" panose="02040602050305030304" pitchFamily="18" charset="0"/>
              </a:rPr>
              <a:t> aid </a:t>
            </a:r>
            <a:r>
              <a:rPr lang="en-US" sz="1600" b="0" i="0" dirty="0">
                <a:effectLst/>
                <a:latin typeface="book antiqua" panose="02040602050305030304" pitchFamily="18" charset="0"/>
              </a:rPr>
              <a:t>(σ</a:t>
            </a:r>
            <a:r>
              <a:rPr lang="en-US" sz="1600" b="0" i="1" baseline="-25000" dirty="0">
                <a:effectLst/>
                <a:latin typeface="book antiqua" panose="02040602050305030304" pitchFamily="18" charset="0"/>
              </a:rPr>
              <a:t> </a:t>
            </a:r>
            <a:r>
              <a:rPr lang="en-US" sz="1600" b="0" i="1" baseline="-25000" dirty="0" err="1">
                <a:effectLst/>
                <a:latin typeface="book antiqua" panose="02040602050305030304" pitchFamily="18" charset="0"/>
              </a:rPr>
              <a:t>pid</a:t>
            </a:r>
            <a:r>
              <a:rPr lang="en-US" sz="1600" b="0" i="1" baseline="-25000" dirty="0">
                <a:effectLst/>
                <a:latin typeface="book antiqua" panose="02040602050305030304" pitchFamily="18" charset="0"/>
              </a:rPr>
              <a:t> = 123 </a:t>
            </a:r>
            <a:r>
              <a:rPr lang="en-US" sz="1600" b="0" i="0" dirty="0">
                <a:effectLst/>
                <a:latin typeface="book antiqua" panose="02040602050305030304" pitchFamily="18" charset="0"/>
              </a:rPr>
              <a:t>(booking)))</a:t>
            </a:r>
            <a:endParaRPr lang="en-IN" sz="1600" dirty="0"/>
          </a:p>
        </p:txBody>
      </p:sp>
      <p:sp>
        <p:nvSpPr>
          <p:cNvPr id="2" name="Rectangle 1"/>
          <p:cNvSpPr/>
          <p:nvPr/>
        </p:nvSpPr>
        <p:spPr>
          <a:xfrm>
            <a:off x="525543" y="2993880"/>
            <a:ext cx="11836400" cy="307777"/>
          </a:xfrm>
          <a:prstGeom prst="rect">
            <a:avLst/>
          </a:prstGeom>
        </p:spPr>
        <p:txBody>
          <a:bodyPr wrap="square">
            <a:spAutoFit/>
          </a:bodyPr>
          <a:lstStyle/>
          <a:p>
            <a:r>
              <a:rPr lang="en-US" sz="1400" dirty="0"/>
              <a:t>SELECT </a:t>
            </a:r>
            <a:r>
              <a:rPr lang="en-US" sz="1400" dirty="0" err="1"/>
              <a:t>a.aname</a:t>
            </a:r>
            <a:r>
              <a:rPr lang="en-US" sz="1400" dirty="0"/>
              <a:t> FROM agency a LEFT JOIN booking b ON </a:t>
            </a:r>
            <a:r>
              <a:rPr lang="en-US" sz="1400" dirty="0" err="1"/>
              <a:t>a.aid</a:t>
            </a:r>
            <a:r>
              <a:rPr lang="en-US" sz="1400" dirty="0"/>
              <a:t> = </a:t>
            </a:r>
            <a:r>
              <a:rPr lang="en-US" sz="1400" dirty="0" err="1"/>
              <a:t>b.aid</a:t>
            </a:r>
            <a:r>
              <a:rPr lang="en-US" sz="1400" dirty="0"/>
              <a:t> AND </a:t>
            </a:r>
            <a:r>
              <a:rPr lang="en-US" sz="1400" dirty="0" err="1"/>
              <a:t>b.pid</a:t>
            </a:r>
            <a:r>
              <a:rPr lang="en-US" sz="1400" dirty="0"/>
              <a:t> = 123 WHERE </a:t>
            </a:r>
            <a:r>
              <a:rPr lang="en-US" sz="1400" dirty="0" err="1"/>
              <a:t>b.aid</a:t>
            </a:r>
            <a:r>
              <a:rPr lang="en-US" sz="1400" dirty="0"/>
              <a:t> IS NULL;</a:t>
            </a:r>
            <a:endParaRPr lang="en-IN" sz="1400" dirty="0"/>
          </a:p>
        </p:txBody>
      </p:sp>
      <p:sp>
        <p:nvSpPr>
          <p:cNvPr id="4" name="Rectangle 3"/>
          <p:cNvSpPr/>
          <p:nvPr/>
        </p:nvSpPr>
        <p:spPr>
          <a:xfrm>
            <a:off x="569542" y="3373651"/>
            <a:ext cx="11533558" cy="276999"/>
          </a:xfrm>
          <a:prstGeom prst="rect">
            <a:avLst/>
          </a:prstGeom>
        </p:spPr>
        <p:txBody>
          <a:bodyPr wrap="square">
            <a:spAutoFit/>
          </a:bodyPr>
          <a:lstStyle/>
          <a:p>
            <a:r>
              <a:rPr lang="en-US" sz="1200" dirty="0"/>
              <a:t>SELECT </a:t>
            </a:r>
            <a:r>
              <a:rPr lang="en-US" sz="1200" dirty="0" err="1"/>
              <a:t>aname</a:t>
            </a:r>
            <a:r>
              <a:rPr lang="en-US" sz="1200" dirty="0"/>
              <a:t> FROM agency WHERE aid NOT IN ( SELECT aid FROM booking WHERE </a:t>
            </a:r>
            <a:r>
              <a:rPr lang="en-US" sz="1200" dirty="0" err="1"/>
              <a:t>pid</a:t>
            </a:r>
            <a:r>
              <a:rPr lang="en-US" sz="1200" dirty="0"/>
              <a:t> = 123 );</a:t>
            </a:r>
            <a:endParaRPr lang="en-IN" sz="1200" dirty="0"/>
          </a:p>
        </p:txBody>
      </p:sp>
      <p:sp>
        <p:nvSpPr>
          <p:cNvPr id="6" name="Rectangle 5"/>
          <p:cNvSpPr/>
          <p:nvPr/>
        </p:nvSpPr>
        <p:spPr>
          <a:xfrm>
            <a:off x="505763" y="3783670"/>
            <a:ext cx="12192000" cy="461665"/>
          </a:xfrm>
          <a:prstGeom prst="rect">
            <a:avLst/>
          </a:prstGeom>
        </p:spPr>
        <p:txBody>
          <a:bodyPr wrap="square">
            <a:spAutoFit/>
          </a:bodyPr>
          <a:lstStyle/>
          <a:p>
            <a:r>
              <a:rPr lang="en-US" sz="2400" dirty="0"/>
              <a:t>{t∣∃</a:t>
            </a:r>
            <a:r>
              <a:rPr lang="en-US" sz="2400" dirty="0" err="1"/>
              <a:t>a∈agency</a:t>
            </a:r>
            <a:r>
              <a:rPr lang="en-US" sz="2400" dirty="0"/>
              <a:t> ( t[</a:t>
            </a:r>
            <a:r>
              <a:rPr lang="en-US" sz="2400" dirty="0" err="1"/>
              <a:t>aname</a:t>
            </a:r>
            <a:r>
              <a:rPr lang="en-US" sz="2400" dirty="0"/>
              <a:t>]=a[</a:t>
            </a:r>
            <a:r>
              <a:rPr lang="en-US" sz="2400" dirty="0" err="1"/>
              <a:t>aname</a:t>
            </a:r>
            <a:r>
              <a:rPr lang="en-US" sz="2400" dirty="0"/>
              <a:t>] ∧ ¬∃</a:t>
            </a:r>
            <a:r>
              <a:rPr lang="en-US" sz="2400" dirty="0" err="1"/>
              <a:t>b∈booking</a:t>
            </a:r>
            <a:r>
              <a:rPr lang="en-US" sz="2400" dirty="0"/>
              <a:t> ( b[aid]=a[aid] ∧ b[</a:t>
            </a:r>
            <a:r>
              <a:rPr lang="en-US" sz="2400" dirty="0" err="1"/>
              <a:t>pid</a:t>
            </a:r>
            <a:r>
              <a:rPr lang="en-US" sz="2400" dirty="0"/>
              <a:t>]=123 ) )}</a:t>
            </a:r>
            <a:endParaRPr lang="en-IN" sz="2400" dirty="0"/>
          </a:p>
        </p:txBody>
      </p:sp>
      <p:sp>
        <p:nvSpPr>
          <p:cNvPr id="7" name="Rectangle 6"/>
          <p:cNvSpPr/>
          <p:nvPr/>
        </p:nvSpPr>
        <p:spPr>
          <a:xfrm>
            <a:off x="569542" y="4545752"/>
            <a:ext cx="10172030" cy="523220"/>
          </a:xfrm>
          <a:prstGeom prst="rect">
            <a:avLst/>
          </a:prstGeom>
        </p:spPr>
        <p:txBody>
          <a:bodyPr wrap="square">
            <a:spAutoFit/>
          </a:bodyPr>
          <a:lstStyle/>
          <a:p>
            <a:r>
              <a:rPr lang="en-IN" sz="2800" dirty="0"/>
              <a:t>{⟨an⟩∣∃</a:t>
            </a:r>
            <a:r>
              <a:rPr lang="en-IN" sz="2800" dirty="0" err="1"/>
              <a:t>id∃ct</a:t>
            </a:r>
            <a:r>
              <a:rPr lang="en-IN" sz="2800" dirty="0"/>
              <a:t> ( ⟨</a:t>
            </a:r>
            <a:r>
              <a:rPr lang="en-IN" sz="2800" dirty="0" err="1"/>
              <a:t>id,an,ct</a:t>
            </a:r>
            <a:r>
              <a:rPr lang="en-IN" sz="2800" dirty="0"/>
              <a:t>⟩∈agency ∧ ¬∃</a:t>
            </a:r>
            <a:r>
              <a:rPr lang="en-IN" sz="2800" dirty="0" err="1"/>
              <a:t>f∃d</a:t>
            </a:r>
            <a:r>
              <a:rPr lang="en-IN" sz="2800" dirty="0"/>
              <a:t> ( ⟨123,id,f,d⟩∈booking ) )}</a:t>
            </a:r>
          </a:p>
        </p:txBody>
      </p:sp>
    </p:spTree>
    <p:extLst>
      <p:ext uri="{BB962C8B-B14F-4D97-AF65-F5344CB8AC3E}">
        <p14:creationId xmlns:p14="http://schemas.microsoft.com/office/powerpoint/2010/main" val="37456479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D8A3D1A-7C5A-7610-E233-E56DD4179A76}"/>
              </a:ext>
            </a:extLst>
          </p:cNvPr>
          <p:cNvSpPr txBox="1"/>
          <p:nvPr/>
        </p:nvSpPr>
        <p:spPr>
          <a:xfrm>
            <a:off x="4879522" y="343292"/>
            <a:ext cx="6101442" cy="369332"/>
          </a:xfrm>
          <a:prstGeom prst="rect">
            <a:avLst/>
          </a:prstGeom>
          <a:noFill/>
        </p:spPr>
        <p:txBody>
          <a:bodyPr wrap="square">
            <a:spAutoFit/>
          </a:bodyPr>
          <a:lstStyle/>
          <a:p>
            <a:r>
              <a:rPr lang="en-IN" sz="1800" b="1" i="0" u="none" strike="noStrike" baseline="0" dirty="0">
                <a:latin typeface="Times New Roman" panose="02020603050405020304" pitchFamily="18" charset="0"/>
              </a:rPr>
              <a:t>BASIC SQL QUERY</a:t>
            </a:r>
            <a:endParaRPr lang="en-IN" dirty="0"/>
          </a:p>
        </p:txBody>
      </p:sp>
      <p:pic>
        <p:nvPicPr>
          <p:cNvPr id="5" name="Picture 4">
            <a:extLst>
              <a:ext uri="{FF2B5EF4-FFF2-40B4-BE49-F238E27FC236}">
                <a16:creationId xmlns:a16="http://schemas.microsoft.com/office/drawing/2014/main" xmlns="" id="{D107BAD8-B8CC-DA9B-9CBD-93FF811D88AF}"/>
              </a:ext>
            </a:extLst>
          </p:cNvPr>
          <p:cNvPicPr>
            <a:picLocks noChangeAspect="1"/>
          </p:cNvPicPr>
          <p:nvPr/>
        </p:nvPicPr>
        <p:blipFill>
          <a:blip r:embed="rId2"/>
          <a:stretch>
            <a:fillRect/>
          </a:stretch>
        </p:blipFill>
        <p:spPr>
          <a:xfrm>
            <a:off x="1700829" y="1072178"/>
            <a:ext cx="2476627" cy="2514729"/>
          </a:xfrm>
          <a:prstGeom prst="rect">
            <a:avLst/>
          </a:prstGeom>
        </p:spPr>
      </p:pic>
      <p:pic>
        <p:nvPicPr>
          <p:cNvPr id="7" name="Picture 6">
            <a:extLst>
              <a:ext uri="{FF2B5EF4-FFF2-40B4-BE49-F238E27FC236}">
                <a16:creationId xmlns:a16="http://schemas.microsoft.com/office/drawing/2014/main" xmlns="" id="{4065AE11-CDB3-FFA2-FFAB-58C3B48C4BBE}"/>
              </a:ext>
            </a:extLst>
          </p:cNvPr>
          <p:cNvPicPr>
            <a:picLocks noChangeAspect="1"/>
          </p:cNvPicPr>
          <p:nvPr/>
        </p:nvPicPr>
        <p:blipFill>
          <a:blip r:embed="rId3"/>
          <a:stretch>
            <a:fillRect/>
          </a:stretch>
        </p:blipFill>
        <p:spPr>
          <a:xfrm>
            <a:off x="9140774" y="1084878"/>
            <a:ext cx="1987652" cy="2502029"/>
          </a:xfrm>
          <a:prstGeom prst="rect">
            <a:avLst/>
          </a:prstGeom>
        </p:spPr>
      </p:pic>
      <p:pic>
        <p:nvPicPr>
          <p:cNvPr id="9" name="Picture 8">
            <a:extLst>
              <a:ext uri="{FF2B5EF4-FFF2-40B4-BE49-F238E27FC236}">
                <a16:creationId xmlns:a16="http://schemas.microsoft.com/office/drawing/2014/main" xmlns="" id="{DB02911B-C4F5-6231-FCC1-EC3B933ADADA}"/>
              </a:ext>
            </a:extLst>
          </p:cNvPr>
          <p:cNvPicPr>
            <a:picLocks noChangeAspect="1"/>
          </p:cNvPicPr>
          <p:nvPr/>
        </p:nvPicPr>
        <p:blipFill>
          <a:blip r:embed="rId4"/>
          <a:stretch>
            <a:fillRect/>
          </a:stretch>
        </p:blipFill>
        <p:spPr>
          <a:xfrm>
            <a:off x="4879522" y="3846710"/>
            <a:ext cx="3476140" cy="2151318"/>
          </a:xfrm>
          <a:prstGeom prst="rect">
            <a:avLst/>
          </a:prstGeom>
        </p:spPr>
      </p:pic>
      <p:sp>
        <p:nvSpPr>
          <p:cNvPr id="11" name="TextBox 10">
            <a:extLst>
              <a:ext uri="{FF2B5EF4-FFF2-40B4-BE49-F238E27FC236}">
                <a16:creationId xmlns:a16="http://schemas.microsoft.com/office/drawing/2014/main" xmlns="" id="{7ED7BB29-8D40-9D40-6D97-4472D364EB73}"/>
              </a:ext>
            </a:extLst>
          </p:cNvPr>
          <p:cNvSpPr txBox="1"/>
          <p:nvPr/>
        </p:nvSpPr>
        <p:spPr>
          <a:xfrm>
            <a:off x="2103665" y="712624"/>
            <a:ext cx="6101442" cy="369332"/>
          </a:xfrm>
          <a:prstGeom prst="rect">
            <a:avLst/>
          </a:prstGeom>
          <a:noFill/>
        </p:spPr>
        <p:txBody>
          <a:bodyPr wrap="square">
            <a:spAutoFit/>
          </a:bodyPr>
          <a:lstStyle/>
          <a:p>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 of Sailors</a:t>
            </a:r>
            <a:endParaRPr lang="en-IN" dirty="0"/>
          </a:p>
        </p:txBody>
      </p:sp>
      <p:sp>
        <p:nvSpPr>
          <p:cNvPr id="13" name="TextBox 12">
            <a:extLst>
              <a:ext uri="{FF2B5EF4-FFF2-40B4-BE49-F238E27FC236}">
                <a16:creationId xmlns:a16="http://schemas.microsoft.com/office/drawing/2014/main" xmlns="" id="{11EDB07F-E18E-886C-30BD-DAB1A1AE5AA6}"/>
              </a:ext>
            </a:extLst>
          </p:cNvPr>
          <p:cNvSpPr txBox="1"/>
          <p:nvPr/>
        </p:nvSpPr>
        <p:spPr>
          <a:xfrm>
            <a:off x="9005207" y="702846"/>
            <a:ext cx="6101442" cy="369332"/>
          </a:xfrm>
          <a:prstGeom prst="rect">
            <a:avLst/>
          </a:prstGeom>
          <a:noFill/>
        </p:spPr>
        <p:txBody>
          <a:bodyPr wrap="square">
            <a:spAutoFit/>
          </a:bodyPr>
          <a:lstStyle/>
          <a:p>
            <a:r>
              <a:rPr lang="en-IN" sz="1800" b="0" i="1" u="none" strike="noStrike" baseline="0" dirty="0">
                <a:latin typeface="Arial" panose="020B0604020202020204" pitchFamily="34" charset="0"/>
              </a:rPr>
              <a:t>R</a:t>
            </a:r>
            <a:r>
              <a:rPr lang="en-IN" sz="1800" b="0" i="0" u="none" strike="noStrike" baseline="0" dirty="0">
                <a:latin typeface="Times New Roman" panose="02020603050405020304" pitchFamily="18" charset="0"/>
              </a:rPr>
              <a:t> of Reserves</a:t>
            </a:r>
            <a:endParaRPr lang="en-IN" dirty="0"/>
          </a:p>
        </p:txBody>
      </p:sp>
      <p:sp>
        <p:nvSpPr>
          <p:cNvPr id="15" name="TextBox 14">
            <a:extLst>
              <a:ext uri="{FF2B5EF4-FFF2-40B4-BE49-F238E27FC236}">
                <a16:creationId xmlns:a16="http://schemas.microsoft.com/office/drawing/2014/main" xmlns="" id="{4A1D7720-9394-6BDC-C73A-EA8E65F18512}"/>
              </a:ext>
            </a:extLst>
          </p:cNvPr>
          <p:cNvSpPr txBox="1"/>
          <p:nvPr/>
        </p:nvSpPr>
        <p:spPr>
          <a:xfrm>
            <a:off x="6096000" y="3445393"/>
            <a:ext cx="7554684" cy="369332"/>
          </a:xfrm>
          <a:prstGeom prst="rect">
            <a:avLst/>
          </a:prstGeom>
          <a:noFill/>
        </p:spPr>
        <p:txBody>
          <a:bodyPr wrap="square">
            <a:spAutoFit/>
          </a:bodyPr>
          <a:lstStyle/>
          <a:p>
            <a:r>
              <a:rPr lang="en-IN" sz="1800" b="0" i="1" u="none" strike="noStrike" baseline="0" dirty="0">
                <a:latin typeface="Arial" panose="020B0604020202020204" pitchFamily="34" charset="0"/>
              </a:rPr>
              <a:t>B</a:t>
            </a:r>
            <a:r>
              <a:rPr lang="en-IN" sz="1800" b="0" i="0" u="none" strike="noStrike" baseline="0" dirty="0">
                <a:latin typeface="Times New Roman" panose="02020603050405020304" pitchFamily="18" charset="0"/>
              </a:rPr>
              <a:t> of Boats</a:t>
            </a:r>
            <a:endParaRPr lang="en-IN" dirty="0"/>
          </a:p>
        </p:txBody>
      </p:sp>
    </p:spTree>
    <p:extLst>
      <p:ext uri="{BB962C8B-B14F-4D97-AF65-F5344CB8AC3E}">
        <p14:creationId xmlns:p14="http://schemas.microsoft.com/office/powerpoint/2010/main" val="20636930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769441"/>
          </a:xfrm>
          <a:prstGeom prst="rect">
            <a:avLst/>
          </a:prstGeom>
          <a:noFill/>
        </p:spPr>
        <p:txBody>
          <a:bodyPr wrap="square">
            <a:spAutoFit/>
          </a:bodyPr>
          <a:lstStyle/>
          <a:p>
            <a:r>
              <a:rPr lang="en-US" sz="4400" b="0" i="1" u="none" strike="noStrike" baseline="0" dirty="0">
                <a:latin typeface="Times New Roman" panose="02020603050405020304" pitchFamily="18" charset="0"/>
              </a:rPr>
              <a:t>Q: Find the names and ages of all sailors</a:t>
            </a:r>
            <a:endParaRPr lang="en-IN" sz="4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788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83CD854-7218-5874-CA9E-EB66A07D6191}"/>
              </a:ext>
            </a:extLst>
          </p:cNvPr>
          <p:cNvSpPr txBox="1"/>
          <p:nvPr/>
        </p:nvSpPr>
        <p:spPr>
          <a:xfrm>
            <a:off x="1156607" y="680748"/>
            <a:ext cx="6101442" cy="461665"/>
          </a:xfrm>
          <a:prstGeom prst="rect">
            <a:avLst/>
          </a:prstGeom>
          <a:noFill/>
        </p:spPr>
        <p:txBody>
          <a:bodyPr wrap="square">
            <a:spAutoFit/>
          </a:bodyPr>
          <a:lstStyle/>
          <a:p>
            <a:r>
              <a:rPr lang="en-US" sz="2400" b="0" i="1" u="none" strike="noStrike" baseline="0" dirty="0">
                <a:latin typeface="Times New Roman" panose="02020603050405020304" pitchFamily="18" charset="0"/>
              </a:rPr>
              <a:t>Q: Find the names and ages of all sailors</a:t>
            </a:r>
            <a:endParaRPr lang="en-IN" sz="2400" dirty="0"/>
          </a:p>
        </p:txBody>
      </p:sp>
      <p:sp>
        <p:nvSpPr>
          <p:cNvPr id="5" name="TextBox 4">
            <a:extLst>
              <a:ext uri="{FF2B5EF4-FFF2-40B4-BE49-F238E27FC236}">
                <a16:creationId xmlns:a16="http://schemas.microsoft.com/office/drawing/2014/main" xmlns="" id="{9796E837-7547-BC13-16B5-FAC84D6C2449}"/>
              </a:ext>
            </a:extLst>
          </p:cNvPr>
          <p:cNvSpPr txBox="1"/>
          <p:nvPr/>
        </p:nvSpPr>
        <p:spPr>
          <a:xfrm>
            <a:off x="2423432" y="1616920"/>
            <a:ext cx="8342539" cy="523220"/>
          </a:xfrm>
          <a:prstGeom prst="rect">
            <a:avLst/>
          </a:prstGeom>
          <a:noFill/>
        </p:spPr>
        <p:txBody>
          <a:bodyPr wrap="square">
            <a:spAutoFit/>
          </a:bodyPr>
          <a:lstStyle/>
          <a:p>
            <a:r>
              <a:rPr lang="en-US" sz="2800" b="0" i="0" u="none" strike="noStrike" baseline="0" dirty="0">
                <a:latin typeface="Arial" panose="020B0604020202020204" pitchFamily="34" charset="0"/>
              </a:rPr>
              <a:t>SELECT DISTINCT </a:t>
            </a:r>
            <a:r>
              <a:rPr lang="en-US" sz="2800" b="0" i="0" u="none" strike="noStrike" baseline="0" dirty="0" err="1">
                <a:latin typeface="Times New Roman" panose="02020603050405020304" pitchFamily="18" charset="0"/>
              </a:rPr>
              <a:t>S.sname</a:t>
            </a:r>
            <a:r>
              <a:rPr lang="en-US" sz="2800" b="0" i="0" u="none" strike="noStrike" baseline="0" dirty="0">
                <a:latin typeface="Times New Roman" panose="02020603050405020304" pitchFamily="18" charset="0"/>
              </a:rPr>
              <a:t>, </a:t>
            </a:r>
            <a:r>
              <a:rPr lang="en-US" sz="2800" b="0" i="0" u="none" strike="noStrike" baseline="0" dirty="0" err="1">
                <a:latin typeface="Times New Roman" panose="02020603050405020304" pitchFamily="18" charset="0"/>
              </a:rPr>
              <a:t>S.age</a:t>
            </a:r>
            <a:r>
              <a:rPr lang="en-US" sz="2800" b="0" i="0" u="none" strike="noStrike" baseline="0" dirty="0">
                <a:latin typeface="Times New Roman" panose="02020603050405020304" pitchFamily="18" charset="0"/>
              </a:rPr>
              <a:t> </a:t>
            </a:r>
            <a:r>
              <a:rPr lang="en-US" sz="2800" b="0" i="0" u="none" strike="noStrike" baseline="0" dirty="0">
                <a:latin typeface="Arial" panose="020B0604020202020204" pitchFamily="34" charset="0"/>
              </a:rPr>
              <a:t>FROM </a:t>
            </a:r>
            <a:r>
              <a:rPr lang="en-US" sz="2800" b="0" i="0" u="none" strike="noStrike" baseline="0" dirty="0">
                <a:latin typeface="Times New Roman" panose="02020603050405020304" pitchFamily="18" charset="0"/>
              </a:rPr>
              <a:t>Sailors S</a:t>
            </a:r>
            <a:endParaRPr lang="en-IN" sz="2800" dirty="0"/>
          </a:p>
        </p:txBody>
      </p:sp>
      <p:pic>
        <p:nvPicPr>
          <p:cNvPr id="9" name="Picture 8">
            <a:extLst>
              <a:ext uri="{FF2B5EF4-FFF2-40B4-BE49-F238E27FC236}">
                <a16:creationId xmlns:a16="http://schemas.microsoft.com/office/drawing/2014/main" xmlns="" id="{888E3767-E4E5-646B-775C-A582C15EA5D2}"/>
              </a:ext>
            </a:extLst>
          </p:cNvPr>
          <p:cNvPicPr>
            <a:picLocks noChangeAspect="1"/>
          </p:cNvPicPr>
          <p:nvPr/>
        </p:nvPicPr>
        <p:blipFill>
          <a:blip r:embed="rId2"/>
          <a:stretch>
            <a:fillRect/>
          </a:stretch>
        </p:blipFill>
        <p:spPr>
          <a:xfrm>
            <a:off x="2423432" y="2303627"/>
            <a:ext cx="6677589" cy="3531115"/>
          </a:xfrm>
          <a:prstGeom prst="rect">
            <a:avLst/>
          </a:prstGeom>
        </p:spPr>
      </p:pic>
      <p:sp>
        <p:nvSpPr>
          <p:cNvPr id="11" name="TextBox 10">
            <a:extLst>
              <a:ext uri="{FF2B5EF4-FFF2-40B4-BE49-F238E27FC236}">
                <a16:creationId xmlns:a16="http://schemas.microsoft.com/office/drawing/2014/main" xmlns="" id="{E86FE8B0-1EB7-FD16-943F-81DFD43CECF6}"/>
              </a:ext>
            </a:extLst>
          </p:cNvPr>
          <p:cNvSpPr txBox="1"/>
          <p:nvPr/>
        </p:nvSpPr>
        <p:spPr>
          <a:xfrm>
            <a:off x="6442301" y="5813563"/>
            <a:ext cx="6101442"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Answer without </a:t>
            </a:r>
            <a:r>
              <a:rPr lang="en-US" sz="1800" b="0" i="0" u="none" strike="noStrike" baseline="0" dirty="0">
                <a:latin typeface="Arial" panose="020B0604020202020204" pitchFamily="34" charset="0"/>
              </a:rPr>
              <a:t>DISTINCT</a:t>
            </a:r>
            <a:endParaRPr lang="en-IN" dirty="0"/>
          </a:p>
        </p:txBody>
      </p:sp>
    </p:spTree>
    <p:extLst>
      <p:ext uri="{BB962C8B-B14F-4D97-AF65-F5344CB8AC3E}">
        <p14:creationId xmlns:p14="http://schemas.microsoft.com/office/powerpoint/2010/main" val="3029115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5330" y="658789"/>
            <a:ext cx="2735364" cy="523220"/>
          </a:xfrm>
          <a:prstGeom prst="rect">
            <a:avLst/>
          </a:prstGeom>
        </p:spPr>
        <p:txBody>
          <a:bodyPr wrap="none">
            <a:spAutoFit/>
          </a:bodyPr>
          <a:lstStyle/>
          <a:p>
            <a:r>
              <a:rPr lang="el-GR" sz="2800" dirty="0"/>
              <a:t>Π</a:t>
            </a:r>
            <a:r>
              <a:rPr lang="en-IN" sz="2000" dirty="0" err="1"/>
              <a:t>sname</a:t>
            </a:r>
            <a:r>
              <a:rPr lang="en-IN" sz="2000" dirty="0"/>
              <a:t>, age</a:t>
            </a:r>
            <a:r>
              <a:rPr lang="en-IN" sz="2800" dirty="0"/>
              <a:t>​(Sailors)</a:t>
            </a:r>
          </a:p>
        </p:txBody>
      </p:sp>
      <p:sp>
        <p:nvSpPr>
          <p:cNvPr id="3" name="Rectangle 2"/>
          <p:cNvSpPr/>
          <p:nvPr/>
        </p:nvSpPr>
        <p:spPr>
          <a:xfrm>
            <a:off x="1906029" y="1829138"/>
            <a:ext cx="8404619" cy="523220"/>
          </a:xfrm>
          <a:prstGeom prst="rect">
            <a:avLst/>
          </a:prstGeom>
        </p:spPr>
        <p:txBody>
          <a:bodyPr wrap="square">
            <a:spAutoFit/>
          </a:bodyPr>
          <a:lstStyle/>
          <a:p>
            <a:r>
              <a:rPr lang="en-US" sz="2800" dirty="0" smtClean="0"/>
              <a:t>{t∣∃</a:t>
            </a:r>
            <a:r>
              <a:rPr lang="en-US" sz="2800" dirty="0" err="1" smtClean="0"/>
              <a:t>s∈Sailors</a:t>
            </a:r>
            <a:r>
              <a:rPr lang="en-US" sz="2800" dirty="0" smtClean="0"/>
              <a:t> ( t[</a:t>
            </a:r>
            <a:r>
              <a:rPr lang="en-US" sz="2800" dirty="0" err="1" smtClean="0"/>
              <a:t>sname</a:t>
            </a:r>
            <a:r>
              <a:rPr lang="en-US" sz="2800" dirty="0" smtClean="0"/>
              <a:t>]=s[</a:t>
            </a:r>
            <a:r>
              <a:rPr lang="en-US" sz="2800" dirty="0" err="1" smtClean="0"/>
              <a:t>sname</a:t>
            </a:r>
            <a:r>
              <a:rPr lang="en-US" sz="2800" dirty="0" smtClean="0"/>
              <a:t>] ∧ t[age]=s[age] )} </a:t>
            </a:r>
            <a:endParaRPr lang="en-US" sz="2800" dirty="0"/>
          </a:p>
        </p:txBody>
      </p:sp>
      <p:sp>
        <p:nvSpPr>
          <p:cNvPr id="4" name="Rectangle 3"/>
          <p:cNvSpPr/>
          <p:nvPr/>
        </p:nvSpPr>
        <p:spPr>
          <a:xfrm>
            <a:off x="3099471" y="3095287"/>
            <a:ext cx="5601790" cy="584775"/>
          </a:xfrm>
          <a:prstGeom prst="rect">
            <a:avLst/>
          </a:prstGeom>
        </p:spPr>
        <p:txBody>
          <a:bodyPr wrap="none">
            <a:spAutoFit/>
          </a:bodyPr>
          <a:lstStyle/>
          <a:p>
            <a:r>
              <a:rPr lang="en-IN" sz="3200" dirty="0"/>
              <a:t>{⟨</a:t>
            </a:r>
            <a:r>
              <a:rPr lang="en-IN" sz="3200" dirty="0" err="1"/>
              <a:t>n,a</a:t>
            </a:r>
            <a:r>
              <a:rPr lang="en-IN" sz="3200" dirty="0"/>
              <a:t>⟩∣∃</a:t>
            </a:r>
            <a:r>
              <a:rPr lang="en-IN" sz="3200" dirty="0" err="1"/>
              <a:t>id∃r</a:t>
            </a:r>
            <a:r>
              <a:rPr lang="en-IN" sz="3200" dirty="0"/>
              <a:t> ( ⟨</a:t>
            </a:r>
            <a:r>
              <a:rPr lang="en-IN" sz="3200" dirty="0" err="1"/>
              <a:t>id,n,r,a</a:t>
            </a:r>
            <a:r>
              <a:rPr lang="en-IN" sz="3200" dirty="0"/>
              <a:t>⟩∈Sailors )}</a:t>
            </a:r>
          </a:p>
        </p:txBody>
      </p:sp>
    </p:spTree>
    <p:extLst>
      <p:ext uri="{BB962C8B-B14F-4D97-AF65-F5344CB8AC3E}">
        <p14:creationId xmlns:p14="http://schemas.microsoft.com/office/powerpoint/2010/main" val="30146446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769441"/>
          </a:xfrm>
          <a:prstGeom prst="rect">
            <a:avLst/>
          </a:prstGeom>
          <a:noFill/>
        </p:spPr>
        <p:txBody>
          <a:bodyPr wrap="square">
            <a:spAutoFit/>
          </a:bodyPr>
          <a:lstStyle/>
          <a:p>
            <a:r>
              <a:rPr lang="en-US" sz="4400" b="1" i="1" dirty="0">
                <a:latin typeface="Times New Roman" panose="02020603050405020304" pitchFamily="18" charset="0"/>
              </a:rPr>
              <a:t>Q: Find all sailors with a rating above 7.</a:t>
            </a:r>
            <a:endParaRPr lang="en-IN" sz="4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29709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12D178B-A2A4-F999-FBC6-CB2343665390}"/>
              </a:ext>
            </a:extLst>
          </p:cNvPr>
          <p:cNvSpPr txBox="1"/>
          <p:nvPr/>
        </p:nvSpPr>
        <p:spPr>
          <a:xfrm>
            <a:off x="1668237" y="321519"/>
            <a:ext cx="6101442" cy="400110"/>
          </a:xfrm>
          <a:prstGeom prst="rect">
            <a:avLst/>
          </a:prstGeom>
          <a:noFill/>
        </p:spPr>
        <p:txBody>
          <a:bodyPr wrap="square">
            <a:spAutoFit/>
          </a:bodyPr>
          <a:lstStyle/>
          <a:p>
            <a:r>
              <a:rPr lang="en-US" sz="2000" b="1" i="1" u="none" strike="noStrike" baseline="0" dirty="0">
                <a:latin typeface="Times New Roman" panose="02020603050405020304" pitchFamily="18" charset="0"/>
              </a:rPr>
              <a:t>Q: Find all sailors with a rating above 7.</a:t>
            </a:r>
            <a:endParaRPr lang="en-IN" sz="2000" dirty="0"/>
          </a:p>
        </p:txBody>
      </p:sp>
      <p:sp>
        <p:nvSpPr>
          <p:cNvPr id="5" name="TextBox 4">
            <a:extLst>
              <a:ext uri="{FF2B5EF4-FFF2-40B4-BE49-F238E27FC236}">
                <a16:creationId xmlns:a16="http://schemas.microsoft.com/office/drawing/2014/main" xmlns="" id="{C9654A0B-1EFD-7954-E87A-79793ECF4417}"/>
              </a:ext>
            </a:extLst>
          </p:cNvPr>
          <p:cNvSpPr txBox="1"/>
          <p:nvPr/>
        </p:nvSpPr>
        <p:spPr>
          <a:xfrm>
            <a:off x="2147207" y="942394"/>
            <a:ext cx="8183335" cy="830997"/>
          </a:xfrm>
          <a:prstGeom prst="rect">
            <a:avLst/>
          </a:prstGeom>
          <a:noFill/>
        </p:spPr>
        <p:txBody>
          <a:bodyPr wrap="square">
            <a:spAutoFit/>
          </a:bodyPr>
          <a:lstStyle/>
          <a:p>
            <a:r>
              <a:rPr lang="en-US" sz="2400" b="0" i="0" u="none" strike="noStrike" baseline="0" dirty="0">
                <a:latin typeface="Arial" panose="020B0604020202020204" pitchFamily="34" charset="0"/>
              </a:rPr>
              <a:t>SELECT </a:t>
            </a:r>
            <a:r>
              <a:rPr lang="en-US" sz="2400" b="0" i="0" u="none" strike="noStrike" baseline="0" dirty="0" err="1">
                <a:latin typeface="Times New Roman" panose="02020603050405020304" pitchFamily="18" charset="0"/>
              </a:rPr>
              <a:t>S.sid</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S.sname</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S.rating</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S.age</a:t>
            </a:r>
            <a:r>
              <a:rPr lang="en-US" sz="2400" b="0" i="0" u="none" strike="noStrike" baseline="0" dirty="0">
                <a:latin typeface="Times New Roman" panose="02020603050405020304" pitchFamily="18" charset="0"/>
              </a:rPr>
              <a:t> </a:t>
            </a:r>
            <a:r>
              <a:rPr lang="en-US" sz="2400" b="0" i="0" u="none" strike="noStrike" baseline="0" dirty="0">
                <a:latin typeface="Arial" panose="020B0604020202020204" pitchFamily="34" charset="0"/>
              </a:rPr>
              <a:t>FROM </a:t>
            </a:r>
            <a:r>
              <a:rPr lang="en-US" sz="2400" b="0" i="0" u="none" strike="noStrike" baseline="0" dirty="0">
                <a:latin typeface="Times New Roman" panose="02020603050405020304" pitchFamily="18" charset="0"/>
              </a:rPr>
              <a:t>Sailors </a:t>
            </a:r>
            <a:r>
              <a:rPr lang="en-US" sz="2400" b="0" i="0" u="none" strike="noStrike" baseline="0" dirty="0">
                <a:latin typeface="Arial" panose="020B0604020202020204" pitchFamily="34" charset="0"/>
              </a:rPr>
              <a:t>AS </a:t>
            </a:r>
            <a:r>
              <a:rPr lang="en-US" sz="2400" b="0" i="0" u="none" strike="noStrike" baseline="0" dirty="0">
                <a:latin typeface="Times New Roman" panose="02020603050405020304" pitchFamily="18" charset="0"/>
              </a:rPr>
              <a:t>S </a:t>
            </a:r>
            <a:r>
              <a:rPr lang="en-US" sz="2400" b="0" i="0" u="none" strike="noStrike" baseline="0" dirty="0">
                <a:latin typeface="Arial" panose="020B0604020202020204" pitchFamily="34" charset="0"/>
              </a:rPr>
              <a:t>WHERE </a:t>
            </a:r>
            <a:r>
              <a:rPr lang="en-US" sz="2400" b="0" i="0" u="none" strike="noStrike" baseline="0" dirty="0" err="1">
                <a:latin typeface="Times New Roman" panose="02020603050405020304" pitchFamily="18" charset="0"/>
              </a:rPr>
              <a:t>S.rating</a:t>
            </a:r>
            <a:r>
              <a:rPr lang="en-US" sz="2400" b="0" i="0" u="none" strike="noStrike" baseline="0" dirty="0">
                <a:latin typeface="Times New Roman" panose="02020603050405020304" pitchFamily="18" charset="0"/>
              </a:rPr>
              <a:t> </a:t>
            </a:r>
            <a:r>
              <a:rPr lang="en-US" sz="2400" b="0" i="1" u="none" strike="noStrike" baseline="0" dirty="0">
                <a:latin typeface="Arial" panose="020B0604020202020204" pitchFamily="34" charset="0"/>
              </a:rPr>
              <a:t>&gt; </a:t>
            </a:r>
            <a:r>
              <a:rPr lang="en-US" sz="2400" b="0" i="0" u="none" strike="noStrike" baseline="0" dirty="0">
                <a:latin typeface="Times New Roman" panose="02020603050405020304" pitchFamily="18" charset="0"/>
              </a:rPr>
              <a:t>7</a:t>
            </a:r>
            <a:endParaRPr lang="en-IN" sz="2400" dirty="0"/>
          </a:p>
        </p:txBody>
      </p:sp>
      <p:sp>
        <p:nvSpPr>
          <p:cNvPr id="2" name="Rectangle 1"/>
          <p:cNvSpPr/>
          <p:nvPr/>
        </p:nvSpPr>
        <p:spPr>
          <a:xfrm>
            <a:off x="2560645" y="2054368"/>
            <a:ext cx="6560707" cy="523220"/>
          </a:xfrm>
          <a:prstGeom prst="rect">
            <a:avLst/>
          </a:prstGeom>
        </p:spPr>
        <p:txBody>
          <a:bodyPr wrap="none">
            <a:spAutoFit/>
          </a:bodyPr>
          <a:lstStyle/>
          <a:p>
            <a:r>
              <a:rPr lang="en-US" sz="2800" dirty="0"/>
              <a:t>SELECT * FROM Sailors WHERE rating &gt; 7;</a:t>
            </a:r>
            <a:endParaRPr lang="en-IN" sz="2800" dirty="0"/>
          </a:p>
        </p:txBody>
      </p:sp>
      <p:sp>
        <p:nvSpPr>
          <p:cNvPr id="4" name="Rectangle 3"/>
          <p:cNvSpPr/>
          <p:nvPr/>
        </p:nvSpPr>
        <p:spPr>
          <a:xfrm>
            <a:off x="3843849" y="2908004"/>
            <a:ext cx="3036409" cy="646331"/>
          </a:xfrm>
          <a:prstGeom prst="rect">
            <a:avLst/>
          </a:prstGeom>
        </p:spPr>
        <p:txBody>
          <a:bodyPr wrap="none">
            <a:spAutoFit/>
          </a:bodyPr>
          <a:lstStyle/>
          <a:p>
            <a:r>
              <a:rPr lang="el-GR" sz="3600" dirty="0"/>
              <a:t>σ</a:t>
            </a:r>
            <a:r>
              <a:rPr lang="en-IN" sz="2400" dirty="0"/>
              <a:t>rating&gt;7</a:t>
            </a:r>
            <a:r>
              <a:rPr lang="en-IN" sz="3600" dirty="0"/>
              <a:t>​(Sailors)</a:t>
            </a:r>
          </a:p>
        </p:txBody>
      </p:sp>
      <p:sp>
        <p:nvSpPr>
          <p:cNvPr id="6" name="Rectangle 5"/>
          <p:cNvSpPr/>
          <p:nvPr/>
        </p:nvSpPr>
        <p:spPr>
          <a:xfrm>
            <a:off x="3240875" y="3719201"/>
            <a:ext cx="4528804" cy="584775"/>
          </a:xfrm>
          <a:prstGeom prst="rect">
            <a:avLst/>
          </a:prstGeom>
        </p:spPr>
        <p:txBody>
          <a:bodyPr wrap="none">
            <a:spAutoFit/>
          </a:bodyPr>
          <a:lstStyle/>
          <a:p>
            <a:r>
              <a:rPr lang="en-US" sz="3200" dirty="0"/>
              <a:t>{</a:t>
            </a:r>
            <a:r>
              <a:rPr lang="en-US" sz="3200" dirty="0" err="1"/>
              <a:t>s∣s∈Sailors</a:t>
            </a:r>
            <a:r>
              <a:rPr lang="en-US" sz="3200" dirty="0"/>
              <a:t> ∧ </a:t>
            </a:r>
            <a:r>
              <a:rPr lang="en-US" sz="3200" dirty="0" smtClean="0"/>
              <a:t>s[rating</a:t>
            </a:r>
            <a:r>
              <a:rPr lang="en-US" sz="3200" dirty="0"/>
              <a:t>]&gt;7}</a:t>
            </a:r>
            <a:endParaRPr lang="en-IN" sz="3200" dirty="0"/>
          </a:p>
        </p:txBody>
      </p:sp>
      <p:sp>
        <p:nvSpPr>
          <p:cNvPr id="8" name="Rectangle 7"/>
          <p:cNvSpPr/>
          <p:nvPr/>
        </p:nvSpPr>
        <p:spPr>
          <a:xfrm>
            <a:off x="2560645" y="4712420"/>
            <a:ext cx="6427272" cy="646331"/>
          </a:xfrm>
          <a:prstGeom prst="rect">
            <a:avLst/>
          </a:prstGeom>
        </p:spPr>
        <p:txBody>
          <a:bodyPr wrap="none">
            <a:spAutoFit/>
          </a:bodyPr>
          <a:lstStyle/>
          <a:p>
            <a:r>
              <a:rPr lang="en-IN" sz="3600" dirty="0"/>
              <a:t>{⟨</a:t>
            </a:r>
            <a:r>
              <a:rPr lang="en-IN" sz="3600" dirty="0" err="1"/>
              <a:t>id,n,r,a</a:t>
            </a:r>
            <a:r>
              <a:rPr lang="en-IN" sz="3600" dirty="0"/>
              <a:t>⟩∣⟨</a:t>
            </a:r>
            <a:r>
              <a:rPr lang="en-IN" sz="3600" dirty="0" err="1"/>
              <a:t>id,n,r,a</a:t>
            </a:r>
            <a:r>
              <a:rPr lang="en-IN" sz="3600" dirty="0"/>
              <a:t>⟩∈Sailors ∧ r&gt;7}</a:t>
            </a:r>
          </a:p>
        </p:txBody>
      </p:sp>
    </p:spTree>
    <p:extLst>
      <p:ext uri="{BB962C8B-B14F-4D97-AF65-F5344CB8AC3E}">
        <p14:creationId xmlns:p14="http://schemas.microsoft.com/office/powerpoint/2010/main" val="27356217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1446550"/>
          </a:xfrm>
          <a:prstGeom prst="rect">
            <a:avLst/>
          </a:prstGeom>
          <a:noFill/>
        </p:spPr>
        <p:txBody>
          <a:bodyPr wrap="square">
            <a:spAutoFit/>
          </a:bodyPr>
          <a:lstStyle/>
          <a:p>
            <a:r>
              <a:rPr lang="en-US" sz="4400" b="1" i="1" dirty="0">
                <a:latin typeface="Times New Roman" panose="02020603050405020304" pitchFamily="18" charset="0"/>
              </a:rPr>
              <a:t>Q: Find the </a:t>
            </a:r>
            <a:r>
              <a:rPr lang="en-US" sz="4400" b="1" i="1" dirty="0" err="1">
                <a:latin typeface="Times New Roman" panose="02020603050405020304" pitchFamily="18" charset="0"/>
              </a:rPr>
              <a:t>sids</a:t>
            </a:r>
            <a:r>
              <a:rPr lang="en-US" sz="4400" b="1" i="1" dirty="0">
                <a:latin typeface="Times New Roman" panose="02020603050405020304" pitchFamily="18" charset="0"/>
              </a:rPr>
              <a:t> of sailors who have reserved a red boat.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97175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29B853E-8A92-3A10-362E-B81BBB52198D}"/>
              </a:ext>
            </a:extLst>
          </p:cNvPr>
          <p:cNvSpPr txBox="1"/>
          <p:nvPr/>
        </p:nvSpPr>
        <p:spPr>
          <a:xfrm>
            <a:off x="658168" y="160283"/>
            <a:ext cx="11330152" cy="2062103"/>
          </a:xfrm>
          <a:prstGeom prst="rect">
            <a:avLst/>
          </a:prstGeom>
          <a:noFill/>
        </p:spPr>
        <p:txBody>
          <a:bodyPr wrap="square">
            <a:spAutoFit/>
          </a:bodyPr>
          <a:lstStyle/>
          <a:p>
            <a:pPr algn="l"/>
            <a:endParaRPr lang="en-US" sz="3200" b="1" i="1" u="none" strike="noStrike" baseline="0" dirty="0">
              <a:latin typeface="Times New Roman" panose="02020603050405020304" pitchFamily="18" charset="0"/>
            </a:endParaRPr>
          </a:p>
          <a:p>
            <a:pPr algn="l"/>
            <a:r>
              <a:rPr lang="en-US" sz="3200" b="0" i="0" u="none" strike="noStrike" baseline="0" dirty="0">
                <a:latin typeface="Arial" panose="020B0604020202020204" pitchFamily="34" charset="0"/>
              </a:rPr>
              <a:t>SELECT </a:t>
            </a:r>
            <a:r>
              <a:rPr lang="en-US" sz="3200" b="0" i="0" u="none" strike="noStrike" baseline="0" dirty="0" err="1">
                <a:latin typeface="Times New Roman" panose="02020603050405020304" pitchFamily="18" charset="0"/>
              </a:rPr>
              <a:t>R.sid</a:t>
            </a:r>
            <a:r>
              <a:rPr lang="en-US" sz="3200" b="0" i="0" u="none" strike="noStrike" baseline="0" dirty="0">
                <a:latin typeface="Times New Roman" panose="02020603050405020304" pitchFamily="18" charset="0"/>
              </a:rPr>
              <a:t> </a:t>
            </a:r>
            <a:r>
              <a:rPr lang="en-US" sz="3200" b="0" i="0" u="none" strike="noStrike" baseline="0" dirty="0">
                <a:latin typeface="Arial" panose="020B0604020202020204" pitchFamily="34" charset="0"/>
              </a:rPr>
              <a:t>FROM </a:t>
            </a:r>
            <a:r>
              <a:rPr lang="en-US" sz="3200" b="0" i="0" u="none" strike="noStrike" baseline="0" dirty="0">
                <a:latin typeface="Times New Roman" panose="02020603050405020304" pitchFamily="18" charset="0"/>
              </a:rPr>
              <a:t>Boats B, Reserves R </a:t>
            </a:r>
            <a:endParaRPr lang="en-US" sz="3200" b="0" i="0" u="none" strike="noStrike" baseline="0" dirty="0" smtClean="0">
              <a:latin typeface="Times New Roman" panose="02020603050405020304" pitchFamily="18" charset="0"/>
            </a:endParaRPr>
          </a:p>
          <a:p>
            <a:pPr algn="l"/>
            <a:r>
              <a:rPr lang="en-US" sz="3200" b="0" i="0" u="none" strike="noStrike" baseline="0" dirty="0" smtClean="0">
                <a:latin typeface="Arial" panose="020B0604020202020204" pitchFamily="34" charset="0"/>
              </a:rPr>
              <a:t>WHERE </a:t>
            </a:r>
            <a:r>
              <a:rPr lang="en-US" sz="3200" b="0" i="0" u="none" strike="noStrike" baseline="0" dirty="0" err="1">
                <a:latin typeface="Times New Roman" panose="02020603050405020304" pitchFamily="18" charset="0"/>
              </a:rPr>
              <a:t>B.bid</a:t>
            </a:r>
            <a:r>
              <a:rPr lang="en-US" sz="3200" b="0" i="0" u="none" strike="noStrike" baseline="0" dirty="0">
                <a:latin typeface="Times New Roman" panose="02020603050405020304" pitchFamily="18" charset="0"/>
              </a:rPr>
              <a:t> = </a:t>
            </a:r>
            <a:r>
              <a:rPr lang="en-US" sz="3200" b="0" i="0" u="none" strike="noStrike" baseline="0" dirty="0" err="1">
                <a:latin typeface="Times New Roman" panose="02020603050405020304" pitchFamily="18" charset="0"/>
              </a:rPr>
              <a:t>R.bid</a:t>
            </a:r>
            <a:r>
              <a:rPr lang="en-US" sz="3200" b="0" i="0" u="none" strike="noStrike" baseline="0" dirty="0">
                <a:latin typeface="Times New Roman" panose="02020603050405020304" pitchFamily="18" charset="0"/>
              </a:rPr>
              <a:t> </a:t>
            </a:r>
            <a:endParaRPr lang="en-US" sz="3200" b="0" i="0" u="none" strike="noStrike" baseline="0" dirty="0" smtClean="0">
              <a:latin typeface="Times New Roman" panose="02020603050405020304" pitchFamily="18" charset="0"/>
            </a:endParaRPr>
          </a:p>
          <a:p>
            <a:pPr algn="l"/>
            <a:r>
              <a:rPr lang="en-US" sz="3200" b="0" i="0" u="none" strike="noStrike" baseline="0" dirty="0" smtClean="0">
                <a:latin typeface="Arial" panose="020B0604020202020204" pitchFamily="34" charset="0"/>
              </a:rPr>
              <a:t>AND </a:t>
            </a:r>
            <a:r>
              <a:rPr lang="en-US" sz="3200" b="0" i="0" u="none" strike="noStrike" baseline="0" dirty="0" err="1">
                <a:latin typeface="Times New Roman" panose="02020603050405020304" pitchFamily="18" charset="0"/>
              </a:rPr>
              <a:t>B.color</a:t>
            </a:r>
            <a:r>
              <a:rPr lang="en-US" sz="3200" b="0" i="0" u="none" strike="noStrike" baseline="0" dirty="0">
                <a:latin typeface="Times New Roman" panose="02020603050405020304" pitchFamily="18" charset="0"/>
              </a:rPr>
              <a:t> = ‘red</a:t>
            </a:r>
            <a:r>
              <a:rPr lang="en-US" sz="3200" b="0" i="0" u="none" strike="noStrike" baseline="0" dirty="0" smtClean="0">
                <a:latin typeface="Times New Roman" panose="02020603050405020304" pitchFamily="18" charset="0"/>
              </a:rPr>
              <a:t>’;</a:t>
            </a:r>
            <a:endParaRPr lang="en-IN" sz="3200" dirty="0"/>
          </a:p>
        </p:txBody>
      </p:sp>
      <p:sp>
        <p:nvSpPr>
          <p:cNvPr id="3" name="Rectangle 2"/>
          <p:cNvSpPr/>
          <p:nvPr/>
        </p:nvSpPr>
        <p:spPr>
          <a:xfrm>
            <a:off x="640852" y="2350954"/>
            <a:ext cx="5873211" cy="584775"/>
          </a:xfrm>
          <a:prstGeom prst="rect">
            <a:avLst/>
          </a:prstGeom>
        </p:spPr>
        <p:txBody>
          <a:bodyPr wrap="none">
            <a:spAutoFit/>
          </a:bodyPr>
          <a:lstStyle/>
          <a:p>
            <a:r>
              <a:rPr lang="en-US" sz="3200" dirty="0" err="1"/>
              <a:t>Π</a:t>
            </a:r>
            <a:r>
              <a:rPr lang="en-US" sz="2400" dirty="0" err="1"/>
              <a:t>sid</a:t>
            </a:r>
            <a:r>
              <a:rPr lang="en-US" sz="3200" dirty="0"/>
              <a:t>​(</a:t>
            </a:r>
            <a:r>
              <a:rPr lang="en-US" sz="3200" dirty="0" err="1"/>
              <a:t>σ</a:t>
            </a:r>
            <a:r>
              <a:rPr lang="en-US" sz="2400" dirty="0" err="1"/>
              <a:t>color</a:t>
            </a:r>
            <a:r>
              <a:rPr lang="en-US" sz="2400" dirty="0"/>
              <a:t>=′red′</a:t>
            </a:r>
            <a:r>
              <a:rPr lang="en-US" sz="3200" dirty="0"/>
              <a:t>​(</a:t>
            </a:r>
            <a:r>
              <a:rPr lang="en-US" sz="3200" dirty="0" err="1"/>
              <a:t>Reserves⋈Boats</a:t>
            </a:r>
            <a:r>
              <a:rPr lang="en-US" sz="3200" dirty="0"/>
              <a:t>))</a:t>
            </a:r>
            <a:endParaRPr lang="en-IN" sz="3200" dirty="0"/>
          </a:p>
        </p:txBody>
      </p:sp>
      <p:sp>
        <p:nvSpPr>
          <p:cNvPr id="4" name="Rectangle 3"/>
          <p:cNvSpPr/>
          <p:nvPr/>
        </p:nvSpPr>
        <p:spPr>
          <a:xfrm>
            <a:off x="640851" y="3486045"/>
            <a:ext cx="11099203" cy="523220"/>
          </a:xfrm>
          <a:prstGeom prst="rect">
            <a:avLst/>
          </a:prstGeom>
        </p:spPr>
        <p:txBody>
          <a:bodyPr wrap="square">
            <a:spAutoFit/>
          </a:bodyPr>
          <a:lstStyle/>
          <a:p>
            <a:r>
              <a:rPr lang="en-IN" sz="2800" dirty="0"/>
              <a:t>{t∣∃</a:t>
            </a:r>
            <a:r>
              <a:rPr lang="en-IN" sz="2800" dirty="0" err="1"/>
              <a:t>r∈Reserves</a:t>
            </a:r>
            <a:r>
              <a:rPr lang="en-IN" sz="2800" dirty="0"/>
              <a:t> ∃</a:t>
            </a:r>
            <a:r>
              <a:rPr lang="en-IN" sz="2800" dirty="0" err="1"/>
              <a:t>b∈Boats</a:t>
            </a:r>
            <a:r>
              <a:rPr lang="en-IN" sz="2800" dirty="0"/>
              <a:t> ( r[bid]=b[bid] ∧ b[</a:t>
            </a:r>
            <a:r>
              <a:rPr lang="en-IN" sz="2800" dirty="0" err="1"/>
              <a:t>color</a:t>
            </a:r>
            <a:r>
              <a:rPr lang="en-IN" sz="2800" dirty="0"/>
              <a:t>]=′red′ ∧ t[</a:t>
            </a:r>
            <a:r>
              <a:rPr lang="en-IN" sz="2800" dirty="0" err="1"/>
              <a:t>sid</a:t>
            </a:r>
            <a:r>
              <a:rPr lang="en-IN" sz="2800" dirty="0"/>
              <a:t>]=r[</a:t>
            </a:r>
            <a:r>
              <a:rPr lang="en-IN" sz="2800" dirty="0" err="1"/>
              <a:t>sid</a:t>
            </a:r>
            <a:r>
              <a:rPr lang="en-IN" sz="2800" dirty="0"/>
              <a:t>] )}</a:t>
            </a:r>
          </a:p>
        </p:txBody>
      </p:sp>
      <p:sp>
        <p:nvSpPr>
          <p:cNvPr id="5" name="Rectangle 4"/>
          <p:cNvSpPr/>
          <p:nvPr/>
        </p:nvSpPr>
        <p:spPr>
          <a:xfrm>
            <a:off x="640852" y="4409118"/>
            <a:ext cx="10321158" cy="523220"/>
          </a:xfrm>
          <a:prstGeom prst="rect">
            <a:avLst/>
          </a:prstGeom>
        </p:spPr>
        <p:txBody>
          <a:bodyPr wrap="square">
            <a:spAutoFit/>
          </a:bodyPr>
          <a:lstStyle/>
          <a:p>
            <a:r>
              <a:rPr lang="en-IN" sz="2800" dirty="0"/>
              <a:t>{⟨</a:t>
            </a:r>
            <a:r>
              <a:rPr lang="en-IN" sz="2800" dirty="0" err="1"/>
              <a:t>sid</a:t>
            </a:r>
            <a:r>
              <a:rPr lang="en-IN" sz="2800" dirty="0"/>
              <a:t>⟩∣∃</a:t>
            </a:r>
            <a:r>
              <a:rPr lang="en-IN" sz="2800" dirty="0" err="1"/>
              <a:t>bid∃d</a:t>
            </a:r>
            <a:r>
              <a:rPr lang="en-IN" sz="2800" dirty="0"/>
              <a:t> ( ⟨</a:t>
            </a:r>
            <a:r>
              <a:rPr lang="en-IN" sz="2800" dirty="0" err="1"/>
              <a:t>sid,bid,d</a:t>
            </a:r>
            <a:r>
              <a:rPr lang="en-IN" sz="2800" dirty="0"/>
              <a:t>⟩∈Reserves ∧ ∃</a:t>
            </a:r>
            <a:r>
              <a:rPr lang="en-IN" sz="2800" dirty="0" err="1"/>
              <a:t>bn</a:t>
            </a:r>
            <a:r>
              <a:rPr lang="en-IN" sz="2800" dirty="0"/>
              <a:t> ( ⟨bid,</a:t>
            </a:r>
            <a:r>
              <a:rPr lang="en-IN" sz="2800" dirty="0" err="1"/>
              <a:t>bn</a:t>
            </a:r>
            <a:r>
              <a:rPr lang="en-IN" sz="2800" dirty="0"/>
              <a:t>,′red′⟩∈Boats ) )}</a:t>
            </a:r>
          </a:p>
        </p:txBody>
      </p:sp>
      <p:sp>
        <p:nvSpPr>
          <p:cNvPr id="6" name="Rectangle 5"/>
          <p:cNvSpPr/>
          <p:nvPr/>
        </p:nvSpPr>
        <p:spPr>
          <a:xfrm>
            <a:off x="658168" y="-24383"/>
            <a:ext cx="5532284" cy="369332"/>
          </a:xfrm>
          <a:prstGeom prst="rect">
            <a:avLst/>
          </a:prstGeom>
        </p:spPr>
        <p:txBody>
          <a:bodyPr wrap="none">
            <a:spAutoFit/>
          </a:bodyPr>
          <a:lstStyle/>
          <a:p>
            <a:r>
              <a:rPr lang="en-US" b="1" i="1" dirty="0">
                <a:latin typeface="Times New Roman" panose="02020603050405020304" pitchFamily="18" charset="0"/>
              </a:rPr>
              <a:t>Q: Find the </a:t>
            </a:r>
            <a:r>
              <a:rPr lang="en-US" b="1" i="1" dirty="0" err="1">
                <a:latin typeface="Times New Roman" panose="02020603050405020304" pitchFamily="18" charset="0"/>
              </a:rPr>
              <a:t>sids</a:t>
            </a:r>
            <a:r>
              <a:rPr lang="en-US" b="1" i="1" dirty="0">
                <a:latin typeface="Times New Roman" panose="02020603050405020304" pitchFamily="18" charset="0"/>
              </a:rPr>
              <a:t> of sailors who have reserved a red boat.</a:t>
            </a:r>
          </a:p>
        </p:txBody>
      </p:sp>
    </p:spTree>
    <p:extLst>
      <p:ext uri="{BB962C8B-B14F-4D97-AF65-F5344CB8AC3E}">
        <p14:creationId xmlns:p14="http://schemas.microsoft.com/office/powerpoint/2010/main" val="14242144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1200329"/>
          </a:xfrm>
          <a:prstGeom prst="rect">
            <a:avLst/>
          </a:prstGeom>
          <a:noFill/>
        </p:spPr>
        <p:txBody>
          <a:bodyPr wrap="square">
            <a:spAutoFit/>
          </a:bodyPr>
          <a:lstStyle/>
          <a:p>
            <a:r>
              <a:rPr lang="en-US" sz="3600" b="1" i="1" dirty="0">
                <a:latin typeface="Times New Roman" panose="02020603050405020304" pitchFamily="18" charset="0"/>
              </a:rPr>
              <a:t>Find the ages of sailors whose name begins and ends with B and has at </a:t>
            </a:r>
            <a:r>
              <a:rPr lang="en-US" sz="3600" b="1" i="1" dirty="0" smtClean="0">
                <a:latin typeface="Times New Roman" panose="02020603050405020304" pitchFamily="18" charset="0"/>
              </a:rPr>
              <a:t>least </a:t>
            </a:r>
            <a:r>
              <a:rPr lang="en-IN" sz="3600" b="1" i="1" dirty="0" smtClean="0">
                <a:latin typeface="Times New Roman" panose="02020603050405020304" pitchFamily="18" charset="0"/>
              </a:rPr>
              <a:t>three </a:t>
            </a:r>
            <a:r>
              <a:rPr lang="en-IN" sz="3600" b="1" i="1" dirty="0">
                <a:latin typeface="Times New Roman" panose="02020603050405020304" pitchFamily="18" charset="0"/>
              </a:rPr>
              <a:t>characters</a:t>
            </a:r>
            <a:r>
              <a:rPr lang="en-IN" sz="3600" i="1" dirty="0">
                <a:latin typeface="Times New Roman" panose="02020603050405020304" pitchFamily="18" charset="0"/>
              </a:rPr>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72631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ABB424C-A285-A220-5001-C1D4453B42F5}"/>
              </a:ext>
            </a:extLst>
          </p:cNvPr>
          <p:cNvSpPr txBox="1"/>
          <p:nvPr/>
        </p:nvSpPr>
        <p:spPr>
          <a:xfrm>
            <a:off x="892629" y="573065"/>
            <a:ext cx="10910487" cy="1446550"/>
          </a:xfrm>
          <a:prstGeom prst="rect">
            <a:avLst/>
          </a:prstGeom>
          <a:noFill/>
        </p:spPr>
        <p:txBody>
          <a:bodyPr wrap="square">
            <a:spAutoFit/>
          </a:bodyPr>
          <a:lstStyle/>
          <a:p>
            <a:pPr algn="l"/>
            <a:r>
              <a:rPr lang="en-US" sz="2000" b="1" i="1" u="none" strike="noStrike" baseline="0" dirty="0">
                <a:latin typeface="Times New Roman" panose="02020603050405020304" pitchFamily="18" charset="0"/>
              </a:rPr>
              <a:t>Q: Find the ages of sailors whose name begins and ends with B and has at least</a:t>
            </a:r>
          </a:p>
          <a:p>
            <a:pPr algn="l"/>
            <a:r>
              <a:rPr lang="en-IN" sz="2000" b="1" i="1" u="none" strike="noStrike" baseline="0" dirty="0">
                <a:latin typeface="Times New Roman" panose="02020603050405020304" pitchFamily="18" charset="0"/>
              </a:rPr>
              <a:t>three characters</a:t>
            </a:r>
            <a:r>
              <a:rPr lang="en-IN" sz="2000" b="0" i="1" u="none" strike="noStrike" baseline="0" dirty="0">
                <a:latin typeface="Times New Roman" panose="02020603050405020304" pitchFamily="18" charset="0"/>
              </a:rPr>
              <a:t>.</a:t>
            </a:r>
          </a:p>
          <a:p>
            <a:pPr algn="l"/>
            <a:endParaRPr lang="en-IN" sz="2000" b="0" i="1" u="none" strike="noStrike" baseline="0" dirty="0">
              <a:latin typeface="Times New Roman" panose="02020603050405020304" pitchFamily="18" charset="0"/>
            </a:endParaRPr>
          </a:p>
          <a:p>
            <a:pPr algn="l"/>
            <a:r>
              <a:rPr lang="en-US" sz="2800" b="0" i="0" u="none" strike="noStrike" baseline="0" dirty="0">
                <a:latin typeface="Arial" panose="020B0604020202020204" pitchFamily="34" charset="0"/>
              </a:rPr>
              <a:t>SELECT </a:t>
            </a:r>
            <a:r>
              <a:rPr lang="en-US" sz="2800" b="0" i="0" u="none" strike="noStrike" baseline="0" dirty="0" err="1">
                <a:latin typeface="Times New Roman" panose="02020603050405020304" pitchFamily="18" charset="0"/>
              </a:rPr>
              <a:t>S.age</a:t>
            </a:r>
            <a:r>
              <a:rPr lang="en-US" sz="2800" b="0" i="0" u="none" strike="noStrike" baseline="0" dirty="0">
                <a:latin typeface="Times New Roman" panose="02020603050405020304" pitchFamily="18" charset="0"/>
              </a:rPr>
              <a:t> </a:t>
            </a:r>
            <a:r>
              <a:rPr lang="en-US" sz="2800" b="0" i="0" u="none" strike="noStrike" baseline="0" dirty="0">
                <a:latin typeface="Arial" panose="020B0604020202020204" pitchFamily="34" charset="0"/>
              </a:rPr>
              <a:t>FROM </a:t>
            </a:r>
            <a:r>
              <a:rPr lang="en-US" sz="2800" b="0" i="0" u="none" strike="noStrike" baseline="0" dirty="0">
                <a:latin typeface="Times New Roman" panose="02020603050405020304" pitchFamily="18" charset="0"/>
              </a:rPr>
              <a:t>Sailors S </a:t>
            </a:r>
            <a:r>
              <a:rPr lang="en-US" sz="2800" b="0" i="0" u="none" strike="noStrike" baseline="0" dirty="0">
                <a:latin typeface="Arial" panose="020B0604020202020204" pitchFamily="34" charset="0"/>
              </a:rPr>
              <a:t>WHERE </a:t>
            </a:r>
            <a:r>
              <a:rPr lang="en-US" sz="2800" b="0" i="0" u="none" strike="noStrike" baseline="0" dirty="0" err="1">
                <a:latin typeface="Times New Roman" panose="02020603050405020304" pitchFamily="18" charset="0"/>
              </a:rPr>
              <a:t>S.sname</a:t>
            </a:r>
            <a:r>
              <a:rPr lang="en-US" sz="2800" b="0" i="0" u="none" strike="noStrike" baseline="0" dirty="0">
                <a:latin typeface="Times New Roman" panose="02020603050405020304" pitchFamily="18" charset="0"/>
              </a:rPr>
              <a:t> </a:t>
            </a:r>
            <a:r>
              <a:rPr lang="en-US" sz="2800" b="0" i="0" u="none" strike="noStrike" baseline="0" dirty="0">
                <a:latin typeface="Arial" panose="020B0604020202020204" pitchFamily="34" charset="0"/>
              </a:rPr>
              <a:t>LIKE </a:t>
            </a:r>
            <a:r>
              <a:rPr lang="en-US" sz="2800" b="0" i="0" u="none" strike="noStrike" baseline="0" dirty="0">
                <a:latin typeface="Times New Roman" panose="02020603050405020304" pitchFamily="18" charset="0"/>
              </a:rPr>
              <a:t>‘B </a:t>
            </a:r>
            <a:r>
              <a:rPr lang="en-US" sz="2800" b="0" i="0" u="none" strike="noStrike" baseline="0" dirty="0" smtClean="0">
                <a:latin typeface="Times New Roman" panose="02020603050405020304" pitchFamily="18" charset="0"/>
              </a:rPr>
              <a:t>_%</a:t>
            </a:r>
            <a:r>
              <a:rPr lang="en-US" sz="2800" b="0" i="0" u="none" strike="noStrike" baseline="0" dirty="0">
                <a:latin typeface="Times New Roman" panose="02020603050405020304" pitchFamily="18" charset="0"/>
              </a:rPr>
              <a:t>B’</a:t>
            </a:r>
            <a:endParaRPr lang="en-IN" sz="2800" dirty="0"/>
          </a:p>
        </p:txBody>
      </p:sp>
      <p:sp>
        <p:nvSpPr>
          <p:cNvPr id="2" name="Rectangle 1"/>
          <p:cNvSpPr/>
          <p:nvPr/>
        </p:nvSpPr>
        <p:spPr>
          <a:xfrm>
            <a:off x="3004133" y="2687287"/>
            <a:ext cx="5303055" cy="584775"/>
          </a:xfrm>
          <a:prstGeom prst="rect">
            <a:avLst/>
          </a:prstGeom>
        </p:spPr>
        <p:txBody>
          <a:bodyPr wrap="none">
            <a:spAutoFit/>
          </a:bodyPr>
          <a:lstStyle/>
          <a:p>
            <a:r>
              <a:rPr lang="en-US" sz="3200" dirty="0" err="1"/>
              <a:t>Π</a:t>
            </a:r>
            <a:r>
              <a:rPr lang="en-US" sz="2400" dirty="0" err="1"/>
              <a:t>age</a:t>
            </a:r>
            <a:r>
              <a:rPr lang="en-US" sz="2400" dirty="0"/>
              <a:t>​</a:t>
            </a:r>
            <a:r>
              <a:rPr lang="en-US" sz="3200" dirty="0"/>
              <a:t>(</a:t>
            </a:r>
            <a:r>
              <a:rPr lang="en-US" sz="3200" dirty="0" err="1"/>
              <a:t>σ</a:t>
            </a:r>
            <a:r>
              <a:rPr lang="en-US" sz="2400" dirty="0" err="1"/>
              <a:t>sname</a:t>
            </a:r>
            <a:r>
              <a:rPr lang="en-US" sz="2400" dirty="0"/>
              <a:t> LIKE ’B_%B’</a:t>
            </a:r>
            <a:r>
              <a:rPr lang="en-US" sz="3200" dirty="0"/>
              <a:t>​(Sailors))</a:t>
            </a:r>
            <a:endParaRPr lang="en-IN" sz="3200" dirty="0"/>
          </a:p>
        </p:txBody>
      </p:sp>
      <p:sp>
        <p:nvSpPr>
          <p:cNvPr id="4" name="Rectangle 3"/>
          <p:cNvSpPr/>
          <p:nvPr/>
        </p:nvSpPr>
        <p:spPr>
          <a:xfrm>
            <a:off x="1408763" y="3563742"/>
            <a:ext cx="9316974" cy="584775"/>
          </a:xfrm>
          <a:prstGeom prst="rect">
            <a:avLst/>
          </a:prstGeom>
        </p:spPr>
        <p:txBody>
          <a:bodyPr wrap="none">
            <a:spAutoFit/>
          </a:bodyPr>
          <a:lstStyle/>
          <a:p>
            <a:r>
              <a:rPr lang="en-US" sz="3200" dirty="0" smtClean="0"/>
              <a:t>{t∣∃</a:t>
            </a:r>
            <a:r>
              <a:rPr lang="en-US" sz="3200" dirty="0" err="1" smtClean="0"/>
              <a:t>s∈Sailors</a:t>
            </a:r>
            <a:r>
              <a:rPr lang="en-US" sz="3200" dirty="0" smtClean="0"/>
              <a:t> ( s[</a:t>
            </a:r>
            <a:r>
              <a:rPr lang="en-US" sz="3200" dirty="0" err="1" smtClean="0"/>
              <a:t>sname</a:t>
            </a:r>
            <a:r>
              <a:rPr lang="en-US" sz="3200" dirty="0" smtClean="0"/>
              <a:t>] LIKE ′B_%B′ ∧ t[age]=s[age] )}</a:t>
            </a:r>
            <a:endParaRPr lang="en-IN" sz="3200" dirty="0"/>
          </a:p>
        </p:txBody>
      </p:sp>
      <p:sp>
        <p:nvSpPr>
          <p:cNvPr id="6" name="Rectangle 5"/>
          <p:cNvSpPr/>
          <p:nvPr/>
        </p:nvSpPr>
        <p:spPr>
          <a:xfrm>
            <a:off x="1933585" y="4706382"/>
            <a:ext cx="8552919" cy="584775"/>
          </a:xfrm>
          <a:prstGeom prst="rect">
            <a:avLst/>
          </a:prstGeom>
        </p:spPr>
        <p:txBody>
          <a:bodyPr wrap="none">
            <a:spAutoFit/>
          </a:bodyPr>
          <a:lstStyle/>
          <a:p>
            <a:r>
              <a:rPr lang="en-IN" sz="3200" dirty="0"/>
              <a:t>{⟨a⟩∣∃</a:t>
            </a:r>
            <a:r>
              <a:rPr lang="en-IN" sz="3200" dirty="0" err="1"/>
              <a:t>id∃n∃r</a:t>
            </a:r>
            <a:r>
              <a:rPr lang="en-IN" sz="3200" dirty="0"/>
              <a:t> ( ⟨</a:t>
            </a:r>
            <a:r>
              <a:rPr lang="en-IN" sz="3200" dirty="0" err="1"/>
              <a:t>id,n,r,a</a:t>
            </a:r>
            <a:r>
              <a:rPr lang="en-IN" sz="3200" dirty="0"/>
              <a:t>⟩∈Sailors ∧ n LIKE ′B_%B′ )}</a:t>
            </a:r>
          </a:p>
        </p:txBody>
      </p:sp>
    </p:spTree>
    <p:extLst>
      <p:ext uri="{BB962C8B-B14F-4D97-AF65-F5344CB8AC3E}">
        <p14:creationId xmlns:p14="http://schemas.microsoft.com/office/powerpoint/2010/main" val="2938148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1200329"/>
          </a:xfrm>
          <a:prstGeom prst="rect">
            <a:avLst/>
          </a:prstGeom>
          <a:noFill/>
        </p:spPr>
        <p:txBody>
          <a:bodyPr wrap="square">
            <a:spAutoFit/>
          </a:bodyPr>
          <a:lstStyle/>
          <a:p>
            <a:r>
              <a:rPr lang="en-US" sz="3600" b="1" i="1" dirty="0">
                <a:latin typeface="Times New Roman" panose="02020603050405020304" pitchFamily="18" charset="0"/>
              </a:rPr>
              <a:t>Q: Find the names of sailors who have reserved a red or a green boat.</a:t>
            </a:r>
            <a:endParaRPr lang="en-US" sz="3600" b="1" i="1" dirty="0">
              <a:latin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64077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3820AA8-A9B1-F381-B68F-8355456AA9DF}"/>
              </a:ext>
            </a:extLst>
          </p:cNvPr>
          <p:cNvSpPr txBox="1"/>
          <p:nvPr/>
        </p:nvSpPr>
        <p:spPr>
          <a:xfrm>
            <a:off x="325817" y="392065"/>
            <a:ext cx="11636829" cy="1200329"/>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Q: Find the names of sailors who have reserved a red or a green boat.</a:t>
            </a:r>
          </a:p>
          <a:p>
            <a:pPr algn="l"/>
            <a:endParaRPr lang="en-US" sz="1800" b="1" i="1" u="none" strike="noStrike" baseline="0" dirty="0">
              <a:latin typeface="Times New Roman" panose="02020603050405020304" pitchFamily="18" charset="0"/>
            </a:endParaRPr>
          </a:p>
          <a:p>
            <a:pPr algn="l"/>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S.sname</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FROM </a:t>
            </a:r>
            <a:r>
              <a:rPr lang="en-US" sz="1800" b="0" i="0" u="none" strike="noStrike" baseline="0" dirty="0">
                <a:latin typeface="Times New Roman" panose="02020603050405020304" pitchFamily="18" charset="0"/>
              </a:rPr>
              <a:t>Sailors S, Reserves R, Boats B </a:t>
            </a:r>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R.sid</a:t>
            </a:r>
            <a:endParaRPr lang="en-US" sz="1800" b="0" i="0" u="none" strike="noStrike" baseline="0" dirty="0">
              <a:latin typeface="Times New Roman" panose="02020603050405020304" pitchFamily="18" charset="0"/>
            </a:endParaRPr>
          </a:p>
          <a:p>
            <a:pPr algn="l"/>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R.bid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B.bid</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B.color</a:t>
            </a:r>
            <a:r>
              <a:rPr lang="en-US" sz="1800" b="0" i="0" u="none" strike="noStrike" baseline="0" dirty="0">
                <a:latin typeface="Times New Roman" panose="02020603050405020304" pitchFamily="18" charset="0"/>
              </a:rPr>
              <a:t> = ‘red’ </a:t>
            </a:r>
            <a:r>
              <a:rPr lang="en-US" sz="1800" b="0" i="0" u="none" strike="noStrike" baseline="0" dirty="0">
                <a:latin typeface="Arial" panose="020B0604020202020204" pitchFamily="34" charset="0"/>
              </a:rPr>
              <a:t>OR </a:t>
            </a:r>
            <a:r>
              <a:rPr lang="en-US" sz="1800" b="0" i="0" u="none" strike="noStrike" baseline="0" dirty="0" err="1">
                <a:latin typeface="Times New Roman" panose="02020603050405020304" pitchFamily="18" charset="0"/>
              </a:rPr>
              <a:t>B.color</a:t>
            </a:r>
            <a:r>
              <a:rPr lang="en-US" sz="1800" b="0" i="0" u="none" strike="noStrike" baseline="0" dirty="0">
                <a:latin typeface="Times New Roman" panose="02020603050405020304" pitchFamily="18" charset="0"/>
              </a:rPr>
              <a:t> = ‘green’)</a:t>
            </a:r>
            <a:endParaRPr lang="en-IN" dirty="0"/>
          </a:p>
        </p:txBody>
      </p:sp>
      <p:sp>
        <p:nvSpPr>
          <p:cNvPr id="3" name="TextBox 2">
            <a:extLst>
              <a:ext uri="{FF2B5EF4-FFF2-40B4-BE49-F238E27FC236}">
                <a16:creationId xmlns:a16="http://schemas.microsoft.com/office/drawing/2014/main" xmlns="" id="{12F82A58-AA06-9C32-CA88-CD319C05E61F}"/>
              </a:ext>
            </a:extLst>
          </p:cNvPr>
          <p:cNvSpPr txBox="1"/>
          <p:nvPr/>
        </p:nvSpPr>
        <p:spPr>
          <a:xfrm>
            <a:off x="332011" y="1698841"/>
            <a:ext cx="14185589" cy="1200329"/>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The </a:t>
            </a:r>
            <a:r>
              <a:rPr lang="en-IN" sz="1800" b="0" i="0" u="none" strike="noStrike" baseline="0" dirty="0">
                <a:latin typeface="Arial" panose="020B0604020202020204" pitchFamily="34" charset="0"/>
              </a:rPr>
              <a:t>OR </a:t>
            </a:r>
            <a:r>
              <a:rPr lang="en-US" sz="1800" b="0" i="0" u="none" strike="noStrike" baseline="0" dirty="0">
                <a:latin typeface="Times New Roman" panose="02020603050405020304" pitchFamily="18" charset="0"/>
              </a:rPr>
              <a:t>query </a:t>
            </a:r>
            <a:r>
              <a:rPr lang="en-US" sz="1800" b="0" i="0" u="none" strike="noStrike" baseline="0" dirty="0" smtClean="0">
                <a:latin typeface="Times New Roman" panose="02020603050405020304" pitchFamily="18" charset="0"/>
              </a:rPr>
              <a:t>can </a:t>
            </a:r>
            <a:r>
              <a:rPr lang="en-US" sz="1800" b="0" i="0" u="none" strike="noStrike" baseline="0" dirty="0">
                <a:latin typeface="Times New Roman" panose="02020603050405020304" pitchFamily="18" charset="0"/>
              </a:rPr>
              <a:t>be rewritten as follows:</a:t>
            </a:r>
          </a:p>
          <a:p>
            <a:pPr algn="l"/>
            <a:r>
              <a:rPr lang="en-IN" sz="1800" b="1" i="0" u="none" strike="noStrike" baseline="0" dirty="0">
                <a:latin typeface="Arial" panose="020B0604020202020204" pitchFamily="34" charset="0"/>
              </a:rPr>
              <a:t>SELECT </a:t>
            </a:r>
            <a:r>
              <a:rPr lang="en-IN" sz="1800" b="1" i="0" u="none" strike="noStrike" baseline="0" dirty="0" err="1" smtClean="0">
                <a:latin typeface="Times New Roman" panose="02020603050405020304" pitchFamily="18" charset="0"/>
              </a:rPr>
              <a:t>S.sname</a:t>
            </a:r>
            <a:r>
              <a:rPr lang="en-IN" sz="1800" b="1" i="0" u="none" strike="noStrike" baseline="0" dirty="0" smtClean="0">
                <a:latin typeface="Times New Roman" panose="02020603050405020304" pitchFamily="18" charset="0"/>
              </a:rPr>
              <a:t> </a:t>
            </a:r>
            <a:r>
              <a:rPr lang="en-US" sz="1800" b="1" i="0" u="none" strike="noStrike" baseline="0" dirty="0" smtClean="0">
                <a:latin typeface="Arial" panose="020B0604020202020204" pitchFamily="34" charset="0"/>
              </a:rPr>
              <a:t>FROM </a:t>
            </a:r>
            <a:r>
              <a:rPr lang="en-US" sz="1800" b="1" i="0" u="none" strike="noStrike" baseline="0" dirty="0">
                <a:latin typeface="Times New Roman" panose="02020603050405020304" pitchFamily="18" charset="0"/>
              </a:rPr>
              <a:t>Sailors S, Reserves R, Boats </a:t>
            </a:r>
            <a:r>
              <a:rPr lang="en-US" sz="1800" b="1" i="0" u="none" strike="noStrike" baseline="0" dirty="0" smtClean="0">
                <a:latin typeface="Times New Roman" panose="02020603050405020304" pitchFamily="18" charset="0"/>
              </a:rPr>
              <a:t>B </a:t>
            </a:r>
            <a:r>
              <a:rPr lang="en-US" sz="1800" b="1" i="0" u="none" strike="noStrike" baseline="0" dirty="0" smtClean="0">
                <a:latin typeface="Arial" panose="020B0604020202020204" pitchFamily="34" charset="0"/>
              </a:rPr>
              <a:t>WHERE </a:t>
            </a:r>
            <a:r>
              <a:rPr lang="en-US" sz="1800" b="1" i="0" u="none" strike="noStrike" baseline="0" dirty="0" err="1">
                <a:latin typeface="Times New Roman" panose="02020603050405020304" pitchFamily="18" charset="0"/>
              </a:rPr>
              <a:t>S.sid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R.sid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R.bid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B.bid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B.color</a:t>
            </a:r>
            <a:r>
              <a:rPr lang="en-US" sz="1800" b="1" i="0" u="none" strike="noStrike" baseline="0" dirty="0">
                <a:latin typeface="Times New Roman" panose="02020603050405020304" pitchFamily="18" charset="0"/>
              </a:rPr>
              <a:t> = ‘red’       </a:t>
            </a:r>
          </a:p>
          <a:p>
            <a:pPr algn="l"/>
            <a:r>
              <a:rPr lang="en-IN" sz="1800" b="1" i="0" u="none" strike="noStrike" baseline="0" dirty="0">
                <a:latin typeface="Arial" panose="020B0604020202020204" pitchFamily="34" charset="0"/>
              </a:rPr>
              <a:t>UNION</a:t>
            </a:r>
          </a:p>
          <a:p>
            <a:pPr algn="l"/>
            <a:r>
              <a:rPr lang="en-IN" sz="1800" b="1" i="0" u="none" strike="noStrike" baseline="0" dirty="0">
                <a:latin typeface="Arial" panose="020B0604020202020204" pitchFamily="34" charset="0"/>
              </a:rPr>
              <a:t>SELECT </a:t>
            </a:r>
            <a:r>
              <a:rPr lang="en-IN" sz="1800" b="1" i="0" u="none" strike="noStrike" baseline="0" dirty="0" smtClean="0">
                <a:latin typeface="Times New Roman" panose="02020603050405020304" pitchFamily="18" charset="0"/>
              </a:rPr>
              <a:t>S2.sname </a:t>
            </a:r>
            <a:r>
              <a:rPr lang="en-US" sz="1800" b="1" i="0" u="none" strike="noStrike" baseline="0" dirty="0" smtClean="0">
                <a:latin typeface="Arial" panose="020B0604020202020204" pitchFamily="34" charset="0"/>
              </a:rPr>
              <a:t>FROM </a:t>
            </a:r>
            <a:r>
              <a:rPr lang="en-US" sz="1800" b="1" i="0" u="none" strike="noStrike" baseline="0" dirty="0">
                <a:latin typeface="Times New Roman" panose="02020603050405020304" pitchFamily="18" charset="0"/>
              </a:rPr>
              <a:t>Sailors S2, Boats B2, Reserves </a:t>
            </a:r>
            <a:r>
              <a:rPr lang="en-US" sz="1800" b="1" i="0" u="none" strike="noStrike" baseline="0" dirty="0" smtClean="0">
                <a:latin typeface="Times New Roman" panose="02020603050405020304" pitchFamily="18" charset="0"/>
              </a:rPr>
              <a:t>R2 </a:t>
            </a:r>
            <a:r>
              <a:rPr lang="en-US" sz="1800" b="1" i="0" u="none" strike="noStrike" baseline="0" dirty="0" smtClean="0">
                <a:latin typeface="Arial" panose="020B0604020202020204" pitchFamily="34" charset="0"/>
              </a:rPr>
              <a:t>WHERE </a:t>
            </a:r>
            <a:r>
              <a:rPr lang="en-US" sz="1800" b="1" i="0" u="none" strike="noStrike" baseline="0" dirty="0">
                <a:latin typeface="Times New Roman" panose="02020603050405020304" pitchFamily="18" charset="0"/>
              </a:rPr>
              <a:t>S2.sid = R2.sid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R2.bid = B2.bid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B2.color = ‘green’</a:t>
            </a:r>
            <a:endParaRPr lang="en-IN" b="1" dirty="0"/>
          </a:p>
        </p:txBody>
      </p:sp>
      <p:sp>
        <p:nvSpPr>
          <p:cNvPr id="4" name="TextBox 3">
            <a:extLst>
              <a:ext uri="{FF2B5EF4-FFF2-40B4-BE49-F238E27FC236}">
                <a16:creationId xmlns:a16="http://schemas.microsoft.com/office/drawing/2014/main" xmlns="" id="{57CA2D7D-85A5-3DF6-7F84-A325D211C1F3}"/>
              </a:ext>
            </a:extLst>
          </p:cNvPr>
          <p:cNvSpPr txBox="1"/>
          <p:nvPr/>
        </p:nvSpPr>
        <p:spPr>
          <a:xfrm>
            <a:off x="4513069" y="22733"/>
            <a:ext cx="6101442" cy="369332"/>
          </a:xfrm>
          <a:prstGeom prst="rect">
            <a:avLst/>
          </a:prstGeom>
          <a:noFill/>
        </p:spPr>
        <p:txBody>
          <a:bodyPr wrap="square">
            <a:spAutoFit/>
          </a:bodyPr>
          <a:lstStyle/>
          <a:p>
            <a:r>
              <a:rPr lang="en-IN" sz="1800" b="1" i="0" u="none" strike="noStrike" baseline="0" dirty="0" smtClean="0">
                <a:latin typeface="Times New Roman" panose="02020603050405020304" pitchFamily="18" charset="0"/>
              </a:rPr>
              <a:t>UNION</a:t>
            </a:r>
            <a:endParaRPr lang="en-IN" dirty="0"/>
          </a:p>
        </p:txBody>
      </p:sp>
      <p:sp>
        <p:nvSpPr>
          <p:cNvPr id="5" name="Rectangle 4"/>
          <p:cNvSpPr/>
          <p:nvPr/>
        </p:nvSpPr>
        <p:spPr>
          <a:xfrm>
            <a:off x="399392" y="3093203"/>
            <a:ext cx="8368865" cy="461665"/>
          </a:xfrm>
          <a:prstGeom prst="rect">
            <a:avLst/>
          </a:prstGeom>
        </p:spPr>
        <p:txBody>
          <a:bodyPr wrap="square">
            <a:spAutoFit/>
          </a:bodyPr>
          <a:lstStyle/>
          <a:p>
            <a:r>
              <a:rPr lang="el-GR" sz="2400" dirty="0"/>
              <a:t>Π</a:t>
            </a:r>
            <a:r>
              <a:rPr lang="en-IN" sz="2400" dirty="0" err="1"/>
              <a:t>sname</a:t>
            </a:r>
            <a:r>
              <a:rPr lang="en-IN" sz="2400" dirty="0"/>
              <a:t>​(</a:t>
            </a:r>
            <a:r>
              <a:rPr lang="el-GR" sz="2400" dirty="0"/>
              <a:t>σ</a:t>
            </a:r>
            <a:r>
              <a:rPr lang="en-IN" sz="2400" dirty="0" err="1"/>
              <a:t>color</a:t>
            </a:r>
            <a:r>
              <a:rPr lang="en-IN" sz="2400" dirty="0"/>
              <a:t>=′red′ ∨ </a:t>
            </a:r>
            <a:r>
              <a:rPr lang="en-IN" sz="2400" dirty="0" err="1"/>
              <a:t>color</a:t>
            </a:r>
            <a:r>
              <a:rPr lang="en-IN" sz="2400" dirty="0"/>
              <a:t>=′green′​(</a:t>
            </a:r>
            <a:r>
              <a:rPr lang="en-IN" sz="2400" dirty="0" err="1"/>
              <a:t>Sailors⋈Reserves⋈Boats</a:t>
            </a:r>
            <a:r>
              <a:rPr lang="en-IN" sz="2400" dirty="0"/>
              <a:t>))</a:t>
            </a:r>
          </a:p>
        </p:txBody>
      </p:sp>
      <p:sp>
        <p:nvSpPr>
          <p:cNvPr id="6" name="Rectangle 5"/>
          <p:cNvSpPr/>
          <p:nvPr/>
        </p:nvSpPr>
        <p:spPr>
          <a:xfrm>
            <a:off x="483475" y="3861871"/>
            <a:ext cx="10909738" cy="830997"/>
          </a:xfrm>
          <a:prstGeom prst="rect">
            <a:avLst/>
          </a:prstGeom>
        </p:spPr>
        <p:txBody>
          <a:bodyPr wrap="square">
            <a:spAutoFit/>
          </a:bodyPr>
          <a:lstStyle/>
          <a:p>
            <a:r>
              <a:rPr lang="en-IN" sz="2400" dirty="0"/>
              <a:t>{t∣∃</a:t>
            </a:r>
            <a:r>
              <a:rPr lang="en-IN" sz="2400" dirty="0" err="1"/>
              <a:t>s∈Sailors</a:t>
            </a:r>
            <a:r>
              <a:rPr lang="en-IN" sz="2400" dirty="0"/>
              <a:t> ∃</a:t>
            </a:r>
            <a:r>
              <a:rPr lang="en-IN" sz="2400" dirty="0" err="1"/>
              <a:t>r∈Reserves</a:t>
            </a:r>
            <a:r>
              <a:rPr lang="en-IN" sz="2400" dirty="0"/>
              <a:t> ∃</a:t>
            </a:r>
            <a:r>
              <a:rPr lang="en-IN" sz="2400" dirty="0" err="1"/>
              <a:t>b∈Boats</a:t>
            </a:r>
            <a:r>
              <a:rPr lang="en-IN" sz="2400" dirty="0"/>
              <a:t> ( s[</a:t>
            </a:r>
            <a:r>
              <a:rPr lang="en-IN" sz="2400" dirty="0" err="1"/>
              <a:t>sid</a:t>
            </a:r>
            <a:r>
              <a:rPr lang="en-IN" sz="2400" dirty="0"/>
              <a:t>]=r[</a:t>
            </a:r>
            <a:r>
              <a:rPr lang="en-IN" sz="2400" dirty="0" err="1"/>
              <a:t>sid</a:t>
            </a:r>
            <a:r>
              <a:rPr lang="en-IN" sz="2400" dirty="0"/>
              <a:t>] ∧ r[bid]=b[bid] ∧ (b[</a:t>
            </a:r>
            <a:r>
              <a:rPr lang="en-IN" sz="2400" dirty="0" err="1"/>
              <a:t>color</a:t>
            </a:r>
            <a:r>
              <a:rPr lang="en-IN" sz="2400" dirty="0"/>
              <a:t>]=′</a:t>
            </a:r>
            <a:r>
              <a:rPr lang="en-IN" sz="2400" dirty="0" err="1"/>
              <a:t>red′∨b</a:t>
            </a:r>
            <a:r>
              <a:rPr lang="en-IN" sz="2400" dirty="0"/>
              <a:t>[</a:t>
            </a:r>
            <a:r>
              <a:rPr lang="en-IN" sz="2400" dirty="0" err="1"/>
              <a:t>color</a:t>
            </a:r>
            <a:r>
              <a:rPr lang="en-IN" sz="2400" dirty="0"/>
              <a:t>]=′green′) ∧ t[</a:t>
            </a:r>
            <a:r>
              <a:rPr lang="en-IN" sz="2400" dirty="0" err="1"/>
              <a:t>sname</a:t>
            </a:r>
            <a:r>
              <a:rPr lang="en-IN" sz="2400" dirty="0"/>
              <a:t>]=s[</a:t>
            </a:r>
            <a:r>
              <a:rPr lang="en-IN" sz="2400" dirty="0" err="1"/>
              <a:t>sname</a:t>
            </a:r>
            <a:r>
              <a:rPr lang="en-IN" sz="2400" dirty="0"/>
              <a:t>] )}</a:t>
            </a:r>
          </a:p>
        </p:txBody>
      </p:sp>
      <p:sp>
        <p:nvSpPr>
          <p:cNvPr id="7" name="Rectangle 6"/>
          <p:cNvSpPr/>
          <p:nvPr/>
        </p:nvSpPr>
        <p:spPr>
          <a:xfrm>
            <a:off x="399392" y="4943279"/>
            <a:ext cx="10752083" cy="830997"/>
          </a:xfrm>
          <a:prstGeom prst="rect">
            <a:avLst/>
          </a:prstGeom>
        </p:spPr>
        <p:txBody>
          <a:bodyPr wrap="square">
            <a:spAutoFit/>
          </a:bodyPr>
          <a:lstStyle/>
          <a:p>
            <a:r>
              <a:rPr lang="en-IN" sz="2400" dirty="0"/>
              <a:t>{⟨n⟩∣∃</a:t>
            </a:r>
            <a:r>
              <a:rPr lang="en-IN" sz="2400" dirty="0" err="1"/>
              <a:t>id∃rt∃a</a:t>
            </a:r>
            <a:r>
              <a:rPr lang="en-IN" sz="2400" dirty="0"/>
              <a:t> ( ⟨</a:t>
            </a:r>
            <a:r>
              <a:rPr lang="en-IN" sz="2400" dirty="0" err="1"/>
              <a:t>id,n,rt,a</a:t>
            </a:r>
            <a:r>
              <a:rPr lang="en-IN" sz="2400" dirty="0"/>
              <a:t>⟩∈Sailors ∧ ∃</a:t>
            </a:r>
            <a:r>
              <a:rPr lang="en-IN" sz="2400" dirty="0" err="1"/>
              <a:t>d∃bid</a:t>
            </a:r>
            <a:r>
              <a:rPr lang="en-IN" sz="2400" dirty="0"/>
              <a:t> ( ⟨</a:t>
            </a:r>
            <a:r>
              <a:rPr lang="en-IN" sz="2400" dirty="0" err="1"/>
              <a:t>id,bid,d</a:t>
            </a:r>
            <a:r>
              <a:rPr lang="en-IN" sz="2400" dirty="0"/>
              <a:t>⟩∈Reserves ∧ ∃</a:t>
            </a:r>
            <a:r>
              <a:rPr lang="en-IN" sz="2400" dirty="0" err="1"/>
              <a:t>bn∃col</a:t>
            </a:r>
            <a:r>
              <a:rPr lang="en-IN" sz="2400" dirty="0"/>
              <a:t> ( ⟨</a:t>
            </a:r>
            <a:r>
              <a:rPr lang="en-IN" sz="2400" dirty="0" err="1"/>
              <a:t>bid,bn,col</a:t>
            </a:r>
            <a:r>
              <a:rPr lang="en-IN" sz="2400" dirty="0"/>
              <a:t>⟩∈Boats ∧ (col=′</a:t>
            </a:r>
            <a:r>
              <a:rPr lang="en-IN" sz="2400" dirty="0" err="1"/>
              <a:t>red′∨col</a:t>
            </a:r>
            <a:r>
              <a:rPr lang="en-IN" sz="2400" dirty="0"/>
              <a:t>=′green′) ) ) )}</a:t>
            </a:r>
          </a:p>
        </p:txBody>
      </p:sp>
      <p:cxnSp>
        <p:nvCxnSpPr>
          <p:cNvPr id="11" name="Straight Connector 10"/>
          <p:cNvCxnSpPr/>
          <p:nvPr/>
        </p:nvCxnSpPr>
        <p:spPr>
          <a:xfrm flipV="1">
            <a:off x="399392" y="1492469"/>
            <a:ext cx="11624442" cy="1227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32011" y="2837793"/>
            <a:ext cx="11624442" cy="1227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57351" y="3615405"/>
            <a:ext cx="11624442" cy="1227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81934" y="4692869"/>
            <a:ext cx="11624442" cy="1227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3837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1200329"/>
          </a:xfrm>
          <a:prstGeom prst="rect">
            <a:avLst/>
          </a:prstGeom>
          <a:noFill/>
        </p:spPr>
        <p:txBody>
          <a:bodyPr wrap="square">
            <a:spAutoFit/>
          </a:bodyPr>
          <a:lstStyle/>
          <a:p>
            <a:r>
              <a:rPr lang="en-US" sz="3600" b="1" i="1" dirty="0">
                <a:latin typeface="Times New Roman" panose="02020603050405020304" pitchFamily="18" charset="0"/>
              </a:rPr>
              <a:t>Find the names of sailors who have reserved both a red and a green boat.</a:t>
            </a:r>
            <a:endParaRPr lang="en-IN" sz="3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6608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F9C05E2-2ACB-4199-EBA9-FB1BFA16FE5B}"/>
              </a:ext>
            </a:extLst>
          </p:cNvPr>
          <p:cNvSpPr txBox="1"/>
          <p:nvPr/>
        </p:nvSpPr>
        <p:spPr>
          <a:xfrm>
            <a:off x="1123716" y="0"/>
            <a:ext cx="10522637" cy="400110"/>
          </a:xfrm>
          <a:prstGeom prst="rect">
            <a:avLst/>
          </a:prstGeom>
          <a:noFill/>
        </p:spPr>
        <p:txBody>
          <a:bodyPr wrap="square">
            <a:spAutoFit/>
          </a:bodyPr>
          <a:lstStyle/>
          <a:p>
            <a:r>
              <a:rPr lang="en-US" sz="2000" b="1" i="1" u="none" strike="noStrike" baseline="0" dirty="0">
                <a:latin typeface="Times New Roman" panose="02020603050405020304" pitchFamily="18" charset="0"/>
              </a:rPr>
              <a:t>Find the names of sailors who have reserved both a red and a green boat.</a:t>
            </a:r>
            <a:endParaRPr lang="en-IN" sz="2000" dirty="0"/>
          </a:p>
        </p:txBody>
      </p:sp>
      <p:sp>
        <p:nvSpPr>
          <p:cNvPr id="5" name="TextBox 4">
            <a:extLst>
              <a:ext uri="{FF2B5EF4-FFF2-40B4-BE49-F238E27FC236}">
                <a16:creationId xmlns:a16="http://schemas.microsoft.com/office/drawing/2014/main" xmlns="" id="{F6451D6E-A067-2EA8-CB87-76FDC06382DA}"/>
              </a:ext>
            </a:extLst>
          </p:cNvPr>
          <p:cNvSpPr txBox="1"/>
          <p:nvPr/>
        </p:nvSpPr>
        <p:spPr>
          <a:xfrm>
            <a:off x="304801" y="576033"/>
            <a:ext cx="12160468" cy="646331"/>
          </a:xfrm>
          <a:prstGeom prst="rect">
            <a:avLst/>
          </a:prstGeom>
          <a:noFill/>
        </p:spPr>
        <p:txBody>
          <a:bodyPr wrap="square">
            <a:spAutoFit/>
          </a:bodyPr>
          <a:lstStyle/>
          <a:p>
            <a:pPr algn="l"/>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S.sname</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FROM </a:t>
            </a:r>
            <a:r>
              <a:rPr lang="en-US" sz="1800" b="0" i="0" u="none" strike="noStrike" baseline="0" dirty="0">
                <a:latin typeface="Times New Roman" panose="02020603050405020304" pitchFamily="18" charset="0"/>
              </a:rPr>
              <a:t>Sailors S, Reserves R1, Boats B1, Reserves R2, </a:t>
            </a:r>
            <a:r>
              <a:rPr lang="en-US" sz="1800" b="0" i="0" u="none" strike="noStrike" baseline="0" dirty="0" smtClean="0">
                <a:latin typeface="Times New Roman" panose="02020603050405020304" pitchFamily="18" charset="0"/>
              </a:rPr>
              <a:t>Boats B2 </a:t>
            </a:r>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R1.sid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R1.bid = B1.bid </a:t>
            </a:r>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R2.sid </a:t>
            </a:r>
            <a:r>
              <a:rPr lang="en-US" sz="1800" b="0" i="0" u="none" strike="noStrike" baseline="0" dirty="0" smtClean="0">
                <a:latin typeface="Arial" panose="020B0604020202020204" pitchFamily="34" charset="0"/>
              </a:rPr>
              <a:t>AND  </a:t>
            </a:r>
            <a:r>
              <a:rPr lang="en-US" sz="1800" b="0" i="0" u="none" strike="noStrike" baseline="0" dirty="0" smtClean="0">
                <a:latin typeface="Times New Roman" panose="02020603050405020304" pitchFamily="18" charset="0"/>
              </a:rPr>
              <a:t>R2.bid </a:t>
            </a:r>
            <a:r>
              <a:rPr lang="en-US" sz="1800" b="0" i="0" u="none" strike="noStrike" baseline="0" dirty="0">
                <a:latin typeface="Times New Roman" panose="02020603050405020304" pitchFamily="18" charset="0"/>
              </a:rPr>
              <a:t>= B2.bid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B1.color=‘red’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B2.color = ‘green’</a:t>
            </a:r>
            <a:endParaRPr lang="en-IN" dirty="0"/>
          </a:p>
        </p:txBody>
      </p:sp>
      <p:sp>
        <p:nvSpPr>
          <p:cNvPr id="7" name="TextBox 6">
            <a:extLst>
              <a:ext uri="{FF2B5EF4-FFF2-40B4-BE49-F238E27FC236}">
                <a16:creationId xmlns:a16="http://schemas.microsoft.com/office/drawing/2014/main" xmlns="" id="{85EAA157-82DD-417A-115A-5E4BF9E60133}"/>
              </a:ext>
            </a:extLst>
          </p:cNvPr>
          <p:cNvSpPr txBox="1"/>
          <p:nvPr/>
        </p:nvSpPr>
        <p:spPr>
          <a:xfrm>
            <a:off x="260977" y="1355014"/>
            <a:ext cx="11931023" cy="1754326"/>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The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query can be rewritten as follows:</a:t>
            </a:r>
          </a:p>
          <a:p>
            <a:pPr algn="l"/>
            <a:endParaRPr lang="en-US" sz="1800" b="0" i="0" u="none" strike="noStrike" baseline="0" dirty="0">
              <a:latin typeface="Times New Roman" panose="02020603050405020304" pitchFamily="18" charset="0"/>
            </a:endParaRPr>
          </a:p>
          <a:p>
            <a:pPr algn="l"/>
            <a:r>
              <a:rPr lang="en-IN" sz="1800" b="1" i="0" u="none" strike="noStrike" baseline="0" dirty="0">
                <a:latin typeface="Arial" panose="020B0604020202020204" pitchFamily="34" charset="0"/>
              </a:rPr>
              <a:t>SELECT </a:t>
            </a:r>
            <a:r>
              <a:rPr lang="en-IN" sz="1800" b="1" i="0" u="none" strike="noStrike" baseline="0" dirty="0" err="1" smtClean="0">
                <a:latin typeface="Times New Roman" panose="02020603050405020304" pitchFamily="18" charset="0"/>
              </a:rPr>
              <a:t>S.sname</a:t>
            </a:r>
            <a:r>
              <a:rPr lang="en-IN" sz="1800" b="1" i="0" u="none" strike="noStrike" baseline="0" dirty="0" smtClean="0">
                <a:latin typeface="Times New Roman" panose="02020603050405020304" pitchFamily="18" charset="0"/>
              </a:rPr>
              <a:t> </a:t>
            </a:r>
            <a:r>
              <a:rPr lang="en-US" sz="1800" b="1" i="0" u="none" strike="noStrike" baseline="0" dirty="0" smtClean="0">
                <a:latin typeface="Arial" panose="020B0604020202020204" pitchFamily="34" charset="0"/>
              </a:rPr>
              <a:t>FROM </a:t>
            </a:r>
            <a:r>
              <a:rPr lang="en-US" sz="1800" b="1" i="0" u="none" strike="noStrike" baseline="0" dirty="0">
                <a:latin typeface="Times New Roman" panose="02020603050405020304" pitchFamily="18" charset="0"/>
              </a:rPr>
              <a:t>Sailors S, Reserves R, Boats </a:t>
            </a:r>
            <a:r>
              <a:rPr lang="en-US" sz="1800" b="1" i="0" u="none" strike="noStrike" baseline="0" dirty="0" smtClean="0">
                <a:latin typeface="Times New Roman" panose="02020603050405020304" pitchFamily="18" charset="0"/>
              </a:rPr>
              <a:t>B </a:t>
            </a:r>
            <a:r>
              <a:rPr lang="en-US" sz="1800" b="1" i="0" u="none" strike="noStrike" baseline="0" dirty="0" smtClean="0">
                <a:latin typeface="Arial" panose="020B0604020202020204" pitchFamily="34" charset="0"/>
              </a:rPr>
              <a:t>WHERE </a:t>
            </a:r>
            <a:r>
              <a:rPr lang="en-US" sz="1800" b="1" i="0" u="none" strike="noStrike" baseline="0" dirty="0" err="1">
                <a:latin typeface="Times New Roman" panose="02020603050405020304" pitchFamily="18" charset="0"/>
              </a:rPr>
              <a:t>S.sid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R.sid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R.bid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B.bid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B.color</a:t>
            </a:r>
            <a:r>
              <a:rPr lang="en-US" sz="1800" b="1" i="0" u="none" strike="noStrike" baseline="0" dirty="0">
                <a:latin typeface="Times New Roman" panose="02020603050405020304" pitchFamily="18" charset="0"/>
              </a:rPr>
              <a:t> = ‘red’</a:t>
            </a:r>
          </a:p>
          <a:p>
            <a:pPr algn="l"/>
            <a:r>
              <a:rPr lang="en-IN" sz="1800" b="1" i="0" u="none" strike="noStrike" baseline="0" dirty="0">
                <a:latin typeface="Arial" panose="020B0604020202020204" pitchFamily="34" charset="0"/>
              </a:rPr>
              <a:t>INTERSECT</a:t>
            </a:r>
          </a:p>
          <a:p>
            <a:pPr algn="l"/>
            <a:r>
              <a:rPr lang="en-IN" sz="1800" b="1" i="0" u="none" strike="noStrike" baseline="0" dirty="0">
                <a:latin typeface="Arial" panose="020B0604020202020204" pitchFamily="34" charset="0"/>
              </a:rPr>
              <a:t>SELECT </a:t>
            </a:r>
            <a:r>
              <a:rPr lang="en-IN" sz="1800" b="1" i="0" u="none" strike="noStrike" baseline="0" dirty="0" smtClean="0">
                <a:latin typeface="Times New Roman" panose="02020603050405020304" pitchFamily="18" charset="0"/>
              </a:rPr>
              <a:t>S2.sname </a:t>
            </a:r>
            <a:r>
              <a:rPr lang="en-US" sz="1800" b="1" i="0" u="none" strike="noStrike" baseline="0" dirty="0" smtClean="0">
                <a:latin typeface="Arial" panose="020B0604020202020204" pitchFamily="34" charset="0"/>
              </a:rPr>
              <a:t>FROM </a:t>
            </a:r>
            <a:r>
              <a:rPr lang="en-US" sz="1800" b="1" i="0" u="none" strike="noStrike" baseline="0" dirty="0">
                <a:latin typeface="Times New Roman" panose="02020603050405020304" pitchFamily="18" charset="0"/>
              </a:rPr>
              <a:t>Sailors S2, Boats B2, Reserves </a:t>
            </a:r>
            <a:r>
              <a:rPr lang="en-US" sz="1800" b="1" i="0" u="none" strike="noStrike" baseline="0" dirty="0" smtClean="0">
                <a:latin typeface="Times New Roman" panose="02020603050405020304" pitchFamily="18" charset="0"/>
              </a:rPr>
              <a:t>R2 </a:t>
            </a:r>
            <a:r>
              <a:rPr lang="en-US" sz="1800" b="1" i="0" u="none" strike="noStrike" baseline="0" dirty="0" smtClean="0">
                <a:latin typeface="Arial" panose="020B0604020202020204" pitchFamily="34" charset="0"/>
              </a:rPr>
              <a:t>WHERE </a:t>
            </a:r>
            <a:r>
              <a:rPr lang="en-US" sz="1800" b="1" i="0" u="none" strike="noStrike" baseline="0" dirty="0">
                <a:latin typeface="Times New Roman" panose="02020603050405020304" pitchFamily="18" charset="0"/>
              </a:rPr>
              <a:t>S2.sid = R2.sid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R2.bid = B2.bid </a:t>
            </a:r>
            <a:r>
              <a:rPr lang="en-US" sz="1800" b="1" i="0" u="none" strike="noStrike" baseline="0" dirty="0" smtClean="0">
                <a:latin typeface="Arial" panose="020B0604020202020204" pitchFamily="34" charset="0"/>
              </a:rPr>
              <a:t>AND </a:t>
            </a:r>
            <a:r>
              <a:rPr lang="en-US" sz="1800" b="1" i="0" u="none" strike="noStrike" baseline="0" dirty="0" smtClean="0">
                <a:latin typeface="Times New Roman" panose="02020603050405020304" pitchFamily="18" charset="0"/>
              </a:rPr>
              <a:t>B2.color </a:t>
            </a:r>
            <a:r>
              <a:rPr lang="en-US" sz="1800" b="1" i="0" u="none" strike="noStrike" baseline="0" dirty="0">
                <a:latin typeface="Times New Roman" panose="02020603050405020304" pitchFamily="18" charset="0"/>
              </a:rPr>
              <a:t>= ‘green’</a:t>
            </a:r>
            <a:endParaRPr lang="en-IN" b="1" dirty="0"/>
          </a:p>
        </p:txBody>
      </p:sp>
      <p:sp>
        <p:nvSpPr>
          <p:cNvPr id="2" name="Rectangle 1"/>
          <p:cNvSpPr/>
          <p:nvPr/>
        </p:nvSpPr>
        <p:spPr>
          <a:xfrm>
            <a:off x="304801" y="3293946"/>
            <a:ext cx="11193516" cy="400110"/>
          </a:xfrm>
          <a:prstGeom prst="rect">
            <a:avLst/>
          </a:prstGeom>
        </p:spPr>
        <p:txBody>
          <a:bodyPr wrap="square">
            <a:spAutoFit/>
          </a:bodyPr>
          <a:lstStyle/>
          <a:p>
            <a:r>
              <a:rPr lang="el-GR" sz="2000" dirty="0"/>
              <a:t>Π</a:t>
            </a:r>
            <a:r>
              <a:rPr lang="en-IN" sz="2000" dirty="0" err="1"/>
              <a:t>sname</a:t>
            </a:r>
            <a:r>
              <a:rPr lang="en-IN" sz="2000" dirty="0"/>
              <a:t>​(</a:t>
            </a:r>
            <a:r>
              <a:rPr lang="el-GR" sz="2000" dirty="0"/>
              <a:t>σ</a:t>
            </a:r>
            <a:r>
              <a:rPr lang="en-IN" sz="2000" dirty="0" err="1"/>
              <a:t>color</a:t>
            </a:r>
            <a:r>
              <a:rPr lang="en-IN" sz="2000" dirty="0"/>
              <a:t>=′red′​(</a:t>
            </a:r>
            <a:r>
              <a:rPr lang="en-IN" sz="2000" dirty="0" err="1"/>
              <a:t>Sailors⋈Reserves⋈Boats</a:t>
            </a:r>
            <a:r>
              <a:rPr lang="en-IN" sz="2000" dirty="0"/>
              <a:t>)) ∩ </a:t>
            </a:r>
            <a:r>
              <a:rPr lang="el-GR" sz="2000" dirty="0"/>
              <a:t>Π</a:t>
            </a:r>
            <a:r>
              <a:rPr lang="en-IN" sz="2000" dirty="0" err="1"/>
              <a:t>sname</a:t>
            </a:r>
            <a:r>
              <a:rPr lang="en-IN" sz="2000" dirty="0"/>
              <a:t>​(</a:t>
            </a:r>
            <a:r>
              <a:rPr lang="el-GR" sz="2000" dirty="0"/>
              <a:t>σ</a:t>
            </a:r>
            <a:r>
              <a:rPr lang="en-IN" sz="2000" dirty="0" err="1"/>
              <a:t>color</a:t>
            </a:r>
            <a:r>
              <a:rPr lang="en-IN" sz="2000" dirty="0"/>
              <a:t>=′green′​(</a:t>
            </a:r>
            <a:r>
              <a:rPr lang="en-IN" sz="2000" dirty="0" err="1"/>
              <a:t>Sailors⋈Reserves⋈Boats</a:t>
            </a:r>
            <a:r>
              <a:rPr lang="en-IN" sz="2000" dirty="0"/>
              <a:t>))</a:t>
            </a:r>
          </a:p>
        </p:txBody>
      </p:sp>
      <p:sp>
        <p:nvSpPr>
          <p:cNvPr id="4" name="Rectangle 3"/>
          <p:cNvSpPr/>
          <p:nvPr/>
        </p:nvSpPr>
        <p:spPr>
          <a:xfrm>
            <a:off x="304801" y="3943175"/>
            <a:ext cx="11981793" cy="707886"/>
          </a:xfrm>
          <a:prstGeom prst="rect">
            <a:avLst/>
          </a:prstGeom>
        </p:spPr>
        <p:txBody>
          <a:bodyPr wrap="square">
            <a:spAutoFit/>
          </a:bodyPr>
          <a:lstStyle/>
          <a:p>
            <a:r>
              <a:rPr lang="en-IN" sz="2000" dirty="0"/>
              <a:t>{ t | ∃s ∈ Sailors ( t[</a:t>
            </a:r>
            <a:r>
              <a:rPr lang="en-IN" sz="2000" dirty="0" err="1"/>
              <a:t>sname</a:t>
            </a:r>
            <a:r>
              <a:rPr lang="en-IN" sz="2000" dirty="0"/>
              <a:t>] = s[</a:t>
            </a:r>
            <a:r>
              <a:rPr lang="en-IN" sz="2000" dirty="0" err="1"/>
              <a:t>sname</a:t>
            </a:r>
            <a:r>
              <a:rPr lang="en-IN" sz="2000" dirty="0"/>
              <a:t>] ∧ ∃r1 ∈ Reserves ∃b1 ∈ Boats ( s[</a:t>
            </a:r>
            <a:r>
              <a:rPr lang="en-IN" sz="2000" dirty="0" err="1"/>
              <a:t>sid</a:t>
            </a:r>
            <a:r>
              <a:rPr lang="en-IN" sz="2000" dirty="0"/>
              <a:t>]=r1[</a:t>
            </a:r>
            <a:r>
              <a:rPr lang="en-IN" sz="2000" dirty="0" err="1"/>
              <a:t>sid</a:t>
            </a:r>
            <a:r>
              <a:rPr lang="en-IN" sz="2000" dirty="0"/>
              <a:t>] ∧ r1[bid]=b1[bid] ∧ b1[</a:t>
            </a:r>
            <a:r>
              <a:rPr lang="en-IN" sz="2000" dirty="0" err="1"/>
              <a:t>color</a:t>
            </a:r>
            <a:r>
              <a:rPr lang="en-IN" sz="2000" dirty="0"/>
              <a:t>]='red' ) </a:t>
            </a:r>
            <a:r>
              <a:rPr lang="en-IN" sz="2000" dirty="0" smtClean="0"/>
              <a:t>∧ </a:t>
            </a:r>
            <a:r>
              <a:rPr lang="en-IN" sz="2000" dirty="0"/>
              <a:t>∃r2 ∈ Reserves ∃b2 ∈ Boats ( s[</a:t>
            </a:r>
            <a:r>
              <a:rPr lang="en-IN" sz="2000" dirty="0" err="1"/>
              <a:t>sid</a:t>
            </a:r>
            <a:r>
              <a:rPr lang="en-IN" sz="2000" dirty="0"/>
              <a:t>]=r2[</a:t>
            </a:r>
            <a:r>
              <a:rPr lang="en-IN" sz="2000" dirty="0" err="1"/>
              <a:t>sid</a:t>
            </a:r>
            <a:r>
              <a:rPr lang="en-IN" sz="2000" dirty="0"/>
              <a:t>] ∧ r2[bid]=b2[bid] ∧ b2[</a:t>
            </a:r>
            <a:r>
              <a:rPr lang="en-IN" sz="2000" dirty="0" err="1"/>
              <a:t>color</a:t>
            </a:r>
            <a:r>
              <a:rPr lang="en-IN" sz="2000" dirty="0"/>
              <a:t>]='green' ) ) } </a:t>
            </a:r>
          </a:p>
        </p:txBody>
      </p:sp>
      <p:sp>
        <p:nvSpPr>
          <p:cNvPr id="6" name="Rectangle 5"/>
          <p:cNvSpPr/>
          <p:nvPr/>
        </p:nvSpPr>
        <p:spPr>
          <a:xfrm>
            <a:off x="260977" y="4815291"/>
            <a:ext cx="11626223" cy="1200329"/>
          </a:xfrm>
          <a:prstGeom prst="rect">
            <a:avLst/>
          </a:prstGeom>
        </p:spPr>
        <p:txBody>
          <a:bodyPr wrap="square">
            <a:spAutoFit/>
          </a:bodyPr>
          <a:lstStyle/>
          <a:p>
            <a:r>
              <a:rPr lang="en-IN" sz="2400" dirty="0"/>
              <a:t>{ &lt;n&gt; | ∃id ∃</a:t>
            </a:r>
            <a:r>
              <a:rPr lang="en-IN" sz="2400" dirty="0" err="1"/>
              <a:t>rt</a:t>
            </a:r>
            <a:r>
              <a:rPr lang="en-IN" sz="2400" dirty="0"/>
              <a:t> ∃a ( &lt;id, n, </a:t>
            </a:r>
            <a:r>
              <a:rPr lang="en-IN" sz="2400" dirty="0" err="1"/>
              <a:t>rt</a:t>
            </a:r>
            <a:r>
              <a:rPr lang="en-IN" sz="2400" dirty="0"/>
              <a:t>, a&gt; ∈ Sailors ∧ ∃d1 ∃bid1 ∃bn1 ( &lt;id, bid1, d1&gt; ∈ Reserves ∧ &lt;bid1, bn1, 'red'&gt; ∈ Boats ) </a:t>
            </a:r>
            <a:r>
              <a:rPr lang="en-IN" sz="2400" dirty="0" smtClean="0"/>
              <a:t>∧ </a:t>
            </a:r>
            <a:r>
              <a:rPr lang="en-IN" sz="2400" dirty="0"/>
              <a:t>∃d2 ∃bid2 ∃bn2 ( &lt;id, bid2, d2&gt; ∈ Reserves ∧ &lt;bid2, bn2, 'green'&gt; ∈ Boats ) ) } </a:t>
            </a:r>
          </a:p>
        </p:txBody>
      </p:sp>
      <p:cxnSp>
        <p:nvCxnSpPr>
          <p:cNvPr id="9" name="Straight Connector 8"/>
          <p:cNvCxnSpPr/>
          <p:nvPr/>
        </p:nvCxnSpPr>
        <p:spPr>
          <a:xfrm>
            <a:off x="304801" y="1355014"/>
            <a:ext cx="115823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04801" y="3134795"/>
            <a:ext cx="115823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04801" y="3840710"/>
            <a:ext cx="115823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82888" y="4815291"/>
            <a:ext cx="1158239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0727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83CD854-7218-5874-CA9E-EB66A07D6191}"/>
              </a:ext>
            </a:extLst>
          </p:cNvPr>
          <p:cNvSpPr txBox="1"/>
          <p:nvPr/>
        </p:nvSpPr>
        <p:spPr>
          <a:xfrm>
            <a:off x="1104055" y="4447046"/>
            <a:ext cx="9994870" cy="1200329"/>
          </a:xfrm>
          <a:prstGeom prst="rect">
            <a:avLst/>
          </a:prstGeom>
          <a:noFill/>
        </p:spPr>
        <p:txBody>
          <a:bodyPr wrap="square">
            <a:spAutoFit/>
          </a:bodyPr>
          <a:lstStyle/>
          <a:p>
            <a:r>
              <a:rPr lang="en-US" sz="3600" b="1" i="1" dirty="0">
                <a:latin typeface="Times New Roman" panose="02020603050405020304" pitchFamily="18" charset="0"/>
              </a:rPr>
              <a:t>Find the </a:t>
            </a:r>
            <a:r>
              <a:rPr lang="en-US" sz="3600" b="1" dirty="0" err="1">
                <a:latin typeface="Times New Roman" panose="02020603050405020304" pitchFamily="18" charset="0"/>
              </a:rPr>
              <a:t>sid</a:t>
            </a:r>
            <a:r>
              <a:rPr lang="en-US" sz="3600" b="1" i="1" dirty="0" err="1">
                <a:latin typeface="Times New Roman" panose="02020603050405020304" pitchFamily="18" charset="0"/>
              </a:rPr>
              <a:t>s</a:t>
            </a:r>
            <a:r>
              <a:rPr lang="en-US" sz="3600" b="1" i="1" dirty="0">
                <a:latin typeface="Times New Roman" panose="02020603050405020304" pitchFamily="18" charset="0"/>
              </a:rPr>
              <a:t> of all sailors who have reserved red boats but not green boats.</a:t>
            </a:r>
            <a:endParaRPr lang="en-US" sz="3600" b="1" i="1" dirty="0">
              <a:latin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9318" y="172436"/>
            <a:ext cx="6925496" cy="380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42208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5BAC178-FB33-0EF0-8411-E727569202D3}"/>
              </a:ext>
            </a:extLst>
          </p:cNvPr>
          <p:cNvSpPr txBox="1"/>
          <p:nvPr/>
        </p:nvSpPr>
        <p:spPr>
          <a:xfrm>
            <a:off x="462454" y="52755"/>
            <a:ext cx="11729545" cy="1631216"/>
          </a:xfrm>
          <a:prstGeom prst="rect">
            <a:avLst/>
          </a:prstGeom>
          <a:noFill/>
        </p:spPr>
        <p:txBody>
          <a:bodyPr wrap="square">
            <a:spAutoFit/>
          </a:bodyPr>
          <a:lstStyle/>
          <a:p>
            <a:pPr algn="l"/>
            <a:r>
              <a:rPr lang="en-US" sz="2000" b="1" i="1" u="none" strike="noStrike" baseline="0" dirty="0">
                <a:latin typeface="Times New Roman" panose="02020603050405020304" pitchFamily="18" charset="0"/>
              </a:rPr>
              <a:t>Find the </a:t>
            </a:r>
            <a:r>
              <a:rPr lang="en-US" sz="2000" b="1" i="0" u="none" strike="noStrike" baseline="0" dirty="0" err="1">
                <a:latin typeface="Times New Roman" panose="02020603050405020304" pitchFamily="18" charset="0"/>
              </a:rPr>
              <a:t>sid</a:t>
            </a:r>
            <a:r>
              <a:rPr lang="en-US" sz="2000" b="1" i="1" u="none" strike="noStrike" baseline="0" dirty="0" err="1">
                <a:latin typeface="Times New Roman" panose="02020603050405020304" pitchFamily="18" charset="0"/>
              </a:rPr>
              <a:t>s</a:t>
            </a:r>
            <a:r>
              <a:rPr lang="en-US" sz="2000" b="1" i="1" u="none" strike="noStrike" baseline="0" dirty="0">
                <a:latin typeface="Times New Roman" panose="02020603050405020304" pitchFamily="18" charset="0"/>
              </a:rPr>
              <a:t> of all sailors who have reserved red boats but not green boats.</a:t>
            </a:r>
          </a:p>
          <a:p>
            <a:pPr algn="l"/>
            <a:endParaRPr lang="en-US" sz="2000" b="1" i="1" u="none" strike="noStrike" baseline="0" dirty="0">
              <a:latin typeface="Times New Roman" panose="02020603050405020304" pitchFamily="18" charset="0"/>
            </a:endParaRPr>
          </a:p>
          <a:p>
            <a:pPr algn="l"/>
            <a:r>
              <a:rPr lang="en-US" sz="2000" b="0" i="0" u="none" strike="noStrike" baseline="0" dirty="0">
                <a:latin typeface="Arial" panose="020B0604020202020204" pitchFamily="34" charset="0"/>
              </a:rPr>
              <a:t>SELECT </a:t>
            </a:r>
            <a:r>
              <a:rPr lang="en-US" sz="2000" b="0" i="0" u="none" strike="noStrike" baseline="0" dirty="0" err="1">
                <a:latin typeface="Times New Roman" panose="02020603050405020304" pitchFamily="18" charset="0"/>
              </a:rPr>
              <a:t>S.sid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FROM </a:t>
            </a:r>
            <a:r>
              <a:rPr lang="en-US" sz="2000" b="0" i="0" u="none" strike="noStrike" baseline="0" dirty="0">
                <a:latin typeface="Times New Roman" panose="02020603050405020304" pitchFamily="18" charset="0"/>
              </a:rPr>
              <a:t>Sailors S, Reserves R, Boats </a:t>
            </a:r>
            <a:r>
              <a:rPr lang="en-US" sz="2000" b="0" i="0" u="none" strike="noStrike" baseline="0" dirty="0" smtClean="0">
                <a:latin typeface="Times New Roman" panose="02020603050405020304" pitchFamily="18" charset="0"/>
              </a:rPr>
              <a:t>B </a:t>
            </a:r>
            <a:r>
              <a:rPr lang="en-US" sz="2000" b="0" i="0" u="none" strike="noStrike" baseline="0" dirty="0" smtClean="0">
                <a:latin typeface="Arial" panose="020B0604020202020204" pitchFamily="34" charset="0"/>
              </a:rPr>
              <a:t>WHERE </a:t>
            </a:r>
            <a:r>
              <a:rPr lang="en-US" sz="2000" b="0" i="0" u="none" strike="noStrike" baseline="0" dirty="0" err="1">
                <a:latin typeface="Times New Roman" panose="02020603050405020304" pitchFamily="18" charset="0"/>
              </a:rPr>
              <a:t>S.sid</a:t>
            </a:r>
            <a:r>
              <a:rPr lang="en-US" sz="2000" b="0" i="0" u="none" strike="noStrike" baseline="0" dirty="0">
                <a:latin typeface="Times New Roman" panose="02020603050405020304" pitchFamily="18" charset="0"/>
              </a:rPr>
              <a:t> = </a:t>
            </a:r>
            <a:r>
              <a:rPr lang="en-US" sz="2000" b="0" i="0" u="none" strike="noStrike" baseline="0" dirty="0" err="1">
                <a:latin typeface="Times New Roman" panose="02020603050405020304" pitchFamily="18" charset="0"/>
              </a:rPr>
              <a:t>R.sid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AND </a:t>
            </a:r>
            <a:r>
              <a:rPr lang="en-US" sz="2000" b="0" i="0" u="none" strike="noStrike" baseline="0" dirty="0" err="1">
                <a:latin typeface="Times New Roman" panose="02020603050405020304" pitchFamily="18" charset="0"/>
              </a:rPr>
              <a:t>R.bid</a:t>
            </a:r>
            <a:r>
              <a:rPr lang="en-US" sz="2000" b="0" i="0" u="none" strike="noStrike" baseline="0" dirty="0">
                <a:latin typeface="Times New Roman" panose="02020603050405020304" pitchFamily="18" charset="0"/>
              </a:rPr>
              <a:t> = </a:t>
            </a:r>
            <a:r>
              <a:rPr lang="en-US" sz="2000" b="0" i="0" u="none" strike="noStrike" baseline="0" dirty="0" err="1">
                <a:latin typeface="Times New Roman" panose="02020603050405020304" pitchFamily="18" charset="0"/>
              </a:rPr>
              <a:t>B.bid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AND </a:t>
            </a:r>
            <a:r>
              <a:rPr lang="en-US" sz="2000" b="0" i="0" u="none" strike="noStrike" baseline="0" dirty="0" err="1">
                <a:latin typeface="Times New Roman" panose="02020603050405020304" pitchFamily="18" charset="0"/>
              </a:rPr>
              <a:t>B.color</a:t>
            </a:r>
            <a:r>
              <a:rPr lang="en-US" sz="2000" b="0" i="0" u="none" strike="noStrike" baseline="0" dirty="0">
                <a:latin typeface="Times New Roman" panose="02020603050405020304" pitchFamily="18" charset="0"/>
              </a:rPr>
              <a:t> = ‘</a:t>
            </a:r>
            <a:r>
              <a:rPr lang="en-US" sz="2000" b="0" i="0" u="none" strike="noStrike" baseline="0">
                <a:latin typeface="Times New Roman" panose="02020603050405020304" pitchFamily="18" charset="0"/>
              </a:rPr>
              <a:t>red</a:t>
            </a:r>
            <a:r>
              <a:rPr lang="en-US" sz="2000" b="0" i="0" u="none" strike="noStrike" baseline="0" smtClean="0">
                <a:latin typeface="Times New Roman" panose="02020603050405020304" pitchFamily="18" charset="0"/>
              </a:rPr>
              <a:t>’ </a:t>
            </a:r>
            <a:r>
              <a:rPr lang="en-US" sz="2000" b="0" i="0" u="none" strike="noStrike" baseline="0" smtClean="0">
                <a:latin typeface="Arial" panose="020B0604020202020204" pitchFamily="34" charset="0"/>
              </a:rPr>
              <a:t>EXCEPT </a:t>
            </a:r>
            <a:r>
              <a:rPr lang="en-US" sz="2000" b="0" i="0" u="none" strike="noStrike" baseline="0" dirty="0">
                <a:latin typeface="Arial" panose="020B0604020202020204" pitchFamily="34" charset="0"/>
              </a:rPr>
              <a:t>SELECT </a:t>
            </a:r>
            <a:r>
              <a:rPr lang="en-US" sz="2000" b="0" i="0" u="none" strike="noStrike" baseline="0" dirty="0">
                <a:latin typeface="Times New Roman" panose="02020603050405020304" pitchFamily="18" charset="0"/>
              </a:rPr>
              <a:t>S2.sid </a:t>
            </a:r>
            <a:r>
              <a:rPr lang="en-US" sz="2000" b="0" i="0" u="none" strike="noStrike" baseline="0" dirty="0">
                <a:latin typeface="Arial" panose="020B0604020202020204" pitchFamily="34" charset="0"/>
              </a:rPr>
              <a:t>FROM </a:t>
            </a:r>
            <a:r>
              <a:rPr lang="en-US" sz="2000" b="0" i="0" u="none" strike="noStrike" baseline="0" dirty="0">
                <a:latin typeface="Times New Roman" panose="02020603050405020304" pitchFamily="18" charset="0"/>
              </a:rPr>
              <a:t>Sailors S2, Reserves R2, </a:t>
            </a:r>
            <a:r>
              <a:rPr lang="en-US" sz="2000" b="0" i="0" u="none" strike="noStrike" baseline="0">
                <a:latin typeface="Times New Roman" panose="02020603050405020304" pitchFamily="18" charset="0"/>
              </a:rPr>
              <a:t>Boats </a:t>
            </a:r>
            <a:r>
              <a:rPr lang="en-US" sz="2000" b="0" i="0" u="none" strike="noStrike" baseline="0" smtClean="0">
                <a:latin typeface="Times New Roman" panose="02020603050405020304" pitchFamily="18" charset="0"/>
              </a:rPr>
              <a:t>B2 </a:t>
            </a:r>
            <a:r>
              <a:rPr lang="en-US" sz="2000" b="0" i="0" u="none" strike="noStrike" baseline="0" smtClean="0">
                <a:latin typeface="Arial" panose="020B0604020202020204" pitchFamily="34" charset="0"/>
              </a:rPr>
              <a:t>WHERE </a:t>
            </a:r>
            <a:r>
              <a:rPr lang="en-US" sz="2000" b="0" i="0" u="none" strike="noStrike" baseline="0" dirty="0">
                <a:latin typeface="Times New Roman" panose="02020603050405020304" pitchFamily="18" charset="0"/>
              </a:rPr>
              <a:t>S2.sid = R2.sid </a:t>
            </a:r>
            <a:r>
              <a:rPr lang="en-US" sz="2000" b="0" i="0" u="none" strike="noStrike" baseline="0" dirty="0">
                <a:latin typeface="Arial" panose="020B0604020202020204" pitchFamily="34" charset="0"/>
              </a:rPr>
              <a:t>AND </a:t>
            </a:r>
            <a:r>
              <a:rPr lang="en-US" sz="2000" b="0" i="0" u="none" strike="noStrike" baseline="0" dirty="0">
                <a:latin typeface="Times New Roman" panose="02020603050405020304" pitchFamily="18" charset="0"/>
              </a:rPr>
              <a:t>R2.bid = B2.bid </a:t>
            </a:r>
            <a:r>
              <a:rPr lang="en-US" sz="2000" b="0" i="0" u="none" strike="noStrike" baseline="0" dirty="0">
                <a:latin typeface="Arial" panose="020B0604020202020204" pitchFamily="34" charset="0"/>
              </a:rPr>
              <a:t>AND </a:t>
            </a:r>
            <a:r>
              <a:rPr lang="en-US" sz="2000" b="0" i="0" u="none" strike="noStrike" baseline="0" dirty="0">
                <a:latin typeface="Times New Roman" panose="02020603050405020304" pitchFamily="18" charset="0"/>
              </a:rPr>
              <a:t>B2.color = ‘green’</a:t>
            </a:r>
            <a:endParaRPr lang="en-IN" sz="2000" dirty="0"/>
          </a:p>
        </p:txBody>
      </p:sp>
      <p:sp>
        <p:nvSpPr>
          <p:cNvPr id="5" name="TextBox 4">
            <a:extLst>
              <a:ext uri="{FF2B5EF4-FFF2-40B4-BE49-F238E27FC236}">
                <a16:creationId xmlns:a16="http://schemas.microsoft.com/office/drawing/2014/main" xmlns="" id="{BCA94B11-C738-EA66-58ED-116A4D83EAE4}"/>
              </a:ext>
            </a:extLst>
          </p:cNvPr>
          <p:cNvSpPr txBox="1"/>
          <p:nvPr/>
        </p:nvSpPr>
        <p:spPr>
          <a:xfrm>
            <a:off x="2090058" y="2949361"/>
            <a:ext cx="8501742"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rPr>
              <a:t>we can use the following simpler query:</a:t>
            </a:r>
          </a:p>
          <a:p>
            <a:pPr algn="l"/>
            <a:endParaRPr lang="en-US" sz="2000" b="0" i="0" u="none" strike="noStrike" baseline="0" dirty="0">
              <a:latin typeface="Times New Roman" panose="02020603050405020304" pitchFamily="18" charset="0"/>
            </a:endParaRPr>
          </a:p>
          <a:p>
            <a:pPr algn="l"/>
            <a:r>
              <a:rPr lang="en-US" sz="2000" b="1" i="0" u="none" strike="noStrike" baseline="0" dirty="0">
                <a:latin typeface="Arial" panose="020B0604020202020204" pitchFamily="34" charset="0"/>
              </a:rPr>
              <a:t>SELECT </a:t>
            </a:r>
            <a:r>
              <a:rPr lang="en-US" sz="2000" b="1" i="0" u="none" strike="noStrike" baseline="0" dirty="0" err="1">
                <a:latin typeface="Times New Roman" panose="02020603050405020304" pitchFamily="18" charset="0"/>
              </a:rPr>
              <a:t>R.sid</a:t>
            </a:r>
            <a:r>
              <a:rPr lang="en-US" sz="2000" b="1" i="0" u="none" strike="noStrike" baseline="0" dirty="0">
                <a:latin typeface="Times New Roman" panose="02020603050405020304" pitchFamily="18" charset="0"/>
              </a:rPr>
              <a:t> </a:t>
            </a:r>
            <a:r>
              <a:rPr lang="en-US" sz="2000" b="1" i="0" u="none" strike="noStrike" baseline="0" dirty="0">
                <a:latin typeface="Arial" panose="020B0604020202020204" pitchFamily="34" charset="0"/>
              </a:rPr>
              <a:t>FROM </a:t>
            </a:r>
            <a:r>
              <a:rPr lang="en-US" sz="2000" b="1" i="0" u="none" strike="noStrike" baseline="0" dirty="0">
                <a:latin typeface="Times New Roman" panose="02020603050405020304" pitchFamily="18" charset="0"/>
              </a:rPr>
              <a:t>Boats B, Reserves R</a:t>
            </a:r>
          </a:p>
          <a:p>
            <a:pPr algn="l"/>
            <a:r>
              <a:rPr lang="en-US" sz="2000" b="1" i="0" u="none" strike="noStrike" baseline="0" dirty="0">
                <a:latin typeface="Arial" panose="020B0604020202020204" pitchFamily="34" charset="0"/>
              </a:rPr>
              <a:t>WHERE </a:t>
            </a:r>
            <a:r>
              <a:rPr lang="en-US" sz="2000" b="1" i="0" u="none" strike="noStrike" baseline="0" dirty="0" err="1">
                <a:latin typeface="Times New Roman" panose="02020603050405020304" pitchFamily="18" charset="0"/>
              </a:rPr>
              <a:t>R.bid</a:t>
            </a:r>
            <a:r>
              <a:rPr lang="en-US" sz="2000" b="1" i="0" u="none" strike="noStrike" baseline="0" dirty="0">
                <a:latin typeface="Times New Roman" panose="02020603050405020304" pitchFamily="18" charset="0"/>
              </a:rPr>
              <a:t> = </a:t>
            </a:r>
            <a:r>
              <a:rPr lang="en-US" sz="2000" b="1" i="0" u="none" strike="noStrike" baseline="0" dirty="0" err="1">
                <a:latin typeface="Times New Roman" panose="02020603050405020304" pitchFamily="18" charset="0"/>
              </a:rPr>
              <a:t>B.bid</a:t>
            </a:r>
            <a:r>
              <a:rPr lang="en-US" sz="2000" b="1" i="0" u="none" strike="noStrike" baseline="0" dirty="0">
                <a:latin typeface="Times New Roman" panose="02020603050405020304" pitchFamily="18" charset="0"/>
              </a:rPr>
              <a:t> </a:t>
            </a:r>
            <a:r>
              <a:rPr lang="en-US" sz="2000" b="1" i="0" u="none" strike="noStrike" baseline="0" dirty="0">
                <a:latin typeface="Arial" panose="020B0604020202020204" pitchFamily="34" charset="0"/>
              </a:rPr>
              <a:t>AND </a:t>
            </a:r>
            <a:r>
              <a:rPr lang="en-US" sz="2000" b="1" i="0" u="none" strike="noStrike" baseline="0" dirty="0" err="1">
                <a:latin typeface="Times New Roman" panose="02020603050405020304" pitchFamily="18" charset="0"/>
              </a:rPr>
              <a:t>B.color</a:t>
            </a:r>
            <a:r>
              <a:rPr lang="en-US" sz="2000" b="1" i="0" u="none" strike="noStrike" baseline="0" dirty="0">
                <a:latin typeface="Times New Roman" panose="02020603050405020304" pitchFamily="18" charset="0"/>
              </a:rPr>
              <a:t> = ‘red’</a:t>
            </a:r>
          </a:p>
          <a:p>
            <a:pPr algn="l"/>
            <a:r>
              <a:rPr lang="en-US" sz="2000" b="1" i="0" u="none" strike="noStrike" baseline="0" dirty="0">
                <a:latin typeface="Arial" panose="020B0604020202020204" pitchFamily="34" charset="0"/>
              </a:rPr>
              <a:t>EXCEPT SELECT </a:t>
            </a:r>
            <a:r>
              <a:rPr lang="en-US" sz="2000" b="1" i="0" u="none" strike="noStrike" baseline="0" dirty="0">
                <a:latin typeface="Times New Roman" panose="02020603050405020304" pitchFamily="18" charset="0"/>
              </a:rPr>
              <a:t>R2.sid </a:t>
            </a:r>
            <a:r>
              <a:rPr lang="en-US" sz="2000" b="1" i="0" u="none" strike="noStrike" baseline="0" dirty="0">
                <a:latin typeface="Arial" panose="020B0604020202020204" pitchFamily="34" charset="0"/>
              </a:rPr>
              <a:t>FROM </a:t>
            </a:r>
            <a:r>
              <a:rPr lang="en-US" sz="2000" b="1" i="0" u="none" strike="noStrike" baseline="0" dirty="0">
                <a:latin typeface="Times New Roman" panose="02020603050405020304" pitchFamily="18" charset="0"/>
              </a:rPr>
              <a:t>Boats B2,</a:t>
            </a:r>
          </a:p>
          <a:p>
            <a:pPr algn="l"/>
            <a:r>
              <a:rPr lang="en-US" sz="2000" b="1" i="0" u="none" strike="noStrike" baseline="0" dirty="0">
                <a:latin typeface="Times New Roman" panose="02020603050405020304" pitchFamily="18" charset="0"/>
              </a:rPr>
              <a:t>Reserves R2 </a:t>
            </a:r>
            <a:r>
              <a:rPr lang="en-US" sz="2000" b="1" i="0" u="none" strike="noStrike" baseline="0" dirty="0">
                <a:latin typeface="Arial" panose="020B0604020202020204" pitchFamily="34" charset="0"/>
              </a:rPr>
              <a:t>WHERE </a:t>
            </a:r>
            <a:r>
              <a:rPr lang="en-US" sz="2000" b="1" i="0" u="none" strike="noStrike" baseline="0" dirty="0">
                <a:latin typeface="Times New Roman" panose="02020603050405020304" pitchFamily="18" charset="0"/>
              </a:rPr>
              <a:t>R2.bid = B2.bid </a:t>
            </a:r>
            <a:r>
              <a:rPr lang="en-US" sz="2000" b="1" i="0" u="none" strike="noStrike" baseline="0" dirty="0">
                <a:latin typeface="Arial" panose="020B0604020202020204" pitchFamily="34" charset="0"/>
              </a:rPr>
              <a:t>AND</a:t>
            </a:r>
          </a:p>
          <a:p>
            <a:pPr algn="l"/>
            <a:r>
              <a:rPr lang="en-IN" sz="2000" b="1" i="0" u="none" strike="noStrike" baseline="0" dirty="0">
                <a:latin typeface="Times New Roman" panose="02020603050405020304" pitchFamily="18" charset="0"/>
              </a:rPr>
              <a:t>B2.color = ‘green’</a:t>
            </a:r>
            <a:endParaRPr lang="en-IN" sz="2000" b="1" dirty="0"/>
          </a:p>
        </p:txBody>
      </p:sp>
    </p:spTree>
    <p:extLst>
      <p:ext uri="{BB962C8B-B14F-4D97-AF65-F5344CB8AC3E}">
        <p14:creationId xmlns:p14="http://schemas.microsoft.com/office/powerpoint/2010/main" val="16188685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FC1A3D7-C165-206A-13C0-20290E246D63}"/>
              </a:ext>
            </a:extLst>
          </p:cNvPr>
          <p:cNvSpPr txBox="1"/>
          <p:nvPr/>
        </p:nvSpPr>
        <p:spPr>
          <a:xfrm>
            <a:off x="968828" y="493850"/>
            <a:ext cx="10548258" cy="1446550"/>
          </a:xfrm>
          <a:prstGeom prst="rect">
            <a:avLst/>
          </a:prstGeom>
          <a:noFill/>
        </p:spPr>
        <p:txBody>
          <a:bodyPr wrap="square">
            <a:spAutoFit/>
          </a:bodyPr>
          <a:lstStyle/>
          <a:p>
            <a:pPr algn="ctr"/>
            <a:r>
              <a:rPr lang="en-IN" sz="2400" b="1" i="0" u="none" strike="noStrike" baseline="0">
                <a:latin typeface="Times New Roman" panose="02020603050405020304" pitchFamily="18" charset="0"/>
              </a:rPr>
              <a:t>NESTED QUERIES</a:t>
            </a:r>
          </a:p>
          <a:p>
            <a:pPr algn="l"/>
            <a:endParaRPr lang="en-IN" sz="2400" b="1" i="0" u="none" strike="noStrike" baseline="0">
              <a:latin typeface="Times New Roman" panose="02020603050405020304" pitchFamily="18" charset="0"/>
            </a:endParaRPr>
          </a:p>
          <a:p>
            <a:pPr algn="l"/>
            <a:r>
              <a:rPr lang="en-US" sz="2000" b="0" i="0" u="none" strike="noStrike" baseline="0">
                <a:latin typeface="Times New Roman" panose="02020603050405020304" pitchFamily="18" charset="0"/>
              </a:rPr>
              <a:t>A nested query is a query that has another query embedded within it; the embedded query is called a subquery</a:t>
            </a:r>
            <a:r>
              <a:rPr lang="en-US" sz="1400" b="0" i="0" u="none" strike="noStrike" baseline="0">
                <a:latin typeface="Times New Roman" panose="02020603050405020304" pitchFamily="18" charset="0"/>
              </a:rPr>
              <a:t>.</a:t>
            </a:r>
            <a:endParaRPr lang="en-IN" dirty="0"/>
          </a:p>
        </p:txBody>
      </p:sp>
      <p:sp>
        <p:nvSpPr>
          <p:cNvPr id="5" name="TextBox 4">
            <a:extLst>
              <a:ext uri="{FF2B5EF4-FFF2-40B4-BE49-F238E27FC236}">
                <a16:creationId xmlns:a16="http://schemas.microsoft.com/office/drawing/2014/main" xmlns="" id="{BBAFDEB9-3D00-D603-C764-DD160CAD407B}"/>
              </a:ext>
            </a:extLst>
          </p:cNvPr>
          <p:cNvSpPr txBox="1"/>
          <p:nvPr/>
        </p:nvSpPr>
        <p:spPr>
          <a:xfrm>
            <a:off x="968828" y="2325274"/>
            <a:ext cx="8085364" cy="1969770"/>
          </a:xfrm>
          <a:prstGeom prst="rect">
            <a:avLst/>
          </a:prstGeom>
          <a:noFill/>
        </p:spPr>
        <p:txBody>
          <a:bodyPr wrap="square">
            <a:spAutoFit/>
          </a:bodyPr>
          <a:lstStyle/>
          <a:p>
            <a:pPr algn="l"/>
            <a:r>
              <a:rPr lang="en-US" sz="1600" b="1" i="1" u="none" strike="noStrike" baseline="0" dirty="0">
                <a:latin typeface="Times New Roman" panose="02020603050405020304" pitchFamily="18" charset="0"/>
              </a:rPr>
              <a:t>Find the names of sailors who have reserved boat 103.</a:t>
            </a:r>
          </a:p>
          <a:p>
            <a:pPr algn="l"/>
            <a:endParaRPr lang="en-US" sz="1600" b="1" i="1"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SELECT </a:t>
            </a:r>
            <a:r>
              <a:rPr lang="en-IN" sz="1800" b="0" i="0" u="none" strike="noStrike" baseline="0" dirty="0" err="1">
                <a:latin typeface="Times New Roman" panose="02020603050405020304" pitchFamily="18" charset="0"/>
              </a:rPr>
              <a:t>S.sname</a:t>
            </a:r>
            <a:endParaRPr lang="en-IN"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l"/>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IN </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R.sid</a:t>
            </a:r>
            <a:endParaRPr lang="en-US"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Reserves R</a:t>
            </a:r>
          </a:p>
          <a:p>
            <a:pPr algn="l"/>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R.bid</a:t>
            </a:r>
            <a:r>
              <a:rPr lang="en-IN" sz="1800" b="0" i="0" u="none" strike="noStrike" baseline="0" dirty="0">
                <a:latin typeface="Times New Roman" panose="02020603050405020304" pitchFamily="18" charset="0"/>
              </a:rPr>
              <a:t> = 103 )</a:t>
            </a:r>
            <a:endParaRPr lang="en-IN" dirty="0"/>
          </a:p>
        </p:txBody>
      </p:sp>
      <p:sp>
        <p:nvSpPr>
          <p:cNvPr id="7" name="TextBox 6">
            <a:extLst>
              <a:ext uri="{FF2B5EF4-FFF2-40B4-BE49-F238E27FC236}">
                <a16:creationId xmlns:a16="http://schemas.microsoft.com/office/drawing/2014/main" xmlns="" id="{A2BEF6E8-FF09-B8BC-7D41-172066A286B6}"/>
              </a:ext>
            </a:extLst>
          </p:cNvPr>
          <p:cNvSpPr txBox="1"/>
          <p:nvPr/>
        </p:nvSpPr>
        <p:spPr>
          <a:xfrm>
            <a:off x="7206342" y="2588726"/>
            <a:ext cx="4452257" cy="2585323"/>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The nested subquery computes the (multi)set of </a:t>
            </a:r>
            <a:r>
              <a:rPr lang="en-US" sz="1800" b="0" i="1" u="none" strike="noStrike" baseline="0" dirty="0" err="1">
                <a:latin typeface="Times New Roman" panose="02020603050405020304" pitchFamily="18" charset="0"/>
              </a:rPr>
              <a:t>sid</a:t>
            </a:r>
            <a:r>
              <a:rPr lang="en-US" sz="1800" b="0" i="0" u="none" strike="noStrike" baseline="0" dirty="0" err="1">
                <a:latin typeface="Times New Roman" panose="02020603050405020304" pitchFamily="18" charset="0"/>
              </a:rPr>
              <a:t>s</a:t>
            </a:r>
            <a:r>
              <a:rPr lang="en-US" sz="1800" b="0" i="0" u="none" strike="noStrike" baseline="0" dirty="0">
                <a:latin typeface="Times New Roman" panose="02020603050405020304" pitchFamily="18" charset="0"/>
              </a:rPr>
              <a:t> for sailors who have reserved boat 103 (the set contains 22, 31, and 74 on instances </a:t>
            </a:r>
            <a:r>
              <a:rPr lang="en-US" sz="1800" b="0" i="1" u="none" strike="noStrike" baseline="0" dirty="0">
                <a:latin typeface="Arial" panose="020B0604020202020204" pitchFamily="34" charset="0"/>
              </a:rPr>
              <a:t>R</a:t>
            </a:r>
            <a:r>
              <a:rPr lang="en-US" sz="1800" b="0" i="0" u="none" strike="noStrike" baseline="0" dirty="0">
                <a:latin typeface="Times New Roman" panose="02020603050405020304" pitchFamily="18" charset="0"/>
              </a:rPr>
              <a:t>2 and </a:t>
            </a:r>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3), and the top-level query retrieves the names of sailors whose </a:t>
            </a:r>
            <a:r>
              <a:rPr lang="en-US" sz="1800" b="0" i="1" u="none" strike="noStrike" baseline="0" dirty="0" err="1">
                <a:latin typeface="Times New Roman" panose="02020603050405020304" pitchFamily="18" charset="0"/>
              </a:rPr>
              <a:t>sid</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in this set. The </a:t>
            </a:r>
            <a:r>
              <a:rPr lang="en-US" sz="1800" b="0" i="0" u="none" strike="noStrike" baseline="0" dirty="0">
                <a:latin typeface="Arial" panose="020B0604020202020204" pitchFamily="34" charset="0"/>
              </a:rPr>
              <a:t>IN </a:t>
            </a:r>
            <a:r>
              <a:rPr lang="en-US" sz="1800" b="0" i="0" u="none" strike="noStrike" baseline="0" dirty="0">
                <a:latin typeface="Times New Roman" panose="02020603050405020304" pitchFamily="18" charset="0"/>
              </a:rPr>
              <a:t>operator allows us to test whether a value is in a given set of elements; an SQL query is used to generate</a:t>
            </a:r>
          </a:p>
          <a:p>
            <a:pPr algn="just"/>
            <a:r>
              <a:rPr lang="en-US" sz="1800" b="0" i="0" u="none" strike="noStrike" baseline="0" dirty="0">
                <a:latin typeface="Times New Roman" panose="02020603050405020304" pitchFamily="18" charset="0"/>
              </a:rPr>
              <a:t>the set to be tested.</a:t>
            </a:r>
            <a:endParaRPr lang="en-IN" dirty="0"/>
          </a:p>
        </p:txBody>
      </p:sp>
    </p:spTree>
    <p:extLst>
      <p:ext uri="{BB962C8B-B14F-4D97-AF65-F5344CB8AC3E}">
        <p14:creationId xmlns:p14="http://schemas.microsoft.com/office/powerpoint/2010/main" val="9208426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0A52CDF-0BFF-2AE1-8371-512817A73B7A}"/>
              </a:ext>
            </a:extLst>
          </p:cNvPr>
          <p:cNvSpPr txBox="1"/>
          <p:nvPr/>
        </p:nvSpPr>
        <p:spPr>
          <a:xfrm>
            <a:off x="359229" y="277620"/>
            <a:ext cx="11582400" cy="1754326"/>
          </a:xfrm>
          <a:prstGeom prst="rect">
            <a:avLst/>
          </a:prstGeom>
          <a:noFill/>
        </p:spPr>
        <p:txBody>
          <a:bodyPr wrap="square">
            <a:spAutoFit/>
          </a:bodyPr>
          <a:lstStyle/>
          <a:p>
            <a:pPr algn="ctr"/>
            <a:r>
              <a:rPr lang="en-IN" sz="2400" b="1" i="0" u="none" strike="noStrike" baseline="0" dirty="0">
                <a:latin typeface="Times New Roman" panose="02020603050405020304" pitchFamily="18" charset="0"/>
              </a:rPr>
              <a:t>Correlated Nested Queries</a:t>
            </a:r>
          </a:p>
          <a:p>
            <a:pPr algn="ctr"/>
            <a:endParaRPr lang="en-IN" sz="2400" b="1" i="0" u="none" strike="noStrike" baseline="0" dirty="0">
              <a:latin typeface="Times New Roman" panose="02020603050405020304" pitchFamily="18" charset="0"/>
            </a:endParaRPr>
          </a:p>
          <a:p>
            <a:pPr algn="just"/>
            <a:r>
              <a:rPr lang="en-US" sz="2000" b="0" i="0" u="none" strike="noStrike" baseline="0" dirty="0">
                <a:latin typeface="Times New Roman" panose="02020603050405020304" pitchFamily="18" charset="0"/>
              </a:rPr>
              <a:t>In the nested queries that we have seen thus far, the inner subquery has been completely independent of the outer query. In general the inner subquery could depend on the row that is currently being examined in the outer query (in terms of our conceptual evaluation strategy). Let us rewrite the following query once more:</a:t>
            </a:r>
            <a:endParaRPr lang="en-IN" sz="2000" dirty="0"/>
          </a:p>
        </p:txBody>
      </p:sp>
      <p:sp>
        <p:nvSpPr>
          <p:cNvPr id="5" name="TextBox 4">
            <a:extLst>
              <a:ext uri="{FF2B5EF4-FFF2-40B4-BE49-F238E27FC236}">
                <a16:creationId xmlns:a16="http://schemas.microsoft.com/office/drawing/2014/main" xmlns="" id="{618127F5-998A-13E5-E53C-C70E21B3FA9D}"/>
              </a:ext>
            </a:extLst>
          </p:cNvPr>
          <p:cNvSpPr txBox="1"/>
          <p:nvPr/>
        </p:nvSpPr>
        <p:spPr>
          <a:xfrm>
            <a:off x="576942" y="2710544"/>
            <a:ext cx="6389915" cy="2031325"/>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Find the names of sailors who have reserved boat number 103.</a:t>
            </a:r>
          </a:p>
          <a:p>
            <a:pPr algn="l"/>
            <a:r>
              <a:rPr lang="en-IN" sz="1800" b="0" i="0" u="none" strike="noStrike" baseline="0" dirty="0">
                <a:latin typeface="Arial" panose="020B0604020202020204" pitchFamily="34" charset="0"/>
              </a:rPr>
              <a:t>SELECT </a:t>
            </a:r>
            <a:r>
              <a:rPr lang="en-IN" sz="1800" b="0" i="0" u="none" strike="noStrike" baseline="0" dirty="0" err="1">
                <a:latin typeface="Times New Roman" panose="02020603050405020304" pitchFamily="18" charset="0"/>
              </a:rPr>
              <a:t>S.sname</a:t>
            </a:r>
            <a:endParaRPr lang="en-IN"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l"/>
            <a:r>
              <a:rPr lang="en-IN" sz="1800" b="0" i="0" u="none" strike="noStrike" baseline="0" dirty="0">
                <a:latin typeface="Arial" panose="020B0604020202020204" pitchFamily="34" charset="0"/>
              </a:rPr>
              <a:t>WHERE EXISTS </a:t>
            </a:r>
            <a:r>
              <a:rPr lang="en-IN" sz="1800" b="0" i="0" u="none" strike="noStrike" baseline="0" dirty="0">
                <a:latin typeface="Times New Roman" panose="02020603050405020304" pitchFamily="18" charset="0"/>
              </a:rPr>
              <a:t>( </a:t>
            </a:r>
            <a:r>
              <a:rPr lang="en-IN" sz="1800" b="0" i="0" u="none" strike="noStrike" baseline="0" dirty="0">
                <a:latin typeface="Arial" panose="020B0604020202020204" pitchFamily="34" charset="0"/>
              </a:rPr>
              <a:t>SELECT </a:t>
            </a:r>
            <a:r>
              <a:rPr lang="en-IN" sz="1800" b="0" i="0" u="none" strike="noStrike" baseline="0" dirty="0">
                <a:latin typeface="Times New Roman" panose="02020603050405020304" pitchFamily="18" charset="0"/>
              </a:rPr>
              <a:t>*</a:t>
            </a: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Reserves R</a:t>
            </a:r>
          </a:p>
          <a:p>
            <a:pPr algn="l"/>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R.bid</a:t>
            </a:r>
            <a:r>
              <a:rPr lang="en-IN" sz="1800" b="0" i="0" u="none" strike="noStrike" baseline="0" dirty="0">
                <a:latin typeface="Times New Roman" panose="02020603050405020304" pitchFamily="18" charset="0"/>
              </a:rPr>
              <a:t> = 103</a:t>
            </a:r>
          </a:p>
          <a:p>
            <a:pPr algn="l"/>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R.sid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a:t>
            </a:r>
            <a:endParaRPr lang="en-IN" dirty="0"/>
          </a:p>
        </p:txBody>
      </p:sp>
      <p:sp>
        <p:nvSpPr>
          <p:cNvPr id="7" name="TextBox 6">
            <a:extLst>
              <a:ext uri="{FF2B5EF4-FFF2-40B4-BE49-F238E27FC236}">
                <a16:creationId xmlns:a16="http://schemas.microsoft.com/office/drawing/2014/main" xmlns="" id="{5E310F4A-59B8-AB45-F3D1-D4A23CF79DB3}"/>
              </a:ext>
            </a:extLst>
          </p:cNvPr>
          <p:cNvSpPr txBox="1"/>
          <p:nvPr/>
        </p:nvSpPr>
        <p:spPr>
          <a:xfrm>
            <a:off x="7543800" y="2144487"/>
            <a:ext cx="4071258" cy="3970318"/>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The </a:t>
            </a:r>
            <a:r>
              <a:rPr lang="en-US" sz="1800" b="0" i="0" u="none" strike="noStrike" baseline="0" dirty="0">
                <a:latin typeface="Arial" panose="020B0604020202020204" pitchFamily="34" charset="0"/>
              </a:rPr>
              <a:t>EXISTS </a:t>
            </a:r>
            <a:r>
              <a:rPr lang="en-US" sz="1800" b="0" i="0" u="none" strike="noStrike" baseline="0" dirty="0">
                <a:latin typeface="Times New Roman" panose="02020603050405020304" pitchFamily="18" charset="0"/>
              </a:rPr>
              <a:t>operator is another set comparison operator, such as </a:t>
            </a:r>
            <a:r>
              <a:rPr lang="en-US" sz="1800" b="0" i="0" u="none" strike="noStrike" baseline="0" dirty="0">
                <a:latin typeface="Arial" panose="020B0604020202020204" pitchFamily="34" charset="0"/>
              </a:rPr>
              <a:t>IN</a:t>
            </a:r>
            <a:r>
              <a:rPr lang="en-US" sz="1800" b="0" i="0" u="none" strike="noStrike" baseline="0" dirty="0">
                <a:latin typeface="Times New Roman" panose="02020603050405020304" pitchFamily="18" charset="0"/>
              </a:rPr>
              <a:t>. It allows us to test whether a set is nonempty. Thus, for each Sailor row </a:t>
            </a:r>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 we test whether the set of Reserves rows </a:t>
            </a:r>
            <a:r>
              <a:rPr lang="en-US" sz="1800" b="0" i="1" u="none" strike="noStrike" baseline="0" dirty="0">
                <a:latin typeface="Arial" panose="020B0604020202020204" pitchFamily="34" charset="0"/>
              </a:rPr>
              <a:t>R </a:t>
            </a:r>
            <a:r>
              <a:rPr lang="en-US" sz="1800" b="0" i="0" u="none" strike="noStrike" baseline="0" dirty="0">
                <a:latin typeface="Times New Roman" panose="02020603050405020304" pitchFamily="18" charset="0"/>
              </a:rPr>
              <a:t>such that </a:t>
            </a:r>
            <a:r>
              <a:rPr lang="en-US" sz="1800" b="0" i="1" u="none" strike="noStrike" baseline="0" dirty="0" err="1">
                <a:latin typeface="Times New Roman" panose="02020603050405020304" pitchFamily="18" charset="0"/>
              </a:rPr>
              <a:t>R.bid</a:t>
            </a:r>
            <a:r>
              <a:rPr lang="en-US" sz="1800" b="0" i="1" u="none" strike="noStrike" baseline="0" dirty="0">
                <a:latin typeface="Times New Roman" panose="02020603050405020304" pitchFamily="18" charset="0"/>
              </a:rPr>
              <a:t> = 103 </a:t>
            </a:r>
            <a:r>
              <a:rPr lang="en-US" sz="1800" b="0" i="0" u="none" strike="noStrike" baseline="0" dirty="0">
                <a:latin typeface="Arial" panose="020B0604020202020204" pitchFamily="34" charset="0"/>
              </a:rPr>
              <a:t>AND </a:t>
            </a:r>
            <a:r>
              <a:rPr lang="en-US" sz="1800" b="0" i="1" u="none" strike="noStrike" baseline="0" dirty="0" err="1">
                <a:latin typeface="Times New Roman" panose="02020603050405020304" pitchFamily="18" charset="0"/>
              </a:rPr>
              <a:t>S.sid</a:t>
            </a:r>
            <a:r>
              <a:rPr lang="en-US" sz="1800" b="0" i="1" u="none" strike="noStrike" baseline="0" dirty="0">
                <a:latin typeface="Times New Roman" panose="02020603050405020304" pitchFamily="18" charset="0"/>
              </a:rPr>
              <a:t> = </a:t>
            </a:r>
            <a:r>
              <a:rPr lang="en-US" sz="1800" b="0" i="1" u="none" strike="noStrike" baseline="0" dirty="0" err="1">
                <a:latin typeface="Times New Roman" panose="02020603050405020304" pitchFamily="18" charset="0"/>
              </a:rPr>
              <a:t>R.sid</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nonempty. If so, sailor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has reserved boat 103, and we retrieve the name. The subquery clearly depends on the current row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and must be re-evaluated for each row in Sailors. The occurrence of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in the subquery (in the form of the literal </a:t>
            </a:r>
            <a:r>
              <a:rPr lang="en-US" sz="1800" b="0" i="1"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is called a </a:t>
            </a:r>
            <a:r>
              <a:rPr lang="en-US" sz="1800" b="0" i="1" u="none" strike="noStrike" baseline="0" dirty="0">
                <a:latin typeface="Times New Roman" panose="02020603050405020304" pitchFamily="18" charset="0"/>
              </a:rPr>
              <a:t>correlation</a:t>
            </a:r>
            <a:r>
              <a:rPr lang="en-US" sz="1800" b="0" i="0" u="none" strike="noStrike" baseline="0" dirty="0">
                <a:latin typeface="Times New Roman" panose="02020603050405020304" pitchFamily="18" charset="0"/>
              </a:rPr>
              <a:t>, and such queries are</a:t>
            </a:r>
          </a:p>
          <a:p>
            <a:pPr algn="just"/>
            <a:r>
              <a:rPr lang="en-IN" sz="1800" b="0" i="0" u="none" strike="noStrike" baseline="0" dirty="0">
                <a:latin typeface="Times New Roman" panose="02020603050405020304" pitchFamily="18" charset="0"/>
              </a:rPr>
              <a:t>called </a:t>
            </a:r>
            <a:r>
              <a:rPr lang="en-IN" sz="1800" b="0" i="1" u="none" strike="noStrike" baseline="0" dirty="0">
                <a:latin typeface="Times New Roman" panose="02020603050405020304" pitchFamily="18" charset="0"/>
              </a:rPr>
              <a:t>correlated queries</a:t>
            </a:r>
            <a:r>
              <a:rPr lang="en-IN" sz="18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39326462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479C3DF-A501-E8E5-7D70-A7E347510D69}"/>
              </a:ext>
            </a:extLst>
          </p:cNvPr>
          <p:cNvSpPr txBox="1"/>
          <p:nvPr/>
        </p:nvSpPr>
        <p:spPr>
          <a:xfrm>
            <a:off x="620486" y="442944"/>
            <a:ext cx="9797142" cy="4524315"/>
          </a:xfrm>
          <a:prstGeom prst="rect">
            <a:avLst/>
          </a:prstGeom>
          <a:noFill/>
        </p:spPr>
        <p:txBody>
          <a:bodyPr wrap="square">
            <a:spAutoFit/>
          </a:bodyPr>
          <a:lstStyle/>
          <a:p>
            <a:pPr algn="ctr"/>
            <a:r>
              <a:rPr lang="en-IN" sz="2400" b="1" i="0" u="none" strike="noStrike" baseline="0" dirty="0">
                <a:latin typeface="Times New Roman" panose="02020603050405020304" pitchFamily="18" charset="0"/>
              </a:rPr>
              <a:t>AGGREGATE OPERATORS</a:t>
            </a:r>
          </a:p>
          <a:p>
            <a:pPr algn="ctr"/>
            <a:endParaRPr lang="en-IN" sz="2400" b="1" i="0" u="none" strike="noStrike" baseline="0" dirty="0">
              <a:latin typeface="Times New Roman" panose="02020603050405020304" pitchFamily="18" charset="0"/>
            </a:endParaRPr>
          </a:p>
          <a:p>
            <a:pPr algn="just"/>
            <a:r>
              <a:rPr lang="en-US" sz="2400" b="0" i="0" u="none" strike="noStrike" baseline="0" dirty="0">
                <a:latin typeface="Times New Roman" panose="02020603050405020304" pitchFamily="18" charset="0"/>
              </a:rPr>
              <a:t>We now consider a powerful class of constructs for computing </a:t>
            </a:r>
            <a:r>
              <a:rPr lang="en-US" sz="2400" b="0" i="1" u="none" strike="noStrike" baseline="0" dirty="0">
                <a:latin typeface="Times New Roman" panose="02020603050405020304" pitchFamily="18" charset="0"/>
              </a:rPr>
              <a:t>aggregate values </a:t>
            </a:r>
            <a:r>
              <a:rPr lang="en-US" sz="2400" b="0" i="0" u="none" strike="noStrike" baseline="0" dirty="0">
                <a:latin typeface="Times New Roman" panose="02020603050405020304" pitchFamily="18" charset="0"/>
              </a:rPr>
              <a:t>such as </a:t>
            </a:r>
            <a:r>
              <a:rPr lang="en-US" sz="2400" b="0" i="0" u="none" strike="noStrike" baseline="0" dirty="0">
                <a:latin typeface="Arial" panose="020B0604020202020204" pitchFamily="34" charset="0"/>
              </a:rPr>
              <a:t>MIN </a:t>
            </a:r>
            <a:r>
              <a:rPr lang="en-US" sz="2400" b="0" i="0" u="none" strike="noStrike" baseline="0" dirty="0">
                <a:latin typeface="Times New Roman" panose="02020603050405020304" pitchFamily="18" charset="0"/>
              </a:rPr>
              <a:t>and </a:t>
            </a:r>
            <a:r>
              <a:rPr lang="en-US" sz="2400" b="0" i="0" u="none" strike="noStrike" baseline="0" dirty="0">
                <a:latin typeface="Arial" panose="020B0604020202020204" pitchFamily="34" charset="0"/>
              </a:rPr>
              <a:t>SUM</a:t>
            </a:r>
            <a:r>
              <a:rPr lang="en-US" sz="2400" b="0" i="0" u="none" strike="noStrike" baseline="0" dirty="0">
                <a:latin typeface="Times New Roman" panose="02020603050405020304" pitchFamily="18" charset="0"/>
              </a:rPr>
              <a:t>. These features represent a significant extension of relational algebra. SQL supports five aggregate operations, which can be applied on any column, say A, of a relation:</a:t>
            </a:r>
          </a:p>
          <a:p>
            <a:pPr algn="just"/>
            <a:endParaRPr lang="en-US" sz="2400" b="0" i="0" u="none" strike="noStrike" baseline="0" dirty="0">
              <a:latin typeface="Times New Roman" panose="02020603050405020304" pitchFamily="18" charset="0"/>
            </a:endParaRPr>
          </a:p>
          <a:p>
            <a:pPr algn="just"/>
            <a:r>
              <a:rPr lang="en-US" sz="2400" b="0" i="0" u="none" strike="noStrike" baseline="0" dirty="0">
                <a:latin typeface="Times New Roman" panose="02020603050405020304" pitchFamily="18" charset="0"/>
              </a:rPr>
              <a:t>1. </a:t>
            </a:r>
            <a:r>
              <a:rPr lang="en-US" sz="2400" b="0" i="0" u="none" strike="noStrike" baseline="0" dirty="0">
                <a:latin typeface="Arial" panose="020B0604020202020204" pitchFamily="34" charset="0"/>
              </a:rPr>
              <a:t>COUNT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number of (unique) values in the A column.</a:t>
            </a:r>
          </a:p>
          <a:p>
            <a:pPr algn="just"/>
            <a:r>
              <a:rPr lang="en-US" sz="2400" b="0" i="0" u="none" strike="noStrike" baseline="0" dirty="0">
                <a:latin typeface="Times New Roman" panose="02020603050405020304" pitchFamily="18" charset="0"/>
              </a:rPr>
              <a:t>2. </a:t>
            </a:r>
            <a:r>
              <a:rPr lang="en-US" sz="2400" b="0" i="0" u="none" strike="noStrike" baseline="0" dirty="0">
                <a:latin typeface="Arial" panose="020B0604020202020204" pitchFamily="34" charset="0"/>
              </a:rPr>
              <a:t>SUM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sum of all (unique) values in the A column.</a:t>
            </a:r>
          </a:p>
          <a:p>
            <a:pPr algn="just"/>
            <a:r>
              <a:rPr lang="en-US" sz="2400" b="0" i="0" u="none" strike="noStrike" baseline="0" dirty="0">
                <a:latin typeface="Times New Roman" panose="02020603050405020304" pitchFamily="18" charset="0"/>
              </a:rPr>
              <a:t>3. </a:t>
            </a:r>
            <a:r>
              <a:rPr lang="en-US" sz="2400" b="0" i="0" u="none" strike="noStrike" baseline="0" dirty="0">
                <a:latin typeface="Arial" panose="020B0604020202020204" pitchFamily="34" charset="0"/>
              </a:rPr>
              <a:t>AVG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average of all (unique) values in the A column.</a:t>
            </a:r>
          </a:p>
          <a:p>
            <a:pPr algn="just"/>
            <a:r>
              <a:rPr lang="en-US" sz="2400" b="0" i="0" u="none" strike="noStrike" baseline="0" dirty="0">
                <a:latin typeface="Times New Roman" panose="02020603050405020304" pitchFamily="18" charset="0"/>
              </a:rPr>
              <a:t>4. </a:t>
            </a:r>
            <a:r>
              <a:rPr lang="en-US" sz="2400" b="0" i="0" u="none" strike="noStrike" baseline="0" dirty="0">
                <a:latin typeface="Arial" panose="020B0604020202020204" pitchFamily="34" charset="0"/>
              </a:rPr>
              <a:t>MAX </a:t>
            </a:r>
            <a:r>
              <a:rPr lang="en-US" sz="2400" b="0" i="0" u="none" strike="noStrike" baseline="0" dirty="0">
                <a:latin typeface="Times New Roman" panose="02020603050405020304" pitchFamily="18" charset="0"/>
              </a:rPr>
              <a:t>(A): The maximum value in the A column.</a:t>
            </a:r>
          </a:p>
          <a:p>
            <a:pPr algn="just"/>
            <a:r>
              <a:rPr lang="en-US" sz="2400" b="0" i="0" u="none" strike="noStrike" baseline="0" dirty="0">
                <a:latin typeface="Times New Roman" panose="02020603050405020304" pitchFamily="18" charset="0"/>
              </a:rPr>
              <a:t>5. </a:t>
            </a:r>
            <a:r>
              <a:rPr lang="en-US" sz="2400" b="0" i="0" u="none" strike="noStrike" baseline="0" dirty="0">
                <a:latin typeface="Arial" panose="020B0604020202020204" pitchFamily="34" charset="0"/>
              </a:rPr>
              <a:t>MIN </a:t>
            </a:r>
            <a:r>
              <a:rPr lang="en-US" sz="2400" b="0" i="0" u="none" strike="noStrike" baseline="0" dirty="0">
                <a:latin typeface="Times New Roman" panose="02020603050405020304" pitchFamily="18" charset="0"/>
              </a:rPr>
              <a:t>(A): The minimum value in the A column</a:t>
            </a:r>
            <a:r>
              <a:rPr lang="en-US" sz="1600" b="0" i="0" u="none" strike="noStrike" baseline="0" dirty="0">
                <a:latin typeface="Times New Roman" panose="02020603050405020304" pitchFamily="18" charset="0"/>
              </a:rPr>
              <a:t>.</a:t>
            </a:r>
            <a:endParaRPr lang="en-IN" sz="2400" dirty="0"/>
          </a:p>
        </p:txBody>
      </p:sp>
    </p:spTree>
    <p:extLst>
      <p:ext uri="{BB962C8B-B14F-4D97-AF65-F5344CB8AC3E}">
        <p14:creationId xmlns:p14="http://schemas.microsoft.com/office/powerpoint/2010/main" val="26776335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2AC0280-9288-B403-34FD-F8CF47EDC0B4}"/>
              </a:ext>
            </a:extLst>
          </p:cNvPr>
          <p:cNvSpPr txBox="1"/>
          <p:nvPr/>
        </p:nvSpPr>
        <p:spPr>
          <a:xfrm>
            <a:off x="938892" y="199268"/>
            <a:ext cx="11024508" cy="6001643"/>
          </a:xfrm>
          <a:prstGeom prst="rect">
            <a:avLst/>
          </a:prstGeom>
          <a:noFill/>
        </p:spPr>
        <p:txBody>
          <a:bodyPr wrap="square">
            <a:spAutoFit/>
          </a:bodyPr>
          <a:lstStyle/>
          <a:p>
            <a:r>
              <a:rPr lang="en-US" sz="2400" dirty="0"/>
              <a:t>Count the number of different sailor names.</a:t>
            </a:r>
          </a:p>
          <a:p>
            <a:endParaRPr lang="en-US" sz="2400" dirty="0"/>
          </a:p>
          <a:p>
            <a:r>
              <a:rPr lang="en-US" sz="2400" dirty="0"/>
              <a:t>SELECT COUNT( DISTINCT </a:t>
            </a:r>
            <a:r>
              <a:rPr lang="en-US" sz="2400" dirty="0" err="1"/>
              <a:t>S.sname</a:t>
            </a:r>
            <a:r>
              <a:rPr lang="en-US" sz="2400" dirty="0"/>
              <a:t> )</a:t>
            </a:r>
          </a:p>
          <a:p>
            <a:r>
              <a:rPr lang="en-US" sz="2400" dirty="0"/>
              <a:t>FROM Sailors S</a:t>
            </a:r>
          </a:p>
          <a:p>
            <a:endParaRPr lang="en-US" sz="2400" dirty="0"/>
          </a:p>
          <a:p>
            <a:r>
              <a:rPr lang="en-US" sz="2400" dirty="0"/>
              <a:t>Calculate the average age of all sailors.</a:t>
            </a:r>
          </a:p>
          <a:p>
            <a:endParaRPr lang="en-US" sz="2400" dirty="0"/>
          </a:p>
          <a:p>
            <a:r>
              <a:rPr lang="en-US" sz="2400" dirty="0"/>
              <a:t>SELECT AVG(</a:t>
            </a:r>
            <a:r>
              <a:rPr lang="en-US" sz="2400" dirty="0" err="1"/>
              <a:t>s.age</a:t>
            </a:r>
            <a:r>
              <a:rPr lang="en-US" sz="2400" dirty="0"/>
              <a:t>) </a:t>
            </a:r>
          </a:p>
          <a:p>
            <a:r>
              <a:rPr lang="en-US" sz="2400" dirty="0"/>
              <a:t>FROM Sailors S</a:t>
            </a:r>
          </a:p>
          <a:p>
            <a:endParaRPr lang="en-US" sz="2400" dirty="0"/>
          </a:p>
          <a:p>
            <a:r>
              <a:rPr lang="en-US" sz="2400" dirty="0"/>
              <a:t>Find the name and the age of the youngest sailor.</a:t>
            </a:r>
          </a:p>
          <a:p>
            <a:endParaRPr lang="en-US" sz="2400" dirty="0"/>
          </a:p>
          <a:p>
            <a:r>
              <a:rPr lang="en-US" sz="2400" dirty="0"/>
              <a:t>SELECT </a:t>
            </a:r>
            <a:r>
              <a:rPr lang="en-US" sz="2400" dirty="0" err="1"/>
              <a:t>S.sname</a:t>
            </a:r>
            <a:r>
              <a:rPr lang="en-US" sz="2400" dirty="0"/>
              <a:t>, </a:t>
            </a:r>
            <a:r>
              <a:rPr lang="en-US" sz="2400" dirty="0" err="1"/>
              <a:t>S.age</a:t>
            </a:r>
            <a:endParaRPr lang="en-US" sz="2400" dirty="0"/>
          </a:p>
          <a:p>
            <a:r>
              <a:rPr lang="en-US" sz="2400" dirty="0"/>
              <a:t>FROM Sailors S</a:t>
            </a:r>
          </a:p>
          <a:p>
            <a:r>
              <a:rPr lang="en-US" sz="2400" dirty="0"/>
              <a:t>WHERE </a:t>
            </a:r>
            <a:r>
              <a:rPr lang="en-US" sz="2400" dirty="0" err="1"/>
              <a:t>S.age</a:t>
            </a:r>
            <a:r>
              <a:rPr lang="en-US" sz="2400" dirty="0"/>
              <a:t> = (SELECT MIN(S2.age)</a:t>
            </a:r>
          </a:p>
          <a:p>
            <a:r>
              <a:rPr lang="en-US" sz="2400" dirty="0"/>
              <a:t>FROM Sailors S2 )</a:t>
            </a:r>
            <a:endParaRPr lang="en-IN" sz="2400" dirty="0"/>
          </a:p>
        </p:txBody>
      </p:sp>
    </p:spTree>
    <p:extLst>
      <p:ext uri="{BB962C8B-B14F-4D97-AF65-F5344CB8AC3E}">
        <p14:creationId xmlns:p14="http://schemas.microsoft.com/office/powerpoint/2010/main" val="40366429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63A9775-22FB-4567-99D2-832ED66631D7}"/>
              </a:ext>
            </a:extLst>
          </p:cNvPr>
          <p:cNvSpPr txBox="1"/>
          <p:nvPr/>
        </p:nvSpPr>
        <p:spPr>
          <a:xfrm>
            <a:off x="881744" y="391023"/>
            <a:ext cx="9927770" cy="2677656"/>
          </a:xfrm>
          <a:prstGeom prst="rect">
            <a:avLst/>
          </a:prstGeom>
          <a:noFill/>
        </p:spPr>
        <p:txBody>
          <a:bodyPr wrap="square">
            <a:spAutoFit/>
          </a:bodyPr>
          <a:lstStyle/>
          <a:p>
            <a:pPr algn="ctr"/>
            <a:r>
              <a:rPr lang="en-US" sz="2800" b="1" i="0" u="none" strike="noStrike" baseline="0" dirty="0">
                <a:latin typeface="Times New Roman" panose="02020603050405020304" pitchFamily="18" charset="0"/>
              </a:rPr>
              <a:t>The GROUP BY and HAVING Clauses</a:t>
            </a:r>
          </a:p>
          <a:p>
            <a:pPr algn="just"/>
            <a:endParaRPr lang="en-US" sz="2800" b="1" i="0" u="none" strike="noStrike" baseline="0" dirty="0">
              <a:latin typeface="Times New Roman" panose="02020603050405020304" pitchFamily="18" charset="0"/>
            </a:endParaRPr>
          </a:p>
          <a:p>
            <a:pPr algn="just"/>
            <a:r>
              <a:rPr lang="en-US" sz="2800" b="0" i="0" u="none" strike="noStrike" baseline="0" dirty="0">
                <a:latin typeface="Times New Roman" panose="02020603050405020304" pitchFamily="18" charset="0"/>
              </a:rPr>
              <a:t>we want to apply aggregate operations to each of a number of groups of rows in a relation, where the number of groups depends on the relation instance (i.e., is not known in advance). For example, consider the following query.</a:t>
            </a:r>
            <a:endParaRPr lang="en-IN" sz="2800" dirty="0"/>
          </a:p>
        </p:txBody>
      </p:sp>
      <p:sp>
        <p:nvSpPr>
          <p:cNvPr id="7" name="TextBox 6">
            <a:extLst>
              <a:ext uri="{FF2B5EF4-FFF2-40B4-BE49-F238E27FC236}">
                <a16:creationId xmlns:a16="http://schemas.microsoft.com/office/drawing/2014/main" xmlns="" id="{A7A68C99-0CFA-8ABB-2792-449C1072AD4B}"/>
              </a:ext>
            </a:extLst>
          </p:cNvPr>
          <p:cNvSpPr txBox="1"/>
          <p:nvPr/>
        </p:nvSpPr>
        <p:spPr>
          <a:xfrm>
            <a:off x="3050722" y="3111278"/>
            <a:ext cx="6101442" cy="646331"/>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Find the age of the youngest sailor for each rating level.</a:t>
            </a:r>
          </a:p>
          <a:p>
            <a:pPr algn="l"/>
            <a:endParaRPr lang="en-IN" dirty="0"/>
          </a:p>
        </p:txBody>
      </p:sp>
      <p:sp>
        <p:nvSpPr>
          <p:cNvPr id="9" name="TextBox 8">
            <a:extLst>
              <a:ext uri="{FF2B5EF4-FFF2-40B4-BE49-F238E27FC236}">
                <a16:creationId xmlns:a16="http://schemas.microsoft.com/office/drawing/2014/main" xmlns="" id="{A19B5968-6183-456F-6F52-97A84816A1E8}"/>
              </a:ext>
            </a:extLst>
          </p:cNvPr>
          <p:cNvSpPr txBox="1"/>
          <p:nvPr/>
        </p:nvSpPr>
        <p:spPr>
          <a:xfrm>
            <a:off x="2909207" y="3757609"/>
            <a:ext cx="6101442" cy="2031325"/>
          </a:xfrm>
          <a:prstGeom prst="rect">
            <a:avLst/>
          </a:prstGeom>
          <a:noFill/>
        </p:spPr>
        <p:txBody>
          <a:bodyPr wrap="square">
            <a:spAutoFit/>
          </a:bodyPr>
          <a:lstStyle/>
          <a:p>
            <a:pPr algn="ctr"/>
            <a:r>
              <a:rPr lang="en-IN" sz="1800" b="0" i="0" u="none" strike="noStrike" baseline="0" dirty="0">
                <a:latin typeface="Arial" panose="020B0604020202020204" pitchFamily="34" charset="0"/>
              </a:rPr>
              <a:t>SELECT MIN </a:t>
            </a:r>
            <a:r>
              <a:rPr lang="en-IN" sz="1800" b="0" i="0" u="none" strike="noStrike" baseline="0" dirty="0">
                <a:latin typeface="Times New Roman" panose="02020603050405020304" pitchFamily="18" charset="0"/>
              </a:rPr>
              <a:t>(</a:t>
            </a:r>
            <a:r>
              <a:rPr lang="en-IN" sz="1800" b="0" i="0" u="none" strike="noStrike" baseline="0" dirty="0" err="1">
                <a:latin typeface="Times New Roman" panose="02020603050405020304" pitchFamily="18" charset="0"/>
              </a:rPr>
              <a:t>S.age</a:t>
            </a:r>
            <a:r>
              <a:rPr lang="en-IN" sz="1800" b="0" i="0" u="none" strike="noStrike" baseline="0" dirty="0">
                <a:latin typeface="Times New Roman" panose="02020603050405020304" pitchFamily="18" charset="0"/>
              </a:rPr>
              <a:t>)</a:t>
            </a:r>
          </a:p>
          <a:p>
            <a:pPr algn="ctr"/>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ctr"/>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S.rating</a:t>
            </a:r>
            <a:r>
              <a:rPr lang="en-IN" sz="1800" b="0" i="0" u="none" strike="noStrike" baseline="0" dirty="0">
                <a:latin typeface="Times New Roman" panose="02020603050405020304" pitchFamily="18" charset="0"/>
              </a:rPr>
              <a:t> = </a:t>
            </a:r>
            <a:r>
              <a:rPr lang="en-IN" sz="1800" b="0" i="1" u="none" strike="noStrike" baseline="0" dirty="0">
                <a:latin typeface="Arial" panose="020B0604020202020204" pitchFamily="34" charset="0"/>
              </a:rPr>
              <a:t>I</a:t>
            </a:r>
          </a:p>
          <a:p>
            <a:pPr algn="l"/>
            <a:endParaRPr lang="en-IN" sz="1800" b="0" i="1" u="none" strike="noStrike" baseline="0" dirty="0">
              <a:latin typeface="Arial" panose="020B0604020202020204" pitchFamily="34" charset="0"/>
            </a:endParaRPr>
          </a:p>
          <a:p>
            <a:pPr algn="l"/>
            <a:r>
              <a:rPr lang="en-US" sz="1800" b="0" i="0" u="none" strike="noStrike" baseline="0" dirty="0">
                <a:latin typeface="Times New Roman" panose="02020603050405020304" pitchFamily="18" charset="0"/>
              </a:rPr>
              <a:t>where </a:t>
            </a:r>
            <a:r>
              <a:rPr lang="en-US" sz="1800" b="0" i="1" u="none" strike="noStrike" baseline="0" dirty="0" err="1">
                <a:latin typeface="Arial" panose="020B0604020202020204" pitchFamily="34" charset="0"/>
              </a:rPr>
              <a:t>i</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 1</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2</a:t>
            </a:r>
            <a:r>
              <a:rPr lang="en-US" sz="1800" b="0" i="1" u="none" strike="noStrike" baseline="0" dirty="0">
                <a:latin typeface="Arial" panose="020B0604020202020204" pitchFamily="34" charset="0"/>
              </a:rPr>
              <a:t>, . . . , </a:t>
            </a:r>
            <a:r>
              <a:rPr lang="en-US" sz="1800" b="0" i="0" u="none" strike="noStrike" baseline="0" dirty="0">
                <a:latin typeface="Times New Roman" panose="02020603050405020304" pitchFamily="18" charset="0"/>
              </a:rPr>
              <a:t>10. Writing 10 such queries is tedious. More importantly, we may not</a:t>
            </a:r>
          </a:p>
          <a:p>
            <a:pPr algn="l"/>
            <a:r>
              <a:rPr lang="en-US" sz="1800" b="0" i="0" u="none" strike="noStrike" baseline="0" dirty="0">
                <a:latin typeface="Times New Roman" panose="02020603050405020304" pitchFamily="18" charset="0"/>
              </a:rPr>
              <a:t>know what rating levels exist in advance</a:t>
            </a:r>
            <a:r>
              <a:rPr lang="en-US" sz="12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13970684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B3842AB-93B5-0864-CBD3-A5AC085C5C03}"/>
              </a:ext>
            </a:extLst>
          </p:cNvPr>
          <p:cNvSpPr txBox="1"/>
          <p:nvPr/>
        </p:nvSpPr>
        <p:spPr>
          <a:xfrm>
            <a:off x="4335237" y="431550"/>
            <a:ext cx="6101442" cy="1477328"/>
          </a:xfrm>
          <a:prstGeom prst="rect">
            <a:avLst/>
          </a:prstGeom>
          <a:noFill/>
        </p:spPr>
        <p:txBody>
          <a:bodyPr wrap="square">
            <a:spAutoFit/>
          </a:bodyPr>
          <a:lstStyle/>
          <a:p>
            <a:pPr algn="l"/>
            <a:r>
              <a:rPr lang="en-IN" sz="1800" b="0" i="0" u="none" strike="noStrike" baseline="0" dirty="0">
                <a:latin typeface="Arial" panose="020B0604020202020204" pitchFamily="34" charset="0"/>
              </a:rPr>
              <a:t>SELECT</a:t>
            </a:r>
            <a:r>
              <a:rPr lang="en-IN" sz="1800" b="0" i="0" u="none" strike="noStrike" baseline="0" dirty="0">
                <a:latin typeface="Times New Roman" panose="02020603050405020304" pitchFamily="18" charset="0"/>
              </a:rPr>
              <a:t>[ </a:t>
            </a:r>
            <a:r>
              <a:rPr lang="en-IN" sz="1800" b="0" i="0" u="none" strike="noStrike" baseline="0" dirty="0">
                <a:latin typeface="Arial" panose="020B0604020202020204" pitchFamily="34" charset="0"/>
              </a:rPr>
              <a:t>DISTINCT </a:t>
            </a:r>
            <a:r>
              <a:rPr lang="en-IN" sz="1800" b="0" i="0" u="none" strike="noStrike" baseline="0" dirty="0">
                <a:latin typeface="Times New Roman" panose="02020603050405020304" pitchFamily="18" charset="0"/>
              </a:rPr>
              <a:t>] select-list</a:t>
            </a: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from-list</a:t>
            </a:r>
          </a:p>
          <a:p>
            <a:pPr algn="l"/>
            <a:r>
              <a:rPr lang="en-IN" sz="1800" b="0" i="0" u="none" strike="noStrike" baseline="0" dirty="0">
                <a:latin typeface="Arial" panose="020B0604020202020204" pitchFamily="34" charset="0"/>
              </a:rPr>
              <a:t>WHERE </a:t>
            </a:r>
            <a:r>
              <a:rPr lang="en-IN" sz="1800" b="0" i="0" u="none" strike="noStrike" baseline="0" dirty="0">
                <a:latin typeface="Times New Roman" panose="02020603050405020304" pitchFamily="18" charset="0"/>
              </a:rPr>
              <a:t>qualification</a:t>
            </a:r>
          </a:p>
          <a:p>
            <a:pPr algn="l"/>
            <a:r>
              <a:rPr lang="en-IN" sz="1800" b="0" i="0" u="none" strike="noStrike" baseline="0" dirty="0">
                <a:latin typeface="Arial" panose="020B0604020202020204" pitchFamily="34" charset="0"/>
              </a:rPr>
              <a:t>GROUP BY </a:t>
            </a:r>
            <a:r>
              <a:rPr lang="en-IN" sz="1800" b="0" i="0" u="none" strike="noStrike" baseline="0" dirty="0">
                <a:latin typeface="Times New Roman" panose="02020603050405020304" pitchFamily="18" charset="0"/>
              </a:rPr>
              <a:t>grouping-list</a:t>
            </a:r>
          </a:p>
          <a:p>
            <a:pPr algn="l"/>
            <a:r>
              <a:rPr lang="en-IN" sz="1800" b="0" i="0" u="none" strike="noStrike" baseline="0" dirty="0">
                <a:latin typeface="Arial" panose="020B0604020202020204" pitchFamily="34" charset="0"/>
              </a:rPr>
              <a:t>HAVING </a:t>
            </a:r>
            <a:r>
              <a:rPr lang="en-IN" sz="1800" b="0" i="0" u="none" strike="noStrike" baseline="0" dirty="0">
                <a:latin typeface="Times New Roman" panose="02020603050405020304" pitchFamily="18" charset="0"/>
              </a:rPr>
              <a:t>group-qualification</a:t>
            </a:r>
            <a:endParaRPr lang="en-IN" dirty="0"/>
          </a:p>
        </p:txBody>
      </p:sp>
      <p:sp>
        <p:nvSpPr>
          <p:cNvPr id="5" name="TextBox 4">
            <a:extLst>
              <a:ext uri="{FF2B5EF4-FFF2-40B4-BE49-F238E27FC236}">
                <a16:creationId xmlns:a16="http://schemas.microsoft.com/office/drawing/2014/main" xmlns="" id="{16B554A8-C84E-0F79-F628-7759E051D30C}"/>
              </a:ext>
            </a:extLst>
          </p:cNvPr>
          <p:cNvSpPr txBox="1"/>
          <p:nvPr/>
        </p:nvSpPr>
        <p:spPr>
          <a:xfrm>
            <a:off x="3388180" y="2605873"/>
            <a:ext cx="6101442" cy="1384995"/>
          </a:xfrm>
          <a:prstGeom prst="rect">
            <a:avLst/>
          </a:prstGeom>
          <a:noFill/>
        </p:spPr>
        <p:txBody>
          <a:bodyPr wrap="square">
            <a:spAutoFit/>
          </a:bodyPr>
          <a:lstStyle/>
          <a:p>
            <a:pPr algn="l"/>
            <a:r>
              <a:rPr lang="en-IN" sz="2800" b="0" i="0" u="none" strike="noStrike" baseline="0" dirty="0">
                <a:latin typeface="Arial" panose="020B0604020202020204" pitchFamily="34" charset="0"/>
              </a:rPr>
              <a:t>SELECT </a:t>
            </a:r>
            <a:r>
              <a:rPr lang="en-IN" sz="2800" b="0" i="0" u="none" strike="noStrike" baseline="0" dirty="0" err="1">
                <a:latin typeface="Times New Roman" panose="02020603050405020304" pitchFamily="18" charset="0"/>
              </a:rPr>
              <a:t>S.rating</a:t>
            </a:r>
            <a:r>
              <a:rPr lang="en-IN" sz="2800" b="0" i="0" u="none" strike="noStrike" baseline="0" dirty="0">
                <a:latin typeface="Times New Roman" panose="02020603050405020304" pitchFamily="18" charset="0"/>
              </a:rPr>
              <a:t>, </a:t>
            </a:r>
            <a:r>
              <a:rPr lang="en-IN" sz="2800" b="0" i="0" u="none" strike="noStrike" baseline="0" dirty="0">
                <a:latin typeface="Arial" panose="020B0604020202020204" pitchFamily="34" charset="0"/>
              </a:rPr>
              <a:t>MIN </a:t>
            </a:r>
            <a:r>
              <a:rPr lang="en-IN" sz="2800" b="0" i="0" u="none" strike="noStrike" baseline="0" dirty="0">
                <a:latin typeface="Times New Roman" panose="02020603050405020304" pitchFamily="18" charset="0"/>
              </a:rPr>
              <a:t>(</a:t>
            </a:r>
            <a:r>
              <a:rPr lang="en-IN" sz="2800" b="0" i="0" u="none" strike="noStrike" baseline="0" dirty="0" err="1">
                <a:latin typeface="Times New Roman" panose="02020603050405020304" pitchFamily="18" charset="0"/>
              </a:rPr>
              <a:t>S.age</a:t>
            </a:r>
            <a:r>
              <a:rPr lang="en-IN" sz="2800" b="0" i="0" u="none" strike="noStrike" baseline="0" dirty="0">
                <a:latin typeface="Times New Roman" panose="02020603050405020304" pitchFamily="18" charset="0"/>
              </a:rPr>
              <a:t>)</a:t>
            </a:r>
          </a:p>
          <a:p>
            <a:pPr algn="l"/>
            <a:r>
              <a:rPr lang="en-IN" sz="2800" b="0" i="0" u="none" strike="noStrike" baseline="0" dirty="0">
                <a:latin typeface="Arial" panose="020B0604020202020204" pitchFamily="34" charset="0"/>
              </a:rPr>
              <a:t>FROM </a:t>
            </a:r>
            <a:r>
              <a:rPr lang="en-IN" sz="2800" b="0" i="0" u="none" strike="noStrike" baseline="0" dirty="0">
                <a:latin typeface="Times New Roman" panose="02020603050405020304" pitchFamily="18" charset="0"/>
              </a:rPr>
              <a:t>Sailors S</a:t>
            </a:r>
          </a:p>
          <a:p>
            <a:pPr algn="l"/>
            <a:r>
              <a:rPr lang="en-IN" sz="2800" b="0" i="0" u="none" strike="noStrike" baseline="0" dirty="0">
                <a:latin typeface="Arial" panose="020B0604020202020204" pitchFamily="34" charset="0"/>
              </a:rPr>
              <a:t>GROUP BY </a:t>
            </a:r>
            <a:r>
              <a:rPr lang="en-IN" sz="2800" b="0" i="0" u="none" strike="noStrike" baseline="0" dirty="0" err="1">
                <a:latin typeface="Times New Roman" panose="02020603050405020304" pitchFamily="18" charset="0"/>
              </a:rPr>
              <a:t>S.rating</a:t>
            </a:r>
            <a:endParaRPr lang="en-IN" sz="2800" dirty="0"/>
          </a:p>
        </p:txBody>
      </p:sp>
    </p:spTree>
    <p:extLst>
      <p:ext uri="{BB962C8B-B14F-4D97-AF65-F5344CB8AC3E}">
        <p14:creationId xmlns:p14="http://schemas.microsoft.com/office/powerpoint/2010/main" val="15198478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A33990D-0C3C-5F04-17DB-F748D94A7E78}"/>
              </a:ext>
            </a:extLst>
          </p:cNvPr>
          <p:cNvSpPr txBox="1"/>
          <p:nvPr/>
        </p:nvSpPr>
        <p:spPr>
          <a:xfrm>
            <a:off x="1428751" y="125577"/>
            <a:ext cx="6101442" cy="369332"/>
          </a:xfrm>
          <a:prstGeom prst="rect">
            <a:avLst/>
          </a:prstGeom>
          <a:noFill/>
        </p:spPr>
        <p:txBody>
          <a:bodyPr wrap="square">
            <a:spAutoFit/>
          </a:bodyPr>
          <a:lstStyle/>
          <a:p>
            <a:r>
              <a:rPr lang="en-US" dirty="0"/>
              <a:t>Find the average age of sailors for each rating level.</a:t>
            </a:r>
            <a:endParaRPr lang="en-IN" dirty="0"/>
          </a:p>
        </p:txBody>
      </p:sp>
      <p:pic>
        <p:nvPicPr>
          <p:cNvPr id="7" name="Picture 6">
            <a:extLst>
              <a:ext uri="{FF2B5EF4-FFF2-40B4-BE49-F238E27FC236}">
                <a16:creationId xmlns:a16="http://schemas.microsoft.com/office/drawing/2014/main" xmlns="" id="{D9FC2A99-7B3E-7685-84C1-E03FB7891674}"/>
              </a:ext>
            </a:extLst>
          </p:cNvPr>
          <p:cNvPicPr>
            <a:picLocks noChangeAspect="1"/>
          </p:cNvPicPr>
          <p:nvPr/>
        </p:nvPicPr>
        <p:blipFill>
          <a:blip r:embed="rId2"/>
          <a:stretch>
            <a:fillRect/>
          </a:stretch>
        </p:blipFill>
        <p:spPr>
          <a:xfrm>
            <a:off x="1936440" y="805543"/>
            <a:ext cx="7259374" cy="2774991"/>
          </a:xfrm>
          <a:prstGeom prst="rect">
            <a:avLst/>
          </a:prstGeom>
        </p:spPr>
      </p:pic>
    </p:spTree>
    <p:extLst>
      <p:ext uri="{BB962C8B-B14F-4D97-AF65-F5344CB8AC3E}">
        <p14:creationId xmlns:p14="http://schemas.microsoft.com/office/powerpoint/2010/main" val="21243700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A66EFE0-8C49-A9DA-CF2E-51E14664E402}"/>
              </a:ext>
            </a:extLst>
          </p:cNvPr>
          <p:cNvSpPr txBox="1"/>
          <p:nvPr/>
        </p:nvSpPr>
        <p:spPr>
          <a:xfrm>
            <a:off x="1091293" y="237450"/>
            <a:ext cx="10665278" cy="461665"/>
          </a:xfrm>
          <a:prstGeom prst="rect">
            <a:avLst/>
          </a:prstGeom>
          <a:noFill/>
        </p:spPr>
        <p:txBody>
          <a:bodyPr wrap="square">
            <a:spAutoFit/>
          </a:bodyPr>
          <a:lstStyle/>
          <a:p>
            <a:r>
              <a:rPr lang="en-US" sz="2400" dirty="0"/>
              <a:t>Find the average age of sailors for each rating level that has at least two sailors.</a:t>
            </a:r>
            <a:endParaRPr lang="en-IN" sz="2400" dirty="0"/>
          </a:p>
        </p:txBody>
      </p:sp>
      <p:pic>
        <p:nvPicPr>
          <p:cNvPr id="7" name="Picture 6">
            <a:extLst>
              <a:ext uri="{FF2B5EF4-FFF2-40B4-BE49-F238E27FC236}">
                <a16:creationId xmlns:a16="http://schemas.microsoft.com/office/drawing/2014/main" xmlns="" id="{109B96D1-5F0A-AF09-0B08-0F73D7449DD8}"/>
              </a:ext>
            </a:extLst>
          </p:cNvPr>
          <p:cNvPicPr>
            <a:picLocks noChangeAspect="1"/>
          </p:cNvPicPr>
          <p:nvPr/>
        </p:nvPicPr>
        <p:blipFill>
          <a:blip r:embed="rId2"/>
          <a:stretch>
            <a:fillRect/>
          </a:stretch>
        </p:blipFill>
        <p:spPr>
          <a:xfrm>
            <a:off x="1491826" y="1208314"/>
            <a:ext cx="9413499" cy="2577675"/>
          </a:xfrm>
          <a:prstGeom prst="rect">
            <a:avLst/>
          </a:prstGeom>
        </p:spPr>
      </p:pic>
    </p:spTree>
    <p:extLst>
      <p:ext uri="{BB962C8B-B14F-4D97-AF65-F5344CB8AC3E}">
        <p14:creationId xmlns:p14="http://schemas.microsoft.com/office/powerpoint/2010/main" val="8445303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A0EB3D23-926D-F090-A4DB-38F4EE8A8994}"/>
              </a:ext>
            </a:extLst>
          </p:cNvPr>
          <p:cNvSpPr txBox="1"/>
          <p:nvPr/>
        </p:nvSpPr>
        <p:spPr>
          <a:xfrm>
            <a:off x="4596494" y="169120"/>
            <a:ext cx="6101442" cy="461665"/>
          </a:xfrm>
          <a:prstGeom prst="rect">
            <a:avLst/>
          </a:prstGeom>
          <a:noFill/>
        </p:spPr>
        <p:txBody>
          <a:bodyPr wrap="square">
            <a:spAutoFit/>
          </a:bodyPr>
          <a:lstStyle/>
          <a:p>
            <a:r>
              <a:rPr lang="en-IN" sz="2400" b="1" dirty="0"/>
              <a:t>MySQL Triggers </a:t>
            </a:r>
          </a:p>
        </p:txBody>
      </p:sp>
      <p:sp>
        <p:nvSpPr>
          <p:cNvPr id="9" name="TextBox 8">
            <a:extLst>
              <a:ext uri="{FF2B5EF4-FFF2-40B4-BE49-F238E27FC236}">
                <a16:creationId xmlns:a16="http://schemas.microsoft.com/office/drawing/2014/main" xmlns="" id="{BE2340F3-41C9-021D-4219-B8A37483A6C0}"/>
              </a:ext>
            </a:extLst>
          </p:cNvPr>
          <p:cNvSpPr txBox="1"/>
          <p:nvPr/>
        </p:nvSpPr>
        <p:spPr>
          <a:xfrm>
            <a:off x="1752600" y="1121229"/>
            <a:ext cx="8512629" cy="1815882"/>
          </a:xfrm>
          <a:prstGeom prst="rect">
            <a:avLst/>
          </a:prstGeom>
          <a:noFill/>
        </p:spPr>
        <p:txBody>
          <a:bodyPr wrap="square">
            <a:spAutoFit/>
          </a:bodyPr>
          <a:lstStyle/>
          <a:p>
            <a:pPr algn="just"/>
            <a:r>
              <a:rPr lang="en-US" sz="2800" b="0" i="0" dirty="0">
                <a:solidFill>
                  <a:srgbClr val="273239"/>
                </a:solidFill>
                <a:effectLst/>
                <a:latin typeface="Nunito" pitchFamily="2" charset="0"/>
              </a:rPr>
              <a:t>A MySQL </a:t>
            </a:r>
            <a:r>
              <a:rPr lang="en-US" sz="2800" b="1" i="0" dirty="0">
                <a:solidFill>
                  <a:srgbClr val="273239"/>
                </a:solidFill>
                <a:effectLst/>
                <a:latin typeface="Nunito" pitchFamily="2" charset="0"/>
              </a:rPr>
              <a:t>trigger</a:t>
            </a:r>
            <a:r>
              <a:rPr lang="en-US" sz="2800" b="0" i="0" dirty="0">
                <a:solidFill>
                  <a:srgbClr val="273239"/>
                </a:solidFill>
                <a:effectLst/>
                <a:latin typeface="Nunito" pitchFamily="2" charset="0"/>
              </a:rPr>
              <a:t> is a stored program (with queries) which is executed automatically to respond to a specific event such as insertion, </a:t>
            </a:r>
            <a:r>
              <a:rPr lang="en-US" sz="2800" b="0" i="0" dirty="0" err="1">
                <a:solidFill>
                  <a:srgbClr val="273239"/>
                </a:solidFill>
                <a:effectLst/>
                <a:latin typeface="Nunito" pitchFamily="2" charset="0"/>
              </a:rPr>
              <a:t>updation</a:t>
            </a:r>
            <a:r>
              <a:rPr lang="en-US" sz="2800" b="0" i="0" dirty="0">
                <a:solidFill>
                  <a:srgbClr val="273239"/>
                </a:solidFill>
                <a:effectLst/>
                <a:latin typeface="Nunito" pitchFamily="2" charset="0"/>
              </a:rPr>
              <a:t> or deletion occurring in a table.</a:t>
            </a:r>
            <a:endParaRPr lang="en-IN" sz="2800" dirty="0"/>
          </a:p>
        </p:txBody>
      </p:sp>
      <p:sp>
        <p:nvSpPr>
          <p:cNvPr id="11" name="TextBox 10">
            <a:extLst>
              <a:ext uri="{FF2B5EF4-FFF2-40B4-BE49-F238E27FC236}">
                <a16:creationId xmlns:a16="http://schemas.microsoft.com/office/drawing/2014/main" xmlns="" id="{2C110D42-2FBA-9E57-4EC6-78DFBAE8DA19}"/>
              </a:ext>
            </a:extLst>
          </p:cNvPr>
          <p:cNvSpPr txBox="1"/>
          <p:nvPr/>
        </p:nvSpPr>
        <p:spPr>
          <a:xfrm>
            <a:off x="1777094" y="3336863"/>
            <a:ext cx="6101442" cy="369332"/>
          </a:xfrm>
          <a:prstGeom prst="rect">
            <a:avLst/>
          </a:prstGeom>
          <a:noFill/>
        </p:spPr>
        <p:txBody>
          <a:bodyPr wrap="square">
            <a:spAutoFit/>
          </a:bodyPr>
          <a:lstStyle/>
          <a:p>
            <a:r>
              <a:rPr lang="en-IN" b="1" i="0" dirty="0">
                <a:solidFill>
                  <a:srgbClr val="273239"/>
                </a:solidFill>
                <a:effectLst/>
                <a:latin typeface="Nunito" pitchFamily="2" charset="0"/>
              </a:rPr>
              <a:t>1. Before Update Trigger:</a:t>
            </a:r>
            <a:endParaRPr lang="en-IN" dirty="0"/>
          </a:p>
        </p:txBody>
      </p:sp>
      <p:sp>
        <p:nvSpPr>
          <p:cNvPr id="15" name="TextBox 14">
            <a:extLst>
              <a:ext uri="{FF2B5EF4-FFF2-40B4-BE49-F238E27FC236}">
                <a16:creationId xmlns:a16="http://schemas.microsoft.com/office/drawing/2014/main" xmlns="" id="{743E2B61-9FCF-DD7F-6460-2BBA60D3F567}"/>
              </a:ext>
            </a:extLst>
          </p:cNvPr>
          <p:cNvSpPr txBox="1"/>
          <p:nvPr/>
        </p:nvSpPr>
        <p:spPr>
          <a:xfrm>
            <a:off x="1777094" y="3920890"/>
            <a:ext cx="9358992" cy="923330"/>
          </a:xfrm>
          <a:prstGeom prst="rect">
            <a:avLst/>
          </a:prstGeom>
          <a:noFill/>
        </p:spPr>
        <p:txBody>
          <a:bodyPr wrap="square">
            <a:spAutoFit/>
          </a:bodyPr>
          <a:lstStyle/>
          <a:p>
            <a:r>
              <a:rPr lang="en-US" b="0" i="0" dirty="0">
                <a:solidFill>
                  <a:srgbClr val="273239"/>
                </a:solidFill>
                <a:effectLst/>
                <a:latin typeface="Nunito" pitchFamily="2" charset="0"/>
              </a:rPr>
              <a:t>As the name implies, it is a trigger which enacts before an update is invoked. If we write an update statement, then the actions of the trigger will be performed before the update is implemented.</a:t>
            </a:r>
            <a:endParaRPr lang="en-IN" dirty="0"/>
          </a:p>
        </p:txBody>
      </p:sp>
    </p:spTree>
    <p:extLst>
      <p:ext uri="{BB962C8B-B14F-4D97-AF65-F5344CB8AC3E}">
        <p14:creationId xmlns:p14="http://schemas.microsoft.com/office/powerpoint/2010/main" val="41721605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98CCF44-D2E8-D6AD-3005-48E322EBAF93}"/>
              </a:ext>
            </a:extLst>
          </p:cNvPr>
          <p:cNvSpPr txBox="1"/>
          <p:nvPr/>
        </p:nvSpPr>
        <p:spPr>
          <a:xfrm>
            <a:off x="2097342" y="720611"/>
            <a:ext cx="9946886" cy="2031325"/>
          </a:xfrm>
          <a:prstGeom prst="rect">
            <a:avLst/>
          </a:prstGeom>
          <a:noFill/>
        </p:spPr>
        <p:txBody>
          <a:bodyPr wrap="square">
            <a:spAutoFit/>
          </a:bodyPr>
          <a:lstStyle/>
          <a:p>
            <a:r>
              <a:rPr lang="en-IN" dirty="0"/>
              <a:t>create table customer (</a:t>
            </a:r>
            <a:r>
              <a:rPr lang="en-IN" dirty="0" err="1"/>
              <a:t>acc_no</a:t>
            </a:r>
            <a:r>
              <a:rPr lang="en-IN" dirty="0"/>
              <a:t> integer primary key, </a:t>
            </a:r>
          </a:p>
          <a:p>
            <a:r>
              <a:rPr lang="en-IN" dirty="0"/>
              <a:t>                                 </a:t>
            </a:r>
            <a:r>
              <a:rPr lang="en-IN" dirty="0" err="1"/>
              <a:t>cust_name</a:t>
            </a:r>
            <a:r>
              <a:rPr lang="en-IN" dirty="0"/>
              <a:t> varchar(20), </a:t>
            </a:r>
          </a:p>
          <a:p>
            <a:r>
              <a:rPr lang="en-IN" dirty="0"/>
              <a:t>                                  </a:t>
            </a:r>
            <a:r>
              <a:rPr lang="en-IN" dirty="0" err="1"/>
              <a:t>avail_balance</a:t>
            </a:r>
            <a:r>
              <a:rPr lang="en-IN" dirty="0"/>
              <a:t> decimal);</a:t>
            </a:r>
          </a:p>
          <a:p>
            <a:endParaRPr lang="en-IN" dirty="0"/>
          </a:p>
          <a:p>
            <a:r>
              <a:rPr lang="en-IN" dirty="0"/>
              <a:t>create table </a:t>
            </a:r>
            <a:r>
              <a:rPr lang="en-IN" dirty="0" err="1"/>
              <a:t>mini_statement</a:t>
            </a:r>
            <a:r>
              <a:rPr lang="en-IN" dirty="0"/>
              <a:t> (</a:t>
            </a:r>
            <a:r>
              <a:rPr lang="en-IN" dirty="0" err="1"/>
              <a:t>acc_no</a:t>
            </a:r>
            <a:r>
              <a:rPr lang="en-IN" dirty="0"/>
              <a:t> integer, </a:t>
            </a:r>
          </a:p>
          <a:p>
            <a:r>
              <a:rPr lang="en-IN" dirty="0"/>
              <a:t>                     </a:t>
            </a:r>
            <a:r>
              <a:rPr lang="en-IN" dirty="0" err="1"/>
              <a:t>avail_balance</a:t>
            </a:r>
            <a:r>
              <a:rPr lang="en-IN" dirty="0"/>
              <a:t> decimal, </a:t>
            </a:r>
          </a:p>
          <a:p>
            <a:r>
              <a:rPr lang="en-IN" dirty="0"/>
              <a:t>                     foreign key(</a:t>
            </a:r>
            <a:r>
              <a:rPr lang="en-IN" dirty="0" err="1"/>
              <a:t>acc_no</a:t>
            </a:r>
            <a:r>
              <a:rPr lang="en-IN" dirty="0"/>
              <a:t>) references customer(</a:t>
            </a:r>
            <a:r>
              <a:rPr lang="en-IN" dirty="0" err="1"/>
              <a:t>acc_no</a:t>
            </a:r>
            <a:r>
              <a:rPr lang="en-IN" dirty="0"/>
              <a:t>) on delete cascade); </a:t>
            </a:r>
          </a:p>
        </p:txBody>
      </p:sp>
      <p:sp>
        <p:nvSpPr>
          <p:cNvPr id="8" name="TextBox 7">
            <a:extLst>
              <a:ext uri="{FF2B5EF4-FFF2-40B4-BE49-F238E27FC236}">
                <a16:creationId xmlns:a16="http://schemas.microsoft.com/office/drawing/2014/main" xmlns="" id="{CF6B7DC8-BD3A-E2EB-192D-484E687BE1C8}"/>
              </a:ext>
            </a:extLst>
          </p:cNvPr>
          <p:cNvSpPr txBox="1"/>
          <p:nvPr/>
        </p:nvSpPr>
        <p:spPr>
          <a:xfrm>
            <a:off x="1371600" y="3328992"/>
            <a:ext cx="6204856" cy="646331"/>
          </a:xfrm>
          <a:prstGeom prst="rect">
            <a:avLst/>
          </a:prstGeom>
          <a:noFill/>
        </p:spPr>
        <p:txBody>
          <a:bodyPr wrap="square">
            <a:spAutoFit/>
          </a:bodyPr>
          <a:lstStyle/>
          <a:p>
            <a:r>
              <a:rPr lang="en-US" dirty="0"/>
              <a:t>insert into customer values (1000, "Fanny", 7000);</a:t>
            </a:r>
          </a:p>
          <a:p>
            <a:r>
              <a:rPr lang="en-US" dirty="0"/>
              <a:t>insert into customer values (1001, "Peter", 12000); </a:t>
            </a:r>
            <a:endParaRPr lang="en-IN" dirty="0"/>
          </a:p>
        </p:txBody>
      </p:sp>
    </p:spTree>
    <p:extLst>
      <p:ext uri="{BB962C8B-B14F-4D97-AF65-F5344CB8AC3E}">
        <p14:creationId xmlns:p14="http://schemas.microsoft.com/office/powerpoint/2010/main" val="1852063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DE37394-A2FA-884D-AC55-15BA15D9FCBF}"/>
              </a:ext>
            </a:extLst>
          </p:cNvPr>
          <p:cNvSpPr txBox="1"/>
          <p:nvPr/>
        </p:nvSpPr>
        <p:spPr>
          <a:xfrm>
            <a:off x="1820635" y="657136"/>
            <a:ext cx="9032421" cy="1200329"/>
          </a:xfrm>
          <a:prstGeom prst="rect">
            <a:avLst/>
          </a:prstGeom>
          <a:noFill/>
        </p:spPr>
        <p:txBody>
          <a:bodyPr wrap="square">
            <a:spAutoFit/>
          </a:bodyPr>
          <a:lstStyle/>
          <a:p>
            <a:pPr algn="just"/>
            <a:r>
              <a:rPr lang="en-US" sz="2400" b="0" i="0" dirty="0">
                <a:solidFill>
                  <a:srgbClr val="273239"/>
                </a:solidFill>
                <a:effectLst/>
                <a:latin typeface="Nunito" pitchFamily="2" charset="0"/>
              </a:rPr>
              <a:t>Trigger to insert (old) values into a </a:t>
            </a:r>
            <a:r>
              <a:rPr lang="en-US" sz="2400" b="0" i="0" dirty="0" err="1">
                <a:solidFill>
                  <a:srgbClr val="273239"/>
                </a:solidFill>
                <a:effectLst/>
                <a:latin typeface="Nunito" pitchFamily="2" charset="0"/>
              </a:rPr>
              <a:t>mini_statement</a:t>
            </a:r>
            <a:r>
              <a:rPr lang="en-US" sz="2400" b="0" i="0" dirty="0">
                <a:solidFill>
                  <a:srgbClr val="273239"/>
                </a:solidFill>
                <a:effectLst/>
                <a:latin typeface="Nunito" pitchFamily="2" charset="0"/>
              </a:rPr>
              <a:t> record (including account number and available balance as parameters) before updating any record in customer record/table:</a:t>
            </a:r>
            <a:endParaRPr lang="en-IN" sz="2400" dirty="0"/>
          </a:p>
        </p:txBody>
      </p:sp>
      <p:pic>
        <p:nvPicPr>
          <p:cNvPr id="8" name="Picture 7">
            <a:extLst>
              <a:ext uri="{FF2B5EF4-FFF2-40B4-BE49-F238E27FC236}">
                <a16:creationId xmlns:a16="http://schemas.microsoft.com/office/drawing/2014/main" xmlns="" id="{AF32BB72-416E-C58C-1C11-0D521D1480F4}"/>
              </a:ext>
            </a:extLst>
          </p:cNvPr>
          <p:cNvPicPr>
            <a:picLocks noChangeAspect="1"/>
          </p:cNvPicPr>
          <p:nvPr/>
        </p:nvPicPr>
        <p:blipFill>
          <a:blip r:embed="rId2"/>
          <a:stretch>
            <a:fillRect/>
          </a:stretch>
        </p:blipFill>
        <p:spPr>
          <a:xfrm>
            <a:off x="293915" y="2241712"/>
            <a:ext cx="11119022" cy="2758824"/>
          </a:xfrm>
          <a:prstGeom prst="rect">
            <a:avLst/>
          </a:prstGeom>
        </p:spPr>
      </p:pic>
    </p:spTree>
    <p:extLst>
      <p:ext uri="{BB962C8B-B14F-4D97-AF65-F5344CB8AC3E}">
        <p14:creationId xmlns:p14="http://schemas.microsoft.com/office/powerpoint/2010/main" val="6042475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EC2BBDB-7F21-3534-15FA-E410BB2882A2}"/>
              </a:ext>
            </a:extLst>
          </p:cNvPr>
          <p:cNvSpPr txBox="1"/>
          <p:nvPr/>
        </p:nvSpPr>
        <p:spPr>
          <a:xfrm>
            <a:off x="1156608" y="397720"/>
            <a:ext cx="6101442" cy="369332"/>
          </a:xfrm>
          <a:prstGeom prst="rect">
            <a:avLst/>
          </a:prstGeom>
          <a:noFill/>
        </p:spPr>
        <p:txBody>
          <a:bodyPr wrap="square">
            <a:spAutoFit/>
          </a:bodyPr>
          <a:lstStyle/>
          <a:p>
            <a:r>
              <a:rPr lang="en-US" b="0" i="0" dirty="0">
                <a:solidFill>
                  <a:srgbClr val="273239"/>
                </a:solidFill>
                <a:effectLst/>
                <a:latin typeface="Nunito" pitchFamily="2" charset="0"/>
              </a:rPr>
              <a:t>Making updates to invoke trigger:</a:t>
            </a:r>
            <a:endParaRPr lang="en-IN" dirty="0"/>
          </a:p>
        </p:txBody>
      </p:sp>
      <p:sp>
        <p:nvSpPr>
          <p:cNvPr id="8" name="TextBox 7">
            <a:extLst>
              <a:ext uri="{FF2B5EF4-FFF2-40B4-BE49-F238E27FC236}">
                <a16:creationId xmlns:a16="http://schemas.microsoft.com/office/drawing/2014/main" xmlns="" id="{CD6BBC7E-CF19-C50B-C987-C5511040B923}"/>
              </a:ext>
            </a:extLst>
          </p:cNvPr>
          <p:cNvSpPr txBox="1"/>
          <p:nvPr/>
        </p:nvSpPr>
        <p:spPr>
          <a:xfrm>
            <a:off x="1156607" y="1422150"/>
            <a:ext cx="9108621" cy="3108543"/>
          </a:xfrm>
          <a:prstGeom prst="rect">
            <a:avLst/>
          </a:prstGeom>
          <a:noFill/>
        </p:spPr>
        <p:txBody>
          <a:bodyPr wrap="square">
            <a:spAutoFit/>
          </a:bodyPr>
          <a:lstStyle/>
          <a:p>
            <a:r>
              <a:rPr lang="en-US" sz="2800" dirty="0"/>
              <a:t>delimiter;</a:t>
            </a:r>
          </a:p>
          <a:p>
            <a:endParaRPr lang="en-US" sz="2800" dirty="0"/>
          </a:p>
          <a:p>
            <a:r>
              <a:rPr lang="en-US" sz="2800" dirty="0"/>
              <a:t>update customer set </a:t>
            </a:r>
            <a:r>
              <a:rPr lang="en-US" sz="2800" dirty="0" err="1"/>
              <a:t>avail_balance</a:t>
            </a:r>
            <a:r>
              <a:rPr lang="en-US" sz="2800" dirty="0"/>
              <a:t> = </a:t>
            </a:r>
            <a:r>
              <a:rPr lang="en-US" sz="2800" dirty="0" err="1"/>
              <a:t>avail_balance</a:t>
            </a:r>
            <a:r>
              <a:rPr lang="en-US" sz="2800" dirty="0"/>
              <a:t> + 3000 where </a:t>
            </a:r>
            <a:r>
              <a:rPr lang="en-US" sz="2800" dirty="0" err="1"/>
              <a:t>acc_no</a:t>
            </a:r>
            <a:r>
              <a:rPr lang="en-US" sz="2800" dirty="0"/>
              <a:t> = 1001;</a:t>
            </a:r>
          </a:p>
          <a:p>
            <a:endParaRPr lang="en-US" sz="2800" dirty="0"/>
          </a:p>
          <a:p>
            <a:r>
              <a:rPr lang="en-US" sz="2800" dirty="0"/>
              <a:t>update customer set </a:t>
            </a:r>
            <a:r>
              <a:rPr lang="en-US" sz="2800" dirty="0" err="1"/>
              <a:t>avail_balance</a:t>
            </a:r>
            <a:r>
              <a:rPr lang="en-US" sz="2800" dirty="0"/>
              <a:t> = </a:t>
            </a:r>
            <a:r>
              <a:rPr lang="en-US" sz="2800" dirty="0" err="1"/>
              <a:t>avail_balance</a:t>
            </a:r>
            <a:r>
              <a:rPr lang="en-US" sz="2800" dirty="0"/>
              <a:t> + 3000 where </a:t>
            </a:r>
            <a:r>
              <a:rPr lang="en-US" sz="2800" dirty="0" err="1"/>
              <a:t>acc_no</a:t>
            </a:r>
            <a:r>
              <a:rPr lang="en-US" sz="2800" dirty="0"/>
              <a:t> = 1000; </a:t>
            </a:r>
            <a:endParaRPr lang="en-IN" sz="2800" dirty="0"/>
          </a:p>
        </p:txBody>
      </p:sp>
    </p:spTree>
    <p:extLst>
      <p:ext uri="{BB962C8B-B14F-4D97-AF65-F5344CB8AC3E}">
        <p14:creationId xmlns:p14="http://schemas.microsoft.com/office/powerpoint/2010/main" val="35949299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3A43741-881F-6A4C-AF20-8CD0E6AE5A5D}"/>
              </a:ext>
            </a:extLst>
          </p:cNvPr>
          <p:cNvSpPr txBox="1"/>
          <p:nvPr/>
        </p:nvSpPr>
        <p:spPr>
          <a:xfrm>
            <a:off x="1115786" y="603880"/>
            <a:ext cx="8392884" cy="3539430"/>
          </a:xfrm>
          <a:prstGeom prst="rect">
            <a:avLst/>
          </a:prstGeom>
          <a:noFill/>
        </p:spPr>
        <p:txBody>
          <a:bodyPr wrap="square">
            <a:spAutoFit/>
          </a:bodyPr>
          <a:lstStyle/>
          <a:p>
            <a:r>
              <a:rPr lang="en-IN" sz="2800" dirty="0"/>
              <a:t>select * from </a:t>
            </a:r>
            <a:r>
              <a:rPr lang="en-IN" sz="2800" dirty="0" err="1"/>
              <a:t>mini_statement</a:t>
            </a:r>
            <a:r>
              <a:rPr lang="en-IN" sz="2800" dirty="0"/>
              <a:t>;</a:t>
            </a:r>
          </a:p>
          <a:p>
            <a:r>
              <a:rPr lang="en-IN" sz="2800" dirty="0"/>
              <a:t>+--------+---------------+</a:t>
            </a:r>
          </a:p>
          <a:p>
            <a:r>
              <a:rPr lang="en-IN" sz="2800" dirty="0"/>
              <a:t>| </a:t>
            </a:r>
            <a:r>
              <a:rPr lang="en-IN" sz="2800" dirty="0" err="1"/>
              <a:t>acc_no</a:t>
            </a:r>
            <a:r>
              <a:rPr lang="en-IN" sz="2800" dirty="0"/>
              <a:t> | </a:t>
            </a:r>
            <a:r>
              <a:rPr lang="en-IN" sz="2800" dirty="0" err="1"/>
              <a:t>avail_balance</a:t>
            </a:r>
            <a:r>
              <a:rPr lang="en-IN" sz="2800" dirty="0"/>
              <a:t> |</a:t>
            </a:r>
          </a:p>
          <a:p>
            <a:r>
              <a:rPr lang="en-IN" sz="2800" dirty="0"/>
              <a:t>+--------+---------------+</a:t>
            </a:r>
          </a:p>
          <a:p>
            <a:r>
              <a:rPr lang="en-IN" sz="2800" dirty="0"/>
              <a:t>|   1001 |         12000 |</a:t>
            </a:r>
          </a:p>
          <a:p>
            <a:r>
              <a:rPr lang="en-IN" sz="2800" dirty="0"/>
              <a:t>|   1000 |          7000 |</a:t>
            </a:r>
          </a:p>
          <a:p>
            <a:r>
              <a:rPr lang="en-IN" sz="2800" dirty="0"/>
              <a:t>+--------+---------------+</a:t>
            </a:r>
          </a:p>
          <a:p>
            <a:r>
              <a:rPr lang="en-IN" sz="2800" dirty="0"/>
              <a:t>2 rows in set (0.0007 sec) </a:t>
            </a:r>
          </a:p>
        </p:txBody>
      </p:sp>
    </p:spTree>
    <p:extLst>
      <p:ext uri="{BB962C8B-B14F-4D97-AF65-F5344CB8AC3E}">
        <p14:creationId xmlns:p14="http://schemas.microsoft.com/office/powerpoint/2010/main" val="5780276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1261071-E8F1-5028-6E24-EC0B420B4611}"/>
              </a:ext>
            </a:extLst>
          </p:cNvPr>
          <p:cNvSpPr txBox="1"/>
          <p:nvPr/>
        </p:nvSpPr>
        <p:spPr>
          <a:xfrm>
            <a:off x="576943" y="228600"/>
            <a:ext cx="11212286" cy="1200329"/>
          </a:xfrm>
          <a:prstGeom prst="rect">
            <a:avLst/>
          </a:prstGeom>
          <a:noFill/>
        </p:spPr>
        <p:txBody>
          <a:bodyPr wrap="square">
            <a:spAutoFit/>
          </a:bodyPr>
          <a:lstStyle/>
          <a:p>
            <a:r>
              <a:rPr lang="en-US" sz="2400" b="1" i="0" dirty="0">
                <a:solidFill>
                  <a:srgbClr val="273239"/>
                </a:solidFill>
                <a:effectLst/>
                <a:latin typeface="Nunito" pitchFamily="2" charset="0"/>
              </a:rPr>
              <a:t>2. After Update Trigger:</a:t>
            </a:r>
            <a:r>
              <a:rPr lang="en-US" sz="2400" dirty="0"/>
              <a:t/>
            </a:r>
            <a:br>
              <a:rPr lang="en-US" sz="2400" dirty="0"/>
            </a:br>
            <a:r>
              <a:rPr lang="en-US" sz="2400" b="0" i="0" dirty="0">
                <a:solidFill>
                  <a:srgbClr val="273239"/>
                </a:solidFill>
                <a:effectLst/>
                <a:latin typeface="Nunito" pitchFamily="2" charset="0"/>
              </a:rPr>
              <a:t>As the name implies, this trigger is invoked after an </a:t>
            </a:r>
            <a:r>
              <a:rPr lang="en-US" sz="2400" b="0" i="0" dirty="0" err="1">
                <a:solidFill>
                  <a:srgbClr val="273239"/>
                </a:solidFill>
                <a:effectLst/>
                <a:latin typeface="Nunito" pitchFamily="2" charset="0"/>
              </a:rPr>
              <a:t>updation</a:t>
            </a:r>
            <a:r>
              <a:rPr lang="en-US" sz="2400" b="0" i="0" dirty="0">
                <a:solidFill>
                  <a:srgbClr val="273239"/>
                </a:solidFill>
                <a:effectLst/>
                <a:latin typeface="Nunito" pitchFamily="2" charset="0"/>
              </a:rPr>
              <a:t> occurs. (i.e., it gets implemented after an update statement is executed.).</a:t>
            </a:r>
            <a:endParaRPr lang="en-IN" sz="2400" dirty="0"/>
          </a:p>
        </p:txBody>
      </p:sp>
      <p:sp>
        <p:nvSpPr>
          <p:cNvPr id="10" name="TextBox 9">
            <a:extLst>
              <a:ext uri="{FF2B5EF4-FFF2-40B4-BE49-F238E27FC236}">
                <a16:creationId xmlns:a16="http://schemas.microsoft.com/office/drawing/2014/main" xmlns="" id="{E89B0967-FDE0-93DC-7B3E-2A4493476935}"/>
              </a:ext>
            </a:extLst>
          </p:cNvPr>
          <p:cNvSpPr txBox="1"/>
          <p:nvPr/>
        </p:nvSpPr>
        <p:spPr>
          <a:xfrm>
            <a:off x="1491344" y="2039621"/>
            <a:ext cx="10003970" cy="1200329"/>
          </a:xfrm>
          <a:prstGeom prst="rect">
            <a:avLst/>
          </a:prstGeom>
          <a:noFill/>
        </p:spPr>
        <p:txBody>
          <a:bodyPr wrap="square">
            <a:spAutoFit/>
          </a:bodyPr>
          <a:lstStyle/>
          <a:p>
            <a:r>
              <a:rPr lang="en-US" sz="2400" dirty="0"/>
              <a:t>create table </a:t>
            </a:r>
            <a:r>
              <a:rPr lang="en-US" sz="2400" dirty="0" err="1"/>
              <a:t>micro_statement</a:t>
            </a:r>
            <a:r>
              <a:rPr lang="en-US" sz="2400" dirty="0"/>
              <a:t> (</a:t>
            </a:r>
            <a:r>
              <a:rPr lang="en-US" sz="2400" dirty="0" err="1"/>
              <a:t>acc_no</a:t>
            </a:r>
            <a:r>
              <a:rPr lang="en-US" sz="2400" dirty="0"/>
              <a:t> integer, </a:t>
            </a:r>
          </a:p>
          <a:p>
            <a:r>
              <a:rPr lang="en-US" sz="2400" dirty="0"/>
              <a:t>                                  </a:t>
            </a:r>
            <a:r>
              <a:rPr lang="en-US" sz="2400" dirty="0" err="1"/>
              <a:t>avail_balance</a:t>
            </a:r>
            <a:r>
              <a:rPr lang="en-US" sz="2400" dirty="0"/>
              <a:t> decimal, </a:t>
            </a:r>
          </a:p>
          <a:p>
            <a:r>
              <a:rPr lang="en-US" sz="2400" dirty="0"/>
              <a:t>            foreign key(</a:t>
            </a:r>
            <a:r>
              <a:rPr lang="en-US" sz="2400" dirty="0" err="1"/>
              <a:t>acc_no</a:t>
            </a:r>
            <a:r>
              <a:rPr lang="en-US" sz="2400" dirty="0"/>
              <a:t>) references customer(</a:t>
            </a:r>
            <a:r>
              <a:rPr lang="en-US" sz="2400" dirty="0" err="1"/>
              <a:t>acc_no</a:t>
            </a:r>
            <a:r>
              <a:rPr lang="en-US" sz="2400" dirty="0"/>
              <a:t>) on delete cascade); </a:t>
            </a:r>
            <a:endParaRPr lang="en-IN" sz="2400" dirty="0"/>
          </a:p>
        </p:txBody>
      </p:sp>
      <p:sp>
        <p:nvSpPr>
          <p:cNvPr id="16" name="TextBox 15">
            <a:extLst>
              <a:ext uri="{FF2B5EF4-FFF2-40B4-BE49-F238E27FC236}">
                <a16:creationId xmlns:a16="http://schemas.microsoft.com/office/drawing/2014/main" xmlns="" id="{87886A08-EB44-1F22-71DD-B53069DF2EAB}"/>
              </a:ext>
            </a:extLst>
          </p:cNvPr>
          <p:cNvSpPr txBox="1"/>
          <p:nvPr/>
        </p:nvSpPr>
        <p:spPr>
          <a:xfrm>
            <a:off x="1393371" y="3737792"/>
            <a:ext cx="8490857" cy="1569660"/>
          </a:xfrm>
          <a:prstGeom prst="rect">
            <a:avLst/>
          </a:prstGeom>
          <a:noFill/>
        </p:spPr>
        <p:txBody>
          <a:bodyPr wrap="square">
            <a:spAutoFit/>
          </a:bodyPr>
          <a:lstStyle/>
          <a:p>
            <a:r>
              <a:rPr lang="en-US" sz="2400" dirty="0"/>
              <a:t>Insert another value into customer:</a:t>
            </a:r>
          </a:p>
          <a:p>
            <a:endParaRPr lang="en-US" sz="2400" dirty="0"/>
          </a:p>
          <a:p>
            <a:r>
              <a:rPr lang="en-US" sz="2400" dirty="0"/>
              <a:t>insert into customer values (1002, "Janitor", 4500);</a:t>
            </a:r>
          </a:p>
          <a:p>
            <a:r>
              <a:rPr lang="en-US" sz="2400" dirty="0"/>
              <a:t>Query OK, 1 row affected (0.0786 sec) </a:t>
            </a:r>
            <a:endParaRPr lang="en-IN" sz="2400" dirty="0"/>
          </a:p>
        </p:txBody>
      </p:sp>
    </p:spTree>
    <p:extLst>
      <p:ext uri="{BB962C8B-B14F-4D97-AF65-F5344CB8AC3E}">
        <p14:creationId xmlns:p14="http://schemas.microsoft.com/office/powerpoint/2010/main" val="4557287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5E18563-568E-382F-E140-5FCF05B77EE3}"/>
              </a:ext>
            </a:extLst>
          </p:cNvPr>
          <p:cNvSpPr txBox="1"/>
          <p:nvPr/>
        </p:nvSpPr>
        <p:spPr>
          <a:xfrm>
            <a:off x="1298121" y="425521"/>
            <a:ext cx="9772649" cy="646331"/>
          </a:xfrm>
          <a:prstGeom prst="rect">
            <a:avLst/>
          </a:prstGeom>
          <a:noFill/>
        </p:spPr>
        <p:txBody>
          <a:bodyPr wrap="square">
            <a:spAutoFit/>
          </a:bodyPr>
          <a:lstStyle/>
          <a:p>
            <a:r>
              <a:rPr lang="en-US" dirty="0"/>
              <a:t>Trigger to insert (new) values of account number and available balance into </a:t>
            </a:r>
            <a:r>
              <a:rPr lang="en-US" dirty="0" err="1"/>
              <a:t>micro_statement</a:t>
            </a:r>
            <a:r>
              <a:rPr lang="en-US" dirty="0"/>
              <a:t> record after an update has occurred:</a:t>
            </a:r>
            <a:endParaRPr lang="en-IN" dirty="0"/>
          </a:p>
        </p:txBody>
      </p:sp>
      <p:sp>
        <p:nvSpPr>
          <p:cNvPr id="8" name="TextBox 7">
            <a:extLst>
              <a:ext uri="{FF2B5EF4-FFF2-40B4-BE49-F238E27FC236}">
                <a16:creationId xmlns:a16="http://schemas.microsoft.com/office/drawing/2014/main" xmlns="" id="{D5865137-1D99-2C03-AE87-F15993B0EBEA}"/>
              </a:ext>
            </a:extLst>
          </p:cNvPr>
          <p:cNvSpPr txBox="1"/>
          <p:nvPr/>
        </p:nvSpPr>
        <p:spPr>
          <a:xfrm>
            <a:off x="1915885" y="1972466"/>
            <a:ext cx="9772649" cy="2677656"/>
          </a:xfrm>
          <a:prstGeom prst="rect">
            <a:avLst/>
          </a:prstGeom>
          <a:noFill/>
        </p:spPr>
        <p:txBody>
          <a:bodyPr wrap="square">
            <a:spAutoFit/>
          </a:bodyPr>
          <a:lstStyle/>
          <a:p>
            <a:r>
              <a:rPr lang="en-US" sz="2400" dirty="0"/>
              <a:t>delimiter //</a:t>
            </a:r>
          </a:p>
          <a:p>
            <a:r>
              <a:rPr lang="en-US" sz="2400" dirty="0"/>
              <a:t>create trigger </a:t>
            </a:r>
            <a:r>
              <a:rPr lang="en-US" sz="2400" dirty="0" err="1"/>
              <a:t>update_after</a:t>
            </a:r>
            <a:endParaRPr lang="en-US" sz="2400" dirty="0"/>
          </a:p>
          <a:p>
            <a:r>
              <a:rPr lang="en-US" sz="2400" dirty="0"/>
              <a:t>       -&gt; after update on customer</a:t>
            </a:r>
          </a:p>
          <a:p>
            <a:r>
              <a:rPr lang="en-US" sz="2400" dirty="0"/>
              <a:t>       -&gt; for each row</a:t>
            </a:r>
          </a:p>
          <a:p>
            <a:r>
              <a:rPr lang="en-US" sz="2400" dirty="0"/>
              <a:t>       -&gt; begin</a:t>
            </a:r>
          </a:p>
          <a:p>
            <a:r>
              <a:rPr lang="en-US" sz="2400" dirty="0"/>
              <a:t>       -&gt; insert into </a:t>
            </a:r>
            <a:r>
              <a:rPr lang="en-US" sz="2400" dirty="0" err="1"/>
              <a:t>micro_statement</a:t>
            </a:r>
            <a:r>
              <a:rPr lang="en-US" sz="2400" dirty="0"/>
              <a:t> values(</a:t>
            </a:r>
            <a:r>
              <a:rPr lang="en-US" sz="2400" dirty="0" err="1"/>
              <a:t>new.acc_no</a:t>
            </a:r>
            <a:r>
              <a:rPr lang="en-US" sz="2400" dirty="0"/>
              <a:t>, </a:t>
            </a:r>
            <a:r>
              <a:rPr lang="en-US" sz="2400" dirty="0" err="1"/>
              <a:t>new.avail_balance</a:t>
            </a:r>
            <a:r>
              <a:rPr lang="en-US" sz="2400" dirty="0"/>
              <a:t>);</a:t>
            </a:r>
          </a:p>
          <a:p>
            <a:r>
              <a:rPr lang="en-US" sz="2400" dirty="0"/>
              <a:t>       -&gt; end; // </a:t>
            </a:r>
            <a:endParaRPr lang="en-IN" sz="2400" dirty="0"/>
          </a:p>
        </p:txBody>
      </p:sp>
    </p:spTree>
    <p:extLst>
      <p:ext uri="{BB962C8B-B14F-4D97-AF65-F5344CB8AC3E}">
        <p14:creationId xmlns:p14="http://schemas.microsoft.com/office/powerpoint/2010/main" val="28351051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2965482-69CF-0D65-454C-957B67D3FE0B}"/>
              </a:ext>
            </a:extLst>
          </p:cNvPr>
          <p:cNvSpPr txBox="1"/>
          <p:nvPr/>
        </p:nvSpPr>
        <p:spPr>
          <a:xfrm>
            <a:off x="685801" y="469063"/>
            <a:ext cx="9176656" cy="646331"/>
          </a:xfrm>
          <a:prstGeom prst="rect">
            <a:avLst/>
          </a:prstGeom>
          <a:noFill/>
        </p:spPr>
        <p:txBody>
          <a:bodyPr wrap="square">
            <a:spAutoFit/>
          </a:bodyPr>
          <a:lstStyle/>
          <a:p>
            <a:r>
              <a:rPr lang="en-US" dirty="0"/>
              <a:t>delimiter ;</a:t>
            </a:r>
          </a:p>
          <a:p>
            <a:r>
              <a:rPr lang="en-US" dirty="0"/>
              <a:t>update customer set </a:t>
            </a:r>
            <a:r>
              <a:rPr lang="en-US" dirty="0" err="1"/>
              <a:t>avail_balance</a:t>
            </a:r>
            <a:r>
              <a:rPr lang="en-US" dirty="0"/>
              <a:t> = </a:t>
            </a:r>
            <a:r>
              <a:rPr lang="en-US" dirty="0" err="1"/>
              <a:t>avail_balance</a:t>
            </a:r>
            <a:r>
              <a:rPr lang="en-US" dirty="0"/>
              <a:t> + 1500 where </a:t>
            </a:r>
            <a:r>
              <a:rPr lang="en-US" dirty="0" err="1"/>
              <a:t>acc_no</a:t>
            </a:r>
            <a:r>
              <a:rPr lang="en-US" dirty="0"/>
              <a:t> = 1002; </a:t>
            </a:r>
            <a:endParaRPr lang="en-IN" dirty="0"/>
          </a:p>
        </p:txBody>
      </p:sp>
      <p:sp>
        <p:nvSpPr>
          <p:cNvPr id="13" name="TextBox 12">
            <a:extLst>
              <a:ext uri="{FF2B5EF4-FFF2-40B4-BE49-F238E27FC236}">
                <a16:creationId xmlns:a16="http://schemas.microsoft.com/office/drawing/2014/main" xmlns="" id="{572E661B-6E09-29F6-0696-C2ACCB19A645}"/>
              </a:ext>
            </a:extLst>
          </p:cNvPr>
          <p:cNvSpPr txBox="1"/>
          <p:nvPr/>
        </p:nvSpPr>
        <p:spPr>
          <a:xfrm>
            <a:off x="1246415" y="1983352"/>
            <a:ext cx="7674428" cy="2677656"/>
          </a:xfrm>
          <a:prstGeom prst="rect">
            <a:avLst/>
          </a:prstGeom>
          <a:noFill/>
        </p:spPr>
        <p:txBody>
          <a:bodyPr wrap="square">
            <a:spAutoFit/>
          </a:bodyPr>
          <a:lstStyle/>
          <a:p>
            <a:r>
              <a:rPr lang="en-US" sz="2400" dirty="0"/>
              <a:t>select * from </a:t>
            </a:r>
            <a:r>
              <a:rPr lang="en-US" sz="2400" dirty="0" err="1"/>
              <a:t>micro_statement</a:t>
            </a:r>
            <a:r>
              <a:rPr lang="en-US" sz="2400" dirty="0"/>
              <a:t>;</a:t>
            </a:r>
          </a:p>
          <a:p>
            <a:r>
              <a:rPr lang="en-US" sz="2400" dirty="0"/>
              <a:t>+--------+---------------+</a:t>
            </a:r>
          </a:p>
          <a:p>
            <a:r>
              <a:rPr lang="en-US" sz="2400" dirty="0"/>
              <a:t>| </a:t>
            </a:r>
            <a:r>
              <a:rPr lang="en-US" sz="2400" dirty="0" err="1"/>
              <a:t>acc_no</a:t>
            </a:r>
            <a:r>
              <a:rPr lang="en-US" sz="2400" dirty="0"/>
              <a:t> | </a:t>
            </a:r>
            <a:r>
              <a:rPr lang="en-US" sz="2400" dirty="0" err="1"/>
              <a:t>avail_balance</a:t>
            </a:r>
            <a:r>
              <a:rPr lang="en-US" sz="2400" dirty="0"/>
              <a:t> |</a:t>
            </a:r>
          </a:p>
          <a:p>
            <a:r>
              <a:rPr lang="en-US" sz="2400" dirty="0"/>
              <a:t>+--------+---------------+</a:t>
            </a:r>
          </a:p>
          <a:p>
            <a:r>
              <a:rPr lang="en-US" sz="2400" dirty="0"/>
              <a:t>|   1002 |          6000 |</a:t>
            </a:r>
          </a:p>
          <a:p>
            <a:r>
              <a:rPr lang="en-US" sz="2400" dirty="0"/>
              <a:t>+--------+---------------+</a:t>
            </a:r>
          </a:p>
          <a:p>
            <a:r>
              <a:rPr lang="en-US" sz="2400" dirty="0"/>
              <a:t>1 row in set (0.0007 sec) </a:t>
            </a:r>
            <a:endParaRPr lang="en-IN" sz="2400" dirty="0"/>
          </a:p>
        </p:txBody>
      </p:sp>
    </p:spTree>
    <p:extLst>
      <p:ext uri="{BB962C8B-B14F-4D97-AF65-F5344CB8AC3E}">
        <p14:creationId xmlns:p14="http://schemas.microsoft.com/office/powerpoint/2010/main" val="16225388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B88386B-4C3B-1145-7FE4-1C91C44C0D20}"/>
              </a:ext>
            </a:extLst>
          </p:cNvPr>
          <p:cNvSpPr txBox="1"/>
          <p:nvPr/>
        </p:nvSpPr>
        <p:spPr>
          <a:xfrm>
            <a:off x="721178" y="458178"/>
            <a:ext cx="10240735" cy="923330"/>
          </a:xfrm>
          <a:prstGeom prst="rect">
            <a:avLst/>
          </a:prstGeom>
          <a:noFill/>
        </p:spPr>
        <p:txBody>
          <a:bodyPr wrap="square">
            <a:spAutoFit/>
          </a:bodyPr>
          <a:lstStyle/>
          <a:p>
            <a:r>
              <a:rPr lang="en-US" b="1" i="0" dirty="0">
                <a:solidFill>
                  <a:srgbClr val="273239"/>
                </a:solidFill>
                <a:effectLst/>
                <a:latin typeface="Nunito" pitchFamily="2" charset="0"/>
              </a:rPr>
              <a:t>3. Before Insert Trigger:</a:t>
            </a:r>
            <a:r>
              <a:rPr lang="en-US" dirty="0"/>
              <a:t/>
            </a:r>
            <a:br>
              <a:rPr lang="en-US" dirty="0"/>
            </a:br>
            <a:r>
              <a:rPr lang="en-US" b="0" i="0" dirty="0">
                <a:solidFill>
                  <a:srgbClr val="273239"/>
                </a:solidFill>
                <a:effectLst/>
                <a:latin typeface="Nunito" pitchFamily="2" charset="0"/>
              </a:rPr>
              <a:t>As the name implies, this trigger is invoked before an insert, or before an insert statement is executed.</a:t>
            </a:r>
            <a:endParaRPr lang="en-IN" dirty="0"/>
          </a:p>
        </p:txBody>
      </p:sp>
      <p:sp>
        <p:nvSpPr>
          <p:cNvPr id="8" name="TextBox 7">
            <a:extLst>
              <a:ext uri="{FF2B5EF4-FFF2-40B4-BE49-F238E27FC236}">
                <a16:creationId xmlns:a16="http://schemas.microsoft.com/office/drawing/2014/main" xmlns="" id="{7EC4E76D-4E8B-987F-0D3B-69E570632C0A}"/>
              </a:ext>
            </a:extLst>
          </p:cNvPr>
          <p:cNvSpPr txBox="1"/>
          <p:nvPr/>
        </p:nvSpPr>
        <p:spPr>
          <a:xfrm>
            <a:off x="1086315" y="1651072"/>
            <a:ext cx="10019370" cy="2246769"/>
          </a:xfrm>
          <a:prstGeom prst="rect">
            <a:avLst/>
          </a:prstGeom>
          <a:noFill/>
        </p:spPr>
        <p:txBody>
          <a:bodyPr wrap="square">
            <a:spAutoFit/>
          </a:bodyPr>
          <a:lstStyle/>
          <a:p>
            <a:r>
              <a:rPr lang="en-US" sz="2000" dirty="0"/>
              <a:t>Considering tables:</a:t>
            </a:r>
          </a:p>
          <a:p>
            <a:endParaRPr lang="en-US" sz="2000" dirty="0"/>
          </a:p>
          <a:p>
            <a:r>
              <a:rPr lang="en-US" sz="2000" dirty="0"/>
              <a:t>create table contacts (</a:t>
            </a:r>
            <a:r>
              <a:rPr lang="en-US" sz="2000" dirty="0" err="1"/>
              <a:t>contact_id</a:t>
            </a:r>
            <a:r>
              <a:rPr lang="en-US" sz="2000" dirty="0"/>
              <a:t> INT (11) NOT NULL AUTO_INCREMENT, </a:t>
            </a:r>
          </a:p>
          <a:p>
            <a:r>
              <a:rPr lang="en-US" sz="2000" dirty="0"/>
              <a:t>                              </a:t>
            </a:r>
            <a:r>
              <a:rPr lang="en-US" sz="2000" dirty="0" err="1"/>
              <a:t>last_name</a:t>
            </a:r>
            <a:r>
              <a:rPr lang="en-US" sz="2000" dirty="0"/>
              <a:t> VARCHAR (30) NOT NULL, </a:t>
            </a:r>
            <a:r>
              <a:rPr lang="en-US" sz="2000" dirty="0" err="1"/>
              <a:t>first_name</a:t>
            </a:r>
            <a:r>
              <a:rPr lang="en-US" sz="2000" dirty="0"/>
              <a:t> VARCHAR (25),</a:t>
            </a:r>
          </a:p>
          <a:p>
            <a:r>
              <a:rPr lang="en-US" sz="2000" dirty="0"/>
              <a:t>             birthday DATE, </a:t>
            </a:r>
            <a:r>
              <a:rPr lang="en-US" sz="2000" dirty="0" err="1"/>
              <a:t>created_date</a:t>
            </a:r>
            <a:r>
              <a:rPr lang="en-US" sz="2000" dirty="0"/>
              <a:t> DATE, </a:t>
            </a:r>
          </a:p>
          <a:p>
            <a:r>
              <a:rPr lang="en-US" sz="2000" dirty="0"/>
              <a:t>                            </a:t>
            </a:r>
            <a:r>
              <a:rPr lang="en-US" sz="2000" dirty="0" err="1"/>
              <a:t>created_by</a:t>
            </a:r>
            <a:r>
              <a:rPr lang="en-US" sz="2000" dirty="0"/>
              <a:t> VARCHAR(30), </a:t>
            </a:r>
          </a:p>
          <a:p>
            <a:r>
              <a:rPr lang="en-US" sz="2000" dirty="0"/>
              <a:t>                            CONSTRAINT </a:t>
            </a:r>
            <a:r>
              <a:rPr lang="en-US" sz="2000" dirty="0" err="1"/>
              <a:t>contacts_pk</a:t>
            </a:r>
            <a:r>
              <a:rPr lang="en-US" sz="2000" dirty="0"/>
              <a:t> PRIMARY KEY (</a:t>
            </a:r>
            <a:r>
              <a:rPr lang="en-US" sz="2000" dirty="0" err="1"/>
              <a:t>contact_id</a:t>
            </a:r>
            <a:r>
              <a:rPr lang="en-US" sz="2000" dirty="0"/>
              <a:t>)); </a:t>
            </a:r>
            <a:endParaRPr lang="en-IN" sz="2000" dirty="0"/>
          </a:p>
        </p:txBody>
      </p:sp>
    </p:spTree>
    <p:extLst>
      <p:ext uri="{BB962C8B-B14F-4D97-AF65-F5344CB8AC3E}">
        <p14:creationId xmlns:p14="http://schemas.microsoft.com/office/powerpoint/2010/main" val="18558156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F5D5DF21-2A1B-589D-6294-130B8C458C28}"/>
              </a:ext>
            </a:extLst>
          </p:cNvPr>
          <p:cNvSpPr txBox="1"/>
          <p:nvPr/>
        </p:nvSpPr>
        <p:spPr>
          <a:xfrm>
            <a:off x="1145788" y="336077"/>
            <a:ext cx="18906892" cy="2862322"/>
          </a:xfrm>
          <a:prstGeom prst="rect">
            <a:avLst/>
          </a:prstGeom>
          <a:noFill/>
        </p:spPr>
        <p:txBody>
          <a:bodyPr wrap="square">
            <a:spAutoFit/>
          </a:bodyPr>
          <a:lstStyle/>
          <a:p>
            <a:r>
              <a:rPr lang="en-US" dirty="0"/>
              <a:t>delimiter //</a:t>
            </a:r>
          </a:p>
          <a:p>
            <a:r>
              <a:rPr lang="en-US" dirty="0"/>
              <a:t>create trigger </a:t>
            </a:r>
            <a:r>
              <a:rPr lang="en-US" dirty="0" err="1"/>
              <a:t>contacts_before_insert</a:t>
            </a:r>
            <a:endParaRPr lang="en-US" dirty="0"/>
          </a:p>
          <a:p>
            <a:r>
              <a:rPr lang="en-US" dirty="0"/>
              <a:t>            before insert</a:t>
            </a:r>
          </a:p>
          <a:p>
            <a:r>
              <a:rPr lang="en-US" dirty="0"/>
              <a:t>            on contacts for each row</a:t>
            </a:r>
          </a:p>
          <a:p>
            <a:r>
              <a:rPr lang="en-US" dirty="0"/>
              <a:t>             begin</a:t>
            </a:r>
          </a:p>
          <a:p>
            <a:r>
              <a:rPr lang="en-US" dirty="0"/>
              <a:t>            DECLARE </a:t>
            </a:r>
            <a:r>
              <a:rPr lang="en-US" dirty="0" err="1"/>
              <a:t>vUser</a:t>
            </a:r>
            <a:r>
              <a:rPr lang="en-US" dirty="0"/>
              <a:t> varchar(50);</a:t>
            </a:r>
          </a:p>
          <a:p>
            <a:r>
              <a:rPr lang="en-US" dirty="0"/>
              <a:t>            select USER() into </a:t>
            </a:r>
            <a:r>
              <a:rPr lang="en-US" dirty="0" err="1"/>
              <a:t>vUser</a:t>
            </a:r>
            <a:r>
              <a:rPr lang="en-US" dirty="0"/>
              <a:t>;</a:t>
            </a:r>
          </a:p>
          <a:p>
            <a:r>
              <a:rPr lang="en-US" dirty="0"/>
              <a:t>            SET </a:t>
            </a:r>
            <a:r>
              <a:rPr lang="en-US" dirty="0" err="1"/>
              <a:t>NEW.created_date</a:t>
            </a:r>
            <a:r>
              <a:rPr lang="en-US" dirty="0"/>
              <a:t> = SYSDATE();</a:t>
            </a:r>
          </a:p>
          <a:p>
            <a:r>
              <a:rPr lang="en-US" dirty="0"/>
              <a:t>SET </a:t>
            </a:r>
            <a:r>
              <a:rPr lang="en-US" dirty="0" err="1"/>
              <a:t>NEW.created_by</a:t>
            </a:r>
            <a:r>
              <a:rPr lang="en-US" dirty="0"/>
              <a:t> = </a:t>
            </a:r>
            <a:r>
              <a:rPr lang="en-US" dirty="0" err="1"/>
              <a:t>vUser</a:t>
            </a:r>
            <a:r>
              <a:rPr lang="en-US" dirty="0"/>
              <a:t>;</a:t>
            </a:r>
          </a:p>
          <a:p>
            <a:r>
              <a:rPr lang="en-US" dirty="0"/>
              <a:t>    end; // </a:t>
            </a:r>
            <a:endParaRPr lang="en-IN" dirty="0"/>
          </a:p>
        </p:txBody>
      </p:sp>
      <p:sp>
        <p:nvSpPr>
          <p:cNvPr id="10" name="TextBox 9">
            <a:extLst>
              <a:ext uri="{FF2B5EF4-FFF2-40B4-BE49-F238E27FC236}">
                <a16:creationId xmlns:a16="http://schemas.microsoft.com/office/drawing/2014/main" xmlns="" id="{B8C7DE83-BDEA-6F3F-A980-8D5445EDCE28}"/>
              </a:ext>
            </a:extLst>
          </p:cNvPr>
          <p:cNvSpPr txBox="1"/>
          <p:nvPr/>
        </p:nvSpPr>
        <p:spPr>
          <a:xfrm>
            <a:off x="1276815" y="5352805"/>
            <a:ext cx="10024946" cy="646331"/>
          </a:xfrm>
          <a:prstGeom prst="rect">
            <a:avLst/>
          </a:prstGeom>
          <a:noFill/>
        </p:spPr>
        <p:txBody>
          <a:bodyPr wrap="square">
            <a:spAutoFit/>
          </a:bodyPr>
          <a:lstStyle/>
          <a:p>
            <a:r>
              <a:rPr lang="en-US" b="1" i="0" dirty="0">
                <a:solidFill>
                  <a:srgbClr val="273239"/>
                </a:solidFill>
                <a:effectLst/>
                <a:latin typeface="Nunito" pitchFamily="2" charset="0"/>
              </a:rPr>
              <a:t>Trigger to insert contact information such as name, birthday and creation-date/user into a table contact before an insert occurs:</a:t>
            </a:r>
            <a:endParaRPr lang="en-IN" b="1" dirty="0"/>
          </a:p>
        </p:txBody>
      </p:sp>
    </p:spTree>
    <p:extLst>
      <p:ext uri="{BB962C8B-B14F-4D97-AF65-F5344CB8AC3E}">
        <p14:creationId xmlns:p14="http://schemas.microsoft.com/office/powerpoint/2010/main" val="41705295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DD704961-F4D0-ECDF-8A07-D2EC047D3E78}"/>
              </a:ext>
            </a:extLst>
          </p:cNvPr>
          <p:cNvSpPr txBox="1"/>
          <p:nvPr/>
        </p:nvSpPr>
        <p:spPr>
          <a:xfrm>
            <a:off x="1812472" y="306951"/>
            <a:ext cx="6455228" cy="1754326"/>
          </a:xfrm>
          <a:prstGeom prst="rect">
            <a:avLst/>
          </a:prstGeom>
          <a:noFill/>
        </p:spPr>
        <p:txBody>
          <a:bodyPr wrap="square">
            <a:spAutoFit/>
          </a:bodyPr>
          <a:lstStyle/>
          <a:p>
            <a:r>
              <a:rPr lang="en-US" dirty="0"/>
              <a:t>Making an insert to invoke the trigger:</a:t>
            </a:r>
          </a:p>
          <a:p>
            <a:endParaRPr lang="en-US" dirty="0"/>
          </a:p>
          <a:p>
            <a:r>
              <a:rPr lang="en-US" dirty="0"/>
              <a:t>delimiter;</a:t>
            </a:r>
          </a:p>
          <a:p>
            <a:r>
              <a:rPr lang="en-US" dirty="0"/>
              <a:t>insert into contacts values (1, "Newton", "Enigma", </a:t>
            </a:r>
          </a:p>
          <a:p>
            <a:r>
              <a:rPr lang="en-US" dirty="0"/>
              <a:t>                     </a:t>
            </a:r>
            <a:r>
              <a:rPr lang="en-US" dirty="0" err="1"/>
              <a:t>str_to_date</a:t>
            </a:r>
            <a:r>
              <a:rPr lang="en-US" dirty="0"/>
              <a:t> ("19-08-1999", "%d-%m-%Y"), </a:t>
            </a:r>
          </a:p>
          <a:p>
            <a:r>
              <a:rPr lang="en-US" dirty="0"/>
              <a:t>                     </a:t>
            </a:r>
            <a:r>
              <a:rPr lang="en-US" dirty="0" err="1"/>
              <a:t>str_to_date</a:t>
            </a:r>
            <a:r>
              <a:rPr lang="en-US" dirty="0"/>
              <a:t> ("17-03-2018", "%d-%m-%Y"), "</a:t>
            </a:r>
            <a:r>
              <a:rPr lang="en-US" dirty="0" err="1"/>
              <a:t>xyz</a:t>
            </a:r>
            <a:r>
              <a:rPr lang="en-US" dirty="0"/>
              <a:t>"); </a:t>
            </a:r>
            <a:endParaRPr lang="en-IN" dirty="0"/>
          </a:p>
        </p:txBody>
      </p:sp>
      <p:sp>
        <p:nvSpPr>
          <p:cNvPr id="7" name="TextBox 6">
            <a:extLst>
              <a:ext uri="{FF2B5EF4-FFF2-40B4-BE49-F238E27FC236}">
                <a16:creationId xmlns:a16="http://schemas.microsoft.com/office/drawing/2014/main" xmlns="" id="{32B31494-CDD6-CDCA-116E-05CDBDD4EB79}"/>
              </a:ext>
            </a:extLst>
          </p:cNvPr>
          <p:cNvSpPr txBox="1"/>
          <p:nvPr/>
        </p:nvSpPr>
        <p:spPr>
          <a:xfrm>
            <a:off x="919976" y="2570346"/>
            <a:ext cx="17942312" cy="2308324"/>
          </a:xfrm>
          <a:prstGeom prst="rect">
            <a:avLst/>
          </a:prstGeom>
          <a:noFill/>
        </p:spPr>
        <p:txBody>
          <a:bodyPr wrap="square">
            <a:spAutoFit/>
          </a:bodyPr>
          <a:lstStyle/>
          <a:p>
            <a:r>
              <a:rPr lang="en-IN" dirty="0"/>
              <a:t>Output:</a:t>
            </a:r>
          </a:p>
          <a:p>
            <a:endParaRPr lang="en-IN" dirty="0"/>
          </a:p>
          <a:p>
            <a:r>
              <a:rPr lang="en-IN" dirty="0"/>
              <a:t>select *from contacts;</a:t>
            </a:r>
          </a:p>
          <a:p>
            <a:r>
              <a:rPr lang="en-IN" dirty="0"/>
              <a:t>+------------+-----------+------------+------------+--------------+----------------+</a:t>
            </a:r>
          </a:p>
          <a:p>
            <a:r>
              <a:rPr lang="en-IN" dirty="0"/>
              <a:t>| </a:t>
            </a:r>
            <a:r>
              <a:rPr lang="en-IN" dirty="0" err="1"/>
              <a:t>contact_id</a:t>
            </a:r>
            <a:r>
              <a:rPr lang="en-IN" dirty="0"/>
              <a:t> | </a:t>
            </a:r>
            <a:r>
              <a:rPr lang="en-IN" dirty="0" err="1"/>
              <a:t>last_name</a:t>
            </a:r>
            <a:r>
              <a:rPr lang="en-IN" dirty="0"/>
              <a:t> | </a:t>
            </a:r>
            <a:r>
              <a:rPr lang="en-IN" dirty="0" err="1"/>
              <a:t>first_name</a:t>
            </a:r>
            <a:r>
              <a:rPr lang="en-IN" dirty="0"/>
              <a:t> | birthday   | </a:t>
            </a:r>
            <a:r>
              <a:rPr lang="en-IN" dirty="0" err="1"/>
              <a:t>created_date</a:t>
            </a:r>
            <a:r>
              <a:rPr lang="en-IN" dirty="0"/>
              <a:t> | </a:t>
            </a:r>
            <a:r>
              <a:rPr lang="en-IN" dirty="0" err="1"/>
              <a:t>created_by</a:t>
            </a:r>
            <a:r>
              <a:rPr lang="en-IN" dirty="0"/>
              <a:t>     |</a:t>
            </a:r>
          </a:p>
          <a:p>
            <a:r>
              <a:rPr lang="en-IN" dirty="0"/>
              <a:t>+------------+-----------+------------+------------+--------------+----------------+</a:t>
            </a:r>
          </a:p>
          <a:p>
            <a:r>
              <a:rPr lang="en-IN" dirty="0"/>
              <a:t>|          1 | Newton    | Enigma     | 1999-08-19 | 2019-05-11   | </a:t>
            </a:r>
            <a:r>
              <a:rPr lang="en-IN" dirty="0" err="1"/>
              <a:t>root@localhost</a:t>
            </a:r>
            <a:r>
              <a:rPr lang="en-IN" dirty="0"/>
              <a:t> |</a:t>
            </a:r>
          </a:p>
          <a:p>
            <a:r>
              <a:rPr lang="en-IN" dirty="0"/>
              <a:t>+------------+-----------+------------+------------+--------------+----------------+ </a:t>
            </a:r>
          </a:p>
        </p:txBody>
      </p:sp>
    </p:spTree>
    <p:extLst>
      <p:ext uri="{BB962C8B-B14F-4D97-AF65-F5344CB8AC3E}">
        <p14:creationId xmlns:p14="http://schemas.microsoft.com/office/powerpoint/2010/main" val="34848204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55CC41-32B0-63F6-38CF-E8BEDD18B9A8}"/>
              </a:ext>
            </a:extLst>
          </p:cNvPr>
          <p:cNvSpPr txBox="1"/>
          <p:nvPr/>
        </p:nvSpPr>
        <p:spPr>
          <a:xfrm>
            <a:off x="928008" y="621464"/>
            <a:ext cx="10512878" cy="646331"/>
          </a:xfrm>
          <a:prstGeom prst="rect">
            <a:avLst/>
          </a:prstGeom>
          <a:noFill/>
        </p:spPr>
        <p:txBody>
          <a:bodyPr wrap="square">
            <a:spAutoFit/>
          </a:bodyPr>
          <a:lstStyle/>
          <a:p>
            <a:r>
              <a:rPr lang="en-US" b="1" i="0" dirty="0">
                <a:solidFill>
                  <a:srgbClr val="273239"/>
                </a:solidFill>
                <a:effectLst/>
                <a:latin typeface="Nunito" pitchFamily="2" charset="0"/>
              </a:rPr>
              <a:t>4. After Insert Trigger:</a:t>
            </a:r>
            <a:r>
              <a:rPr lang="en-US" dirty="0"/>
              <a:t/>
            </a:r>
            <a:br>
              <a:rPr lang="en-US" dirty="0"/>
            </a:br>
            <a:r>
              <a:rPr lang="en-US" b="0" i="0" dirty="0">
                <a:solidFill>
                  <a:srgbClr val="273239"/>
                </a:solidFill>
                <a:effectLst/>
                <a:latin typeface="Nunito" pitchFamily="2" charset="0"/>
              </a:rPr>
              <a:t>As the name implies, this trigger gets invoked after an insert is implemented.</a:t>
            </a:r>
            <a:endParaRPr lang="en-IN" dirty="0"/>
          </a:p>
        </p:txBody>
      </p:sp>
      <p:sp>
        <p:nvSpPr>
          <p:cNvPr id="6" name="TextBox 5">
            <a:extLst>
              <a:ext uri="{FF2B5EF4-FFF2-40B4-BE49-F238E27FC236}">
                <a16:creationId xmlns:a16="http://schemas.microsoft.com/office/drawing/2014/main" xmlns="" id="{5E1AC4A4-DB04-A215-DEA9-533B5080F970}"/>
              </a:ext>
            </a:extLst>
          </p:cNvPr>
          <p:cNvSpPr txBox="1"/>
          <p:nvPr/>
        </p:nvSpPr>
        <p:spPr>
          <a:xfrm>
            <a:off x="1307481" y="1707017"/>
            <a:ext cx="12093496" cy="2585323"/>
          </a:xfrm>
          <a:prstGeom prst="rect">
            <a:avLst/>
          </a:prstGeom>
          <a:noFill/>
        </p:spPr>
        <p:txBody>
          <a:bodyPr wrap="square">
            <a:spAutoFit/>
          </a:bodyPr>
          <a:lstStyle/>
          <a:p>
            <a:r>
              <a:rPr lang="en-US" dirty="0"/>
              <a:t>Consider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VARCHAR(30) NOT NULL, </a:t>
            </a:r>
          </a:p>
          <a:p>
            <a:r>
              <a:rPr lang="en-US" dirty="0"/>
              <a:t>                              </a:t>
            </a:r>
            <a:r>
              <a:rPr lang="en-US" dirty="0" err="1"/>
              <a:t>first_name</a:t>
            </a:r>
            <a:r>
              <a:rPr lang="en-US" dirty="0"/>
              <a:t> VARCHAR(25), birthday DATE,</a:t>
            </a:r>
          </a:p>
          <a:p>
            <a:r>
              <a:rPr lang="en-US" dirty="0"/>
              <a:t>                              -&gt;CONSTRAINT </a:t>
            </a:r>
            <a:r>
              <a:rPr lang="en-US" dirty="0" err="1"/>
              <a:t>contacts_pk</a:t>
            </a:r>
            <a:r>
              <a:rPr lang="en-US" dirty="0"/>
              <a:t> PRIMARY KEY (</a:t>
            </a:r>
            <a:r>
              <a:rPr lang="en-US" dirty="0" err="1"/>
              <a:t>contact_id</a:t>
            </a:r>
            <a:r>
              <a:rPr lang="en-US" dirty="0"/>
              <a:t>));</a:t>
            </a:r>
          </a:p>
          <a:p>
            <a:r>
              <a:rPr lang="en-US" dirty="0"/>
              <a:t>create table </a:t>
            </a:r>
            <a:r>
              <a:rPr lang="en-US" dirty="0" err="1"/>
              <a:t>contacts_audit</a:t>
            </a:r>
            <a:r>
              <a:rPr lang="en-US" dirty="0"/>
              <a:t> (</a:t>
            </a:r>
            <a:r>
              <a:rPr lang="en-US" dirty="0" err="1"/>
              <a:t>contact_id</a:t>
            </a:r>
            <a:r>
              <a:rPr lang="en-US" dirty="0"/>
              <a:t> integer, </a:t>
            </a:r>
          </a:p>
          <a:p>
            <a:r>
              <a:rPr lang="en-US" dirty="0"/>
              <a:t>                             </a:t>
            </a:r>
            <a:r>
              <a:rPr lang="en-US" dirty="0" err="1"/>
              <a:t>created_date</a:t>
            </a:r>
            <a:r>
              <a:rPr lang="en-US" dirty="0"/>
              <a:t> date, </a:t>
            </a:r>
          </a:p>
          <a:p>
            <a:r>
              <a:rPr lang="en-US" dirty="0"/>
              <a:t>                             </a:t>
            </a:r>
            <a:r>
              <a:rPr lang="en-US" dirty="0" err="1"/>
              <a:t>created_by</a:t>
            </a:r>
            <a:r>
              <a:rPr lang="en-US" dirty="0"/>
              <a:t> varchar (30)); </a:t>
            </a:r>
            <a:endParaRPr lang="en-IN" dirty="0"/>
          </a:p>
        </p:txBody>
      </p:sp>
    </p:spTree>
    <p:extLst>
      <p:ext uri="{BB962C8B-B14F-4D97-AF65-F5344CB8AC3E}">
        <p14:creationId xmlns:p14="http://schemas.microsoft.com/office/powerpoint/2010/main" val="11308081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F787EF4-B3D5-170C-8C37-FE03F2337DAA}"/>
              </a:ext>
            </a:extLst>
          </p:cNvPr>
          <p:cNvSpPr txBox="1"/>
          <p:nvPr/>
        </p:nvSpPr>
        <p:spPr>
          <a:xfrm>
            <a:off x="284356" y="229910"/>
            <a:ext cx="17563170" cy="6186309"/>
          </a:xfrm>
          <a:prstGeom prst="rect">
            <a:avLst/>
          </a:prstGeom>
          <a:noFill/>
        </p:spPr>
        <p:txBody>
          <a:bodyPr wrap="square">
            <a:spAutoFit/>
          </a:bodyPr>
          <a:lstStyle/>
          <a:p>
            <a:r>
              <a:rPr lang="en-US" dirty="0"/>
              <a:t>Trigger to insert </a:t>
            </a:r>
            <a:r>
              <a:rPr lang="en-US" dirty="0" err="1"/>
              <a:t>contact_id</a:t>
            </a:r>
            <a:r>
              <a:rPr lang="en-US" dirty="0"/>
              <a:t> and contact creation-date/user information into </a:t>
            </a:r>
            <a:r>
              <a:rPr lang="en-US" dirty="0" err="1"/>
              <a:t>contacts_audit</a:t>
            </a:r>
            <a:r>
              <a:rPr lang="en-US" dirty="0"/>
              <a:t> record after an insert occurs:</a:t>
            </a:r>
          </a:p>
          <a:p>
            <a:endParaRPr lang="en-US" dirty="0"/>
          </a:p>
          <a:p>
            <a:r>
              <a:rPr lang="en-US" dirty="0"/>
              <a:t>delimiter //</a:t>
            </a:r>
          </a:p>
          <a:p>
            <a:r>
              <a:rPr lang="en-US" dirty="0"/>
              <a:t>create trigger </a:t>
            </a:r>
            <a:r>
              <a:rPr lang="en-US" dirty="0" err="1"/>
              <a:t>contacts_after_insert</a:t>
            </a:r>
            <a:endParaRPr lang="en-US" dirty="0"/>
          </a:p>
          <a:p>
            <a:r>
              <a:rPr lang="en-US" dirty="0"/>
              <a:t>            -&gt; after insert</a:t>
            </a:r>
          </a:p>
          <a:p>
            <a:r>
              <a:rPr lang="en-US" dirty="0"/>
              <a:t>            -&gt; on contacts for each row</a:t>
            </a:r>
          </a:p>
          <a:p>
            <a:r>
              <a:rPr lang="en-US" dirty="0"/>
              <a:t>            -&gt; begin</a:t>
            </a:r>
          </a:p>
          <a:p>
            <a:r>
              <a:rPr lang="en-US" dirty="0"/>
              <a:t>            -&gt;    DECLARE </a:t>
            </a:r>
            <a:r>
              <a:rPr lang="en-US" dirty="0" err="1"/>
              <a:t>vUser</a:t>
            </a:r>
            <a:r>
              <a:rPr lang="en-US" dirty="0"/>
              <a:t> varchar(50);</a:t>
            </a:r>
          </a:p>
          <a:p>
            <a:r>
              <a:rPr lang="en-US" dirty="0"/>
              <a:t>            -&gt;</a:t>
            </a:r>
          </a:p>
          <a:p>
            <a:r>
              <a:rPr lang="en-US" dirty="0"/>
              <a:t>            -&gt;    -- Find username of person performing the INSERT into table</a:t>
            </a:r>
          </a:p>
          <a:p>
            <a:r>
              <a:rPr lang="en-US" dirty="0"/>
              <a:t>            -&gt;    SELECT USER() into </a:t>
            </a:r>
            <a:r>
              <a:rPr lang="en-US" dirty="0" err="1"/>
              <a:t>vUser</a:t>
            </a:r>
            <a:r>
              <a:rPr lang="en-US" dirty="0"/>
              <a:t>;</a:t>
            </a:r>
          </a:p>
          <a:p>
            <a:r>
              <a:rPr lang="en-US" dirty="0"/>
              <a:t>            -&gt;</a:t>
            </a:r>
          </a:p>
          <a:p>
            <a:r>
              <a:rPr lang="en-US" dirty="0"/>
              <a:t>            -&gt;    -- Insert record into audit table</a:t>
            </a:r>
          </a:p>
          <a:p>
            <a:r>
              <a:rPr lang="en-US" dirty="0"/>
              <a:t>            -&gt;    INSERT into </a:t>
            </a:r>
            <a:r>
              <a:rPr lang="en-US" dirty="0" err="1"/>
              <a:t>contacts_audit</a:t>
            </a:r>
            <a:endParaRPr lang="en-US" dirty="0"/>
          </a:p>
          <a:p>
            <a:r>
              <a:rPr lang="en-US" dirty="0"/>
              <a:t>            -&gt;    ( </a:t>
            </a:r>
            <a:r>
              <a:rPr lang="en-US" dirty="0" err="1"/>
              <a:t>contact_id</a:t>
            </a:r>
            <a:r>
              <a:rPr lang="en-US" dirty="0"/>
              <a:t>,</a:t>
            </a:r>
          </a:p>
          <a:p>
            <a:r>
              <a:rPr lang="en-US" dirty="0"/>
              <a:t>            -&gt;      </a:t>
            </a:r>
            <a:r>
              <a:rPr lang="en-US" dirty="0" err="1"/>
              <a:t>created_date</a:t>
            </a:r>
            <a:r>
              <a:rPr lang="en-US" dirty="0"/>
              <a:t>,</a:t>
            </a:r>
          </a:p>
          <a:p>
            <a:r>
              <a:rPr lang="en-US" dirty="0"/>
              <a:t>            -&gt;      </a:t>
            </a:r>
            <a:r>
              <a:rPr lang="en-US" dirty="0" err="1"/>
              <a:t>created_by</a:t>
            </a:r>
            <a:r>
              <a:rPr lang="en-US" dirty="0"/>
              <a:t>)</a:t>
            </a:r>
          </a:p>
          <a:p>
            <a:r>
              <a:rPr lang="en-US" dirty="0"/>
              <a:t>            -&gt;    VALUES</a:t>
            </a:r>
          </a:p>
          <a:p>
            <a:r>
              <a:rPr lang="en-US" dirty="0"/>
              <a:t>            -&gt;    ( </a:t>
            </a:r>
            <a:r>
              <a:rPr lang="en-US" dirty="0" err="1"/>
              <a:t>NEW.contact_id</a:t>
            </a:r>
            <a:r>
              <a:rPr lang="en-US" dirty="0"/>
              <a:t>,</a:t>
            </a:r>
          </a:p>
          <a:p>
            <a:r>
              <a:rPr lang="en-US" dirty="0"/>
              <a:t>            -&gt;      SYSDATE(),</a:t>
            </a:r>
          </a:p>
          <a:p>
            <a:r>
              <a:rPr lang="en-US" dirty="0"/>
              <a:t>            -&gt;      </a:t>
            </a:r>
            <a:r>
              <a:rPr lang="en-US" dirty="0" err="1"/>
              <a:t>vUser</a:t>
            </a:r>
            <a:r>
              <a:rPr lang="en-US" dirty="0"/>
              <a:t> );</a:t>
            </a:r>
          </a:p>
          <a:p>
            <a:r>
              <a:rPr lang="en-US" dirty="0"/>
              <a:t>            -&gt; END; // </a:t>
            </a:r>
            <a:endParaRPr lang="en-IN" dirty="0"/>
          </a:p>
        </p:txBody>
      </p:sp>
    </p:spTree>
    <p:extLst>
      <p:ext uri="{BB962C8B-B14F-4D97-AF65-F5344CB8AC3E}">
        <p14:creationId xmlns:p14="http://schemas.microsoft.com/office/powerpoint/2010/main" val="12215834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BA98CA55-BEF7-911B-AF2F-C1C3E87C8B51}"/>
              </a:ext>
            </a:extLst>
          </p:cNvPr>
          <p:cNvSpPr txBox="1"/>
          <p:nvPr/>
        </p:nvSpPr>
        <p:spPr>
          <a:xfrm>
            <a:off x="761072" y="472794"/>
            <a:ext cx="11669750" cy="3693319"/>
          </a:xfrm>
          <a:prstGeom prst="rect">
            <a:avLst/>
          </a:prstGeom>
          <a:noFill/>
        </p:spPr>
        <p:txBody>
          <a:bodyPr wrap="square">
            <a:spAutoFit/>
          </a:bodyPr>
          <a:lstStyle/>
          <a:p>
            <a:r>
              <a:rPr lang="en-US" dirty="0"/>
              <a:t>Making an insert to invoke the trigger:</a:t>
            </a:r>
          </a:p>
          <a:p>
            <a:endParaRPr lang="en-US" dirty="0"/>
          </a:p>
          <a:p>
            <a:r>
              <a:rPr lang="en-US" dirty="0"/>
              <a:t>insert into contacts values (1, "Kumar", "Rupesh", </a:t>
            </a:r>
          </a:p>
          <a:p>
            <a:r>
              <a:rPr lang="en-US" dirty="0"/>
              <a:t>                         </a:t>
            </a:r>
            <a:r>
              <a:rPr lang="en-US" dirty="0" err="1"/>
              <a:t>str_to_date</a:t>
            </a:r>
            <a:r>
              <a:rPr lang="en-US" dirty="0"/>
              <a:t>("20-06-1999", "%d-%m-%Y")); </a:t>
            </a:r>
          </a:p>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created_date</a:t>
            </a:r>
            <a:r>
              <a:rPr lang="en-US" dirty="0"/>
              <a:t> | </a:t>
            </a:r>
            <a:r>
              <a:rPr lang="en-US" dirty="0" err="1"/>
              <a:t>created_by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(0.0006 sec) </a:t>
            </a:r>
            <a:endParaRPr lang="en-IN" dirty="0"/>
          </a:p>
        </p:txBody>
      </p:sp>
    </p:spTree>
    <p:extLst>
      <p:ext uri="{BB962C8B-B14F-4D97-AF65-F5344CB8AC3E}">
        <p14:creationId xmlns:p14="http://schemas.microsoft.com/office/powerpoint/2010/main" val="22798523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D9E5CDE-8DC5-C0F1-9719-7E8230BFBFA7}"/>
              </a:ext>
            </a:extLst>
          </p:cNvPr>
          <p:cNvSpPr txBox="1"/>
          <p:nvPr/>
        </p:nvSpPr>
        <p:spPr>
          <a:xfrm>
            <a:off x="884464" y="330565"/>
            <a:ext cx="10469335" cy="923330"/>
          </a:xfrm>
          <a:prstGeom prst="rect">
            <a:avLst/>
          </a:prstGeom>
          <a:noFill/>
        </p:spPr>
        <p:txBody>
          <a:bodyPr wrap="square">
            <a:spAutoFit/>
          </a:bodyPr>
          <a:lstStyle/>
          <a:p>
            <a:r>
              <a:rPr lang="en-US" b="1" i="0" dirty="0">
                <a:solidFill>
                  <a:srgbClr val="273239"/>
                </a:solidFill>
                <a:effectLst/>
                <a:latin typeface="Nunito" pitchFamily="2" charset="0"/>
              </a:rPr>
              <a:t>5. Before Delete Trigger:</a:t>
            </a:r>
            <a:r>
              <a:rPr lang="en-US" dirty="0"/>
              <a:t/>
            </a:r>
            <a:br>
              <a:rPr lang="en-US" dirty="0"/>
            </a:br>
            <a:r>
              <a:rPr lang="en-US" b="0" i="0" dirty="0">
                <a:solidFill>
                  <a:srgbClr val="273239"/>
                </a:solidFill>
                <a:effectLst/>
                <a:latin typeface="Nunito" pitchFamily="2" charset="0"/>
              </a:rPr>
              <a:t>As the name implies, this trigger is invoked before a delete occurs, or before deletion statement is implemented.</a:t>
            </a:r>
            <a:endParaRPr lang="en-IN" dirty="0"/>
          </a:p>
        </p:txBody>
      </p:sp>
      <p:sp>
        <p:nvSpPr>
          <p:cNvPr id="6" name="TextBox 5">
            <a:extLst>
              <a:ext uri="{FF2B5EF4-FFF2-40B4-BE49-F238E27FC236}">
                <a16:creationId xmlns:a16="http://schemas.microsoft.com/office/drawing/2014/main" xmlns="" id="{7ECAFC50-B77C-8C0F-BAD7-F171BD525B07}"/>
              </a:ext>
            </a:extLst>
          </p:cNvPr>
          <p:cNvSpPr txBox="1"/>
          <p:nvPr/>
        </p:nvSpPr>
        <p:spPr>
          <a:xfrm>
            <a:off x="1165303" y="1805597"/>
            <a:ext cx="13860966" cy="2308324"/>
          </a:xfrm>
          <a:prstGeom prst="rect">
            <a:avLst/>
          </a:prstGeom>
          <a:noFill/>
        </p:spPr>
        <p:txBody>
          <a:bodyPr wrap="square">
            <a:spAutoFit/>
          </a:bodyPr>
          <a:lstStyle/>
          <a:p>
            <a:r>
              <a:rPr lang="en-US" dirty="0"/>
              <a:t>Consider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 (30) NOT NULL, </a:t>
            </a:r>
            <a:r>
              <a:rPr lang="en-US" dirty="0" err="1"/>
              <a:t>first_name</a:t>
            </a:r>
            <a:r>
              <a:rPr lang="en-US" dirty="0"/>
              <a:t> VARCHAR (25), </a:t>
            </a:r>
          </a:p>
          <a:p>
            <a:r>
              <a:rPr lang="en-US" dirty="0"/>
              <a:t>                             birthday DATE, </a:t>
            </a:r>
            <a:r>
              <a:rPr lang="en-US" dirty="0" err="1"/>
              <a:t>created_date</a:t>
            </a:r>
            <a:r>
              <a:rPr lang="en-US" dirty="0"/>
              <a:t> DATE, </a:t>
            </a:r>
            <a:r>
              <a:rPr lang="en-US" dirty="0" err="1"/>
              <a:t>created_by</a:t>
            </a:r>
            <a:r>
              <a:rPr lang="en-US" dirty="0"/>
              <a:t> VARCHAR(30), </a:t>
            </a:r>
          </a:p>
          <a:p>
            <a:r>
              <a:rPr lang="en-US" dirty="0"/>
              <a:t>                             CONSTRAINT </a:t>
            </a:r>
            <a:r>
              <a:rPr lang="en-US" dirty="0" err="1"/>
              <a:t>contacts_pk</a:t>
            </a:r>
            <a:r>
              <a:rPr lang="en-US" dirty="0"/>
              <a:t> PRIMARY KEY (</a:t>
            </a:r>
            <a:r>
              <a:rPr lang="en-US" dirty="0" err="1"/>
              <a:t>contact_id</a:t>
            </a:r>
            <a:r>
              <a:rPr lang="en-US" dirty="0"/>
              <a:t>));</a:t>
            </a:r>
          </a:p>
          <a:p>
            <a:endParaRPr lang="en-US" dirty="0"/>
          </a:p>
          <a:p>
            <a:r>
              <a:rPr lang="en-US" dirty="0"/>
              <a:t>create table </a:t>
            </a:r>
            <a:r>
              <a:rPr lang="en-US" dirty="0" err="1"/>
              <a:t>contacts_audit</a:t>
            </a:r>
            <a:r>
              <a:rPr lang="en-US" dirty="0"/>
              <a:t> (</a:t>
            </a:r>
            <a:r>
              <a:rPr lang="en-US" dirty="0" err="1"/>
              <a:t>contact_id</a:t>
            </a:r>
            <a:r>
              <a:rPr lang="en-US" dirty="0"/>
              <a:t> integer, </a:t>
            </a:r>
            <a:r>
              <a:rPr lang="en-US" dirty="0" err="1"/>
              <a:t>deleted_date</a:t>
            </a:r>
            <a:r>
              <a:rPr lang="en-US" dirty="0"/>
              <a:t> date, </a:t>
            </a:r>
            <a:r>
              <a:rPr lang="en-US" dirty="0" err="1"/>
              <a:t>deleted_by</a:t>
            </a:r>
            <a:r>
              <a:rPr lang="en-US" dirty="0"/>
              <a:t> varchar(20)); </a:t>
            </a:r>
            <a:endParaRPr lang="en-IN" dirty="0"/>
          </a:p>
        </p:txBody>
      </p:sp>
    </p:spTree>
    <p:extLst>
      <p:ext uri="{BB962C8B-B14F-4D97-AF65-F5344CB8AC3E}">
        <p14:creationId xmlns:p14="http://schemas.microsoft.com/office/powerpoint/2010/main" val="104365926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E6361DB-4B8E-916A-F80E-3B19070F1331}"/>
              </a:ext>
            </a:extLst>
          </p:cNvPr>
          <p:cNvSpPr txBox="1"/>
          <p:nvPr/>
        </p:nvSpPr>
        <p:spPr>
          <a:xfrm>
            <a:off x="0" y="197346"/>
            <a:ext cx="17769468" cy="6463308"/>
          </a:xfrm>
          <a:prstGeom prst="rect">
            <a:avLst/>
          </a:prstGeom>
          <a:noFill/>
        </p:spPr>
        <p:txBody>
          <a:bodyPr wrap="square">
            <a:spAutoFit/>
          </a:bodyPr>
          <a:lstStyle/>
          <a:p>
            <a:r>
              <a:rPr lang="en-IN" dirty="0"/>
              <a:t>Trigger to insert </a:t>
            </a:r>
            <a:r>
              <a:rPr lang="en-IN" dirty="0" err="1"/>
              <a:t>contact_id</a:t>
            </a:r>
            <a:r>
              <a:rPr lang="en-IN" dirty="0"/>
              <a:t> and contact deletion-date/user information into </a:t>
            </a:r>
            <a:r>
              <a:rPr lang="en-IN" dirty="0" err="1"/>
              <a:t>contacts_audit</a:t>
            </a:r>
            <a:r>
              <a:rPr lang="en-IN" dirty="0"/>
              <a:t> record before a delete occurs:</a:t>
            </a:r>
          </a:p>
          <a:p>
            <a:endParaRPr lang="en-IN" dirty="0"/>
          </a:p>
          <a:p>
            <a:r>
              <a:rPr lang="en-IN" dirty="0"/>
              <a:t>delimiter //</a:t>
            </a:r>
          </a:p>
          <a:p>
            <a:r>
              <a:rPr lang="en-IN" dirty="0"/>
              <a:t>create trigger </a:t>
            </a:r>
            <a:r>
              <a:rPr lang="en-IN" dirty="0" err="1"/>
              <a:t>contacts_before_delete</a:t>
            </a:r>
            <a:endParaRPr lang="en-IN" dirty="0"/>
          </a:p>
          <a:p>
            <a:r>
              <a:rPr lang="en-IN" dirty="0"/>
              <a:t>            -&gt; before delete</a:t>
            </a:r>
          </a:p>
          <a:p>
            <a:r>
              <a:rPr lang="en-IN" dirty="0"/>
              <a:t>            -&gt; on contacts for each row</a:t>
            </a:r>
          </a:p>
          <a:p>
            <a:r>
              <a:rPr lang="en-IN" dirty="0"/>
              <a:t>            -&gt; begin</a:t>
            </a:r>
          </a:p>
          <a:p>
            <a:r>
              <a:rPr lang="en-IN" dirty="0"/>
              <a:t>            -&gt;</a:t>
            </a:r>
          </a:p>
          <a:p>
            <a:r>
              <a:rPr lang="en-IN" dirty="0"/>
              <a:t>            -&gt;    DECLARE </a:t>
            </a:r>
            <a:r>
              <a:rPr lang="en-IN" dirty="0" err="1"/>
              <a:t>vUser</a:t>
            </a:r>
            <a:r>
              <a:rPr lang="en-IN" dirty="0"/>
              <a:t> varchar(50);</a:t>
            </a:r>
          </a:p>
          <a:p>
            <a:r>
              <a:rPr lang="en-IN" dirty="0"/>
              <a:t>            -&gt;</a:t>
            </a:r>
          </a:p>
          <a:p>
            <a:r>
              <a:rPr lang="en-IN" dirty="0"/>
              <a:t>            -&gt;    -- Find username of person performing the DELETE into table</a:t>
            </a:r>
          </a:p>
          <a:p>
            <a:r>
              <a:rPr lang="en-IN" dirty="0"/>
              <a:t>            -&gt;    SELECT USER() into </a:t>
            </a:r>
            <a:r>
              <a:rPr lang="en-IN" dirty="0" err="1"/>
              <a:t>vUser</a:t>
            </a:r>
            <a:r>
              <a:rPr lang="en-IN" dirty="0"/>
              <a:t>;</a:t>
            </a:r>
          </a:p>
          <a:p>
            <a:r>
              <a:rPr lang="en-IN" dirty="0"/>
              <a:t>            -&gt;</a:t>
            </a:r>
          </a:p>
          <a:p>
            <a:r>
              <a:rPr lang="en-IN" dirty="0"/>
              <a:t>            -&gt;    -- Insert record into audit table</a:t>
            </a:r>
          </a:p>
          <a:p>
            <a:r>
              <a:rPr lang="en-IN" dirty="0"/>
              <a:t>            -&gt;    INSERT into </a:t>
            </a:r>
            <a:r>
              <a:rPr lang="en-IN" dirty="0" err="1"/>
              <a:t>contacts_audit</a:t>
            </a:r>
            <a:endParaRPr lang="en-IN" dirty="0"/>
          </a:p>
          <a:p>
            <a:r>
              <a:rPr lang="en-IN" dirty="0"/>
              <a:t>            -&gt;    ( </a:t>
            </a:r>
            <a:r>
              <a:rPr lang="en-IN" dirty="0" err="1"/>
              <a:t>contact_id</a:t>
            </a:r>
            <a:r>
              <a:rPr lang="en-IN" dirty="0"/>
              <a:t>,</a:t>
            </a:r>
          </a:p>
          <a:p>
            <a:r>
              <a:rPr lang="en-IN" dirty="0"/>
              <a:t>            -&gt;      </a:t>
            </a:r>
            <a:r>
              <a:rPr lang="en-IN" dirty="0" err="1"/>
              <a:t>deleted_date</a:t>
            </a:r>
            <a:r>
              <a:rPr lang="en-IN" dirty="0"/>
              <a:t>,</a:t>
            </a:r>
          </a:p>
          <a:p>
            <a:r>
              <a:rPr lang="en-IN" dirty="0"/>
              <a:t>            -&gt;      </a:t>
            </a:r>
            <a:r>
              <a:rPr lang="en-IN" dirty="0" err="1"/>
              <a:t>deleted_by</a:t>
            </a:r>
            <a:r>
              <a:rPr lang="en-IN" dirty="0"/>
              <a:t>)</a:t>
            </a:r>
          </a:p>
          <a:p>
            <a:r>
              <a:rPr lang="en-IN" dirty="0"/>
              <a:t>            -&gt;    VALUES</a:t>
            </a:r>
          </a:p>
          <a:p>
            <a:r>
              <a:rPr lang="en-IN" dirty="0"/>
              <a:t>            -&gt;    ( </a:t>
            </a:r>
            <a:r>
              <a:rPr lang="en-IN" dirty="0" err="1"/>
              <a:t>OLD.contact_id</a:t>
            </a:r>
            <a:r>
              <a:rPr lang="en-IN" dirty="0"/>
              <a:t>,</a:t>
            </a:r>
          </a:p>
          <a:p>
            <a:r>
              <a:rPr lang="en-IN" dirty="0"/>
              <a:t>            -&gt;      SYSDATE(),</a:t>
            </a:r>
          </a:p>
          <a:p>
            <a:r>
              <a:rPr lang="en-IN" dirty="0"/>
              <a:t>            -&gt;      </a:t>
            </a:r>
            <a:r>
              <a:rPr lang="en-IN" dirty="0" err="1"/>
              <a:t>vUser</a:t>
            </a:r>
            <a:r>
              <a:rPr lang="en-IN" dirty="0"/>
              <a:t> );</a:t>
            </a:r>
          </a:p>
          <a:p>
            <a:r>
              <a:rPr lang="en-IN" dirty="0"/>
              <a:t>            -&gt; end; // </a:t>
            </a:r>
          </a:p>
        </p:txBody>
      </p:sp>
    </p:spTree>
    <p:extLst>
      <p:ext uri="{BB962C8B-B14F-4D97-AF65-F5344CB8AC3E}">
        <p14:creationId xmlns:p14="http://schemas.microsoft.com/office/powerpoint/2010/main" val="40742355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C14EABF6-7569-B1EA-D56D-AFD69AC24790}"/>
              </a:ext>
            </a:extLst>
          </p:cNvPr>
          <p:cNvSpPr txBox="1"/>
          <p:nvPr/>
        </p:nvSpPr>
        <p:spPr>
          <a:xfrm>
            <a:off x="593272" y="546437"/>
            <a:ext cx="8262256" cy="2031325"/>
          </a:xfrm>
          <a:prstGeom prst="rect">
            <a:avLst/>
          </a:prstGeom>
          <a:noFill/>
        </p:spPr>
        <p:txBody>
          <a:bodyPr wrap="square">
            <a:spAutoFit/>
          </a:bodyPr>
          <a:lstStyle/>
          <a:p>
            <a:r>
              <a:rPr lang="en-US" dirty="0"/>
              <a:t>Making an insert and then deleting the same to invoke the trigger:</a:t>
            </a:r>
          </a:p>
          <a:p>
            <a:endParaRPr lang="en-US" dirty="0"/>
          </a:p>
          <a:p>
            <a:r>
              <a:rPr lang="en-US" dirty="0"/>
              <a:t>delimiter;</a:t>
            </a:r>
          </a:p>
          <a:p>
            <a:r>
              <a:rPr lang="en-US" dirty="0"/>
              <a:t>insert into contacts values (1, "Bond", "Ruskin", </a:t>
            </a:r>
          </a:p>
          <a:p>
            <a:r>
              <a:rPr lang="en-US" dirty="0"/>
              <a:t>                             </a:t>
            </a:r>
            <a:r>
              <a:rPr lang="en-US" dirty="0" err="1"/>
              <a:t>str_to_date</a:t>
            </a:r>
            <a:r>
              <a:rPr lang="en-US" dirty="0"/>
              <a:t> ("19-08-1995", "%d-%m-%Y"), </a:t>
            </a:r>
          </a:p>
          <a:p>
            <a:r>
              <a:rPr lang="en-US" dirty="0"/>
              <a:t>                             </a:t>
            </a:r>
            <a:r>
              <a:rPr lang="en-US" dirty="0" err="1"/>
              <a:t>str_to_date</a:t>
            </a:r>
            <a:r>
              <a:rPr lang="en-US" dirty="0"/>
              <a:t> ("27-04-2018", "%d-%m-%Y"), "</a:t>
            </a:r>
            <a:r>
              <a:rPr lang="en-US" dirty="0" err="1"/>
              <a:t>xyz</a:t>
            </a:r>
            <a:r>
              <a:rPr lang="en-US" dirty="0"/>
              <a:t>");</a:t>
            </a:r>
          </a:p>
          <a:p>
            <a:r>
              <a:rPr lang="en-US" dirty="0"/>
              <a:t>delete from contacts where </a:t>
            </a:r>
            <a:r>
              <a:rPr lang="en-US" dirty="0" err="1"/>
              <a:t>last_name</a:t>
            </a:r>
            <a:r>
              <a:rPr lang="en-US" dirty="0"/>
              <a:t>="Bond"; </a:t>
            </a:r>
            <a:endParaRPr lang="en-IN" dirty="0"/>
          </a:p>
        </p:txBody>
      </p:sp>
      <p:sp>
        <p:nvSpPr>
          <p:cNvPr id="7" name="TextBox 6">
            <a:extLst>
              <a:ext uri="{FF2B5EF4-FFF2-40B4-BE49-F238E27FC236}">
                <a16:creationId xmlns:a16="http://schemas.microsoft.com/office/drawing/2014/main" xmlns="" id="{C963C35C-986B-AD9B-597E-547F6A414E61}"/>
              </a:ext>
            </a:extLst>
          </p:cNvPr>
          <p:cNvSpPr txBox="1"/>
          <p:nvPr/>
        </p:nvSpPr>
        <p:spPr>
          <a:xfrm>
            <a:off x="1943100" y="3167827"/>
            <a:ext cx="11669750" cy="2585323"/>
          </a:xfrm>
          <a:prstGeom prst="rect">
            <a:avLst/>
          </a:prstGeom>
          <a:noFill/>
        </p:spPr>
        <p:txBody>
          <a:bodyPr wrap="square">
            <a:spAutoFit/>
          </a:bodyPr>
          <a:lstStyle/>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deleted_date</a:t>
            </a:r>
            <a:r>
              <a:rPr lang="en-US" dirty="0"/>
              <a:t> | </a:t>
            </a:r>
            <a:r>
              <a:rPr lang="en-US" dirty="0" err="1"/>
              <a:t>deleted_by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(0.0007 sec) </a:t>
            </a:r>
            <a:endParaRPr lang="en-IN" dirty="0"/>
          </a:p>
        </p:txBody>
      </p:sp>
    </p:spTree>
    <p:extLst>
      <p:ext uri="{BB962C8B-B14F-4D97-AF65-F5344CB8AC3E}">
        <p14:creationId xmlns:p14="http://schemas.microsoft.com/office/powerpoint/2010/main" val="19694760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FE28E0A1-DADC-3607-FB10-EB3AB965A336}"/>
              </a:ext>
            </a:extLst>
          </p:cNvPr>
          <p:cNvSpPr txBox="1"/>
          <p:nvPr/>
        </p:nvSpPr>
        <p:spPr>
          <a:xfrm>
            <a:off x="884464" y="479949"/>
            <a:ext cx="8923564" cy="923330"/>
          </a:xfrm>
          <a:prstGeom prst="rect">
            <a:avLst/>
          </a:prstGeom>
          <a:noFill/>
        </p:spPr>
        <p:txBody>
          <a:bodyPr wrap="square">
            <a:spAutoFit/>
          </a:bodyPr>
          <a:lstStyle/>
          <a:p>
            <a:r>
              <a:rPr lang="en-US" b="1" i="0" dirty="0">
                <a:solidFill>
                  <a:srgbClr val="273239"/>
                </a:solidFill>
                <a:effectLst/>
                <a:latin typeface="Nunito" pitchFamily="2" charset="0"/>
              </a:rPr>
              <a:t>6. After Delete Trigger:</a:t>
            </a:r>
            <a:r>
              <a:rPr lang="en-US" dirty="0"/>
              <a:t/>
            </a:r>
            <a:br>
              <a:rPr lang="en-US" dirty="0"/>
            </a:br>
            <a:r>
              <a:rPr lang="en-US" b="0" i="0" dirty="0">
                <a:solidFill>
                  <a:srgbClr val="273239"/>
                </a:solidFill>
                <a:effectLst/>
                <a:latin typeface="Nunito" pitchFamily="2" charset="0"/>
              </a:rPr>
              <a:t>As the name implies, this trigger is invoked after a delete occurs, or after a delete operation is implemented.</a:t>
            </a:r>
            <a:endParaRPr lang="en-IN" dirty="0"/>
          </a:p>
        </p:txBody>
      </p:sp>
      <p:sp>
        <p:nvSpPr>
          <p:cNvPr id="12" name="TextBox 11">
            <a:extLst>
              <a:ext uri="{FF2B5EF4-FFF2-40B4-BE49-F238E27FC236}">
                <a16:creationId xmlns:a16="http://schemas.microsoft.com/office/drawing/2014/main" xmlns="" id="{0541D817-2AC9-4E9F-F436-E0BD48F3A0AD}"/>
              </a:ext>
            </a:extLst>
          </p:cNvPr>
          <p:cNvSpPr txBox="1"/>
          <p:nvPr/>
        </p:nvSpPr>
        <p:spPr>
          <a:xfrm>
            <a:off x="1299118" y="2318552"/>
            <a:ext cx="13860966" cy="2308324"/>
          </a:xfrm>
          <a:prstGeom prst="rect">
            <a:avLst/>
          </a:prstGeom>
          <a:noFill/>
        </p:spPr>
        <p:txBody>
          <a:bodyPr wrap="square">
            <a:spAutoFit/>
          </a:bodyPr>
          <a:lstStyle/>
          <a:p>
            <a:r>
              <a:rPr lang="en-US" dirty="0"/>
              <a:t>Consider the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 (30) NOT NULL, </a:t>
            </a:r>
            <a:r>
              <a:rPr lang="en-US" dirty="0" err="1"/>
              <a:t>first_name</a:t>
            </a:r>
            <a:r>
              <a:rPr lang="en-US" dirty="0"/>
              <a:t> VARCHAR (25), </a:t>
            </a:r>
          </a:p>
          <a:p>
            <a:r>
              <a:rPr lang="en-US" dirty="0"/>
              <a:t>                            birthday DATE, </a:t>
            </a:r>
            <a:r>
              <a:rPr lang="en-US" dirty="0" err="1"/>
              <a:t>created_date</a:t>
            </a:r>
            <a:r>
              <a:rPr lang="en-US" dirty="0"/>
              <a:t> DATE, </a:t>
            </a:r>
            <a:r>
              <a:rPr lang="en-US" dirty="0" err="1"/>
              <a:t>created_by</a:t>
            </a:r>
            <a:r>
              <a:rPr lang="en-US" dirty="0"/>
              <a:t> VARCHAR (30), </a:t>
            </a:r>
          </a:p>
          <a:p>
            <a:r>
              <a:rPr lang="en-US" dirty="0"/>
              <a:t>                            CONSTRAINT </a:t>
            </a:r>
            <a:r>
              <a:rPr lang="en-US" dirty="0" err="1"/>
              <a:t>contacts_pk</a:t>
            </a:r>
            <a:r>
              <a:rPr lang="en-US" dirty="0"/>
              <a:t> PRIMARY KEY (</a:t>
            </a:r>
            <a:r>
              <a:rPr lang="en-US" dirty="0" err="1"/>
              <a:t>contact_id</a:t>
            </a:r>
            <a:r>
              <a:rPr lang="en-US" dirty="0"/>
              <a:t>));</a:t>
            </a:r>
          </a:p>
          <a:p>
            <a:endParaRPr lang="en-US" dirty="0"/>
          </a:p>
          <a:p>
            <a:r>
              <a:rPr lang="en-US" dirty="0"/>
              <a:t>create table </a:t>
            </a:r>
            <a:r>
              <a:rPr lang="en-US" dirty="0" err="1"/>
              <a:t>contacts_audit</a:t>
            </a:r>
            <a:r>
              <a:rPr lang="en-US" dirty="0"/>
              <a:t> (</a:t>
            </a:r>
            <a:r>
              <a:rPr lang="en-US" dirty="0" err="1"/>
              <a:t>contact_id</a:t>
            </a:r>
            <a:r>
              <a:rPr lang="en-US" dirty="0"/>
              <a:t> integer, </a:t>
            </a:r>
            <a:r>
              <a:rPr lang="en-US" dirty="0" err="1"/>
              <a:t>deleted_date</a:t>
            </a:r>
            <a:r>
              <a:rPr lang="en-US" dirty="0"/>
              <a:t> date, </a:t>
            </a:r>
            <a:r>
              <a:rPr lang="en-US" dirty="0" err="1"/>
              <a:t>deleted_by</a:t>
            </a:r>
            <a:r>
              <a:rPr lang="en-US" dirty="0"/>
              <a:t> varchar(20));</a:t>
            </a:r>
            <a:endParaRPr lang="en-IN" dirty="0"/>
          </a:p>
        </p:txBody>
      </p:sp>
    </p:spTree>
    <p:extLst>
      <p:ext uri="{BB962C8B-B14F-4D97-AF65-F5344CB8AC3E}">
        <p14:creationId xmlns:p14="http://schemas.microsoft.com/office/powerpoint/2010/main" val="4709359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624A6BFD-AB69-47F3-D520-F832938D9595}"/>
              </a:ext>
            </a:extLst>
          </p:cNvPr>
          <p:cNvSpPr txBox="1"/>
          <p:nvPr/>
        </p:nvSpPr>
        <p:spPr>
          <a:xfrm>
            <a:off x="0" y="0"/>
            <a:ext cx="17139424" cy="6186309"/>
          </a:xfrm>
          <a:prstGeom prst="rect">
            <a:avLst/>
          </a:prstGeom>
          <a:noFill/>
        </p:spPr>
        <p:txBody>
          <a:bodyPr wrap="square">
            <a:spAutoFit/>
          </a:bodyPr>
          <a:lstStyle/>
          <a:p>
            <a:r>
              <a:rPr lang="en-IN" dirty="0"/>
              <a:t>Trigger to insert </a:t>
            </a:r>
            <a:r>
              <a:rPr lang="en-IN" dirty="0" err="1"/>
              <a:t>contact_id</a:t>
            </a:r>
            <a:r>
              <a:rPr lang="en-IN" dirty="0"/>
              <a:t> and contact deletion-date/user information into </a:t>
            </a:r>
            <a:r>
              <a:rPr lang="en-IN" dirty="0" err="1"/>
              <a:t>contacts_audit</a:t>
            </a:r>
            <a:r>
              <a:rPr lang="en-IN" dirty="0"/>
              <a:t> record after a delete occurs:</a:t>
            </a:r>
          </a:p>
          <a:p>
            <a:endParaRPr lang="en-IN" dirty="0"/>
          </a:p>
          <a:p>
            <a:r>
              <a:rPr lang="en-IN" dirty="0"/>
              <a:t>create trigger </a:t>
            </a:r>
            <a:r>
              <a:rPr lang="en-IN" dirty="0" err="1"/>
              <a:t>contacts_after_delete</a:t>
            </a:r>
            <a:endParaRPr lang="en-IN" dirty="0"/>
          </a:p>
          <a:p>
            <a:r>
              <a:rPr lang="en-IN" dirty="0"/>
              <a:t>           -&gt; after delete</a:t>
            </a:r>
          </a:p>
          <a:p>
            <a:r>
              <a:rPr lang="en-IN" dirty="0"/>
              <a:t>           -&gt; on contacts for each row</a:t>
            </a:r>
          </a:p>
          <a:p>
            <a:r>
              <a:rPr lang="en-IN" dirty="0"/>
              <a:t>           -&gt; begin</a:t>
            </a:r>
          </a:p>
          <a:p>
            <a:r>
              <a:rPr lang="en-IN" dirty="0"/>
              <a:t>           -&gt;</a:t>
            </a:r>
          </a:p>
          <a:p>
            <a:r>
              <a:rPr lang="en-IN" dirty="0"/>
              <a:t>           -&gt;    DECLARE </a:t>
            </a:r>
            <a:r>
              <a:rPr lang="en-IN" dirty="0" err="1"/>
              <a:t>vUser</a:t>
            </a:r>
            <a:r>
              <a:rPr lang="en-IN" dirty="0"/>
              <a:t> varchar(50);</a:t>
            </a:r>
          </a:p>
          <a:p>
            <a:r>
              <a:rPr lang="en-IN" dirty="0"/>
              <a:t>           -&gt;</a:t>
            </a:r>
          </a:p>
          <a:p>
            <a:r>
              <a:rPr lang="en-IN" dirty="0"/>
              <a:t>           -&gt;    -- Find username of person performing the DELETE into table</a:t>
            </a:r>
          </a:p>
          <a:p>
            <a:r>
              <a:rPr lang="en-IN" dirty="0"/>
              <a:t>           -&gt;    SELECT USER() into </a:t>
            </a:r>
            <a:r>
              <a:rPr lang="en-IN" dirty="0" err="1"/>
              <a:t>vUser</a:t>
            </a:r>
            <a:r>
              <a:rPr lang="en-IN" dirty="0"/>
              <a:t>;</a:t>
            </a:r>
          </a:p>
          <a:p>
            <a:r>
              <a:rPr lang="en-IN" dirty="0"/>
              <a:t>           -&gt;</a:t>
            </a:r>
          </a:p>
          <a:p>
            <a:r>
              <a:rPr lang="en-IN" dirty="0"/>
              <a:t>           -&gt;    -- Insert record into audit table</a:t>
            </a:r>
          </a:p>
          <a:p>
            <a:r>
              <a:rPr lang="en-IN" dirty="0"/>
              <a:t>           -&gt;    INSERT into </a:t>
            </a:r>
            <a:r>
              <a:rPr lang="en-IN" dirty="0" err="1"/>
              <a:t>contacts_audit</a:t>
            </a:r>
            <a:endParaRPr lang="en-IN" dirty="0"/>
          </a:p>
          <a:p>
            <a:r>
              <a:rPr lang="en-IN" dirty="0"/>
              <a:t>           -&gt;    ( </a:t>
            </a:r>
            <a:r>
              <a:rPr lang="en-IN" dirty="0" err="1"/>
              <a:t>contact_id</a:t>
            </a:r>
            <a:r>
              <a:rPr lang="en-IN" dirty="0"/>
              <a:t>,</a:t>
            </a:r>
          </a:p>
          <a:p>
            <a:r>
              <a:rPr lang="en-IN" dirty="0"/>
              <a:t>           -&gt;      </a:t>
            </a:r>
            <a:r>
              <a:rPr lang="en-IN" dirty="0" err="1"/>
              <a:t>deleted_date</a:t>
            </a:r>
            <a:r>
              <a:rPr lang="en-IN" dirty="0"/>
              <a:t>,</a:t>
            </a:r>
          </a:p>
          <a:p>
            <a:r>
              <a:rPr lang="en-IN" dirty="0"/>
              <a:t>           -&gt;      </a:t>
            </a:r>
            <a:r>
              <a:rPr lang="en-IN" dirty="0" err="1"/>
              <a:t>deleted_by</a:t>
            </a:r>
            <a:r>
              <a:rPr lang="en-IN" dirty="0"/>
              <a:t>)</a:t>
            </a:r>
          </a:p>
          <a:p>
            <a:r>
              <a:rPr lang="en-IN" dirty="0"/>
              <a:t>           -&gt;    VALUES</a:t>
            </a:r>
          </a:p>
          <a:p>
            <a:r>
              <a:rPr lang="en-IN" dirty="0"/>
              <a:t>           -&gt;    ( </a:t>
            </a:r>
            <a:r>
              <a:rPr lang="en-IN" dirty="0" err="1"/>
              <a:t>OLD.contact_id</a:t>
            </a:r>
            <a:r>
              <a:rPr lang="en-IN" dirty="0"/>
              <a:t>,</a:t>
            </a:r>
          </a:p>
          <a:p>
            <a:r>
              <a:rPr lang="en-IN" dirty="0"/>
              <a:t>           -&gt;      SYSDATE(),</a:t>
            </a:r>
          </a:p>
          <a:p>
            <a:r>
              <a:rPr lang="en-IN" dirty="0"/>
              <a:t>           -&gt;      </a:t>
            </a:r>
            <a:r>
              <a:rPr lang="en-IN" dirty="0" err="1"/>
              <a:t>vUser</a:t>
            </a:r>
            <a:r>
              <a:rPr lang="en-IN" dirty="0"/>
              <a:t> );</a:t>
            </a:r>
          </a:p>
          <a:p>
            <a:r>
              <a:rPr lang="en-IN" dirty="0"/>
              <a:t>           -&gt; end; // </a:t>
            </a:r>
          </a:p>
        </p:txBody>
      </p:sp>
    </p:spTree>
    <p:extLst>
      <p:ext uri="{BB962C8B-B14F-4D97-AF65-F5344CB8AC3E}">
        <p14:creationId xmlns:p14="http://schemas.microsoft.com/office/powerpoint/2010/main" val="328258422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8C260052-CE46-988E-AE5D-BCA63FF629D2}"/>
              </a:ext>
            </a:extLst>
          </p:cNvPr>
          <p:cNvSpPr txBox="1"/>
          <p:nvPr/>
        </p:nvSpPr>
        <p:spPr>
          <a:xfrm>
            <a:off x="234043" y="219866"/>
            <a:ext cx="8392884" cy="2031325"/>
          </a:xfrm>
          <a:prstGeom prst="rect">
            <a:avLst/>
          </a:prstGeom>
          <a:noFill/>
        </p:spPr>
        <p:txBody>
          <a:bodyPr wrap="square">
            <a:spAutoFit/>
          </a:bodyPr>
          <a:lstStyle/>
          <a:p>
            <a:r>
              <a:rPr lang="en-US" dirty="0"/>
              <a:t>Making an insert and deleting the same to invoke the trigger:</a:t>
            </a:r>
          </a:p>
          <a:p>
            <a:endParaRPr lang="en-US" dirty="0"/>
          </a:p>
          <a:p>
            <a:r>
              <a:rPr lang="en-US" dirty="0"/>
              <a:t>delimiter;</a:t>
            </a:r>
          </a:p>
          <a:p>
            <a:r>
              <a:rPr lang="en-US" dirty="0"/>
              <a:t>insert into contacts values (1, "Newton", "Isaac", </a:t>
            </a:r>
          </a:p>
          <a:p>
            <a:r>
              <a:rPr lang="en-US" dirty="0"/>
              <a:t>                             </a:t>
            </a:r>
            <a:r>
              <a:rPr lang="en-US" dirty="0" err="1"/>
              <a:t>str_to_date</a:t>
            </a:r>
            <a:r>
              <a:rPr lang="en-US" dirty="0"/>
              <a:t> ("19-08-1985", "%d-%m-%Y"), </a:t>
            </a:r>
          </a:p>
          <a:p>
            <a:r>
              <a:rPr lang="en-US" dirty="0"/>
              <a:t>                             </a:t>
            </a:r>
            <a:r>
              <a:rPr lang="en-US" dirty="0" err="1"/>
              <a:t>str_to_date</a:t>
            </a:r>
            <a:r>
              <a:rPr lang="en-US" dirty="0"/>
              <a:t> ("23-07-2018", "%d-%m-%Y"), "</a:t>
            </a:r>
            <a:r>
              <a:rPr lang="en-US" dirty="0" err="1"/>
              <a:t>xyz</a:t>
            </a:r>
            <a:r>
              <a:rPr lang="en-US" dirty="0"/>
              <a:t>");</a:t>
            </a:r>
          </a:p>
          <a:p>
            <a:r>
              <a:rPr lang="en-US" dirty="0"/>
              <a:t>delete from contacts where </a:t>
            </a:r>
            <a:r>
              <a:rPr lang="en-US" dirty="0" err="1"/>
              <a:t>first_name</a:t>
            </a:r>
            <a:r>
              <a:rPr lang="en-US" dirty="0"/>
              <a:t>="Isaac"; </a:t>
            </a:r>
            <a:endParaRPr lang="en-IN" dirty="0"/>
          </a:p>
        </p:txBody>
      </p:sp>
      <p:sp>
        <p:nvSpPr>
          <p:cNvPr id="13" name="TextBox 12">
            <a:extLst>
              <a:ext uri="{FF2B5EF4-FFF2-40B4-BE49-F238E27FC236}">
                <a16:creationId xmlns:a16="http://schemas.microsoft.com/office/drawing/2014/main" xmlns="" id="{7D7026F1-C16F-5833-DACE-1951F2D8C8D4}"/>
              </a:ext>
            </a:extLst>
          </p:cNvPr>
          <p:cNvSpPr txBox="1"/>
          <p:nvPr/>
        </p:nvSpPr>
        <p:spPr>
          <a:xfrm>
            <a:off x="5723364" y="1762773"/>
            <a:ext cx="11669750" cy="2585323"/>
          </a:xfrm>
          <a:prstGeom prst="rect">
            <a:avLst/>
          </a:prstGeom>
          <a:noFill/>
        </p:spPr>
        <p:txBody>
          <a:bodyPr wrap="square">
            <a:spAutoFit/>
          </a:bodyPr>
          <a:lstStyle/>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deleted_date</a:t>
            </a:r>
            <a:r>
              <a:rPr lang="en-US" dirty="0"/>
              <a:t> | </a:t>
            </a:r>
            <a:r>
              <a:rPr lang="en-US" dirty="0" err="1"/>
              <a:t>deleted_by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(0.0009 sec) </a:t>
            </a:r>
            <a:endParaRPr lang="en-IN" dirty="0"/>
          </a:p>
        </p:txBody>
      </p:sp>
    </p:spTree>
    <p:extLst>
      <p:ext uri="{BB962C8B-B14F-4D97-AF65-F5344CB8AC3E}">
        <p14:creationId xmlns:p14="http://schemas.microsoft.com/office/powerpoint/2010/main" val="41751935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3F8DC73-002B-B176-6FD8-051403B3A5CB}"/>
              </a:ext>
            </a:extLst>
          </p:cNvPr>
          <p:cNvSpPr txBox="1"/>
          <p:nvPr/>
        </p:nvSpPr>
        <p:spPr>
          <a:xfrm>
            <a:off x="3657600" y="431321"/>
            <a:ext cx="4106174" cy="646331"/>
          </a:xfrm>
          <a:prstGeom prst="rect">
            <a:avLst/>
          </a:prstGeom>
          <a:noFill/>
        </p:spPr>
        <p:txBody>
          <a:bodyPr wrap="square" rtlCol="0">
            <a:spAutoFit/>
          </a:bodyPr>
          <a:lstStyle/>
          <a:p>
            <a:r>
              <a:rPr lang="en-US" dirty="0"/>
              <a:t>NESTED, CORRELATED, JOIN QUERIES</a:t>
            </a:r>
          </a:p>
          <a:p>
            <a:endParaRPr lang="en-IN" dirty="0"/>
          </a:p>
        </p:txBody>
      </p:sp>
      <p:pic>
        <p:nvPicPr>
          <p:cNvPr id="5" name="Picture 4">
            <a:extLst>
              <a:ext uri="{FF2B5EF4-FFF2-40B4-BE49-F238E27FC236}">
                <a16:creationId xmlns:a16="http://schemas.microsoft.com/office/drawing/2014/main" xmlns="" id="{03C4915A-3762-2AB6-472B-61B0B1DDC5DC}"/>
              </a:ext>
            </a:extLst>
          </p:cNvPr>
          <p:cNvPicPr>
            <a:picLocks noChangeAspect="1"/>
          </p:cNvPicPr>
          <p:nvPr/>
        </p:nvPicPr>
        <p:blipFill>
          <a:blip r:embed="rId2"/>
          <a:stretch>
            <a:fillRect/>
          </a:stretch>
        </p:blipFill>
        <p:spPr>
          <a:xfrm>
            <a:off x="565284" y="992733"/>
            <a:ext cx="10526594" cy="1629002"/>
          </a:xfrm>
          <a:prstGeom prst="rect">
            <a:avLst/>
          </a:prstGeom>
        </p:spPr>
      </p:pic>
      <p:pic>
        <p:nvPicPr>
          <p:cNvPr id="7" name="Picture 6">
            <a:extLst>
              <a:ext uri="{FF2B5EF4-FFF2-40B4-BE49-F238E27FC236}">
                <a16:creationId xmlns:a16="http://schemas.microsoft.com/office/drawing/2014/main" xmlns="" id="{C1966F81-78E7-82C3-2D7A-88E814D315B9}"/>
              </a:ext>
            </a:extLst>
          </p:cNvPr>
          <p:cNvPicPr>
            <a:picLocks noChangeAspect="1"/>
          </p:cNvPicPr>
          <p:nvPr/>
        </p:nvPicPr>
        <p:blipFill>
          <a:blip r:embed="rId3"/>
          <a:stretch>
            <a:fillRect/>
          </a:stretch>
        </p:blipFill>
        <p:spPr>
          <a:xfrm>
            <a:off x="514074" y="2859856"/>
            <a:ext cx="10393225" cy="1000265"/>
          </a:xfrm>
          <a:prstGeom prst="rect">
            <a:avLst/>
          </a:prstGeom>
        </p:spPr>
      </p:pic>
      <p:pic>
        <p:nvPicPr>
          <p:cNvPr id="9" name="Picture 8">
            <a:extLst>
              <a:ext uri="{FF2B5EF4-FFF2-40B4-BE49-F238E27FC236}">
                <a16:creationId xmlns:a16="http://schemas.microsoft.com/office/drawing/2014/main" xmlns="" id="{6D5ACBEF-628C-4031-5F70-74A93E143D74}"/>
              </a:ext>
            </a:extLst>
          </p:cNvPr>
          <p:cNvPicPr>
            <a:picLocks noChangeAspect="1"/>
          </p:cNvPicPr>
          <p:nvPr/>
        </p:nvPicPr>
        <p:blipFill>
          <a:blip r:embed="rId4"/>
          <a:stretch>
            <a:fillRect/>
          </a:stretch>
        </p:blipFill>
        <p:spPr>
          <a:xfrm>
            <a:off x="514074" y="4102555"/>
            <a:ext cx="10517068" cy="1047896"/>
          </a:xfrm>
          <a:prstGeom prst="rect">
            <a:avLst/>
          </a:prstGeom>
        </p:spPr>
      </p:pic>
    </p:spTree>
    <p:extLst>
      <p:ext uri="{BB962C8B-B14F-4D97-AF65-F5344CB8AC3E}">
        <p14:creationId xmlns:p14="http://schemas.microsoft.com/office/powerpoint/2010/main" val="38994958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F1F3F9C-D91D-3B7C-156F-C33AA75C8FE2}"/>
              </a:ext>
            </a:extLst>
          </p:cNvPr>
          <p:cNvPicPr>
            <a:picLocks noChangeAspect="1"/>
          </p:cNvPicPr>
          <p:nvPr/>
        </p:nvPicPr>
        <p:blipFill>
          <a:blip r:embed="rId2"/>
          <a:stretch>
            <a:fillRect/>
          </a:stretch>
        </p:blipFill>
        <p:spPr>
          <a:xfrm>
            <a:off x="567719" y="362414"/>
            <a:ext cx="10383699" cy="2372056"/>
          </a:xfrm>
          <a:prstGeom prst="rect">
            <a:avLst/>
          </a:prstGeom>
        </p:spPr>
      </p:pic>
      <p:pic>
        <p:nvPicPr>
          <p:cNvPr id="5" name="Picture 4">
            <a:extLst>
              <a:ext uri="{FF2B5EF4-FFF2-40B4-BE49-F238E27FC236}">
                <a16:creationId xmlns:a16="http://schemas.microsoft.com/office/drawing/2014/main" xmlns="" id="{F948E81B-FE0C-5AEA-96EB-1E8BD3ABA6CA}"/>
              </a:ext>
            </a:extLst>
          </p:cNvPr>
          <p:cNvPicPr>
            <a:picLocks noChangeAspect="1"/>
          </p:cNvPicPr>
          <p:nvPr/>
        </p:nvPicPr>
        <p:blipFill>
          <a:blip r:embed="rId3"/>
          <a:stretch>
            <a:fillRect/>
          </a:stretch>
        </p:blipFill>
        <p:spPr>
          <a:xfrm>
            <a:off x="567719" y="2881236"/>
            <a:ext cx="10307488" cy="1095528"/>
          </a:xfrm>
          <a:prstGeom prst="rect">
            <a:avLst/>
          </a:prstGeom>
        </p:spPr>
      </p:pic>
    </p:spTree>
    <p:extLst>
      <p:ext uri="{BB962C8B-B14F-4D97-AF65-F5344CB8AC3E}">
        <p14:creationId xmlns:p14="http://schemas.microsoft.com/office/powerpoint/2010/main" val="246725289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F3A54BB-628C-574E-D86C-2D234E4953D7}"/>
              </a:ext>
            </a:extLst>
          </p:cNvPr>
          <p:cNvPicPr>
            <a:picLocks noChangeAspect="1"/>
          </p:cNvPicPr>
          <p:nvPr/>
        </p:nvPicPr>
        <p:blipFill>
          <a:blip r:embed="rId2"/>
          <a:stretch>
            <a:fillRect/>
          </a:stretch>
        </p:blipFill>
        <p:spPr>
          <a:xfrm>
            <a:off x="824449" y="1246171"/>
            <a:ext cx="10336067" cy="2381582"/>
          </a:xfrm>
          <a:prstGeom prst="rect">
            <a:avLst/>
          </a:prstGeom>
        </p:spPr>
      </p:pic>
      <p:pic>
        <p:nvPicPr>
          <p:cNvPr id="5" name="Picture 4">
            <a:extLst>
              <a:ext uri="{FF2B5EF4-FFF2-40B4-BE49-F238E27FC236}">
                <a16:creationId xmlns:a16="http://schemas.microsoft.com/office/drawing/2014/main" xmlns="" id="{656680B0-8114-10DE-D351-807443702E01}"/>
              </a:ext>
            </a:extLst>
          </p:cNvPr>
          <p:cNvPicPr>
            <a:picLocks noChangeAspect="1"/>
          </p:cNvPicPr>
          <p:nvPr/>
        </p:nvPicPr>
        <p:blipFill>
          <a:blip r:embed="rId3"/>
          <a:stretch>
            <a:fillRect/>
          </a:stretch>
        </p:blipFill>
        <p:spPr>
          <a:xfrm>
            <a:off x="824449" y="3893317"/>
            <a:ext cx="9307224" cy="2314898"/>
          </a:xfrm>
          <a:prstGeom prst="rect">
            <a:avLst/>
          </a:prstGeom>
        </p:spPr>
      </p:pic>
    </p:spTree>
    <p:extLst>
      <p:ext uri="{BB962C8B-B14F-4D97-AF65-F5344CB8AC3E}">
        <p14:creationId xmlns:p14="http://schemas.microsoft.com/office/powerpoint/2010/main" val="226043401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69C2B32-1295-8954-7076-DF8FBC7EE299}"/>
              </a:ext>
            </a:extLst>
          </p:cNvPr>
          <p:cNvPicPr>
            <a:picLocks noChangeAspect="1"/>
          </p:cNvPicPr>
          <p:nvPr/>
        </p:nvPicPr>
        <p:blipFill>
          <a:blip r:embed="rId2"/>
          <a:stretch>
            <a:fillRect/>
          </a:stretch>
        </p:blipFill>
        <p:spPr>
          <a:xfrm>
            <a:off x="367885" y="283985"/>
            <a:ext cx="10231278" cy="2114845"/>
          </a:xfrm>
          <a:prstGeom prst="rect">
            <a:avLst/>
          </a:prstGeom>
        </p:spPr>
      </p:pic>
    </p:spTree>
    <p:extLst>
      <p:ext uri="{BB962C8B-B14F-4D97-AF65-F5344CB8AC3E}">
        <p14:creationId xmlns:p14="http://schemas.microsoft.com/office/powerpoint/2010/main" val="10967269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D2909E4-CB62-58F3-A06F-469E9ACDFD5D}"/>
              </a:ext>
            </a:extLst>
          </p:cNvPr>
          <p:cNvPicPr>
            <a:picLocks noChangeAspect="1"/>
          </p:cNvPicPr>
          <p:nvPr/>
        </p:nvPicPr>
        <p:blipFill>
          <a:blip r:embed="rId2"/>
          <a:stretch>
            <a:fillRect/>
          </a:stretch>
        </p:blipFill>
        <p:spPr>
          <a:xfrm>
            <a:off x="1413809" y="351995"/>
            <a:ext cx="9364382" cy="6154009"/>
          </a:xfrm>
          <a:prstGeom prst="rect">
            <a:avLst/>
          </a:prstGeom>
        </p:spPr>
      </p:pic>
      <p:sp>
        <p:nvSpPr>
          <p:cNvPr id="2" name="TextBox 1">
            <a:extLst>
              <a:ext uri="{FF2B5EF4-FFF2-40B4-BE49-F238E27FC236}">
                <a16:creationId xmlns:a16="http://schemas.microsoft.com/office/drawing/2014/main" xmlns="" id="{7A846EBE-D27D-9BEF-8866-757CBFD9E720}"/>
              </a:ext>
            </a:extLst>
          </p:cNvPr>
          <p:cNvSpPr txBox="1"/>
          <p:nvPr/>
        </p:nvSpPr>
        <p:spPr>
          <a:xfrm>
            <a:off x="4149306" y="-17337"/>
            <a:ext cx="3303917" cy="369332"/>
          </a:xfrm>
          <a:prstGeom prst="rect">
            <a:avLst/>
          </a:prstGeom>
          <a:noFill/>
        </p:spPr>
        <p:txBody>
          <a:bodyPr wrap="square" rtlCol="0">
            <a:spAutoFit/>
          </a:bodyPr>
          <a:lstStyle/>
          <a:p>
            <a:r>
              <a:rPr lang="en-US" dirty="0"/>
              <a:t>NESTED QUERY</a:t>
            </a:r>
            <a:endParaRPr lang="en-IN" dirty="0"/>
          </a:p>
        </p:txBody>
      </p:sp>
    </p:spTree>
    <p:extLst>
      <p:ext uri="{BB962C8B-B14F-4D97-AF65-F5344CB8AC3E}">
        <p14:creationId xmlns:p14="http://schemas.microsoft.com/office/powerpoint/2010/main" val="304018532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8CF17B1-085D-C001-6B72-DE5E5BECE502}"/>
              </a:ext>
            </a:extLst>
          </p:cNvPr>
          <p:cNvPicPr>
            <a:picLocks noChangeAspect="1"/>
          </p:cNvPicPr>
          <p:nvPr/>
        </p:nvPicPr>
        <p:blipFill>
          <a:blip r:embed="rId2"/>
          <a:stretch>
            <a:fillRect/>
          </a:stretch>
        </p:blipFill>
        <p:spPr>
          <a:xfrm>
            <a:off x="544804" y="1857156"/>
            <a:ext cx="10412278" cy="1571844"/>
          </a:xfrm>
          <a:prstGeom prst="rect">
            <a:avLst/>
          </a:prstGeom>
        </p:spPr>
      </p:pic>
      <p:sp>
        <p:nvSpPr>
          <p:cNvPr id="2" name="TextBox 1">
            <a:extLst>
              <a:ext uri="{FF2B5EF4-FFF2-40B4-BE49-F238E27FC236}">
                <a16:creationId xmlns:a16="http://schemas.microsoft.com/office/drawing/2014/main" xmlns="" id="{F7A3FB75-1356-9BFF-C4EF-D427711AC5C5}"/>
              </a:ext>
            </a:extLst>
          </p:cNvPr>
          <p:cNvSpPr txBox="1"/>
          <p:nvPr/>
        </p:nvSpPr>
        <p:spPr>
          <a:xfrm>
            <a:off x="2958860" y="267419"/>
            <a:ext cx="3303917" cy="646331"/>
          </a:xfrm>
          <a:prstGeom prst="rect">
            <a:avLst/>
          </a:prstGeom>
          <a:noFill/>
        </p:spPr>
        <p:txBody>
          <a:bodyPr wrap="square" rtlCol="0">
            <a:spAutoFit/>
          </a:bodyPr>
          <a:lstStyle/>
          <a:p>
            <a:r>
              <a:rPr lang="en-US" dirty="0"/>
              <a:t>CORRELATED QUERY</a:t>
            </a:r>
          </a:p>
          <a:p>
            <a:endParaRPr lang="en-IN" dirty="0"/>
          </a:p>
        </p:txBody>
      </p:sp>
    </p:spTree>
    <p:extLst>
      <p:ext uri="{BB962C8B-B14F-4D97-AF65-F5344CB8AC3E}">
        <p14:creationId xmlns:p14="http://schemas.microsoft.com/office/powerpoint/2010/main" val="32553858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C32C09E-8FC6-6FF0-945C-E99133A07F9C}"/>
              </a:ext>
            </a:extLst>
          </p:cNvPr>
          <p:cNvPicPr>
            <a:picLocks noChangeAspect="1"/>
          </p:cNvPicPr>
          <p:nvPr/>
        </p:nvPicPr>
        <p:blipFill>
          <a:blip r:embed="rId2"/>
          <a:stretch>
            <a:fillRect/>
          </a:stretch>
        </p:blipFill>
        <p:spPr>
          <a:xfrm>
            <a:off x="2165230" y="924188"/>
            <a:ext cx="7288627" cy="4825574"/>
          </a:xfrm>
          <a:prstGeom prst="rect">
            <a:avLst/>
          </a:prstGeom>
        </p:spPr>
      </p:pic>
      <p:sp>
        <p:nvSpPr>
          <p:cNvPr id="4" name="TextBox 3">
            <a:extLst>
              <a:ext uri="{FF2B5EF4-FFF2-40B4-BE49-F238E27FC236}">
                <a16:creationId xmlns:a16="http://schemas.microsoft.com/office/drawing/2014/main" xmlns="" id="{007CC226-1DD8-FBA7-3367-CE7399547C72}"/>
              </a:ext>
            </a:extLst>
          </p:cNvPr>
          <p:cNvSpPr txBox="1"/>
          <p:nvPr/>
        </p:nvSpPr>
        <p:spPr>
          <a:xfrm>
            <a:off x="2958860" y="267419"/>
            <a:ext cx="3303917" cy="369332"/>
          </a:xfrm>
          <a:prstGeom prst="rect">
            <a:avLst/>
          </a:prstGeom>
          <a:noFill/>
        </p:spPr>
        <p:txBody>
          <a:bodyPr wrap="square" rtlCol="0">
            <a:spAutoFit/>
          </a:bodyPr>
          <a:lstStyle/>
          <a:p>
            <a:r>
              <a:rPr lang="en-US" dirty="0"/>
              <a:t>ANY AND ALL OPERATORS</a:t>
            </a:r>
            <a:endParaRPr lang="en-IN" dirty="0"/>
          </a:p>
        </p:txBody>
      </p:sp>
    </p:spTree>
    <p:extLst>
      <p:ext uri="{BB962C8B-B14F-4D97-AF65-F5344CB8AC3E}">
        <p14:creationId xmlns:p14="http://schemas.microsoft.com/office/powerpoint/2010/main" val="37670795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A4A72D0-1AB8-83C2-EC97-407B5E3A8D92}"/>
              </a:ext>
            </a:extLst>
          </p:cNvPr>
          <p:cNvSpPr txBox="1"/>
          <p:nvPr/>
        </p:nvSpPr>
        <p:spPr>
          <a:xfrm>
            <a:off x="655608" y="245702"/>
            <a:ext cx="11119449" cy="3139321"/>
          </a:xfrm>
          <a:prstGeom prst="rect">
            <a:avLst/>
          </a:prstGeom>
          <a:noFill/>
        </p:spPr>
        <p:txBody>
          <a:bodyPr wrap="square">
            <a:spAutoFit/>
          </a:bodyPr>
          <a:lstStyle/>
          <a:p>
            <a:pPr algn="l"/>
            <a:r>
              <a:rPr lang="en-US" b="0" i="0" dirty="0">
                <a:solidFill>
                  <a:srgbClr val="000000"/>
                </a:solidFill>
                <a:effectLst/>
                <a:latin typeface="Verdana" panose="020B0604030504040204" pitchFamily="34" charset="0"/>
              </a:rPr>
              <a:t>The ANY operator is used to verify if any single record of a query satisfies the required condition.</a:t>
            </a:r>
          </a:p>
          <a:p>
            <a:pPr algn="l"/>
            <a:r>
              <a:rPr lang="en-US" b="0" i="0" dirty="0">
                <a:solidFill>
                  <a:srgbClr val="000000"/>
                </a:solidFill>
                <a:effectLst/>
                <a:latin typeface="Verdana" panose="020B0604030504040204" pitchFamily="34" charset="0"/>
              </a:rPr>
              <a:t>This operator returns a TRUE, if the given condition is satisfied for any of the values in the range. If none of the values in the specified range satisfy the given condition, this operator returns false. You can also use another query (subquery) along with this operator.</a:t>
            </a:r>
          </a:p>
          <a:p>
            <a:endParaRPr lang="en-US" dirty="0">
              <a:solidFill>
                <a:srgbClr val="000000"/>
              </a:solidFill>
              <a:latin typeface="Verdana" panose="020B0604030504040204" pitchFamily="34" charset="0"/>
            </a:endParaRPr>
          </a:p>
          <a:p>
            <a:endParaRPr lang="en-US" b="0" i="0" dirty="0">
              <a:solidFill>
                <a:srgbClr val="000000"/>
              </a:solidFill>
              <a:effectLst/>
              <a:latin typeface="Verdana" panose="020B0604030504040204" pitchFamily="34" charset="0"/>
            </a:endParaRPr>
          </a:p>
          <a:p>
            <a:endParaRPr lang="en-US" dirty="0">
              <a:solidFill>
                <a:srgbClr val="000000"/>
              </a:solidFill>
              <a:latin typeface="Verdana" panose="020B0604030504040204" pitchFamily="34" charset="0"/>
            </a:endParaRPr>
          </a:p>
          <a:p>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let us list out the details of all the CUSTOMERS whose SALARY is </a:t>
            </a:r>
            <a:r>
              <a:rPr lang="en-US" b="1" i="0" dirty="0">
                <a:solidFill>
                  <a:srgbClr val="000000"/>
                </a:solidFill>
                <a:effectLst/>
                <a:latin typeface="Verdana" panose="020B0604030504040204" pitchFamily="34" charset="0"/>
              </a:rPr>
              <a:t>greater than</a:t>
            </a:r>
            <a:r>
              <a:rPr lang="en-US" b="0" i="0" dirty="0">
                <a:solidFill>
                  <a:srgbClr val="000000"/>
                </a:solidFill>
                <a:effectLst/>
                <a:latin typeface="Verdana" panose="020B0604030504040204" pitchFamily="34" charset="0"/>
              </a:rPr>
              <a:t> the SALARY of any customer whose AGE is 32</a:t>
            </a:r>
            <a:endParaRPr lang="en-IN" dirty="0"/>
          </a:p>
        </p:txBody>
      </p:sp>
      <p:pic>
        <p:nvPicPr>
          <p:cNvPr id="5" name="Picture 4">
            <a:extLst>
              <a:ext uri="{FF2B5EF4-FFF2-40B4-BE49-F238E27FC236}">
                <a16:creationId xmlns:a16="http://schemas.microsoft.com/office/drawing/2014/main" xmlns="" id="{CAB7A8DB-E38A-BFF0-DA71-C8A90F48EBAF}"/>
              </a:ext>
            </a:extLst>
          </p:cNvPr>
          <p:cNvPicPr>
            <a:picLocks noChangeAspect="1"/>
          </p:cNvPicPr>
          <p:nvPr/>
        </p:nvPicPr>
        <p:blipFill>
          <a:blip r:embed="rId2"/>
          <a:stretch>
            <a:fillRect/>
          </a:stretch>
        </p:blipFill>
        <p:spPr>
          <a:xfrm>
            <a:off x="2664567" y="3711371"/>
            <a:ext cx="6535062" cy="2057687"/>
          </a:xfrm>
          <a:prstGeom prst="rect">
            <a:avLst/>
          </a:prstGeom>
        </p:spPr>
      </p:pic>
    </p:spTree>
    <p:extLst>
      <p:ext uri="{BB962C8B-B14F-4D97-AF65-F5344CB8AC3E}">
        <p14:creationId xmlns:p14="http://schemas.microsoft.com/office/powerpoint/2010/main" val="388530863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EB3CD38-8A1C-8336-EC82-B914381ECB82}"/>
              </a:ext>
            </a:extLst>
          </p:cNvPr>
          <p:cNvSpPr txBox="1"/>
          <p:nvPr/>
        </p:nvSpPr>
        <p:spPr>
          <a:xfrm>
            <a:off x="828135" y="241540"/>
            <a:ext cx="7524390" cy="2585323"/>
          </a:xfrm>
          <a:prstGeom prst="rect">
            <a:avLst/>
          </a:prstGeom>
          <a:noFill/>
        </p:spPr>
        <p:txBody>
          <a:bodyPr wrap="square">
            <a:spAutoFit/>
          </a:bodyPr>
          <a:lstStyle/>
          <a:p>
            <a:pPr algn="l"/>
            <a:r>
              <a:rPr lang="en-US" b="0" i="0" dirty="0">
                <a:solidFill>
                  <a:srgbClr val="000000"/>
                </a:solidFill>
                <a:effectLst/>
                <a:latin typeface="Verdana" panose="020B0604030504040204" pitchFamily="34" charset="0"/>
              </a:rPr>
              <a:t>The SQL ALL operator returns all the records of the SELECT statement.</a:t>
            </a:r>
          </a:p>
          <a:p>
            <a:pPr algn="l">
              <a:buFont typeface="Arial" panose="020B0604020202020204" pitchFamily="34" charset="0"/>
              <a:buChar char="•"/>
            </a:pPr>
            <a:r>
              <a:rPr lang="en-US" b="0" i="0" dirty="0">
                <a:solidFill>
                  <a:srgbClr val="000000"/>
                </a:solidFill>
                <a:effectLst/>
                <a:latin typeface="Verdana" panose="020B0604030504040204" pitchFamily="34" charset="0"/>
              </a:rPr>
              <a:t>It returns TRUE if the given condition is satisfied for ALL the values in the range.</a:t>
            </a:r>
          </a:p>
          <a:p>
            <a:pPr algn="l">
              <a:buFont typeface="Arial" panose="020B0604020202020204" pitchFamily="34" charset="0"/>
              <a:buChar char="•"/>
            </a:pPr>
            <a:r>
              <a:rPr lang="en-US" b="0" i="0" dirty="0">
                <a:solidFill>
                  <a:srgbClr val="000000"/>
                </a:solidFill>
                <a:effectLst/>
                <a:latin typeface="Verdana" panose="020B0604030504040204" pitchFamily="34" charset="0"/>
              </a:rPr>
              <a:t>It always returns a Boolean value.</a:t>
            </a:r>
          </a:p>
          <a:p>
            <a:pPr algn="l">
              <a:buFont typeface="Arial" panose="020B0604020202020204" pitchFamily="34" charset="0"/>
              <a:buChar char="•"/>
            </a:pPr>
            <a:r>
              <a:rPr lang="en-US" b="0" i="0" dirty="0">
                <a:solidFill>
                  <a:srgbClr val="000000"/>
                </a:solidFill>
                <a:effectLst/>
                <a:latin typeface="Verdana" panose="020B0604030504040204" pitchFamily="34" charset="0"/>
              </a:rPr>
              <a:t>It is used with SELECT, WHERE and HAVING statements in SQL queries.</a:t>
            </a:r>
          </a:p>
          <a:p>
            <a:pPr algn="l">
              <a:buFont typeface="Arial" panose="020B0604020202020204" pitchFamily="34" charset="0"/>
              <a:buChar char="•"/>
            </a:pPr>
            <a:r>
              <a:rPr lang="en-US" b="0" i="0" dirty="0">
                <a:solidFill>
                  <a:srgbClr val="000000"/>
                </a:solidFill>
                <a:effectLst/>
                <a:latin typeface="Verdana" panose="020B0604030504040204" pitchFamily="34" charset="0"/>
              </a:rPr>
              <a:t>The data type of the values returned from a subquery must be the same as the outer query expression data type.</a:t>
            </a:r>
          </a:p>
        </p:txBody>
      </p:sp>
      <p:pic>
        <p:nvPicPr>
          <p:cNvPr id="5" name="Picture 4">
            <a:extLst>
              <a:ext uri="{FF2B5EF4-FFF2-40B4-BE49-F238E27FC236}">
                <a16:creationId xmlns:a16="http://schemas.microsoft.com/office/drawing/2014/main" xmlns="" id="{F3E69D93-ADFF-BD5A-3CED-A84C17C31428}"/>
              </a:ext>
            </a:extLst>
          </p:cNvPr>
          <p:cNvPicPr>
            <a:picLocks noChangeAspect="1"/>
          </p:cNvPicPr>
          <p:nvPr/>
        </p:nvPicPr>
        <p:blipFill>
          <a:blip r:embed="rId2"/>
          <a:stretch>
            <a:fillRect/>
          </a:stretch>
        </p:blipFill>
        <p:spPr>
          <a:xfrm>
            <a:off x="3186078" y="3495229"/>
            <a:ext cx="5630061" cy="2524477"/>
          </a:xfrm>
          <a:prstGeom prst="rect">
            <a:avLst/>
          </a:prstGeom>
        </p:spPr>
      </p:pic>
    </p:spTree>
    <p:extLst>
      <p:ext uri="{BB962C8B-B14F-4D97-AF65-F5344CB8AC3E}">
        <p14:creationId xmlns:p14="http://schemas.microsoft.com/office/powerpoint/2010/main" val="84508028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2029</TotalTime>
  <Words>7667</Words>
  <Application>Microsoft Office PowerPoint</Application>
  <PresentationFormat>Custom</PresentationFormat>
  <Paragraphs>1290</Paragraphs>
  <Slides>131</Slides>
  <Notes>0</Notes>
  <HiddenSlides>0</HiddenSlides>
  <MMClips>0</MMClips>
  <ScaleCrop>false</ScaleCrop>
  <HeadingPairs>
    <vt:vector size="4" baseType="variant">
      <vt:variant>
        <vt:lpstr>Theme</vt:lpstr>
      </vt:variant>
      <vt:variant>
        <vt:i4>1</vt:i4>
      </vt:variant>
      <vt:variant>
        <vt:lpstr>Slide Titles</vt:lpstr>
      </vt:variant>
      <vt:variant>
        <vt:i4>131</vt:i4>
      </vt:variant>
    </vt:vector>
  </HeadingPairs>
  <TitlesOfParts>
    <vt:vector size="132" baseType="lpstr">
      <vt:lpstr>Gallery</vt:lpstr>
      <vt:lpstr>Database Management Systems</vt:lpstr>
      <vt:lpstr>PowerPoint Presentation</vt:lpstr>
      <vt:lpstr>PowerPoint Presentation</vt:lpstr>
      <vt:lpstr>PowerPoint Presentation</vt:lpstr>
      <vt:lpstr>Unit 2: RELATIONAL ALGEBRA</vt:lpstr>
      <vt:lpstr>Fundamental Operators</vt:lpstr>
      <vt:lpstr>1. Selection(σ): </vt:lpstr>
      <vt:lpstr>2. Projection(π): </vt:lpstr>
      <vt:lpstr>3. Union(U):</vt:lpstr>
      <vt:lpstr>PowerPoint Presentation</vt:lpstr>
      <vt:lpstr>4. Set Difference(-):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SQL | DIVISION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GCET</cp:lastModifiedBy>
  <cp:revision>366</cp:revision>
  <dcterms:created xsi:type="dcterms:W3CDTF">2023-09-09T04:22:22Z</dcterms:created>
  <dcterms:modified xsi:type="dcterms:W3CDTF">2026-09-03T09:22:10Z</dcterms:modified>
</cp:coreProperties>
</file>