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sldIdLst>
    <p:sldId id="256" r:id="rId2"/>
    <p:sldId id="257" r:id="rId3"/>
    <p:sldId id="258" r:id="rId4"/>
    <p:sldId id="318" r:id="rId5"/>
    <p:sldId id="259" r:id="rId6"/>
    <p:sldId id="360" r:id="rId7"/>
    <p:sldId id="359" r:id="rId8"/>
    <p:sldId id="361" r:id="rId9"/>
    <p:sldId id="362" r:id="rId10"/>
    <p:sldId id="363" r:id="rId11"/>
    <p:sldId id="364" r:id="rId12"/>
    <p:sldId id="365" r:id="rId13"/>
    <p:sldId id="366" r:id="rId14"/>
    <p:sldId id="367" r:id="rId15"/>
    <p:sldId id="368" r:id="rId16"/>
    <p:sldId id="369" r:id="rId17"/>
    <p:sldId id="370" r:id="rId18"/>
    <p:sldId id="371" r:id="rId19"/>
    <p:sldId id="372" r:id="rId20"/>
    <p:sldId id="373" r:id="rId21"/>
    <p:sldId id="380" r:id="rId22"/>
    <p:sldId id="375" r:id="rId23"/>
    <p:sldId id="376" r:id="rId24"/>
    <p:sldId id="377" r:id="rId25"/>
    <p:sldId id="378" r:id="rId26"/>
    <p:sldId id="379" r:id="rId27"/>
    <p:sldId id="381" r:id="rId28"/>
    <p:sldId id="382" r:id="rId29"/>
    <p:sldId id="383" r:id="rId30"/>
    <p:sldId id="384" r:id="rId31"/>
    <p:sldId id="385" r:id="rId32"/>
    <p:sldId id="386" r:id="rId33"/>
    <p:sldId id="387" r:id="rId34"/>
    <p:sldId id="388" r:id="rId35"/>
    <p:sldId id="389" r:id="rId36"/>
    <p:sldId id="390" r:id="rId37"/>
    <p:sldId id="391" r:id="rId38"/>
    <p:sldId id="392" r:id="rId39"/>
    <p:sldId id="393" r:id="rId40"/>
    <p:sldId id="394" r:id="rId41"/>
    <p:sldId id="395" r:id="rId42"/>
    <p:sldId id="396" r:id="rId43"/>
    <p:sldId id="397" r:id="rId44"/>
    <p:sldId id="398" r:id="rId45"/>
    <p:sldId id="399" r:id="rId46"/>
    <p:sldId id="400" r:id="rId47"/>
    <p:sldId id="401" r:id="rId48"/>
    <p:sldId id="402" r:id="rId49"/>
    <p:sldId id="403" r:id="rId50"/>
    <p:sldId id="404" r:id="rId51"/>
    <p:sldId id="405" r:id="rId52"/>
    <p:sldId id="406" r:id="rId53"/>
    <p:sldId id="408" r:id="rId54"/>
    <p:sldId id="409" r:id="rId55"/>
    <p:sldId id="410" r:id="rId56"/>
    <p:sldId id="411" r:id="rId57"/>
    <p:sldId id="412" r:id="rId58"/>
    <p:sldId id="413" r:id="rId59"/>
    <p:sldId id="414" r:id="rId60"/>
    <p:sldId id="415" r:id="rId61"/>
    <p:sldId id="416" r:id="rId62"/>
    <p:sldId id="417" r:id="rId63"/>
    <p:sldId id="418" r:id="rId64"/>
    <p:sldId id="419" r:id="rId65"/>
    <p:sldId id="420" r:id="rId66"/>
    <p:sldId id="421" r:id="rId67"/>
    <p:sldId id="422" r:id="rId68"/>
    <p:sldId id="423" r:id="rId69"/>
    <p:sldId id="424" r:id="rId70"/>
    <p:sldId id="437" r:id="rId71"/>
    <p:sldId id="438" r:id="rId72"/>
    <p:sldId id="425" r:id="rId73"/>
    <p:sldId id="426" r:id="rId74"/>
    <p:sldId id="427" r:id="rId75"/>
    <p:sldId id="428" r:id="rId76"/>
    <p:sldId id="429" r:id="rId77"/>
    <p:sldId id="430" r:id="rId78"/>
    <p:sldId id="431" r:id="rId79"/>
    <p:sldId id="432" r:id="rId80"/>
    <p:sldId id="433" r:id="rId81"/>
    <p:sldId id="434" r:id="rId82"/>
    <p:sldId id="435" r:id="rId83"/>
    <p:sldId id="436" r:id="rId84"/>
    <p:sldId id="358" r:id="rId8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681" autoAdjust="0"/>
  </p:normalViewPr>
  <p:slideViewPr>
    <p:cSldViewPr snapToGrid="0">
      <p:cViewPr>
        <p:scale>
          <a:sx n="89" d="100"/>
          <a:sy n="89" d="100"/>
        </p:scale>
        <p:origin x="-210" y="17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039E184-7329-4088-8A28-AB52FED9128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626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7443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79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CE208-276C-46C2-9558-0228F90E07C8}"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204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CE208-276C-46C2-9558-0228F90E07C8}" type="datetimeFigureOut">
              <a:rPr lang="en-IN" smtClean="0"/>
              <a:t>08-01-2024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39E184-7329-4088-8A28-AB52FED91289}"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895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CE208-276C-46C2-9558-0228F90E07C8}" type="datetimeFigureOut">
              <a:rPr lang="en-IN" smtClean="0"/>
              <a:t>08-01-2024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39E184-7329-4088-8A28-AB52FED91289}"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816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CE208-276C-46C2-9558-0228F90E07C8}" type="datetimeFigureOut">
              <a:rPr lang="en-IN" smtClean="0"/>
              <a:t>08-01-2024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39E184-7329-4088-8A28-AB52FED91289}" type="slidenum">
              <a:rPr lang="en-IN" smtClean="0"/>
              <a:t>‹#›</a:t>
            </a:fld>
            <a:endParaRPr lang="en-IN"/>
          </a:p>
        </p:txBody>
      </p:sp>
    </p:spTree>
    <p:extLst>
      <p:ext uri="{BB962C8B-B14F-4D97-AF65-F5344CB8AC3E}">
        <p14:creationId xmlns:p14="http://schemas.microsoft.com/office/powerpoint/2010/main" val="255195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FCE208-276C-46C2-9558-0228F90E07C8}"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368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9FCE208-276C-46C2-9558-0228F90E07C8}" type="datetimeFigureOut">
              <a:rPr lang="en-IN" smtClean="0"/>
              <a:t>08-01-2024</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351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768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868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9FCE208-276C-46C2-9558-0228F90E07C8}" type="datetimeFigureOut">
              <a:rPr lang="en-IN" smtClean="0"/>
              <a:t>08-01-2024</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039E184-7329-4088-8A28-AB52FED9128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721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hyperlink" Target="https://www.geeksforgeeks.org/log-based-recovery-in-dbms/" TargetMode="Externa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79EAE8-BC4E-E8B6-4764-0C333FBFBD72}"/>
              </a:ext>
            </a:extLst>
          </p:cNvPr>
          <p:cNvSpPr>
            <a:spLocks noGrp="1"/>
          </p:cNvSpPr>
          <p:nvPr>
            <p:ph type="ctrTitle"/>
          </p:nvPr>
        </p:nvSpPr>
        <p:spPr/>
        <p:txBody>
          <a:bodyPr>
            <a:normAutofit fontScale="90000"/>
          </a:bodyPr>
          <a:lstStyle/>
          <a:p>
            <a:r>
              <a:rPr lang="en-US" dirty="0"/>
              <a:t>Database Management Systems</a:t>
            </a:r>
            <a:endParaRPr lang="en-IN" dirty="0"/>
          </a:p>
        </p:txBody>
      </p:sp>
      <p:sp>
        <p:nvSpPr>
          <p:cNvPr id="3" name="Subtitle 2">
            <a:extLst>
              <a:ext uri="{FF2B5EF4-FFF2-40B4-BE49-F238E27FC236}">
                <a16:creationId xmlns:a16="http://schemas.microsoft.com/office/drawing/2014/main" xmlns="" id="{7CA40BDD-4EC8-4EAD-CC7A-C9BAA605582E}"/>
              </a:ext>
            </a:extLst>
          </p:cNvPr>
          <p:cNvSpPr>
            <a:spLocks noGrp="1"/>
          </p:cNvSpPr>
          <p:nvPr>
            <p:ph type="subTitle" idx="1"/>
          </p:nvPr>
        </p:nvSpPr>
        <p:spPr/>
        <p:txBody>
          <a:bodyPr>
            <a:normAutofit fontScale="62500" lnSpcReduction="20000"/>
          </a:bodyPr>
          <a:lstStyle/>
          <a:p>
            <a:r>
              <a:rPr lang="en-US" dirty="0"/>
              <a:t>By:</a:t>
            </a:r>
          </a:p>
          <a:p>
            <a:r>
              <a:rPr lang="en-US" dirty="0"/>
              <a:t>Dr. Neha </a:t>
            </a:r>
            <a:r>
              <a:rPr lang="en-US" dirty="0" err="1"/>
              <a:t>Nandal</a:t>
            </a:r>
            <a:r>
              <a:rPr lang="en-US" dirty="0"/>
              <a:t> </a:t>
            </a:r>
          </a:p>
          <a:p>
            <a:r>
              <a:rPr lang="en-US" dirty="0"/>
              <a:t>Computer Science and Engineering</a:t>
            </a:r>
            <a:endParaRPr lang="en-IN" dirty="0"/>
          </a:p>
        </p:txBody>
      </p:sp>
    </p:spTree>
    <p:extLst>
      <p:ext uri="{BB962C8B-B14F-4D97-AF65-F5344CB8AC3E}">
        <p14:creationId xmlns:p14="http://schemas.microsoft.com/office/powerpoint/2010/main" val="120168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23FC7B4-2F7A-70B8-6FBE-52A6B161F24B}"/>
              </a:ext>
            </a:extLst>
          </p:cNvPr>
          <p:cNvSpPr txBox="1"/>
          <p:nvPr/>
        </p:nvSpPr>
        <p:spPr>
          <a:xfrm>
            <a:off x="3823608" y="245320"/>
            <a:ext cx="6101442" cy="369332"/>
          </a:xfrm>
          <a:prstGeom prst="rect">
            <a:avLst/>
          </a:prstGeom>
          <a:noFill/>
        </p:spPr>
        <p:txBody>
          <a:bodyPr wrap="square">
            <a:spAutoFit/>
          </a:bodyPr>
          <a:lstStyle/>
          <a:p>
            <a:r>
              <a:rPr lang="en-IN" sz="1800" b="1" i="0" u="none" strike="noStrike" baseline="0" dirty="0">
                <a:solidFill>
                  <a:srgbClr val="000000"/>
                </a:solidFill>
                <a:latin typeface="Times New Roman" panose="02020603050405020304" pitchFamily="18" charset="0"/>
              </a:rPr>
              <a:t>DATABASE MANAGEMENT SYSTEMS </a:t>
            </a:r>
            <a:endParaRPr lang="en-IN" dirty="0"/>
          </a:p>
        </p:txBody>
      </p:sp>
      <p:pic>
        <p:nvPicPr>
          <p:cNvPr id="9" name="Picture 8">
            <a:extLst>
              <a:ext uri="{FF2B5EF4-FFF2-40B4-BE49-F238E27FC236}">
                <a16:creationId xmlns:a16="http://schemas.microsoft.com/office/drawing/2014/main" xmlns="" id="{4AC9C2F3-3EF7-F5EC-C85A-C4858FDC4ADD}"/>
              </a:ext>
            </a:extLst>
          </p:cNvPr>
          <p:cNvPicPr>
            <a:picLocks noChangeAspect="1"/>
          </p:cNvPicPr>
          <p:nvPr/>
        </p:nvPicPr>
        <p:blipFill>
          <a:blip r:embed="rId2"/>
          <a:stretch>
            <a:fillRect/>
          </a:stretch>
        </p:blipFill>
        <p:spPr>
          <a:xfrm>
            <a:off x="695088" y="717505"/>
            <a:ext cx="10801824" cy="5422990"/>
          </a:xfrm>
          <a:prstGeom prst="rect">
            <a:avLst/>
          </a:prstGeom>
        </p:spPr>
      </p:pic>
    </p:spTree>
    <p:extLst>
      <p:ext uri="{BB962C8B-B14F-4D97-AF65-F5344CB8AC3E}">
        <p14:creationId xmlns:p14="http://schemas.microsoft.com/office/powerpoint/2010/main" val="631163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E267957-2109-C267-879E-01CD91FED856}"/>
              </a:ext>
            </a:extLst>
          </p:cNvPr>
          <p:cNvPicPr>
            <a:picLocks noChangeAspect="1"/>
          </p:cNvPicPr>
          <p:nvPr/>
        </p:nvPicPr>
        <p:blipFill>
          <a:blip r:embed="rId2"/>
          <a:stretch>
            <a:fillRect/>
          </a:stretch>
        </p:blipFill>
        <p:spPr>
          <a:xfrm>
            <a:off x="1230085" y="0"/>
            <a:ext cx="10003971" cy="4385371"/>
          </a:xfrm>
          <a:prstGeom prst="rect">
            <a:avLst/>
          </a:prstGeom>
        </p:spPr>
      </p:pic>
      <p:pic>
        <p:nvPicPr>
          <p:cNvPr id="7" name="Picture 6">
            <a:extLst>
              <a:ext uri="{FF2B5EF4-FFF2-40B4-BE49-F238E27FC236}">
                <a16:creationId xmlns:a16="http://schemas.microsoft.com/office/drawing/2014/main" xmlns="" id="{168CB64E-1C84-237D-ED42-0ACC1DC7396A}"/>
              </a:ext>
            </a:extLst>
          </p:cNvPr>
          <p:cNvPicPr>
            <a:picLocks noChangeAspect="1"/>
          </p:cNvPicPr>
          <p:nvPr/>
        </p:nvPicPr>
        <p:blipFill>
          <a:blip r:embed="rId3"/>
          <a:stretch>
            <a:fillRect/>
          </a:stretch>
        </p:blipFill>
        <p:spPr>
          <a:xfrm>
            <a:off x="1230084" y="4385371"/>
            <a:ext cx="10003971" cy="2021992"/>
          </a:xfrm>
          <a:prstGeom prst="rect">
            <a:avLst/>
          </a:prstGeom>
        </p:spPr>
      </p:pic>
    </p:spTree>
    <p:extLst>
      <p:ext uri="{BB962C8B-B14F-4D97-AF65-F5344CB8AC3E}">
        <p14:creationId xmlns:p14="http://schemas.microsoft.com/office/powerpoint/2010/main" val="3323009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962E158D-44FB-5D8D-0AB3-D21CA5ED2642}"/>
              </a:ext>
            </a:extLst>
          </p:cNvPr>
          <p:cNvSpPr txBox="1"/>
          <p:nvPr/>
        </p:nvSpPr>
        <p:spPr>
          <a:xfrm>
            <a:off x="1426029" y="2046514"/>
            <a:ext cx="9914163" cy="1938992"/>
          </a:xfrm>
          <a:prstGeom prst="rect">
            <a:avLst/>
          </a:prstGeom>
          <a:noFill/>
        </p:spPr>
        <p:txBody>
          <a:bodyPr wrap="square">
            <a:spAutoFit/>
          </a:bodyPr>
          <a:lstStyle/>
          <a:p>
            <a:pPr algn="just"/>
            <a:r>
              <a:rPr lang="en-IN" sz="2400" b="1" i="0" u="none" strike="noStrike" baseline="0" dirty="0">
                <a:latin typeface="Times New Roman" panose="02020603050405020304" pitchFamily="18" charset="0"/>
              </a:rPr>
              <a:t>TEXT BOOKS:</a:t>
            </a:r>
          </a:p>
          <a:p>
            <a:pPr algn="just"/>
            <a:r>
              <a:rPr lang="en-US" sz="2400" b="0" i="0" u="none" strike="noStrike" baseline="0" dirty="0">
                <a:latin typeface="Times New Roman" panose="02020603050405020304" pitchFamily="18" charset="0"/>
              </a:rPr>
              <a:t>1. Data base System Concepts, </a:t>
            </a:r>
            <a:r>
              <a:rPr lang="en-US" sz="2400" b="0" i="0" u="none" strike="noStrike" baseline="0" dirty="0" err="1">
                <a:latin typeface="Times New Roman" panose="02020603050405020304" pitchFamily="18" charset="0"/>
              </a:rPr>
              <a:t>Silberschatz</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Korth</a:t>
            </a:r>
            <a:r>
              <a:rPr lang="en-US" sz="2400" b="0" i="0" u="none" strike="noStrike" baseline="0" dirty="0">
                <a:latin typeface="Times New Roman" panose="02020603050405020304" pitchFamily="18" charset="0"/>
              </a:rPr>
              <a:t>, McGraw hill, Sixth Edition.(All UNITS </a:t>
            </a:r>
            <a:r>
              <a:rPr lang="en-IN" sz="2400" b="0" i="0" u="none" strike="noStrike" baseline="0" dirty="0">
                <a:latin typeface="Times New Roman" panose="02020603050405020304" pitchFamily="18" charset="0"/>
              </a:rPr>
              <a:t>except III </a:t>
            </a:r>
            <a:r>
              <a:rPr lang="en-IN" sz="2400" b="0" i="0" u="none" strike="noStrike" baseline="0" dirty="0" err="1">
                <a:latin typeface="Times New Roman" panose="02020603050405020304" pitchFamily="18" charset="0"/>
              </a:rPr>
              <a:t>th</a:t>
            </a:r>
            <a:r>
              <a:rPr lang="en-IN" sz="2400" b="0" i="0" u="none" strike="noStrike" baseline="0" dirty="0">
                <a:latin typeface="Times New Roman" panose="02020603050405020304" pitchFamily="18" charset="0"/>
              </a:rPr>
              <a:t>)</a:t>
            </a:r>
          </a:p>
          <a:p>
            <a:pPr algn="just"/>
            <a:r>
              <a:rPr lang="en-IN" sz="2400" b="0" i="0" u="none" strike="noStrike" baseline="0" dirty="0">
                <a:latin typeface="Times New Roman" panose="02020603050405020304" pitchFamily="18" charset="0"/>
              </a:rPr>
              <a:t>2. Data base Management Systems, </a:t>
            </a:r>
            <a:r>
              <a:rPr lang="en-IN" sz="2400" i="0" u="none" strike="noStrike" baseline="0" dirty="0" err="1">
                <a:latin typeface="Times New Roman" panose="02020603050405020304" pitchFamily="18" charset="0"/>
              </a:rPr>
              <a:t>Raghurama</a:t>
            </a:r>
            <a:r>
              <a:rPr lang="en-IN" sz="2400" i="0" u="none" strike="noStrike" baseline="0" dirty="0">
                <a:latin typeface="Times New Roman" panose="02020603050405020304" pitchFamily="18" charset="0"/>
              </a:rPr>
              <a:t> Krishnan</a:t>
            </a:r>
            <a:r>
              <a:rPr lang="en-IN" sz="2400" b="0" i="0" u="none" strike="noStrike" baseline="0" dirty="0">
                <a:latin typeface="Times New Roman" panose="02020603050405020304" pitchFamily="18" charset="0"/>
              </a:rPr>
              <a:t>, Johannes </a:t>
            </a:r>
            <a:r>
              <a:rPr lang="en-IN" sz="2400" b="0" i="0" u="none" strike="noStrike" baseline="0" dirty="0" err="1">
                <a:latin typeface="Times New Roman" panose="02020603050405020304" pitchFamily="18" charset="0"/>
              </a:rPr>
              <a:t>Gehrke</a:t>
            </a:r>
            <a:r>
              <a:rPr lang="en-IN" sz="2400" b="0" i="0" u="none" strike="noStrike" baseline="0" dirty="0">
                <a:latin typeface="Times New Roman" panose="02020603050405020304" pitchFamily="18" charset="0"/>
              </a:rPr>
              <a:t>, TATA </a:t>
            </a:r>
            <a:r>
              <a:rPr lang="en-IN" sz="2400" b="0" i="0" u="none" strike="noStrike" baseline="0" dirty="0" err="1">
                <a:latin typeface="Times New Roman" panose="02020603050405020304" pitchFamily="18" charset="0"/>
              </a:rPr>
              <a:t>McGrawHill</a:t>
            </a:r>
            <a:r>
              <a:rPr lang="en-IN" sz="2400" b="0" i="0" u="none" strike="noStrike" baseline="0" dirty="0">
                <a:latin typeface="Times New Roman" panose="02020603050405020304" pitchFamily="18" charset="0"/>
              </a:rPr>
              <a:t> 3rd Edition.</a:t>
            </a:r>
            <a:endParaRPr lang="en-IN" sz="2400" dirty="0"/>
          </a:p>
        </p:txBody>
      </p:sp>
    </p:spTree>
    <p:extLst>
      <p:ext uri="{BB962C8B-B14F-4D97-AF65-F5344CB8AC3E}">
        <p14:creationId xmlns:p14="http://schemas.microsoft.com/office/powerpoint/2010/main" val="250196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056D3E-FF7B-DB81-23EB-CE632A2BC57C}"/>
              </a:ext>
            </a:extLst>
          </p:cNvPr>
          <p:cNvSpPr>
            <a:spLocks noGrp="1"/>
          </p:cNvSpPr>
          <p:nvPr>
            <p:ph type="title"/>
          </p:nvPr>
        </p:nvSpPr>
        <p:spPr/>
        <p:txBody>
          <a:bodyPr/>
          <a:lstStyle/>
          <a:p>
            <a:r>
              <a:rPr lang="en-US" dirty="0"/>
              <a:t>Unit 4:</a:t>
            </a:r>
            <a:endParaRPr lang="en-IN" dirty="0"/>
          </a:p>
        </p:txBody>
      </p:sp>
      <p:sp>
        <p:nvSpPr>
          <p:cNvPr id="7" name="TextBox 6">
            <a:extLst>
              <a:ext uri="{FF2B5EF4-FFF2-40B4-BE49-F238E27FC236}">
                <a16:creationId xmlns:a16="http://schemas.microsoft.com/office/drawing/2014/main" xmlns="" id="{1DF2880D-03A3-4D2B-82C7-F42CFA59373D}"/>
              </a:ext>
            </a:extLst>
          </p:cNvPr>
          <p:cNvSpPr txBox="1"/>
          <p:nvPr/>
        </p:nvSpPr>
        <p:spPr>
          <a:xfrm>
            <a:off x="2891619" y="804519"/>
            <a:ext cx="6101442" cy="523220"/>
          </a:xfrm>
          <a:prstGeom prst="rect">
            <a:avLst/>
          </a:prstGeom>
          <a:noFill/>
        </p:spPr>
        <p:txBody>
          <a:bodyPr wrap="square">
            <a:spAutoFit/>
          </a:bodyPr>
          <a:lstStyle/>
          <a:p>
            <a:r>
              <a:rPr lang="en-IN" sz="2800" b="1" i="0" u="none" strike="noStrike" baseline="0" dirty="0">
                <a:latin typeface="Times New Roman" panose="02020603050405020304" pitchFamily="18" charset="0"/>
              </a:rPr>
              <a:t>What is a Transaction?</a:t>
            </a:r>
            <a:endParaRPr lang="en-IN" sz="2000" dirty="0"/>
          </a:p>
        </p:txBody>
      </p:sp>
      <p:sp>
        <p:nvSpPr>
          <p:cNvPr id="14" name="TextBox 13">
            <a:extLst>
              <a:ext uri="{FF2B5EF4-FFF2-40B4-BE49-F238E27FC236}">
                <a16:creationId xmlns:a16="http://schemas.microsoft.com/office/drawing/2014/main" xmlns="" id="{5B02B6F9-6ADA-A0E7-8800-3F67D218CDCD}"/>
              </a:ext>
            </a:extLst>
          </p:cNvPr>
          <p:cNvSpPr txBox="1"/>
          <p:nvPr/>
        </p:nvSpPr>
        <p:spPr>
          <a:xfrm>
            <a:off x="1352551" y="1916706"/>
            <a:ext cx="9702303" cy="707886"/>
          </a:xfrm>
          <a:prstGeom prst="rect">
            <a:avLst/>
          </a:prstGeom>
          <a:noFill/>
        </p:spPr>
        <p:txBody>
          <a:bodyPr wrap="square">
            <a:spAutoFit/>
          </a:bodyPr>
          <a:lstStyle/>
          <a:p>
            <a:pPr algn="just"/>
            <a:r>
              <a:rPr lang="en-US" sz="2000" b="0" i="0" u="none" strike="noStrike" baseline="0" dirty="0">
                <a:solidFill>
                  <a:srgbClr val="000000"/>
                </a:solidFill>
                <a:latin typeface="Cambria" panose="02040503050406030204" pitchFamily="18" charset="0"/>
              </a:rPr>
              <a:t>A transaction is an event which occurs on the database. Generally a transaction reads a value from the database or writes a value to the database.</a:t>
            </a:r>
            <a:endParaRPr lang="en-IN" sz="2000" dirty="0"/>
          </a:p>
        </p:txBody>
      </p:sp>
      <p:sp>
        <p:nvSpPr>
          <p:cNvPr id="4" name="TextBox 3">
            <a:extLst>
              <a:ext uri="{FF2B5EF4-FFF2-40B4-BE49-F238E27FC236}">
                <a16:creationId xmlns:a16="http://schemas.microsoft.com/office/drawing/2014/main" xmlns="" id="{DDEAE554-31DD-47BE-A138-0B589B76576F}"/>
              </a:ext>
            </a:extLst>
          </p:cNvPr>
          <p:cNvSpPr txBox="1"/>
          <p:nvPr/>
        </p:nvSpPr>
        <p:spPr>
          <a:xfrm>
            <a:off x="1352550" y="2840322"/>
            <a:ext cx="9702303" cy="1631216"/>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rPr>
              <a:t>Although a transaction can both read and write on the database, there are some fundamental differences between these two classes of operations. A read operation does not change the image of the database in any way. But a write operation, whether performed with the intention of inserting, updating or deleting data from the database, changes the image of the database.</a:t>
            </a:r>
            <a:endParaRPr lang="en-IN" sz="2000" dirty="0"/>
          </a:p>
        </p:txBody>
      </p:sp>
      <p:sp>
        <p:nvSpPr>
          <p:cNvPr id="6" name="TextBox 5">
            <a:extLst>
              <a:ext uri="{FF2B5EF4-FFF2-40B4-BE49-F238E27FC236}">
                <a16:creationId xmlns:a16="http://schemas.microsoft.com/office/drawing/2014/main" xmlns="" id="{0845FAA2-6AF0-8C1A-1498-52414904713D}"/>
              </a:ext>
            </a:extLst>
          </p:cNvPr>
          <p:cNvSpPr txBox="1"/>
          <p:nvPr/>
        </p:nvSpPr>
        <p:spPr>
          <a:xfrm>
            <a:off x="1352550" y="4576153"/>
            <a:ext cx="9702302" cy="923330"/>
          </a:xfrm>
          <a:prstGeom prst="rect">
            <a:avLst/>
          </a:prstGeom>
          <a:noFill/>
        </p:spPr>
        <p:txBody>
          <a:bodyPr wrap="square">
            <a:spAutoFit/>
          </a:bodyPr>
          <a:lstStyle/>
          <a:p>
            <a:pPr algn="just"/>
            <a:r>
              <a:rPr lang="en-US" dirty="0">
                <a:latin typeface="Times New Roman" panose="02020603050405020304" pitchFamily="18" charset="0"/>
              </a:rPr>
              <a:t>T</a:t>
            </a:r>
            <a:r>
              <a:rPr lang="en-US" sz="1800" b="0" i="0" u="none" strike="noStrike" baseline="0" dirty="0">
                <a:latin typeface="Times New Roman" panose="02020603050405020304" pitchFamily="18" charset="0"/>
              </a:rPr>
              <a:t>hese transactions bring the database from an image which existed before the transaction occurred (called the </a:t>
            </a:r>
            <a:r>
              <a:rPr lang="en-US" sz="1800" b="1" i="0" u="none" strike="noStrike" baseline="0" dirty="0">
                <a:latin typeface="Times New Roman" panose="02020603050405020304" pitchFamily="18" charset="0"/>
              </a:rPr>
              <a:t>Before Image </a:t>
            </a:r>
            <a:r>
              <a:rPr lang="en-US" sz="1800" b="0" i="0" u="none" strike="noStrike" baseline="0" dirty="0">
                <a:latin typeface="Times New Roman" panose="02020603050405020304" pitchFamily="18" charset="0"/>
              </a:rPr>
              <a:t>or </a:t>
            </a:r>
            <a:r>
              <a:rPr lang="en-US" sz="1800" b="1" i="0" u="none" strike="noStrike" baseline="0" dirty="0">
                <a:latin typeface="Times New Roman" panose="02020603050405020304" pitchFamily="18" charset="0"/>
              </a:rPr>
              <a:t>BFIM</a:t>
            </a:r>
            <a:r>
              <a:rPr lang="en-US" sz="1800" b="0" i="0" u="none" strike="noStrike" baseline="0" dirty="0">
                <a:latin typeface="Times New Roman" panose="02020603050405020304" pitchFamily="18" charset="0"/>
              </a:rPr>
              <a:t>) to an image which exists after the transaction occurred (called the </a:t>
            </a:r>
            <a:r>
              <a:rPr lang="en-US" sz="1800" b="1" i="0" u="none" strike="noStrike" baseline="0" dirty="0">
                <a:latin typeface="Times New Roman" panose="02020603050405020304" pitchFamily="18" charset="0"/>
              </a:rPr>
              <a:t>After Image </a:t>
            </a:r>
            <a:r>
              <a:rPr lang="en-US" sz="1800" b="0" i="0" u="none" strike="noStrike" baseline="0" dirty="0">
                <a:latin typeface="Times New Roman" panose="02020603050405020304" pitchFamily="18" charset="0"/>
              </a:rPr>
              <a:t>or </a:t>
            </a:r>
            <a:r>
              <a:rPr lang="en-US" sz="1800" b="1" i="0" u="none" strike="noStrike" baseline="0" dirty="0">
                <a:latin typeface="Times New Roman" panose="02020603050405020304" pitchFamily="18" charset="0"/>
              </a:rPr>
              <a:t>AFIM</a:t>
            </a:r>
            <a:r>
              <a:rPr lang="en-US" sz="1800" b="0" i="0" u="none" strike="noStrike" baseline="0" dirty="0">
                <a:latin typeface="Times New Roman" panose="02020603050405020304" pitchFamily="18" charset="0"/>
              </a:rPr>
              <a:t>).</a:t>
            </a:r>
            <a:endParaRPr lang="en-IN" dirty="0"/>
          </a:p>
        </p:txBody>
      </p:sp>
    </p:spTree>
    <p:extLst>
      <p:ext uri="{BB962C8B-B14F-4D97-AF65-F5344CB8AC3E}">
        <p14:creationId xmlns:p14="http://schemas.microsoft.com/office/powerpoint/2010/main" val="2504054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8D9F0A9-5349-2FCE-789F-056342D1BF3B}"/>
              </a:ext>
            </a:extLst>
          </p:cNvPr>
          <p:cNvSpPr txBox="1"/>
          <p:nvPr/>
        </p:nvSpPr>
        <p:spPr>
          <a:xfrm>
            <a:off x="3272590" y="132968"/>
            <a:ext cx="6102416" cy="523220"/>
          </a:xfrm>
          <a:prstGeom prst="rect">
            <a:avLst/>
          </a:prstGeom>
          <a:noFill/>
        </p:spPr>
        <p:txBody>
          <a:bodyPr wrap="square">
            <a:spAutoFit/>
          </a:bodyPr>
          <a:lstStyle/>
          <a:p>
            <a:r>
              <a:rPr lang="en-IN" sz="2800" b="1" i="0" u="none" strike="noStrike" baseline="0" dirty="0">
                <a:latin typeface="Times New Roman" panose="02020603050405020304" pitchFamily="18" charset="0"/>
              </a:rPr>
              <a:t>Four Properties of Transactions</a:t>
            </a:r>
            <a:endParaRPr lang="en-IN" sz="2800" dirty="0"/>
          </a:p>
        </p:txBody>
      </p:sp>
      <p:sp>
        <p:nvSpPr>
          <p:cNvPr id="5" name="TextBox 4">
            <a:extLst>
              <a:ext uri="{FF2B5EF4-FFF2-40B4-BE49-F238E27FC236}">
                <a16:creationId xmlns:a16="http://schemas.microsoft.com/office/drawing/2014/main" xmlns="" id="{C5B793BC-9580-D4BE-958C-9A49B32818F9}"/>
              </a:ext>
            </a:extLst>
          </p:cNvPr>
          <p:cNvSpPr txBox="1"/>
          <p:nvPr/>
        </p:nvSpPr>
        <p:spPr>
          <a:xfrm>
            <a:off x="442762" y="888005"/>
            <a:ext cx="11155680" cy="874342"/>
          </a:xfrm>
          <a:prstGeom prst="rect">
            <a:avLst/>
          </a:prstGeom>
          <a:noFill/>
        </p:spPr>
        <p:txBody>
          <a:bodyPr wrap="square">
            <a:spAutoFit/>
          </a:bodyPr>
          <a:lstStyle/>
          <a:p>
            <a:pPr algn="just">
              <a:lnSpc>
                <a:spcPct val="150000"/>
              </a:lnSpc>
            </a:pPr>
            <a:r>
              <a:rPr lang="en-US" sz="1800" b="0" i="0" u="none" strike="noStrike" baseline="0" dirty="0">
                <a:latin typeface="Times New Roman" panose="02020603050405020304" pitchFamily="18" charset="0"/>
              </a:rPr>
              <a:t>Every transaction, for whatever purpose it is being used, has the following four properties. Taking the initial letters of these four properties we collectively call them the </a:t>
            </a:r>
            <a:r>
              <a:rPr lang="en-US" sz="1800" b="1" i="0" u="none" strike="noStrike" baseline="0" dirty="0">
                <a:latin typeface="Times New Roman" panose="02020603050405020304" pitchFamily="18" charset="0"/>
              </a:rPr>
              <a:t>ACID Properties</a:t>
            </a:r>
            <a:r>
              <a:rPr lang="en-US" sz="1800" b="0" i="0" u="none" strike="noStrike" baseline="0" dirty="0">
                <a:latin typeface="Times New Roman" panose="02020603050405020304" pitchFamily="18" charset="0"/>
              </a:rPr>
              <a:t>. Here we try to describe them and explain them.</a:t>
            </a:r>
            <a:endParaRPr lang="en-IN" dirty="0"/>
          </a:p>
        </p:txBody>
      </p:sp>
      <p:sp>
        <p:nvSpPr>
          <p:cNvPr id="7" name="TextBox 6">
            <a:extLst>
              <a:ext uri="{FF2B5EF4-FFF2-40B4-BE49-F238E27FC236}">
                <a16:creationId xmlns:a16="http://schemas.microsoft.com/office/drawing/2014/main" xmlns="" id="{E447D479-C0BC-098A-7846-DDD5D01F1A9E}"/>
              </a:ext>
            </a:extLst>
          </p:cNvPr>
          <p:cNvSpPr txBox="1"/>
          <p:nvPr/>
        </p:nvSpPr>
        <p:spPr>
          <a:xfrm>
            <a:off x="1549666" y="2492944"/>
            <a:ext cx="9740767" cy="3416320"/>
          </a:xfrm>
          <a:prstGeom prst="rect">
            <a:avLst/>
          </a:prstGeom>
          <a:noFill/>
        </p:spPr>
        <p:txBody>
          <a:bodyPr wrap="square">
            <a:spAutoFit/>
          </a:bodyPr>
          <a:lstStyle/>
          <a:p>
            <a:pPr marL="285750" indent="-285750" algn="just">
              <a:buFont typeface="Arial" panose="020B0604020202020204" pitchFamily="34" charset="0"/>
              <a:buChar char="•"/>
            </a:pPr>
            <a:r>
              <a:rPr lang="en-US" b="1" i="0" u="none" strike="noStrike" baseline="0" dirty="0">
                <a:latin typeface="Times New Roman" panose="02020603050405020304" pitchFamily="18" charset="0"/>
              </a:rPr>
              <a:t>Atomicity: </a:t>
            </a:r>
            <a:r>
              <a:rPr lang="en-US" b="0" i="0" u="none" strike="noStrike" baseline="0" dirty="0">
                <a:latin typeface="Times New Roman" panose="02020603050405020304" pitchFamily="18" charset="0"/>
              </a:rPr>
              <a:t>This means that either all of the instructions within the transaction will be reflected in the database, or none of them will be reflected.</a:t>
            </a:r>
          </a:p>
          <a:p>
            <a:pPr marL="285750" indent="-285750" algn="just">
              <a:buFont typeface="Arial" panose="020B0604020202020204" pitchFamily="34" charset="0"/>
              <a:buChar char="•"/>
            </a:pPr>
            <a:endParaRPr lang="en-US" b="0" i="0" u="none" strike="noStrike" baseline="0" dirty="0">
              <a:latin typeface="Times New Roman" panose="02020603050405020304" pitchFamily="18" charset="0"/>
            </a:endParaRPr>
          </a:p>
          <a:p>
            <a:pPr algn="just"/>
            <a:r>
              <a:rPr lang="en-US" b="0" i="0" u="none" strike="noStrike" baseline="0" dirty="0">
                <a:latin typeface="Times New Roman" panose="02020603050405020304" pitchFamily="18" charset="0"/>
              </a:rPr>
              <a:t>     Say for example, we have two accounts A and B, each containing Rs 1000/-.      </a:t>
            </a:r>
          </a:p>
          <a:p>
            <a:pPr algn="just"/>
            <a:r>
              <a:rPr lang="en-US" dirty="0">
                <a:latin typeface="Times New Roman" panose="02020603050405020304" pitchFamily="18" charset="0"/>
              </a:rPr>
              <a:t>     </a:t>
            </a:r>
            <a:r>
              <a:rPr lang="en-US" b="0" i="0" u="none" strike="noStrike" baseline="0" dirty="0">
                <a:latin typeface="Times New Roman" panose="02020603050405020304" pitchFamily="18" charset="0"/>
              </a:rPr>
              <a:t>We now start a transaction to deposit Rs 100/- from account A to Account B.</a:t>
            </a:r>
          </a:p>
          <a:p>
            <a:pPr algn="just"/>
            <a:endParaRPr lang="en-US" b="0" i="0" u="none" strike="noStrike" baseline="0" dirty="0">
              <a:latin typeface="Times New Roman" panose="02020603050405020304" pitchFamily="18" charset="0"/>
            </a:endParaRPr>
          </a:p>
          <a:p>
            <a:pPr algn="ctr"/>
            <a:r>
              <a:rPr lang="en-IN" b="0" i="0" u="none" strike="noStrike" baseline="0" dirty="0">
                <a:latin typeface="Times New Roman" panose="02020603050405020304" pitchFamily="18" charset="0"/>
              </a:rPr>
              <a:t>Read A;</a:t>
            </a:r>
          </a:p>
          <a:p>
            <a:pPr algn="ctr"/>
            <a:r>
              <a:rPr lang="en-IN" b="0" i="0" u="none" strike="noStrike" baseline="0" dirty="0">
                <a:latin typeface="Times New Roman" panose="02020603050405020304" pitchFamily="18" charset="0"/>
              </a:rPr>
              <a:t>A = A – 100;</a:t>
            </a:r>
          </a:p>
          <a:p>
            <a:pPr algn="ctr"/>
            <a:r>
              <a:rPr lang="en-IN" b="0" i="0" u="none" strike="noStrike" baseline="0" dirty="0">
                <a:latin typeface="Times New Roman" panose="02020603050405020304" pitchFamily="18" charset="0"/>
              </a:rPr>
              <a:t>Write A;</a:t>
            </a:r>
          </a:p>
          <a:p>
            <a:pPr algn="ctr"/>
            <a:r>
              <a:rPr lang="en-IN" b="0" i="0" u="none" strike="noStrike" baseline="0" dirty="0">
                <a:latin typeface="Times New Roman" panose="02020603050405020304" pitchFamily="18" charset="0"/>
              </a:rPr>
              <a:t>Read B;</a:t>
            </a:r>
          </a:p>
          <a:p>
            <a:pPr algn="ctr"/>
            <a:r>
              <a:rPr lang="en-IN" b="0" i="0" u="none" strike="noStrike" baseline="0" dirty="0">
                <a:latin typeface="Times New Roman" panose="02020603050405020304" pitchFamily="18" charset="0"/>
              </a:rPr>
              <a:t>B = B + 100;</a:t>
            </a:r>
          </a:p>
          <a:p>
            <a:pPr algn="ctr"/>
            <a:r>
              <a:rPr lang="en-IN" b="0" i="0" u="none" strike="noStrike" baseline="0" dirty="0">
                <a:latin typeface="Times New Roman" panose="02020603050405020304" pitchFamily="18" charset="0"/>
              </a:rPr>
              <a:t>Write B;</a:t>
            </a:r>
            <a:endParaRPr lang="en-IN" dirty="0"/>
          </a:p>
        </p:txBody>
      </p:sp>
    </p:spTree>
    <p:extLst>
      <p:ext uri="{BB962C8B-B14F-4D97-AF65-F5344CB8AC3E}">
        <p14:creationId xmlns:p14="http://schemas.microsoft.com/office/powerpoint/2010/main" val="4177385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60FF09B-0CBE-7BCE-FE8D-E9D357637C54}"/>
              </a:ext>
            </a:extLst>
          </p:cNvPr>
          <p:cNvSpPr txBox="1"/>
          <p:nvPr/>
        </p:nvSpPr>
        <p:spPr>
          <a:xfrm>
            <a:off x="1422933" y="1886899"/>
            <a:ext cx="9529011" cy="830997"/>
          </a:xfrm>
          <a:prstGeom prst="rect">
            <a:avLst/>
          </a:prstGeom>
          <a:noFill/>
        </p:spPr>
        <p:txBody>
          <a:bodyPr wrap="square">
            <a:spAutoFit/>
          </a:bodyPr>
          <a:lstStyle/>
          <a:p>
            <a:pPr algn="just"/>
            <a:r>
              <a:rPr lang="en-US" sz="2400" b="0" i="0" u="none" strike="noStrike" baseline="0" dirty="0">
                <a:latin typeface="Times New Roman" panose="02020603050405020304" pitchFamily="18" charset="0"/>
              </a:rPr>
              <a:t>The transaction has 6 instructions to extract the amount from A and submit it to B. The AFIM will show Rs 900/- in A and Rs 1100/- in B.</a:t>
            </a:r>
            <a:endParaRPr lang="en-IN" sz="2400" dirty="0"/>
          </a:p>
        </p:txBody>
      </p:sp>
      <p:sp>
        <p:nvSpPr>
          <p:cNvPr id="7" name="TextBox 6">
            <a:extLst>
              <a:ext uri="{FF2B5EF4-FFF2-40B4-BE49-F238E27FC236}">
                <a16:creationId xmlns:a16="http://schemas.microsoft.com/office/drawing/2014/main" xmlns="" id="{3C69DB7D-98A3-3C4E-2636-D3D890D64B7D}"/>
              </a:ext>
            </a:extLst>
          </p:cNvPr>
          <p:cNvSpPr txBox="1"/>
          <p:nvPr/>
        </p:nvSpPr>
        <p:spPr>
          <a:xfrm>
            <a:off x="1422933" y="3170609"/>
            <a:ext cx="9711890" cy="1938992"/>
          </a:xfrm>
          <a:prstGeom prst="rect">
            <a:avLst/>
          </a:prstGeom>
          <a:noFill/>
        </p:spPr>
        <p:txBody>
          <a:bodyPr wrap="square">
            <a:spAutoFit/>
          </a:bodyPr>
          <a:lstStyle/>
          <a:p>
            <a:pPr algn="just"/>
            <a:r>
              <a:rPr lang="en-US" sz="2400" b="0" i="0" u="none" strike="noStrike" baseline="0" dirty="0">
                <a:latin typeface="Times New Roman" panose="02020603050405020304" pitchFamily="18" charset="0"/>
              </a:rPr>
              <a:t>Now, suppose there is a power failure just after instruction 3 (Write A) has been complete. What happens now? After the system recovers the AFIM will show Rs 900/- in A, but the same Rs 1000/- in B. It would be said that Rs 100/- evaporated in thin air for the power failure. Clearly such a </a:t>
            </a:r>
            <a:r>
              <a:rPr lang="en-IN" sz="2400" b="0" i="0" u="none" strike="noStrike" baseline="0" dirty="0">
                <a:latin typeface="Times New Roman" panose="02020603050405020304" pitchFamily="18" charset="0"/>
              </a:rPr>
              <a:t>situation is not acceptable.</a:t>
            </a:r>
            <a:endParaRPr lang="en-IN" sz="2400" dirty="0"/>
          </a:p>
        </p:txBody>
      </p:sp>
    </p:spTree>
    <p:extLst>
      <p:ext uri="{BB962C8B-B14F-4D97-AF65-F5344CB8AC3E}">
        <p14:creationId xmlns:p14="http://schemas.microsoft.com/office/powerpoint/2010/main" val="2020156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DCB12CFE-422B-2CB8-6A7E-AD94A7D4E163}"/>
              </a:ext>
            </a:extLst>
          </p:cNvPr>
          <p:cNvSpPr txBox="1"/>
          <p:nvPr/>
        </p:nvSpPr>
        <p:spPr>
          <a:xfrm>
            <a:off x="1232035" y="1782065"/>
            <a:ext cx="10068024" cy="3269549"/>
          </a:xfrm>
          <a:prstGeom prst="rect">
            <a:avLst/>
          </a:prstGeom>
          <a:noFill/>
        </p:spPr>
        <p:txBody>
          <a:bodyPr wrap="square">
            <a:spAutoFit/>
          </a:bodyPr>
          <a:lstStyle/>
          <a:p>
            <a:pPr algn="just">
              <a:lnSpc>
                <a:spcPct val="150000"/>
              </a:lnSpc>
            </a:pPr>
            <a:r>
              <a:rPr lang="en-US" sz="2000" b="0" i="0" u="none" strike="noStrike" baseline="0" dirty="0">
                <a:latin typeface="Times New Roman" panose="02020603050405020304" pitchFamily="18" charset="0"/>
              </a:rPr>
              <a:t>The solution is to keep every value calculated by the instruction of the transaction not in any stable storage (hard disc) but in a volatile storage (RAM), until the transaction completes its last</a:t>
            </a:r>
          </a:p>
          <a:p>
            <a:pPr algn="just">
              <a:lnSpc>
                <a:spcPct val="150000"/>
              </a:lnSpc>
            </a:pPr>
            <a:r>
              <a:rPr lang="en-US" sz="2000" b="0" i="0" u="none" strike="noStrike" baseline="0" dirty="0">
                <a:latin typeface="Times New Roman" panose="02020603050405020304" pitchFamily="18" charset="0"/>
              </a:rPr>
              <a:t>instruction. When we see that there has not been any error we do something known as a </a:t>
            </a:r>
            <a:r>
              <a:rPr lang="en-US" sz="2000" b="1" i="0" u="none" strike="noStrike" baseline="0" dirty="0">
                <a:latin typeface="Times New Roman" panose="02020603050405020304" pitchFamily="18" charset="0"/>
              </a:rPr>
              <a:t>COMMIT </a:t>
            </a:r>
            <a:r>
              <a:rPr lang="en-US" sz="2000" b="0" i="0" u="none" strike="noStrike" baseline="0" dirty="0">
                <a:latin typeface="Times New Roman" panose="02020603050405020304" pitchFamily="18" charset="0"/>
              </a:rPr>
              <a:t>operation. Its job is to write every temporarily calculated value from the volatile storage on to the stable storage. In this way, even if power fails at instruction 3, the post recovery image of the database will show accounts A and B both containing Rs 1000/-, as if the failed transaction had never </a:t>
            </a:r>
            <a:r>
              <a:rPr lang="en-IN" sz="2000" b="0" i="0" u="none" strike="noStrike" baseline="0" dirty="0">
                <a:latin typeface="Times New Roman" panose="02020603050405020304" pitchFamily="18" charset="0"/>
              </a:rPr>
              <a:t>occurred.</a:t>
            </a:r>
            <a:endParaRPr lang="en-IN" sz="2000" dirty="0"/>
          </a:p>
        </p:txBody>
      </p:sp>
    </p:spTree>
    <p:extLst>
      <p:ext uri="{BB962C8B-B14F-4D97-AF65-F5344CB8AC3E}">
        <p14:creationId xmlns:p14="http://schemas.microsoft.com/office/powerpoint/2010/main" val="667319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4AB071E-B2AF-CEEB-646D-E6545803827E}"/>
              </a:ext>
            </a:extLst>
          </p:cNvPr>
          <p:cNvSpPr txBox="1"/>
          <p:nvPr/>
        </p:nvSpPr>
        <p:spPr>
          <a:xfrm>
            <a:off x="763604" y="115504"/>
            <a:ext cx="10664792" cy="594841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b="1" i="0" u="none" strike="noStrike" baseline="0" dirty="0">
                <a:latin typeface="Times New Roman" panose="02020603050405020304" pitchFamily="18" charset="0"/>
              </a:rPr>
              <a:t>Consistency: </a:t>
            </a:r>
          </a:p>
          <a:p>
            <a:pPr algn="just">
              <a:lnSpc>
                <a:spcPct val="150000"/>
              </a:lnSpc>
            </a:pPr>
            <a:endParaRPr lang="en-US" sz="1800" b="0" i="0" u="none" strike="noStrike" baseline="0" dirty="0">
              <a:latin typeface="Times New Roman" panose="02020603050405020304" pitchFamily="18" charset="0"/>
            </a:endParaRPr>
          </a:p>
          <a:p>
            <a:pPr algn="just">
              <a:lnSpc>
                <a:spcPct val="150000"/>
              </a:lnSpc>
            </a:pPr>
            <a:r>
              <a:rPr lang="en-US" sz="1800" b="0" i="0" u="none" strike="noStrike" baseline="0" dirty="0">
                <a:latin typeface="Times New Roman" panose="02020603050405020304" pitchFamily="18" charset="0"/>
              </a:rPr>
              <a:t>If we execute a particular transaction in isolation or together with other transaction, (i.e. presumably in a multi-programming environment), the transaction will yield the same expected </a:t>
            </a:r>
            <a:r>
              <a:rPr lang="en-IN" sz="1800" b="0" i="0" u="none" strike="noStrike" baseline="0" dirty="0">
                <a:latin typeface="Times New Roman" panose="02020603050405020304" pitchFamily="18" charset="0"/>
              </a:rPr>
              <a:t>result.</a:t>
            </a:r>
          </a:p>
          <a:p>
            <a:pPr algn="just">
              <a:lnSpc>
                <a:spcPct val="150000"/>
              </a:lnSpc>
            </a:pPr>
            <a:endParaRPr lang="en-IN" sz="1800" b="0" i="0" u="none" strike="noStrike" baseline="0" dirty="0">
              <a:latin typeface="Times New Roman" panose="02020603050405020304" pitchFamily="18" charset="0"/>
            </a:endParaRPr>
          </a:p>
          <a:p>
            <a:pPr algn="just">
              <a:lnSpc>
                <a:spcPct val="150000"/>
              </a:lnSpc>
            </a:pPr>
            <a:r>
              <a:rPr lang="en-US" sz="1800" b="0" i="0" u="none" strike="noStrike" baseline="0" dirty="0">
                <a:latin typeface="Times New Roman" panose="02020603050405020304" pitchFamily="18" charset="0"/>
              </a:rPr>
              <a:t>To give better performance, every database management system supports the execution of multiple transactions at the same time, using CPU Time Sharing. Concurrently executing transactions may have to deal with the problem of sharable resources, i.e. resources that multiple transactions are trying to read/write at the same time. </a:t>
            </a:r>
          </a:p>
          <a:p>
            <a:pPr algn="just">
              <a:lnSpc>
                <a:spcPct val="150000"/>
              </a:lnSpc>
            </a:pPr>
            <a:endParaRPr lang="en-US" sz="1800" b="0" i="0" u="none" strike="noStrike" baseline="0" dirty="0">
              <a:latin typeface="Times New Roman" panose="02020603050405020304" pitchFamily="18" charset="0"/>
            </a:endParaRPr>
          </a:p>
          <a:p>
            <a:pPr algn="just">
              <a:lnSpc>
                <a:spcPct val="150000"/>
              </a:lnSpc>
            </a:pPr>
            <a:r>
              <a:rPr lang="en-US" sz="1800" b="0" i="0" u="none" strike="noStrike" baseline="0" dirty="0">
                <a:latin typeface="Times New Roman" panose="02020603050405020304" pitchFamily="18" charset="0"/>
              </a:rPr>
              <a:t>For example, we may have a table or a record on which two transaction are trying to read or write at the same time. Careful mechanisms are created in order to prevent mismanagement of these sharable resources, so that there should not be any change in the way a transaction performs. A transaction which deposits Rs 100/- to account A must deposit the same amount whether it is acting alone or in conjunction with another transaction that may be trying to deposit or withdraw some amount at the same time.</a:t>
            </a:r>
            <a:endParaRPr lang="en-IN" dirty="0"/>
          </a:p>
        </p:txBody>
      </p:sp>
    </p:spTree>
    <p:extLst>
      <p:ext uri="{BB962C8B-B14F-4D97-AF65-F5344CB8AC3E}">
        <p14:creationId xmlns:p14="http://schemas.microsoft.com/office/powerpoint/2010/main" val="185239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77807FA-69F0-3585-1AD2-2A3D569A1F7F}"/>
              </a:ext>
            </a:extLst>
          </p:cNvPr>
          <p:cNvSpPr txBox="1"/>
          <p:nvPr/>
        </p:nvSpPr>
        <p:spPr>
          <a:xfrm>
            <a:off x="1395663" y="2040556"/>
            <a:ext cx="9875520" cy="923330"/>
          </a:xfrm>
          <a:prstGeom prst="rect">
            <a:avLst/>
          </a:prstGeom>
          <a:noFill/>
        </p:spPr>
        <p:txBody>
          <a:bodyPr wrap="square">
            <a:spAutoFit/>
          </a:bodyPr>
          <a:lstStyle/>
          <a:p>
            <a:pPr algn="just"/>
            <a:r>
              <a:rPr lang="en-US" sz="1800" b="1" i="0" u="none" strike="noStrike" baseline="0" dirty="0">
                <a:latin typeface="Times New Roman" panose="02020603050405020304" pitchFamily="18" charset="0"/>
              </a:rPr>
              <a:t>Isolation: </a:t>
            </a:r>
            <a:r>
              <a:rPr lang="en-US" sz="1800" b="0" i="0" u="none" strike="noStrike" baseline="0" dirty="0">
                <a:latin typeface="Times New Roman" panose="02020603050405020304" pitchFamily="18" charset="0"/>
              </a:rPr>
              <a:t>In case multiple transactions are executing concurrently and trying to access a sharable resource at the same time, the system should create an ordering in their execution so that they should not create any anomaly in the value stored at the sharable resource.</a:t>
            </a:r>
            <a:endParaRPr lang="en-IN" dirty="0"/>
          </a:p>
        </p:txBody>
      </p:sp>
      <p:sp>
        <p:nvSpPr>
          <p:cNvPr id="5" name="TextBox 4">
            <a:extLst>
              <a:ext uri="{FF2B5EF4-FFF2-40B4-BE49-F238E27FC236}">
                <a16:creationId xmlns:a16="http://schemas.microsoft.com/office/drawing/2014/main" xmlns="" id="{F855117B-456D-CAF7-D689-BE0CA129CFAC}"/>
              </a:ext>
            </a:extLst>
          </p:cNvPr>
          <p:cNvSpPr txBox="1"/>
          <p:nvPr/>
        </p:nvSpPr>
        <p:spPr>
          <a:xfrm>
            <a:off x="1395663" y="2963886"/>
            <a:ext cx="9875520" cy="2308324"/>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There are several ways to achieve this and the most popular one is using some kind of locking mechanism. Again, if you have the concept of Operating Systems, then you should remember the semaphores, how it is used by a process to make a resource busy before starting to use it, and how it is used to release the resource after the usage is over. Other processes intending to access that same resource must wait during this time. Locking is almost similar. It states that a transaction must first lock the data item that it wishes to access, and release the lock when the accessing is no longer required. Once a transaction locks the data item, other transactions wishing to access the same data item must wait until the lock is released. </a:t>
            </a:r>
            <a:endParaRPr lang="en-IN" dirty="0"/>
          </a:p>
        </p:txBody>
      </p:sp>
    </p:spTree>
    <p:extLst>
      <p:ext uri="{BB962C8B-B14F-4D97-AF65-F5344CB8AC3E}">
        <p14:creationId xmlns:p14="http://schemas.microsoft.com/office/powerpoint/2010/main" val="498697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44A1405-DA43-B09D-73D1-75BFEA695E1D}"/>
              </a:ext>
            </a:extLst>
          </p:cNvPr>
          <p:cNvSpPr txBox="1"/>
          <p:nvPr/>
        </p:nvSpPr>
        <p:spPr>
          <a:xfrm>
            <a:off x="465221" y="147857"/>
            <a:ext cx="11261558" cy="5860322"/>
          </a:xfrm>
          <a:prstGeom prst="rect">
            <a:avLst/>
          </a:prstGeom>
          <a:noFill/>
        </p:spPr>
        <p:txBody>
          <a:bodyPr wrap="square">
            <a:spAutoFit/>
          </a:bodyPr>
          <a:lstStyle/>
          <a:p>
            <a:pPr algn="just">
              <a:lnSpc>
                <a:spcPct val="150000"/>
              </a:lnSpc>
            </a:pPr>
            <a:r>
              <a:rPr lang="en-US" sz="1800" b="1" i="0" u="none" strike="noStrike" baseline="0" dirty="0">
                <a:latin typeface="Times New Roman" panose="02020603050405020304" pitchFamily="18" charset="0"/>
              </a:rPr>
              <a:t>Durability: </a:t>
            </a:r>
            <a:r>
              <a:rPr lang="en-US" sz="1800" b="0" i="0" u="none" strike="noStrike" baseline="0" dirty="0">
                <a:latin typeface="Times New Roman" panose="02020603050405020304" pitchFamily="18" charset="0"/>
              </a:rPr>
              <a:t>It states that once a transaction has been complete the changes it has made should be </a:t>
            </a:r>
            <a:r>
              <a:rPr lang="en-IN" sz="1800" b="0" i="0" u="none" strike="noStrike" baseline="0" dirty="0">
                <a:latin typeface="Times New Roman" panose="02020603050405020304" pitchFamily="18" charset="0"/>
              </a:rPr>
              <a:t>permanent. </a:t>
            </a:r>
            <a:r>
              <a:rPr lang="en-US" sz="1800" b="0" i="0" u="none" strike="noStrike" baseline="0" dirty="0">
                <a:latin typeface="Times New Roman" panose="02020603050405020304" pitchFamily="18" charset="0"/>
              </a:rPr>
              <a:t>As we have seen in the explanation of the Atomicity property, the transaction, if completes successfully, is committed. </a:t>
            </a:r>
          </a:p>
          <a:p>
            <a:pPr algn="just">
              <a:lnSpc>
                <a:spcPct val="150000"/>
              </a:lnSpc>
            </a:pPr>
            <a:r>
              <a:rPr lang="en-US" sz="1800" b="0" i="0" u="none" strike="noStrike" baseline="0" dirty="0">
                <a:latin typeface="Times New Roman" panose="02020603050405020304" pitchFamily="18" charset="0"/>
              </a:rPr>
              <a:t>Once the COMMIT is done, the changes which the transaction has made to the database are immediately written into permanent storage. </a:t>
            </a:r>
          </a:p>
          <a:p>
            <a:pPr algn="just">
              <a:lnSpc>
                <a:spcPct val="150000"/>
              </a:lnSpc>
            </a:pPr>
            <a:r>
              <a:rPr lang="en-US" sz="1800" b="0" i="0" u="none" strike="noStrike" baseline="0" dirty="0">
                <a:latin typeface="Times New Roman" panose="02020603050405020304" pitchFamily="18" charset="0"/>
              </a:rPr>
              <a:t>So, after the transaction has been committed successfully, there is no question of any loss of information even if the power fails. Committing a transaction guarantees that the AFIM has been reached. There are several ways Atomicity and Durability can be implemented. One of them is called </a:t>
            </a:r>
            <a:r>
              <a:rPr lang="en-US" sz="1800" b="1" i="0" u="none" strike="noStrike" baseline="0" dirty="0">
                <a:latin typeface="Times New Roman" panose="02020603050405020304" pitchFamily="18" charset="0"/>
              </a:rPr>
              <a:t>Shadow Copy</a:t>
            </a:r>
            <a:r>
              <a:rPr lang="en-US" sz="1800" b="0" i="0" u="none" strike="noStrike" baseline="0" dirty="0">
                <a:latin typeface="Times New Roman" panose="02020603050405020304" pitchFamily="18" charset="0"/>
              </a:rPr>
              <a:t>. In this scheme a database pointer is used to point to the BFIM of the database. During the transaction, all the temporary changes are recorded into a Shadow Copy, which is an exact copy of the original database plus the changes made by the transaction, which is the AFIM. Now, if the transaction is required to COMMIT, then the database pointer is updated to point to the AFIM copy, and the BFIM copy is discarded. On the other hand, if the transaction is not committed, then the database pointer is not updated. It keeps pointing to the BFIM, and the AFIM is discarded. This is a simple scheme, but takes a lot of memory space and time to implement. If you study carefully, you can understand that Atomicity and Durability is essentially the same thing, just as Consistency and Isolation is essentially the same thing.</a:t>
            </a:r>
            <a:endParaRPr lang="en-IN" dirty="0"/>
          </a:p>
        </p:txBody>
      </p:sp>
    </p:spTree>
    <p:extLst>
      <p:ext uri="{BB962C8B-B14F-4D97-AF65-F5344CB8AC3E}">
        <p14:creationId xmlns:p14="http://schemas.microsoft.com/office/powerpoint/2010/main" val="3913922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3FB2BEC-B048-65F7-0D57-2C2760F66ADD}"/>
              </a:ext>
            </a:extLst>
          </p:cNvPr>
          <p:cNvSpPr txBox="1"/>
          <p:nvPr/>
        </p:nvSpPr>
        <p:spPr>
          <a:xfrm>
            <a:off x="1251285" y="1384252"/>
            <a:ext cx="6102416" cy="369332"/>
          </a:xfrm>
          <a:prstGeom prst="rect">
            <a:avLst/>
          </a:prstGeom>
          <a:noFill/>
        </p:spPr>
        <p:txBody>
          <a:bodyPr wrap="square">
            <a:spAutoFit/>
          </a:bodyPr>
          <a:lstStyle/>
          <a:p>
            <a:r>
              <a:rPr lang="en-IN" sz="1800" b="1" i="0" u="none" strike="noStrike" baseline="0" dirty="0">
                <a:latin typeface="Times New Roman" panose="02020603050405020304" pitchFamily="18" charset="0"/>
              </a:rPr>
              <a:t>Transaction States</a:t>
            </a:r>
            <a:endParaRPr lang="en-IN" dirty="0"/>
          </a:p>
        </p:txBody>
      </p:sp>
      <p:pic>
        <p:nvPicPr>
          <p:cNvPr id="7" name="Picture 6">
            <a:extLst>
              <a:ext uri="{FF2B5EF4-FFF2-40B4-BE49-F238E27FC236}">
                <a16:creationId xmlns:a16="http://schemas.microsoft.com/office/drawing/2014/main" xmlns="" id="{2A2E5B72-265A-BC60-EFA5-151672FBC7BB}"/>
              </a:ext>
            </a:extLst>
          </p:cNvPr>
          <p:cNvPicPr>
            <a:picLocks noChangeAspect="1"/>
          </p:cNvPicPr>
          <p:nvPr/>
        </p:nvPicPr>
        <p:blipFill>
          <a:blip r:embed="rId2"/>
          <a:stretch>
            <a:fillRect/>
          </a:stretch>
        </p:blipFill>
        <p:spPr>
          <a:xfrm>
            <a:off x="1640576" y="2121504"/>
            <a:ext cx="9178220" cy="3705706"/>
          </a:xfrm>
          <a:prstGeom prst="rect">
            <a:avLst/>
          </a:prstGeom>
        </p:spPr>
      </p:pic>
    </p:spTree>
    <p:extLst>
      <p:ext uri="{BB962C8B-B14F-4D97-AF65-F5344CB8AC3E}">
        <p14:creationId xmlns:p14="http://schemas.microsoft.com/office/powerpoint/2010/main" val="2421234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4E3878B-FA12-1CD6-9B19-F389E95586EF}"/>
              </a:ext>
            </a:extLst>
          </p:cNvPr>
          <p:cNvSpPr txBox="1"/>
          <p:nvPr/>
        </p:nvSpPr>
        <p:spPr>
          <a:xfrm>
            <a:off x="1376413" y="1238261"/>
            <a:ext cx="9557886" cy="1323439"/>
          </a:xfrm>
          <a:prstGeom prst="rect">
            <a:avLst/>
          </a:prstGeom>
          <a:noFill/>
        </p:spPr>
        <p:txBody>
          <a:bodyPr wrap="square">
            <a:spAutoFit/>
          </a:bodyPr>
          <a:lstStyle/>
          <a:p>
            <a:pPr algn="l"/>
            <a:r>
              <a:rPr lang="en-US" sz="2000" b="0" i="0" u="none" strike="noStrike" baseline="0" dirty="0">
                <a:latin typeface="Times New Roman" panose="02020603050405020304" pitchFamily="18" charset="0"/>
              </a:rPr>
              <a:t>There are the following six states in which a transaction may exist:</a:t>
            </a:r>
          </a:p>
          <a:p>
            <a:pPr algn="l"/>
            <a:endParaRPr lang="en-US" sz="2000" dirty="0">
              <a:latin typeface="Times New Roman" panose="02020603050405020304" pitchFamily="18" charset="0"/>
            </a:endParaRPr>
          </a:p>
          <a:p>
            <a:pPr algn="l"/>
            <a:endParaRPr lang="en-US" sz="2000" b="0" i="0" u="none" strike="noStrike" baseline="0" dirty="0">
              <a:latin typeface="Times New Roman" panose="02020603050405020304" pitchFamily="18" charset="0"/>
            </a:endParaRPr>
          </a:p>
          <a:p>
            <a:pPr algn="l"/>
            <a:r>
              <a:rPr lang="en-US" sz="2000" b="1" i="0" u="none" strike="noStrike" baseline="0" dirty="0">
                <a:latin typeface="Times New Roman" panose="02020603050405020304" pitchFamily="18" charset="0"/>
              </a:rPr>
              <a:t>Active: </a:t>
            </a:r>
            <a:r>
              <a:rPr lang="en-US" sz="2000" b="0" i="0" u="none" strike="noStrike" baseline="0" dirty="0">
                <a:latin typeface="Times New Roman" panose="02020603050405020304" pitchFamily="18" charset="0"/>
              </a:rPr>
              <a:t>The initial state when the transaction has just started execution.</a:t>
            </a:r>
            <a:endParaRPr lang="en-IN" sz="2000" dirty="0"/>
          </a:p>
        </p:txBody>
      </p:sp>
      <p:sp>
        <p:nvSpPr>
          <p:cNvPr id="5" name="TextBox 4">
            <a:extLst>
              <a:ext uri="{FF2B5EF4-FFF2-40B4-BE49-F238E27FC236}">
                <a16:creationId xmlns:a16="http://schemas.microsoft.com/office/drawing/2014/main" xmlns="" id="{207F6786-E3BC-4EDF-3CDA-4B2B6A85C80A}"/>
              </a:ext>
            </a:extLst>
          </p:cNvPr>
          <p:cNvSpPr txBox="1"/>
          <p:nvPr/>
        </p:nvSpPr>
        <p:spPr>
          <a:xfrm>
            <a:off x="1376413" y="2726640"/>
            <a:ext cx="10549288" cy="2308324"/>
          </a:xfrm>
          <a:prstGeom prst="rect">
            <a:avLst/>
          </a:prstGeom>
          <a:noFill/>
        </p:spPr>
        <p:txBody>
          <a:bodyPr wrap="square">
            <a:spAutoFit/>
          </a:bodyPr>
          <a:lstStyle/>
          <a:p>
            <a:pPr algn="l"/>
            <a:r>
              <a:rPr lang="en-US" sz="1800" b="1" i="0" u="none" strike="noStrike" baseline="0" dirty="0">
                <a:latin typeface="Times New Roman" panose="02020603050405020304" pitchFamily="18" charset="0"/>
              </a:rPr>
              <a:t>Partially Committed: </a:t>
            </a:r>
            <a:r>
              <a:rPr lang="en-US" sz="1800" b="0" i="0" u="none" strike="noStrike" baseline="0" dirty="0">
                <a:latin typeface="Times New Roman" panose="02020603050405020304" pitchFamily="18" charset="0"/>
              </a:rPr>
              <a:t>At any given point of time if the transaction is executing properly, then it is going towards it COMMIT POINT. The values generated during the execution are all stored in volatile storage.</a:t>
            </a:r>
          </a:p>
          <a:p>
            <a:pPr algn="l"/>
            <a:endParaRPr lang="en-US" sz="1800" b="0" i="0" u="none" strike="noStrike" baseline="0" dirty="0">
              <a:latin typeface="Times New Roman" panose="02020603050405020304" pitchFamily="18" charset="0"/>
            </a:endParaRPr>
          </a:p>
          <a:p>
            <a:pPr algn="l"/>
            <a:r>
              <a:rPr lang="en-US" sz="1800" b="1" i="0" u="none" strike="noStrike" baseline="0" dirty="0">
                <a:latin typeface="Times New Roman" panose="02020603050405020304" pitchFamily="18" charset="0"/>
              </a:rPr>
              <a:t>Failed: </a:t>
            </a:r>
            <a:r>
              <a:rPr lang="en-US" sz="1800" b="0" i="0" u="none" strike="noStrike" baseline="0" dirty="0">
                <a:latin typeface="Times New Roman" panose="02020603050405020304" pitchFamily="18" charset="0"/>
              </a:rPr>
              <a:t>If the transaction fails for some reason. The temporary values are no longer required, and the transaction is set to </a:t>
            </a:r>
            <a:r>
              <a:rPr lang="en-US" sz="1800" b="1" i="0" u="none" strike="noStrike" baseline="0" dirty="0">
                <a:latin typeface="Times New Roman" panose="02020603050405020304" pitchFamily="18" charset="0"/>
              </a:rPr>
              <a:t>ROLLBACK</a:t>
            </a:r>
            <a:r>
              <a:rPr lang="en-US" sz="1800" b="0" i="0" u="none" strike="noStrike" baseline="0" dirty="0">
                <a:latin typeface="Times New Roman" panose="02020603050405020304" pitchFamily="18" charset="0"/>
              </a:rPr>
              <a:t>. It means that any change made to the database by this transaction up to the point of the failure must be undone. If the failed transaction has withdrawn Rs. 100/- from account A, then the ROLLBACK operation should add Rs 100/- to </a:t>
            </a:r>
            <a:r>
              <a:rPr lang="en-IN" sz="1800" b="0" i="0" u="none" strike="noStrike" baseline="0" dirty="0">
                <a:latin typeface="Times New Roman" panose="02020603050405020304" pitchFamily="18" charset="0"/>
              </a:rPr>
              <a:t>account A.</a:t>
            </a:r>
          </a:p>
          <a:p>
            <a:pPr algn="l"/>
            <a:endParaRPr lang="en-IN" dirty="0"/>
          </a:p>
        </p:txBody>
      </p:sp>
    </p:spTree>
    <p:extLst>
      <p:ext uri="{BB962C8B-B14F-4D97-AF65-F5344CB8AC3E}">
        <p14:creationId xmlns:p14="http://schemas.microsoft.com/office/powerpoint/2010/main" val="3757514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6454E7F-C0B1-9AA9-9AC0-1AE8F2B46031}"/>
              </a:ext>
            </a:extLst>
          </p:cNvPr>
          <p:cNvSpPr txBox="1"/>
          <p:nvPr/>
        </p:nvSpPr>
        <p:spPr>
          <a:xfrm>
            <a:off x="1241660" y="2128575"/>
            <a:ext cx="10048774" cy="2031325"/>
          </a:xfrm>
          <a:prstGeom prst="rect">
            <a:avLst/>
          </a:prstGeom>
          <a:noFill/>
        </p:spPr>
        <p:txBody>
          <a:bodyPr wrap="square">
            <a:spAutoFit/>
          </a:bodyPr>
          <a:lstStyle/>
          <a:p>
            <a:pPr algn="just"/>
            <a:r>
              <a:rPr lang="en-US" sz="1800" b="1" i="0" u="none" strike="noStrike" baseline="0" dirty="0">
                <a:latin typeface="Times New Roman" panose="02020603050405020304" pitchFamily="18" charset="0"/>
              </a:rPr>
              <a:t>Aborted: </a:t>
            </a:r>
            <a:r>
              <a:rPr lang="en-US" sz="1800" b="0" i="0" u="none" strike="noStrike" baseline="0" dirty="0">
                <a:latin typeface="Times New Roman" panose="02020603050405020304" pitchFamily="18" charset="0"/>
              </a:rPr>
              <a:t>When the ROLLBACK operation is over, the database reaches the BFIM. The</a:t>
            </a:r>
          </a:p>
          <a:p>
            <a:pPr algn="l"/>
            <a:r>
              <a:rPr lang="en-US" sz="1800" b="0" i="0" u="none" strike="noStrike" baseline="0" dirty="0">
                <a:latin typeface="Times New Roman" panose="02020603050405020304" pitchFamily="18" charset="0"/>
              </a:rPr>
              <a:t>transaction is now said to have been aborted.</a:t>
            </a:r>
          </a:p>
          <a:p>
            <a:pPr algn="l"/>
            <a:endParaRPr lang="en-US" sz="1800" b="0" i="0" u="none" strike="noStrike" baseline="0" dirty="0">
              <a:latin typeface="Times New Roman" panose="02020603050405020304" pitchFamily="18" charset="0"/>
            </a:endParaRPr>
          </a:p>
          <a:p>
            <a:pPr algn="l"/>
            <a:r>
              <a:rPr lang="en-US" sz="1800" b="1" i="0" u="none" strike="noStrike" baseline="0" dirty="0">
                <a:latin typeface="Times New Roman" panose="02020603050405020304" pitchFamily="18" charset="0"/>
              </a:rPr>
              <a:t>Committed: </a:t>
            </a:r>
            <a:r>
              <a:rPr lang="en-US" sz="1800" b="0" i="0" u="none" strike="noStrike" baseline="0" dirty="0">
                <a:latin typeface="Times New Roman" panose="02020603050405020304" pitchFamily="18" charset="0"/>
              </a:rPr>
              <a:t>If no failure occurs then the transaction reaches the COMMIT POINT. All the temporary values are written to the stable storage and the transaction is said to have been </a:t>
            </a:r>
            <a:r>
              <a:rPr lang="en-IN" sz="1800" b="0" i="0" u="none" strike="noStrike" baseline="0" dirty="0">
                <a:latin typeface="Times New Roman" panose="02020603050405020304" pitchFamily="18" charset="0"/>
              </a:rPr>
              <a:t>committed.</a:t>
            </a:r>
          </a:p>
          <a:p>
            <a:pPr algn="l"/>
            <a:endParaRPr lang="en-IN" sz="1800" b="0" i="0" u="none" strike="noStrike" baseline="0" dirty="0">
              <a:latin typeface="Times New Roman" panose="02020603050405020304" pitchFamily="18" charset="0"/>
            </a:endParaRPr>
          </a:p>
          <a:p>
            <a:pPr algn="l"/>
            <a:r>
              <a:rPr lang="en-US" sz="1800" b="1" i="0" u="none" strike="noStrike" baseline="0" dirty="0">
                <a:latin typeface="Times New Roman" panose="02020603050405020304" pitchFamily="18" charset="0"/>
              </a:rPr>
              <a:t>Terminated: </a:t>
            </a:r>
            <a:r>
              <a:rPr lang="en-US" sz="1800" b="0" i="0" u="none" strike="noStrike" baseline="0" dirty="0">
                <a:latin typeface="Times New Roman" panose="02020603050405020304" pitchFamily="18" charset="0"/>
              </a:rPr>
              <a:t>Either committed or aborted, the transaction finally reaches this state.</a:t>
            </a:r>
            <a:endParaRPr lang="en-IN" dirty="0"/>
          </a:p>
        </p:txBody>
      </p:sp>
    </p:spTree>
    <p:extLst>
      <p:ext uri="{BB962C8B-B14F-4D97-AF65-F5344CB8AC3E}">
        <p14:creationId xmlns:p14="http://schemas.microsoft.com/office/powerpoint/2010/main" val="474411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5F1711D-73E9-4C57-8560-47ECC983410B}"/>
              </a:ext>
            </a:extLst>
          </p:cNvPr>
          <p:cNvSpPr txBox="1"/>
          <p:nvPr/>
        </p:nvSpPr>
        <p:spPr>
          <a:xfrm>
            <a:off x="1280159" y="1483276"/>
            <a:ext cx="9971773" cy="2923877"/>
          </a:xfrm>
          <a:prstGeom prst="rect">
            <a:avLst/>
          </a:prstGeom>
          <a:noFill/>
        </p:spPr>
        <p:txBody>
          <a:bodyPr wrap="square">
            <a:spAutoFit/>
          </a:bodyPr>
          <a:lstStyle/>
          <a:p>
            <a:pPr algn="l"/>
            <a:r>
              <a:rPr lang="en-IN" sz="2000" b="1" i="0" u="none" strike="noStrike" baseline="0" dirty="0">
                <a:latin typeface="Times New Roman" panose="02020603050405020304" pitchFamily="18" charset="0"/>
              </a:rPr>
              <a:t>Concurrent Execution</a:t>
            </a:r>
          </a:p>
          <a:p>
            <a:pPr algn="l"/>
            <a:endParaRPr lang="en-IN" sz="2000" b="1" i="0" u="none" strike="noStrike" baseline="0" dirty="0">
              <a:latin typeface="Times New Roman" panose="02020603050405020304" pitchFamily="18" charset="0"/>
            </a:endParaRPr>
          </a:p>
          <a:p>
            <a:pPr algn="l"/>
            <a:r>
              <a:rPr lang="en-US" sz="1800" b="0" i="0" u="none" strike="noStrike" baseline="0" dirty="0">
                <a:latin typeface="Times New Roman" panose="02020603050405020304" pitchFamily="18" charset="0"/>
              </a:rPr>
              <a:t>A schedule is a collection of many transactions which is implemented as a unit. Depending upon how these transactions are arranged in within a schedule, a schedule can be of two types:</a:t>
            </a:r>
          </a:p>
          <a:p>
            <a:pPr algn="l"/>
            <a:endParaRPr lang="en-US" sz="1800" b="0" i="0" u="none" strike="noStrike" baseline="0" dirty="0">
              <a:latin typeface="Times New Roman" panose="02020603050405020304" pitchFamily="18" charset="0"/>
            </a:endParaRPr>
          </a:p>
          <a:p>
            <a:pPr algn="l"/>
            <a:endParaRPr lang="en-US" sz="1800" b="0" i="0" u="none" strike="noStrike" baseline="0" dirty="0">
              <a:latin typeface="Times New Roman" panose="02020603050405020304" pitchFamily="18" charset="0"/>
            </a:endParaRPr>
          </a:p>
          <a:p>
            <a:pPr marL="285750" indent="-285750" algn="l">
              <a:buFont typeface="Symbol" panose="05050102010706020507" pitchFamily="18" charset="2"/>
              <a:buChar char="·"/>
            </a:pPr>
            <a:r>
              <a:rPr lang="en-US" sz="1800" b="1" i="0" u="none" strike="noStrike" baseline="0" dirty="0">
                <a:latin typeface="Times New Roman" panose="02020603050405020304" pitchFamily="18" charset="0"/>
              </a:rPr>
              <a:t>Serial: </a:t>
            </a:r>
            <a:r>
              <a:rPr lang="en-US" sz="1800" b="0" i="0" u="none" strike="noStrike" baseline="0" dirty="0">
                <a:latin typeface="Times New Roman" panose="02020603050405020304" pitchFamily="18" charset="0"/>
              </a:rPr>
              <a:t>The transactions are executed one after another, in a non-preemptive manner.</a:t>
            </a:r>
          </a:p>
          <a:p>
            <a:pPr marL="285750" indent="-285750" algn="l">
              <a:buFont typeface="Symbol" panose="05050102010706020507" pitchFamily="18" charset="2"/>
              <a:buChar char="·"/>
            </a:pPr>
            <a:endParaRPr lang="en-US" dirty="0">
              <a:latin typeface="Times New Roman" panose="02020603050405020304" pitchFamily="18" charset="0"/>
            </a:endParaRPr>
          </a:p>
          <a:p>
            <a:pPr marL="285750" indent="-285750" algn="l">
              <a:buFont typeface="Symbol" panose="05050102010706020507" pitchFamily="18" charset="2"/>
              <a:buChar char="·"/>
            </a:pPr>
            <a:endParaRPr lang="en-US" sz="1800" b="0" i="0" u="none" strike="noStrike" baseline="0" dirty="0">
              <a:latin typeface="Times New Roman" panose="02020603050405020304" pitchFamily="18" charset="0"/>
            </a:endParaRPr>
          </a:p>
          <a:p>
            <a:pPr algn="l"/>
            <a:r>
              <a:rPr lang="en-US" sz="1800" b="0" i="0" u="none" strike="noStrike" baseline="0" dirty="0">
                <a:latin typeface="Symbol" panose="05050102010706020507" pitchFamily="18" charset="2"/>
              </a:rPr>
              <a:t> </a:t>
            </a:r>
            <a:r>
              <a:rPr lang="en-US" sz="1800" b="1" i="0" u="none" strike="noStrike" baseline="0" dirty="0">
                <a:latin typeface="Times New Roman" panose="02020603050405020304" pitchFamily="18" charset="0"/>
              </a:rPr>
              <a:t>Concurrent: </a:t>
            </a:r>
            <a:r>
              <a:rPr lang="en-US" sz="1800" b="0" i="0" u="none" strike="noStrike" baseline="0" dirty="0">
                <a:latin typeface="Times New Roman" panose="02020603050405020304" pitchFamily="18" charset="0"/>
              </a:rPr>
              <a:t>The transactions are executed in a preemptive, time shared method.</a:t>
            </a:r>
            <a:endParaRPr lang="en-IN" dirty="0"/>
          </a:p>
        </p:txBody>
      </p:sp>
    </p:spTree>
    <p:extLst>
      <p:ext uri="{BB962C8B-B14F-4D97-AF65-F5344CB8AC3E}">
        <p14:creationId xmlns:p14="http://schemas.microsoft.com/office/powerpoint/2010/main" val="1100274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9F73713-5D6C-8D7F-B994-2C5E1FC96D52}"/>
              </a:ext>
            </a:extLst>
          </p:cNvPr>
          <p:cNvSpPr txBox="1"/>
          <p:nvPr/>
        </p:nvSpPr>
        <p:spPr>
          <a:xfrm>
            <a:off x="1357161" y="2107933"/>
            <a:ext cx="9673390" cy="3139321"/>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In </a:t>
            </a:r>
            <a:r>
              <a:rPr lang="en-US" sz="1800" b="1" i="0" u="none" strike="noStrike" baseline="0" dirty="0">
                <a:latin typeface="Times New Roman" panose="02020603050405020304" pitchFamily="18" charset="0"/>
              </a:rPr>
              <a:t>Serial schedule</a:t>
            </a:r>
            <a:r>
              <a:rPr lang="en-US" sz="1800" b="0" i="0" u="none" strike="noStrike" baseline="0" dirty="0">
                <a:latin typeface="Times New Roman" panose="02020603050405020304" pitchFamily="18" charset="0"/>
              </a:rPr>
              <a:t>, there is no question of sharing a single data item among many transactions,</a:t>
            </a:r>
          </a:p>
          <a:p>
            <a:pPr algn="just"/>
            <a:r>
              <a:rPr lang="en-US" sz="1800" b="0" i="0" u="none" strike="noStrike" baseline="0" dirty="0">
                <a:latin typeface="Times New Roman" panose="02020603050405020304" pitchFamily="18" charset="0"/>
              </a:rPr>
              <a:t>because not more than a single transaction is executing at any point of time. However, a serial</a:t>
            </a:r>
          </a:p>
          <a:p>
            <a:pPr algn="just"/>
            <a:r>
              <a:rPr lang="en-US" sz="1800" b="0" i="0" u="none" strike="noStrike" baseline="0" dirty="0">
                <a:latin typeface="Times New Roman" panose="02020603050405020304" pitchFamily="18" charset="0"/>
              </a:rPr>
              <a:t>schedule is inefficient in the sense that the transactions suffer for having a longer waiting time and</a:t>
            </a:r>
          </a:p>
          <a:p>
            <a:pPr algn="just"/>
            <a:r>
              <a:rPr lang="en-US" sz="1800" b="0" i="0" u="none" strike="noStrike" baseline="0" dirty="0">
                <a:latin typeface="Times New Roman" panose="02020603050405020304" pitchFamily="18" charset="0"/>
              </a:rPr>
              <a:t>response time, as well as low amount of resource utilization.</a:t>
            </a:r>
          </a:p>
          <a:p>
            <a:pPr algn="just"/>
            <a:endParaRPr lang="en-US" sz="1800" b="0" i="0" u="none" strike="noStrike" baseline="0" dirty="0">
              <a:latin typeface="Times New Roman" panose="02020603050405020304" pitchFamily="18" charset="0"/>
            </a:endParaRPr>
          </a:p>
          <a:p>
            <a:pPr algn="just"/>
            <a:endParaRPr lang="en-US" sz="1800" b="0" i="0" u="none" strike="noStrike" baseline="0" dirty="0">
              <a:latin typeface="Times New Roman" panose="02020603050405020304" pitchFamily="18" charset="0"/>
            </a:endParaRPr>
          </a:p>
          <a:p>
            <a:pPr algn="just"/>
            <a:r>
              <a:rPr lang="en-US" sz="1800" b="0" i="0" u="none" strike="noStrike" baseline="0" dirty="0">
                <a:latin typeface="Times New Roman" panose="02020603050405020304" pitchFamily="18" charset="0"/>
              </a:rPr>
              <a:t>In </a:t>
            </a:r>
            <a:r>
              <a:rPr lang="en-US" sz="1800" b="1" i="0" u="none" strike="noStrike" baseline="0" dirty="0">
                <a:latin typeface="Times New Roman" panose="02020603050405020304" pitchFamily="18" charset="0"/>
              </a:rPr>
              <a:t>concurrent schedule, </a:t>
            </a:r>
            <a:r>
              <a:rPr lang="en-US" sz="1800" b="0" i="0" u="none" strike="noStrike" baseline="0" dirty="0">
                <a:latin typeface="Times New Roman" panose="02020603050405020304" pitchFamily="18" charset="0"/>
              </a:rPr>
              <a:t>CPU time is shared among two or more transactions in order to run them</a:t>
            </a:r>
          </a:p>
          <a:p>
            <a:pPr algn="just"/>
            <a:r>
              <a:rPr lang="en-US" sz="1800" b="0" i="0" u="none" strike="noStrike" baseline="0" dirty="0">
                <a:latin typeface="Times New Roman" panose="02020603050405020304" pitchFamily="18" charset="0"/>
              </a:rPr>
              <a:t>concurrently. However, this creates the possibility that more than one transaction may need to access</a:t>
            </a:r>
          </a:p>
          <a:p>
            <a:pPr algn="just"/>
            <a:r>
              <a:rPr lang="en-US" sz="1800" b="0" i="0" u="none" strike="noStrike" baseline="0" dirty="0">
                <a:latin typeface="Times New Roman" panose="02020603050405020304" pitchFamily="18" charset="0"/>
              </a:rPr>
              <a:t>a single data item for read/write purpose and the database could contain inconsistent value if such</a:t>
            </a:r>
          </a:p>
          <a:p>
            <a:pPr algn="just"/>
            <a:r>
              <a:rPr lang="en-US" sz="1800" b="0" i="0" u="none" strike="noStrike" baseline="0" dirty="0">
                <a:latin typeface="Times New Roman" panose="02020603050405020304" pitchFamily="18" charset="0"/>
              </a:rPr>
              <a:t>accesses are not handled properly. Let us explain with the help of an example.</a:t>
            </a:r>
          </a:p>
          <a:p>
            <a:pPr algn="just"/>
            <a:endParaRPr lang="en-US" sz="1800" b="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481626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93D138B-B63B-2C6B-8802-DD660FE79BC0}"/>
              </a:ext>
            </a:extLst>
          </p:cNvPr>
          <p:cNvSpPr txBox="1"/>
          <p:nvPr/>
        </p:nvSpPr>
        <p:spPr>
          <a:xfrm>
            <a:off x="3313497" y="1994759"/>
            <a:ext cx="6102416" cy="2031325"/>
          </a:xfrm>
          <a:prstGeom prst="rect">
            <a:avLst/>
          </a:prstGeom>
          <a:noFill/>
        </p:spPr>
        <p:txBody>
          <a:bodyPr wrap="square">
            <a:spAutoFit/>
          </a:bodyPr>
          <a:lstStyle/>
          <a:p>
            <a:pPr algn="l"/>
            <a:r>
              <a:rPr lang="en-IN" sz="1800" b="0" i="0" u="none" strike="noStrike" baseline="0" dirty="0">
                <a:latin typeface="Times New Roman" panose="02020603050405020304" pitchFamily="18" charset="0"/>
              </a:rPr>
              <a:t>T1</a:t>
            </a:r>
          </a:p>
          <a:p>
            <a:pPr algn="l"/>
            <a:r>
              <a:rPr lang="en-IN" sz="1800" b="0" i="0" u="none" strike="noStrike" baseline="0" dirty="0">
                <a:latin typeface="Times New Roman" panose="02020603050405020304" pitchFamily="18" charset="0"/>
              </a:rPr>
              <a:t>Read A;</a:t>
            </a:r>
          </a:p>
          <a:p>
            <a:pPr algn="l"/>
            <a:r>
              <a:rPr lang="en-IN" sz="1800" b="0" i="0" u="none" strike="noStrike" baseline="0" dirty="0">
                <a:latin typeface="Times New Roman" panose="02020603050405020304" pitchFamily="18" charset="0"/>
              </a:rPr>
              <a:t>A = A – 100;</a:t>
            </a:r>
          </a:p>
          <a:p>
            <a:pPr algn="l"/>
            <a:r>
              <a:rPr lang="en-IN" sz="1800" b="0" i="0" u="none" strike="noStrike" baseline="0" dirty="0">
                <a:latin typeface="Times New Roman" panose="02020603050405020304" pitchFamily="18" charset="0"/>
              </a:rPr>
              <a:t>Write A;</a:t>
            </a:r>
          </a:p>
          <a:p>
            <a:pPr algn="l"/>
            <a:r>
              <a:rPr lang="en-IN" sz="1800" b="0" i="0" u="none" strike="noStrike" baseline="0" dirty="0">
                <a:latin typeface="Times New Roman" panose="02020603050405020304" pitchFamily="18" charset="0"/>
              </a:rPr>
              <a:t>Read B;</a:t>
            </a:r>
          </a:p>
          <a:p>
            <a:pPr algn="l"/>
            <a:r>
              <a:rPr lang="en-IN" sz="1800" b="0" i="0" u="none" strike="noStrike" baseline="0" dirty="0">
                <a:latin typeface="Times New Roman" panose="02020603050405020304" pitchFamily="18" charset="0"/>
              </a:rPr>
              <a:t>B = B + 100;</a:t>
            </a:r>
          </a:p>
          <a:p>
            <a:pPr algn="l"/>
            <a:r>
              <a:rPr lang="en-IN" sz="1800" b="0" i="0" u="none" strike="noStrike" baseline="0" dirty="0">
                <a:latin typeface="Times New Roman" panose="02020603050405020304" pitchFamily="18" charset="0"/>
              </a:rPr>
              <a:t>Write B;</a:t>
            </a:r>
          </a:p>
        </p:txBody>
      </p:sp>
      <p:sp>
        <p:nvSpPr>
          <p:cNvPr id="5" name="TextBox 4">
            <a:extLst>
              <a:ext uri="{FF2B5EF4-FFF2-40B4-BE49-F238E27FC236}">
                <a16:creationId xmlns:a16="http://schemas.microsoft.com/office/drawing/2014/main" xmlns="" id="{44F1D119-18D4-9E11-478B-D610E4564733}"/>
              </a:ext>
            </a:extLst>
          </p:cNvPr>
          <p:cNvSpPr txBox="1"/>
          <p:nvPr/>
        </p:nvSpPr>
        <p:spPr>
          <a:xfrm>
            <a:off x="6364705" y="1994759"/>
            <a:ext cx="6102416" cy="1754326"/>
          </a:xfrm>
          <a:prstGeom prst="rect">
            <a:avLst/>
          </a:prstGeom>
          <a:noFill/>
        </p:spPr>
        <p:txBody>
          <a:bodyPr wrap="square">
            <a:spAutoFit/>
          </a:bodyPr>
          <a:lstStyle/>
          <a:p>
            <a:pPr algn="l"/>
            <a:r>
              <a:rPr lang="en-IN" sz="1800" b="0" i="0" u="none" strike="noStrike" baseline="0" dirty="0">
                <a:latin typeface="Times New Roman" panose="02020603050405020304" pitchFamily="18" charset="0"/>
              </a:rPr>
              <a:t>T2</a:t>
            </a:r>
          </a:p>
          <a:p>
            <a:pPr algn="l"/>
            <a:r>
              <a:rPr lang="en-IN" sz="1800" b="0" i="0" u="none" strike="noStrike" baseline="0" dirty="0">
                <a:latin typeface="Times New Roman" panose="02020603050405020304" pitchFamily="18" charset="0"/>
              </a:rPr>
              <a:t>Read A;</a:t>
            </a:r>
          </a:p>
          <a:p>
            <a:pPr algn="l"/>
            <a:r>
              <a:rPr lang="en-IN" sz="1800" b="0" i="0" u="none" strike="noStrike" baseline="0" dirty="0">
                <a:latin typeface="Times New Roman" panose="02020603050405020304" pitchFamily="18" charset="0"/>
              </a:rPr>
              <a:t>Temp = A * 0.1;</a:t>
            </a:r>
          </a:p>
          <a:p>
            <a:pPr algn="l"/>
            <a:r>
              <a:rPr lang="en-IN" sz="1800" b="0" i="0" u="none" strike="noStrike" baseline="0" dirty="0">
                <a:latin typeface="Times New Roman" panose="02020603050405020304" pitchFamily="18" charset="0"/>
              </a:rPr>
              <a:t>Read C;</a:t>
            </a:r>
          </a:p>
          <a:p>
            <a:pPr algn="l"/>
            <a:r>
              <a:rPr lang="en-IN" sz="1800" b="0" i="0" u="none" strike="noStrike" baseline="0" dirty="0">
                <a:latin typeface="Times New Roman" panose="02020603050405020304" pitchFamily="18" charset="0"/>
              </a:rPr>
              <a:t>C = C + Temp;</a:t>
            </a:r>
          </a:p>
          <a:p>
            <a:pPr algn="l"/>
            <a:r>
              <a:rPr lang="en-IN" sz="1800" b="0" i="0" u="none" strike="noStrike" baseline="0" dirty="0">
                <a:latin typeface="Times New Roman" panose="02020603050405020304" pitchFamily="18" charset="0"/>
              </a:rPr>
              <a:t>Write C;</a:t>
            </a:r>
            <a:endParaRPr lang="en-IN" dirty="0"/>
          </a:p>
        </p:txBody>
      </p:sp>
      <p:sp>
        <p:nvSpPr>
          <p:cNvPr id="7" name="TextBox 6">
            <a:extLst>
              <a:ext uri="{FF2B5EF4-FFF2-40B4-BE49-F238E27FC236}">
                <a16:creationId xmlns:a16="http://schemas.microsoft.com/office/drawing/2014/main" xmlns="" id="{E70EB9EB-0FC3-FC13-B1C4-99D4942FC416}"/>
              </a:ext>
            </a:extLst>
          </p:cNvPr>
          <p:cNvSpPr txBox="1"/>
          <p:nvPr/>
        </p:nvSpPr>
        <p:spPr>
          <a:xfrm>
            <a:off x="1496728" y="4863239"/>
            <a:ext cx="9735954" cy="1200329"/>
          </a:xfrm>
          <a:prstGeom prst="rect">
            <a:avLst/>
          </a:prstGeom>
          <a:noFill/>
        </p:spPr>
        <p:txBody>
          <a:bodyPr wrap="square">
            <a:spAutoFit/>
          </a:bodyPr>
          <a:lstStyle/>
          <a:p>
            <a:pPr algn="l"/>
            <a:r>
              <a:rPr lang="en-US" sz="1800" b="0" i="0" u="none" strike="noStrike" baseline="0" dirty="0">
                <a:latin typeface="Times New Roman" panose="02020603050405020304" pitchFamily="18" charset="0"/>
              </a:rPr>
              <a:t>T2 is a new transaction which deposits to account C 10% of the amount in account A.</a:t>
            </a:r>
          </a:p>
          <a:p>
            <a:pPr algn="l"/>
            <a:endParaRPr lang="en-US" sz="1800" b="0" i="0" u="none" strike="noStrike" baseline="0" dirty="0">
              <a:latin typeface="Times New Roman" panose="02020603050405020304" pitchFamily="18" charset="0"/>
            </a:endParaRPr>
          </a:p>
          <a:p>
            <a:pPr algn="l"/>
            <a:r>
              <a:rPr lang="en-US" sz="1800" b="0" i="0" u="none" strike="noStrike" baseline="0" dirty="0">
                <a:latin typeface="Times New Roman" panose="02020603050405020304" pitchFamily="18" charset="0"/>
              </a:rPr>
              <a:t>If we prepare a serial schedule, then either T1 will completely finish before T2 can begin, or T2 will</a:t>
            </a:r>
          </a:p>
          <a:p>
            <a:pPr algn="l"/>
            <a:r>
              <a:rPr lang="en-US" sz="1800" b="0" i="0" u="none" strike="noStrike" baseline="0" dirty="0">
                <a:latin typeface="Times New Roman" panose="02020603050405020304" pitchFamily="18" charset="0"/>
              </a:rPr>
              <a:t>completely finish before T1 can begin.</a:t>
            </a:r>
            <a:endParaRPr lang="en-IN" dirty="0"/>
          </a:p>
        </p:txBody>
      </p:sp>
    </p:spTree>
    <p:extLst>
      <p:ext uri="{BB962C8B-B14F-4D97-AF65-F5344CB8AC3E}">
        <p14:creationId xmlns:p14="http://schemas.microsoft.com/office/powerpoint/2010/main" val="634525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97916B9-F872-A2C2-BBEF-B61FADA553F1}"/>
              </a:ext>
            </a:extLst>
          </p:cNvPr>
          <p:cNvSpPr txBox="1"/>
          <p:nvPr/>
        </p:nvSpPr>
        <p:spPr>
          <a:xfrm>
            <a:off x="1405289" y="676870"/>
            <a:ext cx="9278753" cy="923330"/>
          </a:xfrm>
          <a:prstGeom prst="rect">
            <a:avLst/>
          </a:prstGeom>
          <a:noFill/>
        </p:spPr>
        <p:txBody>
          <a:bodyPr wrap="square">
            <a:spAutoFit/>
          </a:bodyPr>
          <a:lstStyle/>
          <a:p>
            <a:pPr algn="l"/>
            <a:r>
              <a:rPr lang="en-US" sz="1800" b="0" i="0" u="none" strike="noStrike" baseline="0" dirty="0">
                <a:latin typeface="Times New Roman" panose="02020603050405020304" pitchFamily="18" charset="0"/>
              </a:rPr>
              <a:t>if we want to create a concurrent schedule, then some Context Switching need to be made, so that some portion of T1 will be executed, then some portion of T2 will be executed and so on. For example say we have prepared the following </a:t>
            </a:r>
            <a:r>
              <a:rPr lang="en-IN" sz="1800" b="0" i="0" u="none" strike="noStrike" baseline="0" dirty="0">
                <a:latin typeface="Times New Roman" panose="02020603050405020304" pitchFamily="18" charset="0"/>
              </a:rPr>
              <a:t>concurrent schedule.</a:t>
            </a:r>
            <a:endParaRPr lang="en-IN" dirty="0"/>
          </a:p>
        </p:txBody>
      </p:sp>
      <p:pic>
        <p:nvPicPr>
          <p:cNvPr id="5" name="Picture 4">
            <a:extLst>
              <a:ext uri="{FF2B5EF4-FFF2-40B4-BE49-F238E27FC236}">
                <a16:creationId xmlns:a16="http://schemas.microsoft.com/office/drawing/2014/main" xmlns="" id="{462AE944-8361-03B6-77E2-490F14E1497D}"/>
              </a:ext>
            </a:extLst>
          </p:cNvPr>
          <p:cNvPicPr>
            <a:picLocks noChangeAspect="1"/>
          </p:cNvPicPr>
          <p:nvPr/>
        </p:nvPicPr>
        <p:blipFill>
          <a:blip r:embed="rId2"/>
          <a:stretch>
            <a:fillRect/>
          </a:stretch>
        </p:blipFill>
        <p:spPr>
          <a:xfrm>
            <a:off x="1405289" y="2065657"/>
            <a:ext cx="5322771" cy="3863505"/>
          </a:xfrm>
          <a:prstGeom prst="rect">
            <a:avLst/>
          </a:prstGeom>
        </p:spPr>
      </p:pic>
      <p:sp>
        <p:nvSpPr>
          <p:cNvPr id="7" name="TextBox 6">
            <a:extLst>
              <a:ext uri="{FF2B5EF4-FFF2-40B4-BE49-F238E27FC236}">
                <a16:creationId xmlns:a16="http://schemas.microsoft.com/office/drawing/2014/main" xmlns="" id="{62FC7AA2-3477-18DF-C7A1-79B78CFC5517}"/>
              </a:ext>
            </a:extLst>
          </p:cNvPr>
          <p:cNvSpPr txBox="1"/>
          <p:nvPr/>
        </p:nvSpPr>
        <p:spPr>
          <a:xfrm>
            <a:off x="7190072" y="2065657"/>
            <a:ext cx="3686475" cy="3416320"/>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We have made some Context Switching in this Schedule, the first one after executing the third instruction of T1, and after executing the last statement of T2. T1 first deducts Rs 100/- from A and writes the new value of Rs 900/- into A. T2 reads the value of A, calculates the value of Temp to be Rs 90/- and adds the value to C. The remaining part of T1 is executed and Rs</a:t>
            </a:r>
          </a:p>
          <a:p>
            <a:pPr algn="just"/>
            <a:r>
              <a:rPr lang="en-US" sz="1800" b="0" i="0" u="none" strike="noStrike" baseline="0" dirty="0">
                <a:latin typeface="Times New Roman" panose="02020603050405020304" pitchFamily="18" charset="0"/>
              </a:rPr>
              <a:t>100/- is added to B.</a:t>
            </a:r>
            <a:endParaRPr lang="en-IN" dirty="0"/>
          </a:p>
        </p:txBody>
      </p:sp>
    </p:spTree>
    <p:extLst>
      <p:ext uri="{BB962C8B-B14F-4D97-AF65-F5344CB8AC3E}">
        <p14:creationId xmlns:p14="http://schemas.microsoft.com/office/powerpoint/2010/main" val="2251115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D920A40-A2EA-19FA-E25C-B99BE93D8E97}"/>
              </a:ext>
            </a:extLst>
          </p:cNvPr>
          <p:cNvSpPr txBox="1"/>
          <p:nvPr/>
        </p:nvSpPr>
        <p:spPr>
          <a:xfrm>
            <a:off x="1270535" y="2116294"/>
            <a:ext cx="3147461" cy="3139321"/>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It is clear that a proper Context Switching is very important in order to maintain the Consistency and Isolation properties of the transactions. But let us take another example where a wrong Context Switching can bring about disaster. Consider the following example involving the same T1 and T2</a:t>
            </a:r>
            <a:endParaRPr lang="en-IN" dirty="0"/>
          </a:p>
        </p:txBody>
      </p:sp>
      <p:pic>
        <p:nvPicPr>
          <p:cNvPr id="5" name="Picture 4">
            <a:extLst>
              <a:ext uri="{FF2B5EF4-FFF2-40B4-BE49-F238E27FC236}">
                <a16:creationId xmlns:a16="http://schemas.microsoft.com/office/drawing/2014/main" xmlns="" id="{30802505-32DE-466F-6B56-9A79A70F628C}"/>
              </a:ext>
            </a:extLst>
          </p:cNvPr>
          <p:cNvPicPr>
            <a:picLocks noChangeAspect="1"/>
          </p:cNvPicPr>
          <p:nvPr/>
        </p:nvPicPr>
        <p:blipFill>
          <a:blip r:embed="rId2"/>
          <a:stretch>
            <a:fillRect/>
          </a:stretch>
        </p:blipFill>
        <p:spPr>
          <a:xfrm>
            <a:off x="5094066" y="2040554"/>
            <a:ext cx="4848831" cy="3772895"/>
          </a:xfrm>
          <a:prstGeom prst="rect">
            <a:avLst/>
          </a:prstGeom>
        </p:spPr>
      </p:pic>
    </p:spTree>
    <p:extLst>
      <p:ext uri="{BB962C8B-B14F-4D97-AF65-F5344CB8AC3E}">
        <p14:creationId xmlns:p14="http://schemas.microsoft.com/office/powerpoint/2010/main" val="3407181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E50A794-CD99-7A10-67AF-7F695A93AE13}"/>
              </a:ext>
            </a:extLst>
          </p:cNvPr>
          <p:cNvSpPr txBox="1"/>
          <p:nvPr/>
        </p:nvSpPr>
        <p:spPr>
          <a:xfrm>
            <a:off x="1376411" y="2121604"/>
            <a:ext cx="11059427" cy="3139321"/>
          </a:xfrm>
          <a:prstGeom prst="rect">
            <a:avLst/>
          </a:prstGeom>
          <a:noFill/>
        </p:spPr>
        <p:txBody>
          <a:bodyPr wrap="square">
            <a:spAutoFit/>
          </a:bodyPr>
          <a:lstStyle/>
          <a:p>
            <a:pPr algn="l"/>
            <a:r>
              <a:rPr lang="en-US" sz="1800" b="0" i="0" u="none" strike="noStrike" baseline="0" dirty="0">
                <a:latin typeface="Times New Roman" panose="02020603050405020304" pitchFamily="18" charset="0"/>
              </a:rPr>
              <a:t>This schedule is wrong, because we have made the switching at the second instruction of T1. The</a:t>
            </a:r>
          </a:p>
          <a:p>
            <a:pPr algn="l"/>
            <a:r>
              <a:rPr lang="en-US" sz="1800" b="0" i="0" u="none" strike="noStrike" baseline="0" dirty="0">
                <a:latin typeface="Times New Roman" panose="02020603050405020304" pitchFamily="18" charset="0"/>
              </a:rPr>
              <a:t>result is very confusing. If we consider accounts A and B both containing Rs 1000/- each, then the</a:t>
            </a:r>
          </a:p>
          <a:p>
            <a:pPr algn="l"/>
            <a:r>
              <a:rPr lang="en-US" sz="1800" b="0" i="0" u="none" strike="noStrike" baseline="0" dirty="0">
                <a:latin typeface="Times New Roman" panose="02020603050405020304" pitchFamily="18" charset="0"/>
              </a:rPr>
              <a:t>result of this schedule should have left Rs 900/- in A, Rs 1100/- in B and add Rs 90 in C (as C should</a:t>
            </a:r>
          </a:p>
          <a:p>
            <a:pPr algn="l"/>
            <a:r>
              <a:rPr lang="en-US" sz="1800" b="0" i="0" u="none" strike="noStrike" baseline="0" dirty="0">
                <a:latin typeface="Times New Roman" panose="02020603050405020304" pitchFamily="18" charset="0"/>
              </a:rPr>
              <a:t>be increased by 10% of the amount in A). But in this wrong schedule, the Context Switching is being</a:t>
            </a:r>
          </a:p>
          <a:p>
            <a:pPr algn="l"/>
            <a:r>
              <a:rPr lang="en-US" sz="1800" b="0" i="0" u="none" strike="noStrike" baseline="0" dirty="0">
                <a:latin typeface="Times New Roman" panose="02020603050405020304" pitchFamily="18" charset="0"/>
              </a:rPr>
              <a:t>performed before the new value of Rs 900/- has been updated in A. T2 reads the old value of A,</a:t>
            </a:r>
          </a:p>
          <a:p>
            <a:pPr algn="l"/>
            <a:r>
              <a:rPr lang="en-US" sz="1800" b="0" i="0" u="none" strike="noStrike" baseline="0" dirty="0">
                <a:latin typeface="Times New Roman" panose="02020603050405020304" pitchFamily="18" charset="0"/>
              </a:rPr>
              <a:t>which is still Rs 1000/-, and deposits Rs 100/- in C. C makes an unjust gain of Rs 10/- out of</a:t>
            </a:r>
          </a:p>
          <a:p>
            <a:pPr algn="l"/>
            <a:r>
              <a:rPr lang="en-IN" sz="1800" b="0" i="0" u="none" strike="noStrike" baseline="0" dirty="0">
                <a:latin typeface="Times New Roman" panose="02020603050405020304" pitchFamily="18" charset="0"/>
              </a:rPr>
              <a:t>nowhere.</a:t>
            </a:r>
          </a:p>
          <a:p>
            <a:pPr algn="l"/>
            <a:r>
              <a:rPr lang="en-US" sz="1800" b="0" i="0" u="none" strike="noStrike" baseline="0" dirty="0">
                <a:latin typeface="Times New Roman" panose="02020603050405020304" pitchFamily="18" charset="0"/>
              </a:rPr>
              <a:t>In the above example, we detected the error simple by examining the schedule and applying common</a:t>
            </a:r>
          </a:p>
          <a:p>
            <a:pPr algn="l"/>
            <a:r>
              <a:rPr lang="en-US" sz="1800" b="0" i="0" u="none" strike="noStrike" baseline="0" dirty="0">
                <a:latin typeface="Times New Roman" panose="02020603050405020304" pitchFamily="18" charset="0"/>
              </a:rPr>
              <a:t>sense. But there must be some well formed rules regarding how to arrange instructions of the</a:t>
            </a:r>
          </a:p>
          <a:p>
            <a:pPr algn="l"/>
            <a:r>
              <a:rPr lang="en-US" sz="1800" b="0" i="0" u="none" strike="noStrike" baseline="0" dirty="0">
                <a:latin typeface="Times New Roman" panose="02020603050405020304" pitchFamily="18" charset="0"/>
              </a:rPr>
              <a:t>transactions to create error free concurrent schedules. This brings us to our next topic, the concept of</a:t>
            </a:r>
          </a:p>
          <a:p>
            <a:pPr algn="l"/>
            <a:r>
              <a:rPr lang="en-IN" sz="1800" b="0" i="0" u="none" strike="noStrike" baseline="0" dirty="0">
                <a:latin typeface="Times New Roman" panose="02020603050405020304" pitchFamily="18" charset="0"/>
              </a:rPr>
              <a:t>Serializability.</a:t>
            </a:r>
            <a:endParaRPr lang="en-IN" dirty="0"/>
          </a:p>
        </p:txBody>
      </p:sp>
    </p:spTree>
    <p:extLst>
      <p:ext uri="{BB962C8B-B14F-4D97-AF65-F5344CB8AC3E}">
        <p14:creationId xmlns:p14="http://schemas.microsoft.com/office/powerpoint/2010/main" val="2309418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769BE15-B172-E49E-4C94-5D6284DDCDE1}"/>
              </a:ext>
            </a:extLst>
          </p:cNvPr>
          <p:cNvSpPr txBox="1"/>
          <p:nvPr/>
        </p:nvSpPr>
        <p:spPr>
          <a:xfrm>
            <a:off x="5139891" y="1226459"/>
            <a:ext cx="6102416" cy="646331"/>
          </a:xfrm>
          <a:prstGeom prst="rect">
            <a:avLst/>
          </a:prstGeom>
          <a:noFill/>
        </p:spPr>
        <p:txBody>
          <a:bodyPr wrap="square">
            <a:spAutoFit/>
          </a:bodyPr>
          <a:lstStyle/>
          <a:p>
            <a:pPr algn="l"/>
            <a:r>
              <a:rPr lang="en-IN" sz="1800" b="1" i="0" u="none" strike="noStrike" baseline="0" dirty="0">
                <a:solidFill>
                  <a:srgbClr val="CD3300"/>
                </a:solidFill>
                <a:latin typeface="Arial" panose="020B0604020202020204" pitchFamily="34" charset="0"/>
              </a:rPr>
              <a:t>Schedules</a:t>
            </a:r>
          </a:p>
          <a:p>
            <a:pPr algn="l"/>
            <a:endParaRPr lang="en-IN" dirty="0"/>
          </a:p>
        </p:txBody>
      </p:sp>
      <p:sp>
        <p:nvSpPr>
          <p:cNvPr id="7" name="TextBox 6">
            <a:extLst>
              <a:ext uri="{FF2B5EF4-FFF2-40B4-BE49-F238E27FC236}">
                <a16:creationId xmlns:a16="http://schemas.microsoft.com/office/drawing/2014/main" xmlns="" id="{59185E4A-C7A8-D9BA-C3F4-5C45F1B74E57}"/>
              </a:ext>
            </a:extLst>
          </p:cNvPr>
          <p:cNvSpPr txBox="1"/>
          <p:nvPr/>
        </p:nvSpPr>
        <p:spPr>
          <a:xfrm>
            <a:off x="1761423" y="2177223"/>
            <a:ext cx="9211377" cy="3693319"/>
          </a:xfrm>
          <a:prstGeom prst="rect">
            <a:avLst/>
          </a:prstGeom>
          <a:noFill/>
        </p:spPr>
        <p:txBody>
          <a:bodyPr wrap="square">
            <a:spAutoFit/>
          </a:bodyPr>
          <a:lstStyle/>
          <a:p>
            <a:pPr algn="just"/>
            <a:r>
              <a:rPr lang="en-US" sz="1800" b="1" i="0" u="none" strike="noStrike" baseline="0" dirty="0">
                <a:solidFill>
                  <a:srgbClr val="00009A"/>
                </a:solidFill>
                <a:latin typeface="Arial" panose="020B0604020202020204" pitchFamily="34" charset="0"/>
              </a:rPr>
              <a:t>Schedule </a:t>
            </a:r>
            <a:r>
              <a:rPr lang="en-US" sz="1800" b="0" i="0" u="none" strike="noStrike" baseline="0" dirty="0">
                <a:solidFill>
                  <a:srgbClr val="000000"/>
                </a:solidFill>
                <a:latin typeface="Arial" panose="020B0604020202020204" pitchFamily="34" charset="0"/>
              </a:rPr>
              <a:t>– a sequences of instructions that specify the</a:t>
            </a:r>
          </a:p>
          <a:p>
            <a:pPr algn="just"/>
            <a:r>
              <a:rPr lang="en-US" sz="1800" b="0" i="0" u="none" strike="noStrike" baseline="0" dirty="0">
                <a:solidFill>
                  <a:srgbClr val="000000"/>
                </a:solidFill>
                <a:latin typeface="Arial" panose="020B0604020202020204" pitchFamily="34" charset="0"/>
              </a:rPr>
              <a:t>chronological order in which instructions of concurrent transactions</a:t>
            </a:r>
          </a:p>
          <a:p>
            <a:pPr algn="just"/>
            <a:r>
              <a:rPr lang="en-IN" sz="1800" b="0" i="0" u="none" strike="noStrike" baseline="0" dirty="0">
                <a:solidFill>
                  <a:srgbClr val="000000"/>
                </a:solidFill>
                <a:latin typeface="Arial" panose="020B0604020202020204" pitchFamily="34" charset="0"/>
              </a:rPr>
              <a:t>are executed</a:t>
            </a:r>
          </a:p>
          <a:p>
            <a:pPr algn="just"/>
            <a:r>
              <a:rPr lang="en-US" sz="1400" b="0" i="0" u="none" strike="noStrike" baseline="0" dirty="0">
                <a:solidFill>
                  <a:srgbClr val="FF9A33"/>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A schedule for a set of transactions must consist of all</a:t>
            </a:r>
          </a:p>
          <a:p>
            <a:pPr algn="just"/>
            <a:r>
              <a:rPr lang="en-IN" sz="1800" b="0" i="0" u="none" strike="noStrike" baseline="0" dirty="0">
                <a:solidFill>
                  <a:srgbClr val="000000"/>
                </a:solidFill>
                <a:latin typeface="Arial" panose="020B0604020202020204" pitchFamily="34" charset="0"/>
              </a:rPr>
              <a:t>instructions of those transactions</a:t>
            </a:r>
          </a:p>
          <a:p>
            <a:pPr algn="just"/>
            <a:r>
              <a:rPr lang="en-US" sz="1400" b="0" i="0" u="none" strike="noStrike" baseline="0" dirty="0">
                <a:solidFill>
                  <a:srgbClr val="FF9A33"/>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Must preserve the order in which the instructions appear in</a:t>
            </a:r>
          </a:p>
          <a:p>
            <a:pPr algn="just"/>
            <a:r>
              <a:rPr lang="en-IN" sz="1800" b="0" i="0" u="none" strike="noStrike" baseline="0" dirty="0">
                <a:solidFill>
                  <a:srgbClr val="000000"/>
                </a:solidFill>
                <a:latin typeface="Arial" panose="020B0604020202020204" pitchFamily="34" charset="0"/>
              </a:rPr>
              <a:t>each individual transaction.</a:t>
            </a:r>
          </a:p>
          <a:p>
            <a:pPr algn="just"/>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A transaction that successfully completes its execution will have a</a:t>
            </a:r>
          </a:p>
          <a:p>
            <a:pPr algn="just"/>
            <a:r>
              <a:rPr lang="en-US" sz="1800" b="1" i="0" u="none" strike="noStrike" baseline="0" dirty="0">
                <a:solidFill>
                  <a:srgbClr val="000000"/>
                </a:solidFill>
                <a:latin typeface="Arial" panose="020B0604020202020204" pitchFamily="34" charset="0"/>
              </a:rPr>
              <a:t>commit </a:t>
            </a:r>
            <a:r>
              <a:rPr lang="en-US" sz="1800" b="0" i="0" u="none" strike="noStrike" baseline="0" dirty="0">
                <a:solidFill>
                  <a:srgbClr val="000000"/>
                </a:solidFill>
                <a:latin typeface="Arial" panose="020B0604020202020204" pitchFamily="34" charset="0"/>
              </a:rPr>
              <a:t>instructions as the last statement</a:t>
            </a:r>
          </a:p>
          <a:p>
            <a:pPr algn="just"/>
            <a:r>
              <a:rPr lang="en-US" sz="1400" b="0" i="0" u="none" strike="noStrike" baseline="0" dirty="0">
                <a:solidFill>
                  <a:srgbClr val="FF9A33"/>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By default transaction assumed to execute commit instruction</a:t>
            </a:r>
          </a:p>
          <a:p>
            <a:pPr algn="just"/>
            <a:r>
              <a:rPr lang="en-IN" sz="1800" b="0" i="0" u="none" strike="noStrike" baseline="0" dirty="0">
                <a:solidFill>
                  <a:srgbClr val="000000"/>
                </a:solidFill>
                <a:latin typeface="Arial" panose="020B0604020202020204" pitchFamily="34" charset="0"/>
              </a:rPr>
              <a:t>as its last step</a:t>
            </a:r>
          </a:p>
          <a:p>
            <a:pPr algn="just"/>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A transaction that fails to successfully complete its execution will</a:t>
            </a:r>
          </a:p>
          <a:p>
            <a:pPr algn="just"/>
            <a:r>
              <a:rPr lang="en-US" sz="1800" b="0" i="0" u="none" strike="noStrike" baseline="0" dirty="0">
                <a:solidFill>
                  <a:srgbClr val="000000"/>
                </a:solidFill>
                <a:latin typeface="Arial" panose="020B0604020202020204" pitchFamily="34" charset="0"/>
              </a:rPr>
              <a:t>have an </a:t>
            </a:r>
            <a:r>
              <a:rPr lang="en-US" sz="1800" b="1" i="0" u="none" strike="noStrike" baseline="0" dirty="0">
                <a:solidFill>
                  <a:srgbClr val="000000"/>
                </a:solidFill>
                <a:latin typeface="Arial" panose="020B0604020202020204" pitchFamily="34" charset="0"/>
              </a:rPr>
              <a:t>abort </a:t>
            </a:r>
            <a:r>
              <a:rPr lang="en-US" sz="1800" b="0" i="0" u="none" strike="noStrike" baseline="0" dirty="0">
                <a:solidFill>
                  <a:srgbClr val="000000"/>
                </a:solidFill>
                <a:latin typeface="Arial" panose="020B0604020202020204" pitchFamily="34" charset="0"/>
              </a:rPr>
              <a:t>instruction as the last statement</a:t>
            </a:r>
            <a:endParaRPr lang="en-IN" dirty="0"/>
          </a:p>
        </p:txBody>
      </p:sp>
    </p:spTree>
    <p:extLst>
      <p:ext uri="{BB962C8B-B14F-4D97-AF65-F5344CB8AC3E}">
        <p14:creationId xmlns:p14="http://schemas.microsoft.com/office/powerpoint/2010/main" val="2761790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6E64136-BBBF-92E1-AD0D-6BF61CC8C689}"/>
              </a:ext>
            </a:extLst>
          </p:cNvPr>
          <p:cNvSpPr txBox="1"/>
          <p:nvPr/>
        </p:nvSpPr>
        <p:spPr>
          <a:xfrm>
            <a:off x="5419023" y="2337675"/>
            <a:ext cx="3542097" cy="2862322"/>
          </a:xfrm>
          <a:prstGeom prst="rect">
            <a:avLst/>
          </a:prstGeom>
          <a:noFill/>
        </p:spPr>
        <p:txBody>
          <a:bodyPr wrap="square">
            <a:spAutoFit/>
          </a:bodyPr>
          <a:lstStyle/>
          <a:p>
            <a:pPr algn="l"/>
            <a:r>
              <a:rPr lang="en-IN" sz="3600" b="1" i="0" u="none" strike="noStrike" baseline="0" dirty="0">
                <a:solidFill>
                  <a:srgbClr val="CD3300"/>
                </a:solidFill>
                <a:latin typeface="Arial" panose="020B0604020202020204" pitchFamily="34" charset="0"/>
              </a:rPr>
              <a:t>Schedule 1</a:t>
            </a:r>
          </a:p>
          <a:p>
            <a:pPr algn="l"/>
            <a:endParaRPr lang="en-IN" sz="3600" b="1" dirty="0">
              <a:solidFill>
                <a:srgbClr val="CD3300"/>
              </a:solidFill>
              <a:latin typeface="Arial" panose="020B0604020202020204" pitchFamily="34" charset="0"/>
            </a:endParaRP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Let </a:t>
            </a:r>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1 </a:t>
            </a:r>
            <a:r>
              <a:rPr lang="en-US" sz="1800" b="0" i="0" u="none" strike="noStrike" baseline="0" dirty="0">
                <a:solidFill>
                  <a:srgbClr val="000000"/>
                </a:solidFill>
                <a:latin typeface="Arial" panose="020B0604020202020204" pitchFamily="34" charset="0"/>
              </a:rPr>
              <a:t>transfer $50 from </a:t>
            </a:r>
            <a:r>
              <a:rPr lang="en-US" sz="1800" b="0" i="1" u="none" strike="noStrike" baseline="0" dirty="0">
                <a:solidFill>
                  <a:srgbClr val="000000"/>
                </a:solidFill>
                <a:latin typeface="Arial" panose="020B0604020202020204" pitchFamily="34" charset="0"/>
              </a:rPr>
              <a:t>A </a:t>
            </a:r>
            <a:r>
              <a:rPr lang="en-US" sz="1800" b="0" i="0" u="none" strike="noStrike" baseline="0" dirty="0">
                <a:solidFill>
                  <a:srgbClr val="000000"/>
                </a:solidFill>
                <a:latin typeface="Arial" panose="020B0604020202020204" pitchFamily="34" charset="0"/>
              </a:rPr>
              <a:t>to </a:t>
            </a:r>
            <a:r>
              <a:rPr lang="en-US" sz="1800" b="0" i="1" u="none" strike="noStrike" baseline="0" dirty="0">
                <a:solidFill>
                  <a:srgbClr val="000000"/>
                </a:solidFill>
                <a:latin typeface="Arial" panose="020B0604020202020204" pitchFamily="34" charset="0"/>
              </a:rPr>
              <a:t>B</a:t>
            </a:r>
            <a:r>
              <a:rPr lang="en-US" sz="1800" b="0" i="0" u="none" strike="noStrike" baseline="0" dirty="0">
                <a:solidFill>
                  <a:srgbClr val="000000"/>
                </a:solidFill>
                <a:latin typeface="Arial" panose="020B0604020202020204" pitchFamily="34" charset="0"/>
              </a:rPr>
              <a:t>, and </a:t>
            </a:r>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2 </a:t>
            </a:r>
            <a:r>
              <a:rPr lang="en-US" sz="1800" b="0" i="0" u="none" strike="noStrike" baseline="0" dirty="0">
                <a:solidFill>
                  <a:srgbClr val="000000"/>
                </a:solidFill>
                <a:latin typeface="Arial" panose="020B0604020202020204" pitchFamily="34" charset="0"/>
              </a:rPr>
              <a:t>transfer 10% of the balance from </a:t>
            </a:r>
            <a:r>
              <a:rPr lang="en-US" sz="1800" b="0" i="1" u="none" strike="noStrike" baseline="0" dirty="0">
                <a:solidFill>
                  <a:srgbClr val="000000"/>
                </a:solidFill>
                <a:latin typeface="Arial" panose="020B0604020202020204" pitchFamily="34" charset="0"/>
              </a:rPr>
              <a:t>A </a:t>
            </a:r>
            <a:r>
              <a:rPr lang="en-US" sz="1800" b="0" i="0" u="none" strike="noStrike" baseline="0" dirty="0">
                <a:solidFill>
                  <a:srgbClr val="000000"/>
                </a:solidFill>
                <a:latin typeface="Arial" panose="020B0604020202020204" pitchFamily="34" charset="0"/>
              </a:rPr>
              <a:t>to </a:t>
            </a:r>
            <a:r>
              <a:rPr lang="en-US" sz="1800" b="0" i="1" u="none" strike="noStrike" baseline="0" dirty="0">
                <a:solidFill>
                  <a:srgbClr val="000000"/>
                </a:solidFill>
                <a:latin typeface="Arial" panose="020B0604020202020204" pitchFamily="34" charset="0"/>
              </a:rPr>
              <a:t>B.</a:t>
            </a:r>
            <a:r>
              <a:rPr lang="en-US" sz="1600" b="0" i="0" u="none" strike="noStrike" baseline="0" dirty="0">
                <a:solidFill>
                  <a:srgbClr val="CD3300"/>
                </a:solidFill>
                <a:latin typeface="Wingdings" panose="05000000000000000000" pitchFamily="2" charset="2"/>
              </a:rPr>
              <a:t></a:t>
            </a: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An example of a </a:t>
            </a:r>
            <a:r>
              <a:rPr lang="en-US" sz="1800" b="1" i="0" u="none" strike="noStrike" baseline="0" dirty="0">
                <a:solidFill>
                  <a:srgbClr val="00009A"/>
                </a:solidFill>
                <a:latin typeface="Arial" panose="020B0604020202020204" pitchFamily="34" charset="0"/>
              </a:rPr>
              <a:t>serial </a:t>
            </a:r>
            <a:r>
              <a:rPr lang="en-US" sz="1800" b="0" i="0" u="none" strike="noStrike" baseline="0" dirty="0">
                <a:solidFill>
                  <a:srgbClr val="000000"/>
                </a:solidFill>
                <a:latin typeface="Arial" panose="020B0604020202020204" pitchFamily="34" charset="0"/>
              </a:rPr>
              <a:t>schedule in which </a:t>
            </a:r>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1 </a:t>
            </a:r>
            <a:r>
              <a:rPr lang="en-US" sz="1800" b="0" i="0" u="none" strike="noStrike" baseline="0" dirty="0">
                <a:solidFill>
                  <a:srgbClr val="000000"/>
                </a:solidFill>
                <a:latin typeface="Arial" panose="020B0604020202020204" pitchFamily="34" charset="0"/>
              </a:rPr>
              <a:t>is followed by </a:t>
            </a:r>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2 </a:t>
            </a:r>
            <a:r>
              <a:rPr lang="en-US" sz="1800" b="0" i="0" u="none" strike="noStrike" baseline="0" dirty="0">
                <a:solidFill>
                  <a:srgbClr val="000000"/>
                </a:solidFill>
                <a:latin typeface="Arial" panose="020B0604020202020204" pitchFamily="34" charset="0"/>
              </a:rPr>
              <a:t>:</a:t>
            </a:r>
            <a:r>
              <a:rPr lang="en-US" sz="1600" b="0" i="0" u="none" strike="noStrike" baseline="0" dirty="0">
                <a:solidFill>
                  <a:srgbClr val="CD3300"/>
                </a:solidFill>
                <a:latin typeface="Wingdings" panose="05000000000000000000" pitchFamily="2" charset="2"/>
              </a:rPr>
              <a:t></a:t>
            </a:r>
            <a:endParaRPr lang="en-IN" dirty="0"/>
          </a:p>
        </p:txBody>
      </p:sp>
      <p:pic>
        <p:nvPicPr>
          <p:cNvPr id="7" name="Picture 6">
            <a:extLst>
              <a:ext uri="{FF2B5EF4-FFF2-40B4-BE49-F238E27FC236}">
                <a16:creationId xmlns:a16="http://schemas.microsoft.com/office/drawing/2014/main" xmlns="" id="{7418F73A-158B-39C4-AEE3-F2E5F557E93C}"/>
              </a:ext>
            </a:extLst>
          </p:cNvPr>
          <p:cNvPicPr>
            <a:picLocks noChangeAspect="1"/>
          </p:cNvPicPr>
          <p:nvPr/>
        </p:nvPicPr>
        <p:blipFill>
          <a:blip r:embed="rId2"/>
          <a:stretch>
            <a:fillRect/>
          </a:stretch>
        </p:blipFill>
        <p:spPr>
          <a:xfrm>
            <a:off x="1519180" y="1970848"/>
            <a:ext cx="3270384" cy="4102693"/>
          </a:xfrm>
          <a:prstGeom prst="rect">
            <a:avLst/>
          </a:prstGeom>
        </p:spPr>
      </p:pic>
    </p:spTree>
    <p:extLst>
      <p:ext uri="{BB962C8B-B14F-4D97-AF65-F5344CB8AC3E}">
        <p14:creationId xmlns:p14="http://schemas.microsoft.com/office/powerpoint/2010/main" val="2861554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3868BDA-E7A9-752F-DF0C-83C808AEEC26}"/>
              </a:ext>
            </a:extLst>
          </p:cNvPr>
          <p:cNvSpPr txBox="1"/>
          <p:nvPr/>
        </p:nvSpPr>
        <p:spPr>
          <a:xfrm>
            <a:off x="3638350" y="770369"/>
            <a:ext cx="6102416" cy="923330"/>
          </a:xfrm>
          <a:prstGeom prst="rect">
            <a:avLst/>
          </a:prstGeom>
          <a:noFill/>
        </p:spPr>
        <p:txBody>
          <a:bodyPr wrap="square">
            <a:spAutoFit/>
          </a:bodyPr>
          <a:lstStyle/>
          <a:p>
            <a:pPr algn="l"/>
            <a:r>
              <a:rPr lang="en-IN" sz="3600" b="1" i="0" u="none" strike="noStrike" baseline="0" dirty="0">
                <a:solidFill>
                  <a:srgbClr val="CD3300"/>
                </a:solidFill>
                <a:latin typeface="Arial" panose="020B0604020202020204" pitchFamily="34" charset="0"/>
              </a:rPr>
              <a:t>Schedule 2</a:t>
            </a: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A </a:t>
            </a:r>
            <a:r>
              <a:rPr lang="en-US" sz="1800" b="1" i="0" u="none" strike="noStrike" baseline="0" dirty="0">
                <a:solidFill>
                  <a:srgbClr val="00009A"/>
                </a:solidFill>
                <a:latin typeface="Arial" panose="020B0604020202020204" pitchFamily="34" charset="0"/>
              </a:rPr>
              <a:t>serial </a:t>
            </a:r>
            <a:r>
              <a:rPr lang="en-US" sz="1800" b="0" i="0" u="none" strike="noStrike" baseline="0" dirty="0">
                <a:solidFill>
                  <a:srgbClr val="000000"/>
                </a:solidFill>
                <a:latin typeface="Arial" panose="020B0604020202020204" pitchFamily="34" charset="0"/>
              </a:rPr>
              <a:t>schedule in which </a:t>
            </a:r>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2 </a:t>
            </a:r>
            <a:r>
              <a:rPr lang="en-US" sz="1800" b="0" i="0" u="none" strike="noStrike" baseline="0" dirty="0">
                <a:solidFill>
                  <a:srgbClr val="000000"/>
                </a:solidFill>
                <a:latin typeface="Arial" panose="020B0604020202020204" pitchFamily="34" charset="0"/>
              </a:rPr>
              <a:t>is followed by </a:t>
            </a:r>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1 </a:t>
            </a:r>
            <a:r>
              <a:rPr lang="en-US" sz="1800" b="0" i="0" u="none" strike="noStrike" baseline="0" dirty="0">
                <a:solidFill>
                  <a:srgbClr val="000000"/>
                </a:solidFill>
                <a:latin typeface="Arial" panose="020B0604020202020204" pitchFamily="34" charset="0"/>
              </a:rPr>
              <a:t>:</a:t>
            </a:r>
            <a:r>
              <a:rPr lang="en-US" sz="1600" b="0" i="0" u="none" strike="noStrike" baseline="0" dirty="0">
                <a:solidFill>
                  <a:srgbClr val="CD3300"/>
                </a:solidFill>
                <a:latin typeface="Wingdings" panose="05000000000000000000" pitchFamily="2" charset="2"/>
              </a:rPr>
              <a:t></a:t>
            </a:r>
            <a:endParaRPr lang="en-IN" dirty="0"/>
          </a:p>
        </p:txBody>
      </p:sp>
      <p:pic>
        <p:nvPicPr>
          <p:cNvPr id="5" name="Picture 4">
            <a:extLst>
              <a:ext uri="{FF2B5EF4-FFF2-40B4-BE49-F238E27FC236}">
                <a16:creationId xmlns:a16="http://schemas.microsoft.com/office/drawing/2014/main" xmlns="" id="{A440479F-93BE-DBB7-170C-10186255AFC9}"/>
              </a:ext>
            </a:extLst>
          </p:cNvPr>
          <p:cNvPicPr>
            <a:picLocks noChangeAspect="1"/>
          </p:cNvPicPr>
          <p:nvPr/>
        </p:nvPicPr>
        <p:blipFill>
          <a:blip r:embed="rId2"/>
          <a:stretch>
            <a:fillRect/>
          </a:stretch>
        </p:blipFill>
        <p:spPr>
          <a:xfrm>
            <a:off x="4297913" y="2156415"/>
            <a:ext cx="3134162" cy="4239217"/>
          </a:xfrm>
          <a:prstGeom prst="rect">
            <a:avLst/>
          </a:prstGeom>
        </p:spPr>
      </p:pic>
    </p:spTree>
    <p:extLst>
      <p:ext uri="{BB962C8B-B14F-4D97-AF65-F5344CB8AC3E}">
        <p14:creationId xmlns:p14="http://schemas.microsoft.com/office/powerpoint/2010/main" val="2390626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B82D44A-DBD9-3E28-67A9-89F187B14C5F}"/>
              </a:ext>
            </a:extLst>
          </p:cNvPr>
          <p:cNvSpPr txBox="1"/>
          <p:nvPr/>
        </p:nvSpPr>
        <p:spPr>
          <a:xfrm>
            <a:off x="3044792" y="799244"/>
            <a:ext cx="6102416" cy="646331"/>
          </a:xfrm>
          <a:prstGeom prst="rect">
            <a:avLst/>
          </a:prstGeom>
          <a:noFill/>
        </p:spPr>
        <p:txBody>
          <a:bodyPr wrap="square">
            <a:spAutoFit/>
          </a:bodyPr>
          <a:lstStyle/>
          <a:p>
            <a:pPr algn="l"/>
            <a:r>
              <a:rPr lang="en-US" sz="1800" b="0" i="0" u="none" strike="noStrike" baseline="0" dirty="0">
                <a:solidFill>
                  <a:srgbClr val="000000"/>
                </a:solidFill>
                <a:latin typeface="Arial" panose="020B0604020202020204" pitchFamily="34" charset="0"/>
              </a:rPr>
              <a:t>The following concurrent schedule does not preserve the sum  </a:t>
            </a:r>
            <a:r>
              <a:rPr lang="en-IN" sz="1800" b="0" i="0" u="none" strike="noStrike" baseline="0" dirty="0">
                <a:solidFill>
                  <a:srgbClr val="000000"/>
                </a:solidFill>
                <a:latin typeface="Arial" panose="020B0604020202020204" pitchFamily="34" charset="0"/>
              </a:rPr>
              <a:t>of ―</a:t>
            </a:r>
            <a:r>
              <a:rPr lang="en-IN" sz="1800" b="0" i="1" u="none" strike="noStrike" baseline="0" dirty="0">
                <a:solidFill>
                  <a:srgbClr val="000000"/>
                </a:solidFill>
                <a:latin typeface="Arial" panose="020B0604020202020204" pitchFamily="34" charset="0"/>
              </a:rPr>
              <a:t>A </a:t>
            </a:r>
            <a:r>
              <a:rPr lang="en-IN" sz="1800" b="0" i="0" u="none" strike="noStrike" baseline="0" dirty="0">
                <a:solidFill>
                  <a:srgbClr val="000000"/>
                </a:solidFill>
                <a:latin typeface="Arial" panose="020B0604020202020204" pitchFamily="34" charset="0"/>
              </a:rPr>
              <a:t>+ </a:t>
            </a:r>
            <a:r>
              <a:rPr lang="en-IN" sz="1800" b="0" i="1" u="none" strike="noStrike" baseline="0" dirty="0">
                <a:solidFill>
                  <a:srgbClr val="000000"/>
                </a:solidFill>
                <a:latin typeface="Arial" panose="020B0604020202020204" pitchFamily="34" charset="0"/>
              </a:rPr>
              <a:t>B</a:t>
            </a:r>
            <a:r>
              <a:rPr lang="en-IN" sz="1800" b="0" i="0" u="none" strike="noStrike" baseline="0" dirty="0">
                <a:solidFill>
                  <a:srgbClr val="000000"/>
                </a:solidFill>
                <a:latin typeface="Arial" panose="020B0604020202020204" pitchFamily="34" charset="0"/>
              </a:rPr>
              <a:t>‖</a:t>
            </a:r>
            <a:r>
              <a:rPr lang="en-IN" sz="1600" b="0" i="0" u="none" strike="noStrike" baseline="0" dirty="0">
                <a:solidFill>
                  <a:srgbClr val="CD3300"/>
                </a:solidFill>
                <a:latin typeface="Wingdings" panose="05000000000000000000" pitchFamily="2" charset="2"/>
              </a:rPr>
              <a:t></a:t>
            </a:r>
            <a:endParaRPr lang="en-IN" dirty="0"/>
          </a:p>
        </p:txBody>
      </p:sp>
      <p:pic>
        <p:nvPicPr>
          <p:cNvPr id="5" name="Picture 4">
            <a:extLst>
              <a:ext uri="{FF2B5EF4-FFF2-40B4-BE49-F238E27FC236}">
                <a16:creationId xmlns:a16="http://schemas.microsoft.com/office/drawing/2014/main" xmlns="" id="{30353A5F-6732-BC5A-4343-E3F032FECB7E}"/>
              </a:ext>
            </a:extLst>
          </p:cNvPr>
          <p:cNvPicPr>
            <a:picLocks noChangeAspect="1"/>
          </p:cNvPicPr>
          <p:nvPr/>
        </p:nvPicPr>
        <p:blipFill>
          <a:blip r:embed="rId2"/>
          <a:stretch>
            <a:fillRect/>
          </a:stretch>
        </p:blipFill>
        <p:spPr>
          <a:xfrm>
            <a:off x="4127527" y="1904309"/>
            <a:ext cx="3686689" cy="4953691"/>
          </a:xfrm>
          <a:prstGeom prst="rect">
            <a:avLst/>
          </a:prstGeom>
        </p:spPr>
      </p:pic>
    </p:spTree>
    <p:extLst>
      <p:ext uri="{BB962C8B-B14F-4D97-AF65-F5344CB8AC3E}">
        <p14:creationId xmlns:p14="http://schemas.microsoft.com/office/powerpoint/2010/main" val="608606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78AA8FB-419E-5F25-BBB9-96DA355995E1}"/>
              </a:ext>
            </a:extLst>
          </p:cNvPr>
          <p:cNvSpPr txBox="1"/>
          <p:nvPr/>
        </p:nvSpPr>
        <p:spPr>
          <a:xfrm>
            <a:off x="1222408" y="1231581"/>
            <a:ext cx="9538636" cy="3570208"/>
          </a:xfrm>
          <a:prstGeom prst="rect">
            <a:avLst/>
          </a:prstGeom>
          <a:noFill/>
        </p:spPr>
        <p:txBody>
          <a:bodyPr wrap="square">
            <a:spAutoFit/>
          </a:bodyPr>
          <a:lstStyle/>
          <a:p>
            <a:pPr algn="l"/>
            <a:r>
              <a:rPr lang="en-IN" sz="3200" b="1" i="0" u="none" strike="noStrike" baseline="0" dirty="0">
                <a:solidFill>
                  <a:srgbClr val="CD3300"/>
                </a:solidFill>
                <a:latin typeface="Arial" panose="020B0604020202020204" pitchFamily="34" charset="0"/>
              </a:rPr>
              <a:t>                           Serializability</a:t>
            </a:r>
          </a:p>
          <a:p>
            <a:pPr algn="l"/>
            <a:endParaRPr lang="en-IN" sz="3200" b="1" i="0" u="none" strike="noStrike" baseline="0" dirty="0">
              <a:solidFill>
                <a:srgbClr val="CD3300"/>
              </a:solidFill>
              <a:latin typeface="Arial" panose="020B0604020202020204" pitchFamily="34" charset="0"/>
            </a:endParaRPr>
          </a:p>
          <a:p>
            <a:pPr algn="l"/>
            <a:r>
              <a:rPr lang="en-US" sz="1600" b="0" i="0" u="none" strike="noStrike" baseline="0" dirty="0">
                <a:solidFill>
                  <a:srgbClr val="CD3300"/>
                </a:solidFill>
                <a:latin typeface="Wingdings" panose="05000000000000000000" pitchFamily="2" charset="2"/>
              </a:rPr>
              <a:t> </a:t>
            </a:r>
            <a:r>
              <a:rPr lang="en-US" sz="1800" b="1" i="0" u="none" strike="noStrike" baseline="0" dirty="0">
                <a:solidFill>
                  <a:srgbClr val="000000"/>
                </a:solidFill>
                <a:latin typeface="Arial" panose="020B0604020202020204" pitchFamily="34" charset="0"/>
              </a:rPr>
              <a:t>Basic Assumption </a:t>
            </a:r>
            <a:r>
              <a:rPr lang="en-US" sz="1800" b="0" i="0" u="none" strike="noStrike" baseline="0" dirty="0">
                <a:solidFill>
                  <a:srgbClr val="000000"/>
                </a:solidFill>
                <a:latin typeface="Arial" panose="020B0604020202020204" pitchFamily="34" charset="0"/>
              </a:rPr>
              <a:t>– Each transaction preserves database</a:t>
            </a:r>
          </a:p>
          <a:p>
            <a:pPr algn="l"/>
            <a:r>
              <a:rPr lang="en-IN" sz="1800" b="0" i="0" u="none" strike="noStrike" baseline="0" dirty="0">
                <a:solidFill>
                  <a:srgbClr val="000000"/>
                </a:solidFill>
                <a:latin typeface="Arial" panose="020B0604020202020204" pitchFamily="34" charset="0"/>
              </a:rPr>
              <a:t>consistency.</a:t>
            </a: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Thus, serial execution of a set of transactions preserves</a:t>
            </a:r>
          </a:p>
          <a:p>
            <a:pPr algn="l"/>
            <a:r>
              <a:rPr lang="en-IN" sz="1800" b="0" i="0" u="none" strike="noStrike" baseline="0" dirty="0">
                <a:solidFill>
                  <a:srgbClr val="000000"/>
                </a:solidFill>
                <a:latin typeface="Arial" panose="020B0604020202020204" pitchFamily="34" charset="0"/>
              </a:rPr>
              <a:t>database consistency.</a:t>
            </a: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A (possibly concurrent) schedule is serializable if it is</a:t>
            </a:r>
          </a:p>
          <a:p>
            <a:pPr algn="l"/>
            <a:r>
              <a:rPr lang="en-US" sz="1800" b="0" i="0" u="none" strike="noStrike" baseline="0" dirty="0">
                <a:solidFill>
                  <a:srgbClr val="000000"/>
                </a:solidFill>
                <a:latin typeface="Arial" panose="020B0604020202020204" pitchFamily="34" charset="0"/>
              </a:rPr>
              <a:t>equivalent to a serial schedule. Different forms of schedule</a:t>
            </a:r>
          </a:p>
          <a:p>
            <a:pPr algn="l"/>
            <a:r>
              <a:rPr lang="en-US" sz="1800" b="0" i="0" u="none" strike="noStrike" baseline="0" dirty="0">
                <a:solidFill>
                  <a:srgbClr val="000000"/>
                </a:solidFill>
                <a:latin typeface="Arial" panose="020B0604020202020204" pitchFamily="34" charset="0"/>
              </a:rPr>
              <a:t>equivalence give rise to the notions of:</a:t>
            </a:r>
          </a:p>
          <a:p>
            <a:pPr algn="l"/>
            <a:r>
              <a:rPr lang="en-IN" sz="1800" b="1" i="0" u="none" strike="noStrike" baseline="0" dirty="0">
                <a:solidFill>
                  <a:srgbClr val="000000"/>
                </a:solidFill>
                <a:latin typeface="Arial" panose="020B0604020202020204" pitchFamily="34" charset="0"/>
              </a:rPr>
              <a:t>1. </a:t>
            </a:r>
            <a:r>
              <a:rPr lang="en-IN" sz="1800" b="1" i="0" u="none" strike="noStrike" baseline="0" dirty="0">
                <a:solidFill>
                  <a:srgbClr val="00009A"/>
                </a:solidFill>
                <a:latin typeface="Arial" panose="020B0604020202020204" pitchFamily="34" charset="0"/>
              </a:rPr>
              <a:t>conflict serializability</a:t>
            </a:r>
          </a:p>
          <a:p>
            <a:pPr algn="l"/>
            <a:r>
              <a:rPr lang="en-IN" sz="1800" b="1" i="0" u="none" strike="noStrike" baseline="0" dirty="0">
                <a:solidFill>
                  <a:srgbClr val="000000"/>
                </a:solidFill>
                <a:latin typeface="Arial" panose="020B0604020202020204" pitchFamily="34" charset="0"/>
              </a:rPr>
              <a:t>2. </a:t>
            </a:r>
            <a:r>
              <a:rPr lang="en-IN" sz="1800" b="1" i="0" u="none" strike="noStrike" baseline="0" dirty="0">
                <a:solidFill>
                  <a:srgbClr val="00009A"/>
                </a:solidFill>
                <a:latin typeface="Arial" panose="020B0604020202020204" pitchFamily="34" charset="0"/>
              </a:rPr>
              <a:t>view serializability</a:t>
            </a:r>
            <a:endParaRPr lang="en-IN" dirty="0"/>
          </a:p>
        </p:txBody>
      </p:sp>
    </p:spTree>
    <p:extLst>
      <p:ext uri="{BB962C8B-B14F-4D97-AF65-F5344CB8AC3E}">
        <p14:creationId xmlns:p14="http://schemas.microsoft.com/office/powerpoint/2010/main" val="1797397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4E13874-B999-C41B-190D-6A19EC401885}"/>
              </a:ext>
            </a:extLst>
          </p:cNvPr>
          <p:cNvSpPr txBox="1"/>
          <p:nvPr/>
        </p:nvSpPr>
        <p:spPr>
          <a:xfrm>
            <a:off x="1010653" y="2143558"/>
            <a:ext cx="8142972" cy="1754326"/>
          </a:xfrm>
          <a:prstGeom prst="rect">
            <a:avLst/>
          </a:prstGeom>
          <a:noFill/>
        </p:spPr>
        <p:txBody>
          <a:bodyPr wrap="square">
            <a:spAutoFit/>
          </a:bodyPr>
          <a:lstStyle/>
          <a:p>
            <a:pPr algn="l"/>
            <a:r>
              <a:rPr lang="en-US" sz="1800" b="0" i="0" u="none" strike="noStrike" baseline="0" dirty="0">
                <a:solidFill>
                  <a:srgbClr val="000000"/>
                </a:solidFill>
                <a:latin typeface="Arial" panose="020B0604020202020204" pitchFamily="34" charset="0"/>
              </a:rPr>
              <a:t>We ignore operations other than </a:t>
            </a:r>
            <a:r>
              <a:rPr lang="en-US" sz="1800" b="1" i="0" u="none" strike="noStrike" baseline="0" dirty="0">
                <a:solidFill>
                  <a:srgbClr val="000000"/>
                </a:solidFill>
                <a:latin typeface="Arial" panose="020B0604020202020204" pitchFamily="34" charset="0"/>
              </a:rPr>
              <a:t>read </a:t>
            </a:r>
            <a:r>
              <a:rPr lang="en-US" sz="1800" b="0" i="0" u="none" strike="noStrike" baseline="0" dirty="0">
                <a:solidFill>
                  <a:srgbClr val="000000"/>
                </a:solidFill>
                <a:latin typeface="Arial" panose="020B0604020202020204" pitchFamily="34" charset="0"/>
              </a:rPr>
              <a:t>and </a:t>
            </a:r>
            <a:r>
              <a:rPr lang="en-US" sz="1800" b="1" i="0" u="none" strike="noStrike" baseline="0" dirty="0">
                <a:solidFill>
                  <a:srgbClr val="000000"/>
                </a:solidFill>
                <a:latin typeface="Arial" panose="020B0604020202020204" pitchFamily="34" charset="0"/>
              </a:rPr>
              <a:t>write </a:t>
            </a:r>
            <a:r>
              <a:rPr lang="en-US" sz="1800" b="0" i="0" u="none" strike="noStrike" baseline="0" dirty="0">
                <a:solidFill>
                  <a:srgbClr val="000000"/>
                </a:solidFill>
                <a:latin typeface="Arial" panose="020B0604020202020204" pitchFamily="34" charset="0"/>
              </a:rPr>
              <a:t>instructions</a:t>
            </a: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We assume that transactions may perform arbitrary</a:t>
            </a:r>
          </a:p>
          <a:p>
            <a:pPr algn="l"/>
            <a:r>
              <a:rPr lang="en-US" sz="1800" b="0" i="0" u="none" strike="noStrike" baseline="0" dirty="0">
                <a:solidFill>
                  <a:srgbClr val="000000"/>
                </a:solidFill>
                <a:latin typeface="Arial" panose="020B0604020202020204" pitchFamily="34" charset="0"/>
              </a:rPr>
              <a:t>computations on data in local buffers in between reads and</a:t>
            </a:r>
          </a:p>
          <a:p>
            <a:pPr algn="l"/>
            <a:r>
              <a:rPr lang="en-IN" sz="1800" b="0" i="0" u="none" strike="noStrike" baseline="0" dirty="0">
                <a:solidFill>
                  <a:srgbClr val="000000"/>
                </a:solidFill>
                <a:latin typeface="Arial" panose="020B0604020202020204" pitchFamily="34" charset="0"/>
              </a:rPr>
              <a:t>writes.</a:t>
            </a: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Our simplified schedules consist of only </a:t>
            </a:r>
            <a:r>
              <a:rPr lang="en-US" sz="1800" b="1" i="0" u="none" strike="noStrike" baseline="0" dirty="0">
                <a:solidFill>
                  <a:srgbClr val="000000"/>
                </a:solidFill>
                <a:latin typeface="Arial" panose="020B0604020202020204" pitchFamily="34" charset="0"/>
              </a:rPr>
              <a:t>read </a:t>
            </a:r>
            <a:r>
              <a:rPr lang="en-US" sz="1800" b="0" i="0" u="none" strike="noStrike" baseline="0" dirty="0">
                <a:solidFill>
                  <a:srgbClr val="000000"/>
                </a:solidFill>
                <a:latin typeface="Arial" panose="020B0604020202020204" pitchFamily="34" charset="0"/>
              </a:rPr>
              <a:t>and </a:t>
            </a:r>
            <a:r>
              <a:rPr lang="en-US" sz="1800" b="1" i="0" u="none" strike="noStrike" baseline="0" dirty="0">
                <a:solidFill>
                  <a:srgbClr val="000000"/>
                </a:solidFill>
                <a:latin typeface="Arial" panose="020B0604020202020204" pitchFamily="34" charset="0"/>
              </a:rPr>
              <a:t>write</a:t>
            </a:r>
          </a:p>
          <a:p>
            <a:pPr algn="l"/>
            <a:r>
              <a:rPr lang="en-IN" sz="1800" b="0" i="0" u="none" strike="noStrike" baseline="0" dirty="0">
                <a:solidFill>
                  <a:srgbClr val="000000"/>
                </a:solidFill>
                <a:latin typeface="Arial" panose="020B0604020202020204" pitchFamily="34" charset="0"/>
              </a:rPr>
              <a:t>instructions.</a:t>
            </a:r>
            <a:endParaRPr lang="en-IN" dirty="0"/>
          </a:p>
        </p:txBody>
      </p:sp>
    </p:spTree>
    <p:extLst>
      <p:ext uri="{BB962C8B-B14F-4D97-AF65-F5344CB8AC3E}">
        <p14:creationId xmlns:p14="http://schemas.microsoft.com/office/powerpoint/2010/main" val="3587053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BE981CE-BD47-C4A4-5440-814E3DD0B6AB}"/>
              </a:ext>
            </a:extLst>
          </p:cNvPr>
          <p:cNvSpPr txBox="1"/>
          <p:nvPr/>
        </p:nvSpPr>
        <p:spPr>
          <a:xfrm>
            <a:off x="731520" y="789341"/>
            <a:ext cx="10847672" cy="5170646"/>
          </a:xfrm>
          <a:prstGeom prst="rect">
            <a:avLst/>
          </a:prstGeom>
          <a:noFill/>
        </p:spPr>
        <p:txBody>
          <a:bodyPr wrap="square">
            <a:spAutoFit/>
          </a:bodyPr>
          <a:lstStyle/>
          <a:p>
            <a:pPr algn="l"/>
            <a:r>
              <a:rPr lang="en-IN" sz="3200" b="1" i="0" u="none" strike="noStrike" baseline="0" dirty="0">
                <a:solidFill>
                  <a:srgbClr val="CD3300"/>
                </a:solidFill>
                <a:latin typeface="Arial" panose="020B0604020202020204" pitchFamily="34" charset="0"/>
              </a:rPr>
              <a:t>Conflicting Instructions</a:t>
            </a:r>
          </a:p>
          <a:p>
            <a:pPr algn="l"/>
            <a:endParaRPr lang="en-IN" sz="3200" b="1" dirty="0">
              <a:solidFill>
                <a:srgbClr val="CD3300"/>
              </a:solidFill>
              <a:latin typeface="Arial" panose="020B0604020202020204" pitchFamily="34" charset="0"/>
            </a:endParaRPr>
          </a:p>
          <a:p>
            <a:pPr algn="l"/>
            <a:endParaRPr lang="en-IN" sz="3200" b="1" i="0" u="none" strike="noStrike" baseline="0" dirty="0">
              <a:solidFill>
                <a:srgbClr val="CD3300"/>
              </a:solidFill>
              <a:latin typeface="Arial" panose="020B0604020202020204" pitchFamily="34" charset="0"/>
            </a:endParaRP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Let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and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Arial" panose="020B0604020202020204" pitchFamily="34" charset="0"/>
              </a:rPr>
              <a:t>be two Instructions of transactions </a:t>
            </a:r>
            <a:r>
              <a:rPr lang="en-US" sz="1800" b="0" i="1" u="none" strike="noStrike" baseline="0" dirty="0">
                <a:solidFill>
                  <a:srgbClr val="000000"/>
                </a:solidFill>
                <a:latin typeface="Arial" panose="020B0604020202020204" pitchFamily="34" charset="0"/>
              </a:rPr>
              <a:t>T</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and </a:t>
            </a:r>
            <a:r>
              <a:rPr lang="en-US" sz="1800" b="0" i="1" u="none" strike="noStrike" baseline="0" dirty="0" err="1">
                <a:solidFill>
                  <a:srgbClr val="000000"/>
                </a:solidFill>
                <a:latin typeface="Arial" panose="020B0604020202020204" pitchFamily="34" charset="0"/>
              </a:rPr>
              <a:t>T</a:t>
            </a:r>
            <a:r>
              <a:rPr lang="en-US" sz="1200" b="0" i="1" u="none" strike="noStrike" baseline="0" dirty="0" err="1">
                <a:solidFill>
                  <a:srgbClr val="000000"/>
                </a:solidFill>
                <a:latin typeface="Arial" panose="020B0604020202020204" pitchFamily="34" charset="0"/>
              </a:rPr>
              <a:t>j</a:t>
            </a:r>
            <a:endParaRPr lang="en-US" sz="1200" b="0" i="1" u="none" strike="noStrike" baseline="0" dirty="0">
              <a:solidFill>
                <a:srgbClr val="000000"/>
              </a:solidFill>
              <a:latin typeface="Arial" panose="020B0604020202020204" pitchFamily="34" charset="0"/>
            </a:endParaRPr>
          </a:p>
          <a:p>
            <a:pPr algn="l"/>
            <a:r>
              <a:rPr lang="en-US" sz="1800" b="0" i="0" u="none" strike="noStrike" baseline="0" dirty="0">
                <a:solidFill>
                  <a:srgbClr val="000000"/>
                </a:solidFill>
                <a:latin typeface="Arial" panose="020B0604020202020204" pitchFamily="34" charset="0"/>
              </a:rPr>
              <a:t>respectively. Instructions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and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1" i="0" u="none" strike="noStrike" baseline="0" dirty="0">
                <a:solidFill>
                  <a:srgbClr val="00009A"/>
                </a:solidFill>
                <a:latin typeface="Arial" panose="020B0604020202020204" pitchFamily="34" charset="0"/>
              </a:rPr>
              <a:t>conflict </a:t>
            </a:r>
            <a:r>
              <a:rPr lang="en-US" sz="1800" b="0" i="0" u="none" strike="noStrike" baseline="0" dirty="0">
                <a:solidFill>
                  <a:srgbClr val="000000"/>
                </a:solidFill>
                <a:latin typeface="Arial" panose="020B0604020202020204" pitchFamily="34" charset="0"/>
              </a:rPr>
              <a:t>if and only if there</a:t>
            </a:r>
          </a:p>
          <a:p>
            <a:pPr algn="l"/>
            <a:r>
              <a:rPr lang="en-US" sz="1800" b="0" i="0" u="none" strike="noStrike" baseline="0" dirty="0">
                <a:solidFill>
                  <a:srgbClr val="000000"/>
                </a:solidFill>
                <a:latin typeface="Arial" panose="020B0604020202020204" pitchFamily="34" charset="0"/>
              </a:rPr>
              <a:t>exists some item </a:t>
            </a:r>
            <a:r>
              <a:rPr lang="en-US" sz="1800" b="0" i="1" u="none" strike="noStrike" baseline="0" dirty="0">
                <a:solidFill>
                  <a:srgbClr val="000000"/>
                </a:solidFill>
                <a:latin typeface="Arial" panose="020B0604020202020204" pitchFamily="34" charset="0"/>
              </a:rPr>
              <a:t>Q </a:t>
            </a:r>
            <a:r>
              <a:rPr lang="en-US" sz="1800" b="0" i="0" u="none" strike="noStrike" baseline="0" dirty="0">
                <a:solidFill>
                  <a:srgbClr val="000000"/>
                </a:solidFill>
                <a:latin typeface="Arial" panose="020B0604020202020204" pitchFamily="34" charset="0"/>
              </a:rPr>
              <a:t>accessed by both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and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800" b="0" i="0" u="none" strike="noStrike" baseline="0" dirty="0">
                <a:solidFill>
                  <a:srgbClr val="000000"/>
                </a:solidFill>
                <a:latin typeface="Arial" panose="020B0604020202020204" pitchFamily="34" charset="0"/>
              </a:rPr>
              <a:t>, and at least one of</a:t>
            </a:r>
          </a:p>
          <a:p>
            <a:pPr algn="l"/>
            <a:r>
              <a:rPr lang="en-IN" sz="1800" b="0" i="0" u="none" strike="noStrike" baseline="0" dirty="0">
                <a:solidFill>
                  <a:srgbClr val="000000"/>
                </a:solidFill>
                <a:latin typeface="Arial" panose="020B0604020202020204" pitchFamily="34" charset="0"/>
              </a:rPr>
              <a:t>these instructions wrote </a:t>
            </a:r>
            <a:r>
              <a:rPr lang="en-IN" sz="1800" b="0" i="1" u="none" strike="noStrike" baseline="0" dirty="0">
                <a:solidFill>
                  <a:srgbClr val="000000"/>
                </a:solidFill>
                <a:latin typeface="Arial" panose="020B0604020202020204" pitchFamily="34" charset="0"/>
              </a:rPr>
              <a:t>Q.</a:t>
            </a:r>
          </a:p>
          <a:p>
            <a:pPr algn="l"/>
            <a:r>
              <a:rPr lang="en-US" sz="1800" b="0" i="0" u="none" strike="noStrike" baseline="0" dirty="0">
                <a:solidFill>
                  <a:srgbClr val="000000"/>
                </a:solidFill>
                <a:latin typeface="Arial" panose="020B0604020202020204" pitchFamily="34" charset="0"/>
              </a:rPr>
              <a:t>1.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read</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1"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read</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a:t>
            </a:r>
            <a:r>
              <a:rPr lang="en-US" sz="1800" b="0" i="0" u="none" strike="noStrike" baseline="0" dirty="0">
                <a:solidFill>
                  <a:srgbClr val="000000"/>
                </a:solidFill>
                <a:latin typeface="Arial" panose="020B0604020202020204" pitchFamily="34" charset="0"/>
              </a:rPr>
              <a:t>).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and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Arial" panose="020B0604020202020204" pitchFamily="34" charset="0"/>
              </a:rPr>
              <a:t>don’t conflict.</a:t>
            </a:r>
          </a:p>
          <a:p>
            <a:pPr algn="l"/>
            <a:r>
              <a:rPr lang="en-US" sz="1800" b="0" i="0" u="none" strike="noStrike" baseline="0" dirty="0">
                <a:solidFill>
                  <a:srgbClr val="000000"/>
                </a:solidFill>
                <a:latin typeface="Arial" panose="020B0604020202020204" pitchFamily="34" charset="0"/>
              </a:rPr>
              <a:t>2.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read</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1"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write</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a:t>
            </a:r>
            <a:r>
              <a:rPr lang="en-US" sz="1800" b="0" i="0" u="none" strike="noStrike" baseline="0" dirty="0">
                <a:solidFill>
                  <a:srgbClr val="000000"/>
                </a:solidFill>
                <a:latin typeface="Arial" panose="020B0604020202020204" pitchFamily="34" charset="0"/>
              </a:rPr>
              <a:t>). They conflict.</a:t>
            </a:r>
          </a:p>
          <a:p>
            <a:pPr algn="l"/>
            <a:r>
              <a:rPr lang="en-US" sz="1800" b="0" i="0" u="none" strike="noStrike" baseline="0" dirty="0">
                <a:solidFill>
                  <a:srgbClr val="000000"/>
                </a:solidFill>
                <a:latin typeface="Arial" panose="020B0604020202020204" pitchFamily="34" charset="0"/>
              </a:rPr>
              <a:t>3.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write</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1"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read</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a:t>
            </a:r>
            <a:r>
              <a:rPr lang="en-US" sz="1800" b="0" i="0" u="none" strike="noStrike" baseline="0" dirty="0">
                <a:solidFill>
                  <a:srgbClr val="000000"/>
                </a:solidFill>
                <a:latin typeface="Arial" panose="020B0604020202020204" pitchFamily="34" charset="0"/>
              </a:rPr>
              <a:t>). They conflict</a:t>
            </a:r>
          </a:p>
          <a:p>
            <a:pPr algn="l"/>
            <a:r>
              <a:rPr lang="en-US" sz="1800" b="0" i="0" u="none" strike="noStrike" baseline="0" dirty="0">
                <a:solidFill>
                  <a:srgbClr val="000000"/>
                </a:solidFill>
                <a:latin typeface="Arial" panose="020B0604020202020204" pitchFamily="34" charset="0"/>
              </a:rPr>
              <a:t>4.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write</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1" u="none" strike="noStrike" baseline="0" dirty="0">
                <a:solidFill>
                  <a:srgbClr val="000000"/>
                </a:solidFill>
                <a:latin typeface="Arial" panose="020B0604020202020204" pitchFamily="34" charset="0"/>
              </a:rPr>
              <a:t>= </a:t>
            </a:r>
            <a:r>
              <a:rPr lang="en-US" sz="1800" b="1" i="0" u="none" strike="noStrike" baseline="0" dirty="0">
                <a:solidFill>
                  <a:srgbClr val="000000"/>
                </a:solidFill>
                <a:latin typeface="Arial" panose="020B0604020202020204" pitchFamily="34" charset="0"/>
              </a:rPr>
              <a:t>write</a:t>
            </a:r>
            <a:r>
              <a:rPr lang="en-US" sz="1800" b="0" i="0" u="none" strike="noStrike" baseline="0" dirty="0">
                <a:solidFill>
                  <a:srgbClr val="000000"/>
                </a:solidFill>
                <a:latin typeface="Arial" panose="020B0604020202020204" pitchFamily="34" charset="0"/>
              </a:rPr>
              <a:t>(</a:t>
            </a:r>
            <a:r>
              <a:rPr lang="en-US" sz="1800" b="0" i="1" u="none" strike="noStrike" baseline="0" dirty="0">
                <a:solidFill>
                  <a:srgbClr val="000000"/>
                </a:solidFill>
                <a:latin typeface="Arial" panose="020B0604020202020204" pitchFamily="34" charset="0"/>
              </a:rPr>
              <a:t>Q</a:t>
            </a:r>
            <a:r>
              <a:rPr lang="en-US" sz="1800" b="0" i="0" u="none" strike="noStrike" baseline="0" dirty="0">
                <a:solidFill>
                  <a:srgbClr val="000000"/>
                </a:solidFill>
                <a:latin typeface="Arial" panose="020B0604020202020204" pitchFamily="34" charset="0"/>
              </a:rPr>
              <a:t>). They conflict</a:t>
            </a: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Intuitively, a conflict between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and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Arial" panose="020B0604020202020204" pitchFamily="34" charset="0"/>
              </a:rPr>
              <a:t>forces a (logical) temporal</a:t>
            </a:r>
          </a:p>
          <a:p>
            <a:pPr algn="l"/>
            <a:r>
              <a:rPr lang="en-IN" sz="1800" b="0" i="0" u="none" strike="noStrike" baseline="0" dirty="0">
                <a:solidFill>
                  <a:srgbClr val="000000"/>
                </a:solidFill>
                <a:latin typeface="Arial" panose="020B0604020202020204" pitchFamily="34" charset="0"/>
              </a:rPr>
              <a:t>order between them.</a:t>
            </a:r>
          </a:p>
          <a:p>
            <a:pPr algn="l"/>
            <a:r>
              <a:rPr lang="en-US" sz="1400" b="0" i="0" u="none" strike="noStrike" baseline="0" dirty="0">
                <a:solidFill>
                  <a:srgbClr val="FF9A33"/>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If </a:t>
            </a:r>
            <a:r>
              <a:rPr lang="en-US" sz="1800" b="0" i="1" u="none" strike="noStrike" baseline="0" dirty="0">
                <a:solidFill>
                  <a:srgbClr val="000000"/>
                </a:solidFill>
                <a:latin typeface="Arial" panose="020B0604020202020204" pitchFamily="34" charset="0"/>
              </a:rPr>
              <a:t>l</a:t>
            </a:r>
            <a:r>
              <a:rPr lang="en-US" sz="1200" b="0" i="1" u="none" strike="noStrike" baseline="0" dirty="0">
                <a:solidFill>
                  <a:srgbClr val="000000"/>
                </a:solidFill>
                <a:latin typeface="Arial" panose="020B0604020202020204" pitchFamily="34" charset="0"/>
              </a:rPr>
              <a:t>i </a:t>
            </a:r>
            <a:r>
              <a:rPr lang="en-US" sz="1800" b="0" i="0" u="none" strike="noStrike" baseline="0" dirty="0">
                <a:solidFill>
                  <a:srgbClr val="000000"/>
                </a:solidFill>
                <a:latin typeface="Arial" panose="020B0604020202020204" pitchFamily="34" charset="0"/>
              </a:rPr>
              <a:t>and </a:t>
            </a:r>
            <a:r>
              <a:rPr lang="en-US" sz="1800" b="0" i="1" u="none" strike="noStrike" baseline="0" dirty="0" err="1">
                <a:solidFill>
                  <a:srgbClr val="000000"/>
                </a:solidFill>
                <a:latin typeface="Arial" panose="020B0604020202020204" pitchFamily="34" charset="0"/>
              </a:rPr>
              <a:t>l</a:t>
            </a:r>
            <a:r>
              <a:rPr lang="en-US" sz="1200" b="0" i="1" u="none" strike="noStrike" baseline="0" dirty="0" err="1">
                <a:solidFill>
                  <a:srgbClr val="000000"/>
                </a:solidFill>
                <a:latin typeface="Arial" panose="020B0604020202020204" pitchFamily="34" charset="0"/>
              </a:rPr>
              <a:t>j</a:t>
            </a:r>
            <a:r>
              <a:rPr lang="en-US" sz="1200" b="0" i="1"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Arial" panose="020B0604020202020204" pitchFamily="34" charset="0"/>
              </a:rPr>
              <a:t>are consecutive in a schedule and they do not</a:t>
            </a:r>
          </a:p>
          <a:p>
            <a:pPr algn="l"/>
            <a:r>
              <a:rPr lang="en-US" sz="1800" b="0" i="0" u="none" strike="noStrike" baseline="0" dirty="0">
                <a:solidFill>
                  <a:srgbClr val="000000"/>
                </a:solidFill>
                <a:latin typeface="Arial" panose="020B0604020202020204" pitchFamily="34" charset="0"/>
              </a:rPr>
              <a:t>conflict, their results would remain the same even if they had</a:t>
            </a:r>
          </a:p>
          <a:p>
            <a:pPr algn="l"/>
            <a:r>
              <a:rPr lang="en-US" sz="1800" b="0" i="0" u="none" strike="noStrike" baseline="0" dirty="0">
                <a:solidFill>
                  <a:srgbClr val="000000"/>
                </a:solidFill>
                <a:latin typeface="Arial" panose="020B0604020202020204" pitchFamily="34" charset="0"/>
              </a:rPr>
              <a:t>been interchanged in the schedule.</a:t>
            </a:r>
            <a:endParaRPr lang="en-IN" dirty="0"/>
          </a:p>
        </p:txBody>
      </p:sp>
    </p:spTree>
    <p:extLst>
      <p:ext uri="{BB962C8B-B14F-4D97-AF65-F5344CB8AC3E}">
        <p14:creationId xmlns:p14="http://schemas.microsoft.com/office/powerpoint/2010/main" val="1476935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4021501-350D-4F13-D8D5-1682192609C0}"/>
              </a:ext>
            </a:extLst>
          </p:cNvPr>
          <p:cNvSpPr txBox="1"/>
          <p:nvPr/>
        </p:nvSpPr>
        <p:spPr>
          <a:xfrm>
            <a:off x="1222408" y="2543667"/>
            <a:ext cx="7931217" cy="1769715"/>
          </a:xfrm>
          <a:prstGeom prst="rect">
            <a:avLst/>
          </a:prstGeom>
          <a:noFill/>
        </p:spPr>
        <p:txBody>
          <a:bodyPr wrap="square">
            <a:spAutoFit/>
          </a:bodyPr>
          <a:lstStyle/>
          <a:p>
            <a:pPr algn="l"/>
            <a:r>
              <a:rPr lang="en-US" sz="1800" b="0" i="0" u="none" strike="noStrike" baseline="0" dirty="0">
                <a:solidFill>
                  <a:srgbClr val="000000"/>
                </a:solidFill>
                <a:latin typeface="Arial" panose="020B0604020202020204" pitchFamily="34" charset="0"/>
              </a:rPr>
              <a:t>If a schedule </a:t>
            </a:r>
            <a:r>
              <a:rPr lang="en-US" sz="1800" b="0" i="1" u="none" strike="noStrike" baseline="0" dirty="0">
                <a:solidFill>
                  <a:srgbClr val="000000"/>
                </a:solidFill>
                <a:latin typeface="Arial" panose="020B0604020202020204" pitchFamily="34" charset="0"/>
              </a:rPr>
              <a:t>S </a:t>
            </a:r>
            <a:r>
              <a:rPr lang="en-US" sz="1800" b="0" i="0" u="none" strike="noStrike" baseline="0" dirty="0">
                <a:solidFill>
                  <a:srgbClr val="000000"/>
                </a:solidFill>
                <a:latin typeface="Arial" panose="020B0604020202020204" pitchFamily="34" charset="0"/>
              </a:rPr>
              <a:t>can be transformed into a schedule </a:t>
            </a:r>
            <a:r>
              <a:rPr lang="en-US" sz="1800" b="0" i="1" u="none" strike="noStrike" baseline="0" dirty="0">
                <a:solidFill>
                  <a:srgbClr val="000000"/>
                </a:solidFill>
                <a:latin typeface="Arial" panose="020B0604020202020204" pitchFamily="34" charset="0"/>
              </a:rPr>
              <a:t>S</a:t>
            </a:r>
            <a:r>
              <a:rPr lang="en-US" sz="1900" b="0" i="1"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Arial" panose="020B0604020202020204" pitchFamily="34" charset="0"/>
              </a:rPr>
              <a:t>by</a:t>
            </a:r>
          </a:p>
          <a:p>
            <a:pPr algn="l"/>
            <a:r>
              <a:rPr lang="en-US" sz="1800" b="0" i="0" u="none" strike="noStrike" baseline="0" dirty="0">
                <a:solidFill>
                  <a:srgbClr val="000000"/>
                </a:solidFill>
                <a:latin typeface="Arial" panose="020B0604020202020204" pitchFamily="34" charset="0"/>
              </a:rPr>
              <a:t>a series of swaps of non-conflicting instructions, we say</a:t>
            </a:r>
          </a:p>
          <a:p>
            <a:pPr algn="l"/>
            <a:r>
              <a:rPr lang="en-US" sz="1800" b="0" i="0" u="none" strike="noStrike" baseline="0" dirty="0">
                <a:solidFill>
                  <a:srgbClr val="000000"/>
                </a:solidFill>
                <a:latin typeface="Arial" panose="020B0604020202020204" pitchFamily="34" charset="0"/>
              </a:rPr>
              <a:t>that </a:t>
            </a:r>
            <a:r>
              <a:rPr lang="en-US" sz="1800" b="0" i="1" u="none" strike="noStrike" baseline="0" dirty="0">
                <a:solidFill>
                  <a:srgbClr val="000000"/>
                </a:solidFill>
                <a:latin typeface="Arial" panose="020B0604020202020204" pitchFamily="34" charset="0"/>
              </a:rPr>
              <a:t>S </a:t>
            </a:r>
            <a:r>
              <a:rPr lang="en-US" sz="1800" b="0" i="0" u="none" strike="noStrike" baseline="0" dirty="0">
                <a:solidFill>
                  <a:srgbClr val="000000"/>
                </a:solidFill>
                <a:latin typeface="Arial" panose="020B0604020202020204" pitchFamily="34" charset="0"/>
              </a:rPr>
              <a:t>and </a:t>
            </a:r>
            <a:r>
              <a:rPr lang="en-US" sz="1800" b="0" i="1" u="none" strike="noStrike" baseline="0" dirty="0">
                <a:solidFill>
                  <a:srgbClr val="000000"/>
                </a:solidFill>
                <a:latin typeface="Arial" panose="020B0604020202020204" pitchFamily="34" charset="0"/>
              </a:rPr>
              <a:t>S</a:t>
            </a:r>
            <a:r>
              <a:rPr lang="en-US" sz="1900" b="0" i="1"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Arial" panose="020B0604020202020204" pitchFamily="34" charset="0"/>
              </a:rPr>
              <a:t>are </a:t>
            </a:r>
            <a:r>
              <a:rPr lang="en-US" sz="1800" b="1" i="0" u="none" strike="noStrike" baseline="0" dirty="0">
                <a:solidFill>
                  <a:srgbClr val="00009A"/>
                </a:solidFill>
                <a:latin typeface="Arial" panose="020B0604020202020204" pitchFamily="34" charset="0"/>
              </a:rPr>
              <a:t>conflict equivalent</a:t>
            </a:r>
            <a:r>
              <a:rPr lang="en-US" sz="1800" b="0" i="1" u="none" strike="noStrike" baseline="0" dirty="0">
                <a:solidFill>
                  <a:srgbClr val="000000"/>
                </a:solidFill>
                <a:latin typeface="Arial" panose="020B0604020202020204" pitchFamily="34" charset="0"/>
              </a:rPr>
              <a:t>.</a:t>
            </a:r>
            <a:r>
              <a:rPr lang="en-US" sz="1700" b="0" i="0" u="none" strike="noStrike" baseline="0" dirty="0">
                <a:solidFill>
                  <a:srgbClr val="CD3300"/>
                </a:solidFill>
                <a:latin typeface="Wingdings" panose="05000000000000000000" pitchFamily="2" charset="2"/>
              </a:rPr>
              <a:t></a:t>
            </a:r>
          </a:p>
          <a:p>
            <a:pPr algn="l"/>
            <a:endParaRPr lang="en-US" sz="1700" b="0" i="0" u="none" strike="noStrike" baseline="0" dirty="0">
              <a:solidFill>
                <a:srgbClr val="CD3300"/>
              </a:solidFill>
              <a:latin typeface="Wingdings" panose="05000000000000000000" pitchFamily="2" charset="2"/>
            </a:endParaRPr>
          </a:p>
          <a:p>
            <a:pPr algn="l"/>
            <a:r>
              <a:rPr lang="en-US" sz="1600" b="0" i="0" u="none" strike="noStrike" baseline="0" dirty="0">
                <a:solidFill>
                  <a:srgbClr val="CD3300"/>
                </a:solidFill>
                <a:latin typeface="Wingdings" panose="05000000000000000000" pitchFamily="2" charset="2"/>
              </a:rPr>
              <a:t> </a:t>
            </a:r>
            <a:r>
              <a:rPr lang="en-US" sz="1800" b="0" i="0" u="none" strike="noStrike" baseline="0" dirty="0">
                <a:solidFill>
                  <a:srgbClr val="000000"/>
                </a:solidFill>
                <a:latin typeface="Arial" panose="020B0604020202020204" pitchFamily="34" charset="0"/>
              </a:rPr>
              <a:t>We say that a schedule </a:t>
            </a:r>
            <a:r>
              <a:rPr lang="en-US" sz="1800" b="0" i="1" u="none" strike="noStrike" baseline="0" dirty="0">
                <a:solidFill>
                  <a:srgbClr val="000000"/>
                </a:solidFill>
                <a:latin typeface="Arial" panose="020B0604020202020204" pitchFamily="34" charset="0"/>
              </a:rPr>
              <a:t>S </a:t>
            </a:r>
            <a:r>
              <a:rPr lang="en-US" sz="1800" b="0" i="0" u="none" strike="noStrike" baseline="0" dirty="0">
                <a:solidFill>
                  <a:srgbClr val="000000"/>
                </a:solidFill>
                <a:latin typeface="Arial" panose="020B0604020202020204" pitchFamily="34" charset="0"/>
              </a:rPr>
              <a:t>is </a:t>
            </a:r>
            <a:r>
              <a:rPr lang="en-US" sz="1800" b="1" i="0" u="none" strike="noStrike" baseline="0" dirty="0">
                <a:solidFill>
                  <a:srgbClr val="00009A"/>
                </a:solidFill>
                <a:latin typeface="Arial" panose="020B0604020202020204" pitchFamily="34" charset="0"/>
              </a:rPr>
              <a:t>conflict serializable </a:t>
            </a:r>
            <a:r>
              <a:rPr lang="en-US" sz="1800" b="0" i="0" u="none" strike="noStrike" baseline="0" dirty="0">
                <a:solidFill>
                  <a:srgbClr val="000000"/>
                </a:solidFill>
                <a:latin typeface="Arial" panose="020B0604020202020204" pitchFamily="34" charset="0"/>
              </a:rPr>
              <a:t>if it is</a:t>
            </a:r>
            <a:r>
              <a:rPr lang="en-US" sz="1600" b="0" i="0" u="none" strike="noStrike" baseline="0" dirty="0">
                <a:solidFill>
                  <a:srgbClr val="CD3300"/>
                </a:solidFill>
                <a:latin typeface="Wingdings" panose="05000000000000000000" pitchFamily="2" charset="2"/>
              </a:rPr>
              <a:t></a:t>
            </a:r>
          </a:p>
          <a:p>
            <a:pPr algn="l"/>
            <a:r>
              <a:rPr lang="en-US" sz="1800" b="0" i="0" u="none" strike="noStrike" baseline="0" dirty="0">
                <a:solidFill>
                  <a:srgbClr val="000000"/>
                </a:solidFill>
                <a:latin typeface="Arial" panose="020B0604020202020204" pitchFamily="34" charset="0"/>
              </a:rPr>
              <a:t>conflict equivalent to a serial schedule</a:t>
            </a:r>
            <a:endParaRPr lang="en-IN" dirty="0"/>
          </a:p>
        </p:txBody>
      </p:sp>
    </p:spTree>
    <p:extLst>
      <p:ext uri="{BB962C8B-B14F-4D97-AF65-F5344CB8AC3E}">
        <p14:creationId xmlns:p14="http://schemas.microsoft.com/office/powerpoint/2010/main" val="2560599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6E6A4A1-26B9-644A-E3C3-7EE79F7E87BB}"/>
              </a:ext>
            </a:extLst>
          </p:cNvPr>
          <p:cNvSpPr txBox="1"/>
          <p:nvPr/>
        </p:nvSpPr>
        <p:spPr>
          <a:xfrm>
            <a:off x="1549667" y="791752"/>
            <a:ext cx="9384631" cy="923330"/>
          </a:xfrm>
          <a:prstGeom prst="rect">
            <a:avLst/>
          </a:prstGeom>
          <a:noFill/>
        </p:spPr>
        <p:txBody>
          <a:bodyPr wrap="square">
            <a:spAutoFit/>
          </a:bodyPr>
          <a:lstStyle/>
          <a:p>
            <a:pPr algn="l"/>
            <a:r>
              <a:rPr lang="en-US" sz="1800" b="0" i="0" u="none" strike="noStrike" baseline="0" dirty="0">
                <a:solidFill>
                  <a:srgbClr val="000000"/>
                </a:solidFill>
                <a:latin typeface="Arial" panose="020B0604020202020204" pitchFamily="34" charset="0"/>
              </a:rPr>
              <a:t>Schedule 3 can be transformed into Schedule 6 -- a serial schedule where</a:t>
            </a:r>
          </a:p>
          <a:p>
            <a:pPr algn="l"/>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2 </a:t>
            </a:r>
            <a:r>
              <a:rPr lang="en-US" sz="1800" b="0" i="0" u="none" strike="noStrike" baseline="0" dirty="0">
                <a:solidFill>
                  <a:srgbClr val="000000"/>
                </a:solidFill>
                <a:latin typeface="Arial" panose="020B0604020202020204" pitchFamily="34" charset="0"/>
              </a:rPr>
              <a:t>follows </a:t>
            </a:r>
            <a:r>
              <a:rPr lang="en-US" sz="1800" b="0" i="1" u="none" strike="noStrike" baseline="0" dirty="0">
                <a:solidFill>
                  <a:srgbClr val="000000"/>
                </a:solidFill>
                <a:latin typeface="Arial" panose="020B0604020202020204" pitchFamily="34" charset="0"/>
              </a:rPr>
              <a:t>T</a:t>
            </a:r>
            <a:r>
              <a:rPr lang="en-US" sz="1050" b="0" i="0" u="none" strike="noStrike" baseline="0" dirty="0">
                <a:solidFill>
                  <a:srgbClr val="000000"/>
                </a:solidFill>
                <a:latin typeface="Arial" panose="020B0604020202020204" pitchFamily="34" charset="0"/>
              </a:rPr>
              <a:t>1</a:t>
            </a:r>
            <a:r>
              <a:rPr lang="en-US" sz="1800" b="0" i="0" u="none" strike="noStrike" baseline="0" dirty="0">
                <a:solidFill>
                  <a:srgbClr val="000000"/>
                </a:solidFill>
                <a:latin typeface="Arial" panose="020B0604020202020204" pitchFamily="34" charset="0"/>
              </a:rPr>
              <a:t>, by a series of swaps of non-conflicting instructions.</a:t>
            </a:r>
          </a:p>
          <a:p>
            <a:pPr algn="l"/>
            <a:r>
              <a:rPr lang="en-US" sz="1800" b="0" i="0" u="none" strike="noStrike" baseline="0" dirty="0">
                <a:solidFill>
                  <a:srgbClr val="000000"/>
                </a:solidFill>
                <a:latin typeface="Arial" panose="020B0604020202020204" pitchFamily="34" charset="0"/>
              </a:rPr>
              <a:t>Therefore, Schedule 3 is conflict serializable.</a:t>
            </a:r>
            <a:r>
              <a:rPr lang="en-US" sz="1600" b="0" i="0" u="none" strike="noStrike" baseline="0" dirty="0">
                <a:solidFill>
                  <a:srgbClr val="CD3300"/>
                </a:solidFill>
                <a:latin typeface="Wingdings" panose="05000000000000000000" pitchFamily="2" charset="2"/>
              </a:rPr>
              <a:t></a:t>
            </a:r>
            <a:endParaRPr lang="en-IN" dirty="0"/>
          </a:p>
        </p:txBody>
      </p:sp>
      <p:pic>
        <p:nvPicPr>
          <p:cNvPr id="5" name="Picture 4">
            <a:extLst>
              <a:ext uri="{FF2B5EF4-FFF2-40B4-BE49-F238E27FC236}">
                <a16:creationId xmlns:a16="http://schemas.microsoft.com/office/drawing/2014/main" xmlns="" id="{DC1D98B8-114E-C8C0-4483-41F8619FEF6F}"/>
              </a:ext>
            </a:extLst>
          </p:cNvPr>
          <p:cNvPicPr>
            <a:picLocks noChangeAspect="1"/>
          </p:cNvPicPr>
          <p:nvPr/>
        </p:nvPicPr>
        <p:blipFill>
          <a:blip r:embed="rId2"/>
          <a:stretch>
            <a:fillRect/>
          </a:stretch>
        </p:blipFill>
        <p:spPr>
          <a:xfrm>
            <a:off x="2093265" y="2224681"/>
            <a:ext cx="8297433" cy="4410691"/>
          </a:xfrm>
          <a:prstGeom prst="rect">
            <a:avLst/>
          </a:prstGeom>
        </p:spPr>
      </p:pic>
    </p:spTree>
    <p:extLst>
      <p:ext uri="{BB962C8B-B14F-4D97-AF65-F5344CB8AC3E}">
        <p14:creationId xmlns:p14="http://schemas.microsoft.com/office/powerpoint/2010/main" val="74750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F567212-6BB0-391C-5597-E4FFB2C3EE24}"/>
              </a:ext>
            </a:extLst>
          </p:cNvPr>
          <p:cNvSpPr txBox="1"/>
          <p:nvPr/>
        </p:nvSpPr>
        <p:spPr>
          <a:xfrm>
            <a:off x="3378468" y="1191746"/>
            <a:ext cx="6102416" cy="369332"/>
          </a:xfrm>
          <a:prstGeom prst="rect">
            <a:avLst/>
          </a:prstGeom>
          <a:noFill/>
        </p:spPr>
        <p:txBody>
          <a:bodyPr wrap="square">
            <a:spAutoFit/>
          </a:bodyPr>
          <a:lstStyle/>
          <a:p>
            <a:r>
              <a:rPr lang="en-US" sz="1800" b="0" i="0" u="none" strike="noStrike" baseline="0" dirty="0">
                <a:latin typeface="Arial" panose="020B0604020202020204" pitchFamily="34" charset="0"/>
              </a:rPr>
              <a:t>Example of a schedule that is not conflict serializable:</a:t>
            </a:r>
            <a:endParaRPr lang="en-IN" dirty="0"/>
          </a:p>
        </p:txBody>
      </p:sp>
      <p:pic>
        <p:nvPicPr>
          <p:cNvPr id="5" name="Picture 4">
            <a:extLst>
              <a:ext uri="{FF2B5EF4-FFF2-40B4-BE49-F238E27FC236}">
                <a16:creationId xmlns:a16="http://schemas.microsoft.com/office/drawing/2014/main" xmlns="" id="{B3D8F8DB-71D3-1734-E17E-F7C5D3464900}"/>
              </a:ext>
            </a:extLst>
          </p:cNvPr>
          <p:cNvPicPr>
            <a:picLocks noChangeAspect="1"/>
          </p:cNvPicPr>
          <p:nvPr/>
        </p:nvPicPr>
        <p:blipFill>
          <a:blip r:embed="rId2"/>
          <a:stretch>
            <a:fillRect/>
          </a:stretch>
        </p:blipFill>
        <p:spPr>
          <a:xfrm>
            <a:off x="1869984" y="2461356"/>
            <a:ext cx="8240275" cy="3648584"/>
          </a:xfrm>
          <a:prstGeom prst="rect">
            <a:avLst/>
          </a:prstGeom>
        </p:spPr>
      </p:pic>
    </p:spTree>
    <p:extLst>
      <p:ext uri="{BB962C8B-B14F-4D97-AF65-F5344CB8AC3E}">
        <p14:creationId xmlns:p14="http://schemas.microsoft.com/office/powerpoint/2010/main" val="363104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764CA79-3FB2-DC1F-FD11-7BA2AD0E20C6}"/>
              </a:ext>
            </a:extLst>
          </p:cNvPr>
          <p:cNvSpPr txBox="1"/>
          <p:nvPr/>
        </p:nvSpPr>
        <p:spPr>
          <a:xfrm>
            <a:off x="1405288" y="1216876"/>
            <a:ext cx="9644514" cy="461665"/>
          </a:xfrm>
          <a:prstGeom prst="rect">
            <a:avLst/>
          </a:prstGeom>
          <a:noFill/>
        </p:spPr>
        <p:txBody>
          <a:bodyPr wrap="square">
            <a:spAutoFit/>
          </a:bodyPr>
          <a:lstStyle/>
          <a:p>
            <a:pPr algn="l"/>
            <a:r>
              <a:rPr lang="en-US" sz="2400" b="0" i="0" cap="all" dirty="0">
                <a:solidFill>
                  <a:schemeClr val="tx1">
                    <a:lumMod val="65000"/>
                    <a:lumOff val="35000"/>
                  </a:schemeClr>
                </a:solidFill>
                <a:effectLst/>
                <a:latin typeface="Alegreya"/>
              </a:rPr>
              <a:t>IMPLEMENTATION OF ATOMICITY AND DURABILITY USING SHADOW COPY</a:t>
            </a:r>
          </a:p>
        </p:txBody>
      </p:sp>
      <p:sp>
        <p:nvSpPr>
          <p:cNvPr id="5" name="TextBox 4">
            <a:extLst>
              <a:ext uri="{FF2B5EF4-FFF2-40B4-BE49-F238E27FC236}">
                <a16:creationId xmlns:a16="http://schemas.microsoft.com/office/drawing/2014/main" xmlns="" id="{DADB988A-86AD-3F58-A487-FC118824422D}"/>
              </a:ext>
            </a:extLst>
          </p:cNvPr>
          <p:cNvSpPr txBox="1"/>
          <p:nvPr/>
        </p:nvSpPr>
        <p:spPr>
          <a:xfrm>
            <a:off x="1568918" y="2167076"/>
            <a:ext cx="9923646" cy="2862322"/>
          </a:xfrm>
          <a:prstGeom prst="rect">
            <a:avLst/>
          </a:prstGeom>
          <a:noFill/>
        </p:spPr>
        <p:txBody>
          <a:bodyPr wrap="square">
            <a:spAutoFit/>
          </a:bodyPr>
          <a:lstStyle/>
          <a:p>
            <a:pPr algn="l">
              <a:buFont typeface="Arial" panose="020B0604020202020204" pitchFamily="34" charset="0"/>
              <a:buChar char="•"/>
            </a:pPr>
            <a:r>
              <a:rPr lang="en-US" b="0" i="0" dirty="0">
                <a:solidFill>
                  <a:srgbClr val="303030"/>
                </a:solidFill>
                <a:effectLst/>
                <a:latin typeface="Open Sans" panose="020B0606030504020204" pitchFamily="34" charset="0"/>
              </a:rPr>
              <a:t>In the shadow-copy scheme, a transaction that wants to update the database first creates a complete copy of the database. All updates are done on the new database copy, leaving the original copy, the shadow copy, untouched. If at any point the transaction has to be aborted, the system merely deletes the new copy. The old copy of the database has not been affected.</a:t>
            </a:r>
          </a:p>
          <a:p>
            <a:pPr algn="l">
              <a:buFont typeface="Arial" panose="020B0604020202020204" pitchFamily="34" charset="0"/>
              <a:buChar char="•"/>
            </a:pPr>
            <a:endParaRPr lang="en-US" b="0" i="0" dirty="0">
              <a:solidFill>
                <a:srgbClr val="303030"/>
              </a:solidFill>
              <a:effectLst/>
              <a:latin typeface="Open Sans" panose="020B0606030504020204" pitchFamily="34" charset="0"/>
            </a:endParaRPr>
          </a:p>
          <a:p>
            <a:pPr algn="l">
              <a:buFont typeface="Arial" panose="020B0604020202020204" pitchFamily="34" charset="0"/>
              <a:buChar char="•"/>
            </a:pPr>
            <a:r>
              <a:rPr lang="en-US" b="0" i="0" dirty="0">
                <a:solidFill>
                  <a:srgbClr val="303030"/>
                </a:solidFill>
                <a:effectLst/>
                <a:latin typeface="Open Sans" panose="020B0606030504020204" pitchFamily="34" charset="0"/>
              </a:rPr>
              <a:t>This scheme is based on making copies of the database, called shadow copies, assumes that only one transaction is active at a time. The scheme also assumes that the database is simply a file on disk. A pointer called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-pointer is maintained on disk; it points to the current copy of the database.</a:t>
            </a:r>
          </a:p>
        </p:txBody>
      </p:sp>
    </p:spTree>
    <p:extLst>
      <p:ext uri="{BB962C8B-B14F-4D97-AF65-F5344CB8AC3E}">
        <p14:creationId xmlns:p14="http://schemas.microsoft.com/office/powerpoint/2010/main" val="3828299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22FDA95-CFCF-89DB-8784-95D057075AFD}"/>
              </a:ext>
            </a:extLst>
          </p:cNvPr>
          <p:cNvSpPr txBox="1"/>
          <p:nvPr/>
        </p:nvSpPr>
        <p:spPr>
          <a:xfrm>
            <a:off x="1674796" y="1997839"/>
            <a:ext cx="9432758" cy="2862322"/>
          </a:xfrm>
          <a:prstGeom prst="rect">
            <a:avLst/>
          </a:prstGeom>
          <a:noFill/>
        </p:spPr>
        <p:txBody>
          <a:bodyPr wrap="square">
            <a:spAutoFit/>
          </a:bodyPr>
          <a:lstStyle/>
          <a:p>
            <a:pPr algn="l"/>
            <a:r>
              <a:rPr lang="en-US" b="0" i="0" dirty="0">
                <a:solidFill>
                  <a:srgbClr val="303030"/>
                </a:solidFill>
                <a:effectLst/>
                <a:latin typeface="Open Sans" panose="020B0606030504020204" pitchFamily="34" charset="0"/>
              </a:rPr>
              <a:t>If the transaction completes, it is committed as follows:</a:t>
            </a:r>
          </a:p>
          <a:p>
            <a:pPr algn="l"/>
            <a:endParaRPr lang="en-US" b="0" i="0" dirty="0">
              <a:solidFill>
                <a:srgbClr val="303030"/>
              </a:solidFill>
              <a:effectLst/>
              <a:latin typeface="Open Sans" panose="020B0606030504020204" pitchFamily="34" charset="0"/>
            </a:endParaRPr>
          </a:p>
          <a:p>
            <a:pPr algn="l">
              <a:buFont typeface="Arial" panose="020B0604020202020204" pitchFamily="34" charset="0"/>
              <a:buChar char="•"/>
            </a:pPr>
            <a:r>
              <a:rPr lang="en-US" b="0" i="0" dirty="0">
                <a:solidFill>
                  <a:srgbClr val="303030"/>
                </a:solidFill>
                <a:effectLst/>
                <a:latin typeface="Open Sans" panose="020B0606030504020204" pitchFamily="34" charset="0"/>
              </a:rPr>
              <a:t>First, the operating system is asked to make sure that all pages of the new copy of the database have been written out to disk. (Unix systems use the flush command for this purpose.)</a:t>
            </a:r>
          </a:p>
          <a:p>
            <a:pPr algn="l">
              <a:buFont typeface="Arial" panose="020B0604020202020204" pitchFamily="34" charset="0"/>
              <a:buChar char="•"/>
            </a:pPr>
            <a:endParaRPr lang="en-US" b="0" i="0" dirty="0">
              <a:solidFill>
                <a:srgbClr val="303030"/>
              </a:solidFill>
              <a:effectLst/>
              <a:latin typeface="Open Sans" panose="020B0606030504020204" pitchFamily="34" charset="0"/>
            </a:endParaRPr>
          </a:p>
          <a:p>
            <a:pPr algn="l">
              <a:buFont typeface="Arial" panose="020B0604020202020204" pitchFamily="34" charset="0"/>
              <a:buChar char="•"/>
            </a:pPr>
            <a:r>
              <a:rPr lang="en-US" b="0" i="0" dirty="0">
                <a:solidFill>
                  <a:srgbClr val="303030"/>
                </a:solidFill>
                <a:effectLst/>
                <a:latin typeface="Open Sans" panose="020B0606030504020204" pitchFamily="34" charset="0"/>
              </a:rPr>
              <a:t>After the operating system has written all the pages to disk, the database system updates the pointer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-pointer to point to the new copy of the database; the new copy then becomes the current copy of the database. The old copy of the database is then deleted.</a:t>
            </a:r>
          </a:p>
        </p:txBody>
      </p:sp>
    </p:spTree>
    <p:extLst>
      <p:ext uri="{BB962C8B-B14F-4D97-AF65-F5344CB8AC3E}">
        <p14:creationId xmlns:p14="http://schemas.microsoft.com/office/powerpoint/2010/main" val="4254410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27B6ECF6-59A3-A345-D108-B530A73FF2C2}"/>
              </a:ext>
            </a:extLst>
          </p:cNvPr>
          <p:cNvPicPr>
            <a:picLocks noChangeAspect="1"/>
          </p:cNvPicPr>
          <p:nvPr/>
        </p:nvPicPr>
        <p:blipFill>
          <a:blip r:embed="rId2"/>
          <a:stretch>
            <a:fillRect/>
          </a:stretch>
        </p:blipFill>
        <p:spPr>
          <a:xfrm>
            <a:off x="3594970" y="396169"/>
            <a:ext cx="8667616" cy="5412944"/>
          </a:xfrm>
          <a:prstGeom prst="rect">
            <a:avLst/>
          </a:prstGeom>
        </p:spPr>
      </p:pic>
      <p:sp>
        <p:nvSpPr>
          <p:cNvPr id="6" name="TextBox 5">
            <a:extLst>
              <a:ext uri="{FF2B5EF4-FFF2-40B4-BE49-F238E27FC236}">
                <a16:creationId xmlns:a16="http://schemas.microsoft.com/office/drawing/2014/main" xmlns="" id="{361627B8-8AFD-F59F-D1D8-56583DCCB632}"/>
              </a:ext>
            </a:extLst>
          </p:cNvPr>
          <p:cNvSpPr txBox="1"/>
          <p:nvPr/>
        </p:nvSpPr>
        <p:spPr>
          <a:xfrm>
            <a:off x="625643" y="2040102"/>
            <a:ext cx="2367814" cy="1754326"/>
          </a:xfrm>
          <a:prstGeom prst="rect">
            <a:avLst/>
          </a:prstGeom>
          <a:noFill/>
        </p:spPr>
        <p:txBody>
          <a:bodyPr wrap="square">
            <a:spAutoFit/>
          </a:bodyPr>
          <a:lstStyle/>
          <a:p>
            <a:r>
              <a:rPr lang="en-US" b="0" i="0" dirty="0">
                <a:solidFill>
                  <a:srgbClr val="303030"/>
                </a:solidFill>
                <a:effectLst/>
                <a:latin typeface="Open Sans" panose="020B0606030504020204" pitchFamily="34" charset="0"/>
              </a:rPr>
              <a:t>The transaction is said to have been committed at the point where the updated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 pointer is written to disk.</a:t>
            </a:r>
            <a:endParaRPr lang="en-IN" dirty="0"/>
          </a:p>
        </p:txBody>
      </p:sp>
    </p:spTree>
    <p:extLst>
      <p:ext uri="{BB962C8B-B14F-4D97-AF65-F5344CB8AC3E}">
        <p14:creationId xmlns:p14="http://schemas.microsoft.com/office/powerpoint/2010/main" val="2881394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C096A76-2FDF-85BD-143B-9451F16309AC}"/>
              </a:ext>
            </a:extLst>
          </p:cNvPr>
          <p:cNvSpPr txBox="1"/>
          <p:nvPr/>
        </p:nvSpPr>
        <p:spPr>
          <a:xfrm>
            <a:off x="1106905" y="1587380"/>
            <a:ext cx="9086248" cy="4445448"/>
          </a:xfrm>
          <a:prstGeom prst="rect">
            <a:avLst/>
          </a:prstGeom>
          <a:noFill/>
        </p:spPr>
        <p:txBody>
          <a:bodyPr wrap="square">
            <a:spAutoFit/>
          </a:bodyPr>
          <a:lstStyle/>
          <a:p>
            <a:pPr algn="l">
              <a:lnSpc>
                <a:spcPct val="200000"/>
              </a:lnSpc>
            </a:pPr>
            <a:r>
              <a:rPr lang="en-US" b="1" i="0" dirty="0">
                <a:solidFill>
                  <a:srgbClr val="303030"/>
                </a:solidFill>
                <a:effectLst/>
                <a:latin typeface="Open Sans" panose="020B0606030504020204" pitchFamily="34" charset="0"/>
              </a:rPr>
              <a:t>How the technique handles transaction failures:</a:t>
            </a:r>
            <a:endParaRPr lang="en-US" b="0" i="0" dirty="0">
              <a:solidFill>
                <a:srgbClr val="303030"/>
              </a:solidFill>
              <a:effectLst/>
              <a:latin typeface="Open Sans" panose="020B0606030504020204" pitchFamily="34" charset="0"/>
            </a:endParaRPr>
          </a:p>
          <a:p>
            <a:pPr algn="l">
              <a:lnSpc>
                <a:spcPct val="200000"/>
              </a:lnSpc>
              <a:buFont typeface="Arial" panose="020B0604020202020204" pitchFamily="34" charset="0"/>
              <a:buChar char="•"/>
            </a:pPr>
            <a:r>
              <a:rPr lang="en-US" b="0" i="0" dirty="0">
                <a:solidFill>
                  <a:srgbClr val="303030"/>
                </a:solidFill>
                <a:effectLst/>
                <a:latin typeface="Open Sans" panose="020B0606030504020204" pitchFamily="34" charset="0"/>
              </a:rPr>
              <a:t>If the transaction fails at any time before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-pointer is updated, the old contents of the database are not affected.</a:t>
            </a:r>
          </a:p>
          <a:p>
            <a:pPr algn="l">
              <a:lnSpc>
                <a:spcPct val="200000"/>
              </a:lnSpc>
              <a:buFont typeface="Arial" panose="020B0604020202020204" pitchFamily="34" charset="0"/>
              <a:buChar char="•"/>
            </a:pPr>
            <a:r>
              <a:rPr lang="en-US" b="0" i="0" dirty="0">
                <a:solidFill>
                  <a:srgbClr val="303030"/>
                </a:solidFill>
                <a:effectLst/>
                <a:latin typeface="Open Sans" panose="020B0606030504020204" pitchFamily="34" charset="0"/>
              </a:rPr>
              <a:t>We can abort the transaction by just deleting the new copy of the database.</a:t>
            </a:r>
          </a:p>
          <a:p>
            <a:pPr algn="l">
              <a:lnSpc>
                <a:spcPct val="200000"/>
              </a:lnSpc>
              <a:buFont typeface="Arial" panose="020B0604020202020204" pitchFamily="34" charset="0"/>
              <a:buChar char="•"/>
            </a:pPr>
            <a:r>
              <a:rPr lang="en-US" b="0" i="0" dirty="0">
                <a:solidFill>
                  <a:srgbClr val="303030"/>
                </a:solidFill>
                <a:effectLst/>
                <a:latin typeface="Open Sans" panose="020B0606030504020204" pitchFamily="34" charset="0"/>
              </a:rPr>
              <a:t>Once the transaction has been committed, all the updates that it performed are in the database pointed to by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 pointer.</a:t>
            </a:r>
          </a:p>
          <a:p>
            <a:pPr algn="l">
              <a:lnSpc>
                <a:spcPct val="200000"/>
              </a:lnSpc>
              <a:buFont typeface="Arial" panose="020B0604020202020204" pitchFamily="34" charset="0"/>
              <a:buChar char="•"/>
            </a:pPr>
            <a:r>
              <a:rPr lang="en-US" b="0" i="0" dirty="0">
                <a:solidFill>
                  <a:srgbClr val="303030"/>
                </a:solidFill>
                <a:effectLst/>
                <a:latin typeface="Open Sans" panose="020B0606030504020204" pitchFamily="34" charset="0"/>
              </a:rPr>
              <a:t>Thus, either all updates of the transaction are reflected, or none of the effects are reflected, regardless of transaction failure.</a:t>
            </a:r>
          </a:p>
        </p:txBody>
      </p:sp>
    </p:spTree>
    <p:extLst>
      <p:ext uri="{BB962C8B-B14F-4D97-AF65-F5344CB8AC3E}">
        <p14:creationId xmlns:p14="http://schemas.microsoft.com/office/powerpoint/2010/main" val="4206382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B7155F9-213C-4092-38B2-89278BCFADF9}"/>
              </a:ext>
            </a:extLst>
          </p:cNvPr>
          <p:cNvSpPr txBox="1"/>
          <p:nvPr/>
        </p:nvSpPr>
        <p:spPr>
          <a:xfrm>
            <a:off x="566286" y="1353196"/>
            <a:ext cx="11059427" cy="4618572"/>
          </a:xfrm>
          <a:prstGeom prst="rect">
            <a:avLst/>
          </a:prstGeom>
          <a:noFill/>
        </p:spPr>
        <p:txBody>
          <a:bodyPr wrap="square">
            <a:spAutoFit/>
          </a:bodyPr>
          <a:lstStyle/>
          <a:p>
            <a:pPr algn="l">
              <a:lnSpc>
                <a:spcPct val="150000"/>
              </a:lnSpc>
            </a:pPr>
            <a:r>
              <a:rPr lang="en-US" b="1" i="0" dirty="0">
                <a:solidFill>
                  <a:srgbClr val="303030"/>
                </a:solidFill>
                <a:effectLst/>
                <a:latin typeface="Open Sans" panose="020B0606030504020204" pitchFamily="34" charset="0"/>
              </a:rPr>
              <a:t>How the technique handles system failures:</a:t>
            </a:r>
            <a:endParaRPr lang="en-US" b="0" i="0" dirty="0">
              <a:solidFill>
                <a:srgbClr val="303030"/>
              </a:solidFill>
              <a:effectLst/>
              <a:latin typeface="Open Sans" panose="020B0606030504020204" pitchFamily="34" charset="0"/>
            </a:endParaRPr>
          </a:p>
          <a:p>
            <a:pPr algn="l">
              <a:lnSpc>
                <a:spcPct val="150000"/>
              </a:lnSpc>
              <a:buFont typeface="Arial" panose="020B0604020202020204" pitchFamily="34" charset="0"/>
              <a:buChar char="•"/>
            </a:pPr>
            <a:r>
              <a:rPr lang="en-US" b="0" i="0" dirty="0">
                <a:solidFill>
                  <a:srgbClr val="303030"/>
                </a:solidFill>
                <a:effectLst/>
                <a:latin typeface="Open Sans" panose="020B0606030504020204" pitchFamily="34" charset="0"/>
              </a:rPr>
              <a:t>Suppose that the system fails at any time before the updated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-pointer is written to disk. Then, when the system restarts, it will read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-pointer and will thus see the original contents of the database, and none of the effects of the transaction will be visible on the database.</a:t>
            </a:r>
          </a:p>
          <a:p>
            <a:pPr algn="l">
              <a:lnSpc>
                <a:spcPct val="150000"/>
              </a:lnSpc>
              <a:buFont typeface="Arial" panose="020B0604020202020204" pitchFamily="34" charset="0"/>
              <a:buChar char="•"/>
            </a:pPr>
            <a:endParaRPr lang="en-US" b="0" i="0" dirty="0">
              <a:solidFill>
                <a:srgbClr val="303030"/>
              </a:solidFill>
              <a:effectLst/>
              <a:latin typeface="Open Sans" panose="020B0606030504020204" pitchFamily="34" charset="0"/>
            </a:endParaRPr>
          </a:p>
          <a:p>
            <a:pPr algn="l">
              <a:lnSpc>
                <a:spcPct val="150000"/>
              </a:lnSpc>
              <a:buFont typeface="Arial" panose="020B0604020202020204" pitchFamily="34" charset="0"/>
              <a:buChar char="•"/>
            </a:pPr>
            <a:r>
              <a:rPr lang="en-US" b="0" i="0" dirty="0">
                <a:solidFill>
                  <a:srgbClr val="303030"/>
                </a:solidFill>
                <a:effectLst/>
                <a:latin typeface="Open Sans" panose="020B0606030504020204" pitchFamily="34" charset="0"/>
              </a:rPr>
              <a:t>Next, suppose that the system fails after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-pointer has been updated on disk. Before the pointer is updated, all updated pages of the new copy of the database were written to disk.</a:t>
            </a:r>
          </a:p>
          <a:p>
            <a:pPr algn="l">
              <a:lnSpc>
                <a:spcPct val="150000"/>
              </a:lnSpc>
              <a:buFont typeface="Arial" panose="020B0604020202020204" pitchFamily="34" charset="0"/>
              <a:buChar char="•"/>
            </a:pPr>
            <a:endParaRPr lang="en-US" b="0" i="0" dirty="0">
              <a:solidFill>
                <a:srgbClr val="303030"/>
              </a:solidFill>
              <a:effectLst/>
              <a:latin typeface="Open Sans" panose="020B0606030504020204" pitchFamily="34" charset="0"/>
            </a:endParaRPr>
          </a:p>
          <a:p>
            <a:pPr algn="l">
              <a:lnSpc>
                <a:spcPct val="150000"/>
              </a:lnSpc>
              <a:buFont typeface="Arial" panose="020B0604020202020204" pitchFamily="34" charset="0"/>
              <a:buChar char="•"/>
            </a:pPr>
            <a:r>
              <a:rPr lang="en-US" b="0" i="0" dirty="0">
                <a:solidFill>
                  <a:srgbClr val="303030"/>
                </a:solidFill>
                <a:effectLst/>
                <a:latin typeface="Open Sans" panose="020B0606030504020204" pitchFamily="34" charset="0"/>
              </a:rPr>
              <a:t>Again, we assume that, once a file is written to disk, its contents will not be damaged even if there is a system failure. Therefore, when the system restarts, it will read </a:t>
            </a:r>
            <a:r>
              <a:rPr lang="en-US" b="0" i="0" dirty="0" err="1">
                <a:solidFill>
                  <a:srgbClr val="303030"/>
                </a:solidFill>
                <a:effectLst/>
                <a:latin typeface="Open Sans" panose="020B0606030504020204" pitchFamily="34" charset="0"/>
              </a:rPr>
              <a:t>db</a:t>
            </a:r>
            <a:r>
              <a:rPr lang="en-US" b="0" i="0" dirty="0">
                <a:solidFill>
                  <a:srgbClr val="303030"/>
                </a:solidFill>
                <a:effectLst/>
                <a:latin typeface="Open Sans" panose="020B0606030504020204" pitchFamily="34" charset="0"/>
              </a:rPr>
              <a:t>-pointer and will thus see the contents of the database after all the updates performed by the transaction.</a:t>
            </a:r>
          </a:p>
        </p:txBody>
      </p:sp>
    </p:spTree>
    <p:extLst>
      <p:ext uri="{BB962C8B-B14F-4D97-AF65-F5344CB8AC3E}">
        <p14:creationId xmlns:p14="http://schemas.microsoft.com/office/powerpoint/2010/main" val="4111340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47FF3400-C041-C276-61A8-4FD9A2B81382}"/>
              </a:ext>
            </a:extLst>
          </p:cNvPr>
          <p:cNvGraphicFramePr>
            <a:graphicFrameLocks noGrp="1"/>
          </p:cNvGraphicFramePr>
          <p:nvPr>
            <p:extLst>
              <p:ext uri="{D42A27DB-BD31-4B8C-83A1-F6EECF244321}">
                <p14:modId xmlns:p14="http://schemas.microsoft.com/office/powerpoint/2010/main" val="151062747"/>
              </p:ext>
            </p:extLst>
          </p:nvPr>
        </p:nvGraphicFramePr>
        <p:xfrm>
          <a:off x="2066907" y="1956232"/>
          <a:ext cx="7034055" cy="3453920"/>
        </p:xfrm>
        <a:graphic>
          <a:graphicData uri="http://schemas.openxmlformats.org/drawingml/2006/table">
            <a:tbl>
              <a:tblPr/>
              <a:tblGrid>
                <a:gridCol w="2344685">
                  <a:extLst>
                    <a:ext uri="{9D8B030D-6E8A-4147-A177-3AD203B41FA5}">
                      <a16:colId xmlns:a16="http://schemas.microsoft.com/office/drawing/2014/main" xmlns="" val="3739828033"/>
                    </a:ext>
                  </a:extLst>
                </a:gridCol>
                <a:gridCol w="2344685">
                  <a:extLst>
                    <a:ext uri="{9D8B030D-6E8A-4147-A177-3AD203B41FA5}">
                      <a16:colId xmlns:a16="http://schemas.microsoft.com/office/drawing/2014/main" xmlns="" val="537903277"/>
                    </a:ext>
                  </a:extLst>
                </a:gridCol>
                <a:gridCol w="2344685">
                  <a:extLst>
                    <a:ext uri="{9D8B030D-6E8A-4147-A177-3AD203B41FA5}">
                      <a16:colId xmlns:a16="http://schemas.microsoft.com/office/drawing/2014/main" xmlns="" val="240702902"/>
                    </a:ext>
                  </a:extLst>
                </a:gridCol>
              </a:tblGrid>
              <a:tr h="344964">
                <a:tc>
                  <a:txBody>
                    <a:bodyPr/>
                    <a:lstStyle/>
                    <a:p>
                      <a:r>
                        <a:rPr lang="en-IN" sz="1700" b="1">
                          <a:effectLst/>
                        </a:rPr>
                        <a:t>SQL Command</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IN" sz="1700" b="1">
                          <a:effectLst/>
                        </a:rPr>
                        <a:t>Code Snippet</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IN" sz="1700" b="1">
                          <a:effectLst/>
                        </a:rPr>
                        <a:t>Output</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927488602"/>
                  </a:ext>
                </a:extLst>
              </a:tr>
              <a:tr h="862409">
                <a:tc>
                  <a:txBody>
                    <a:bodyPr/>
                    <a:lstStyle/>
                    <a:p>
                      <a:r>
                        <a:rPr lang="en-IN" sz="1700" dirty="0">
                          <a:effectLst/>
                        </a:rPr>
                        <a:t>COMMIT</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IN" sz="1700">
                          <a:effectLst/>
                        </a:rPr>
                        <a:t>BEGIN; -- SQL statements COMMIT;</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sz="1700">
                          <a:effectLst/>
                        </a:rPr>
                        <a:t>Changes made in the transaction saved permanently.</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2309769627"/>
                  </a:ext>
                </a:extLst>
              </a:tr>
              <a:tr h="603687">
                <a:tc>
                  <a:txBody>
                    <a:bodyPr/>
                    <a:lstStyle/>
                    <a:p>
                      <a:r>
                        <a:rPr lang="en-IN" sz="1700">
                          <a:effectLst/>
                        </a:rPr>
                        <a:t>ROLLBACK</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IN" sz="1700">
                          <a:effectLst/>
                        </a:rPr>
                        <a:t>BEGIN; -- SQL statements ROLLBACK;</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sz="1700">
                          <a:effectLst/>
                        </a:rPr>
                        <a:t>Changes made in the transaction rolled back.</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3473299993"/>
                  </a:ext>
                </a:extLst>
              </a:tr>
              <a:tr h="1638578">
                <a:tc>
                  <a:txBody>
                    <a:bodyPr/>
                    <a:lstStyle/>
                    <a:p>
                      <a:r>
                        <a:rPr lang="en-IN" sz="1700">
                          <a:effectLst/>
                        </a:rPr>
                        <a:t>SAVEPOINT</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sz="1700">
                          <a:effectLst/>
                        </a:rPr>
                        <a:t>BEGIN; -- SQL statements SAVEPOINT my_savepoint; -- More SQL statements ROLLBACK TO my_savepoint;</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sz="1700" dirty="0" err="1">
                          <a:effectLst/>
                        </a:rPr>
                        <a:t>Savepoint</a:t>
                      </a:r>
                      <a:r>
                        <a:rPr lang="en-US" sz="1700" dirty="0">
                          <a:effectLst/>
                        </a:rPr>
                        <a:t> created and later used to roll back to a specific point in the transaction.</a:t>
                      </a:r>
                    </a:p>
                  </a:txBody>
                  <a:tcPr marL="86241" marR="86241" marT="43120" marB="431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643675618"/>
                  </a:ext>
                </a:extLst>
              </a:tr>
            </a:tbl>
          </a:graphicData>
        </a:graphic>
      </p:graphicFrame>
      <p:sp>
        <p:nvSpPr>
          <p:cNvPr id="3" name="Rectangle 1">
            <a:extLst>
              <a:ext uri="{FF2B5EF4-FFF2-40B4-BE49-F238E27FC236}">
                <a16:creationId xmlns:a16="http://schemas.microsoft.com/office/drawing/2014/main" xmlns="" id="{B5BCB8CE-E85B-973B-D5F6-4E75463522E7}"/>
              </a:ext>
            </a:extLst>
          </p:cNvPr>
          <p:cNvSpPr>
            <a:spLocks noChangeArrowheads="1"/>
          </p:cNvSpPr>
          <p:nvPr/>
        </p:nvSpPr>
        <p:spPr bwMode="auto">
          <a:xfrm>
            <a:off x="2082333" y="889647"/>
            <a:ext cx="6233894" cy="5436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TCL Commands in SQL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444444"/>
                </a:solidFill>
                <a:effectLst/>
                <a:latin typeface="Poppins" panose="00000500000000000000" pitchFamily="2" charset="0"/>
                <a:cs typeface="Poppins" panose="00000500000000000000" pitchFamily="2" charset="0"/>
              </a:rPr>
              <a:t>Here are code snippets and their corresponding outputs for TCL commands: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2072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0D42BC-3258-4E81-3FEA-2B3E95FC9C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394E09F-3B15-8692-5DA0-3BEC02AEE3D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B12175CF-1F6A-132C-836A-EAB8AA80AF46}"/>
              </a:ext>
            </a:extLst>
          </p:cNvPr>
          <p:cNvPicPr>
            <a:picLocks noChangeAspect="1"/>
          </p:cNvPicPr>
          <p:nvPr/>
        </p:nvPicPr>
        <p:blipFill>
          <a:blip r:embed="rId2"/>
          <a:stretch>
            <a:fillRect/>
          </a:stretch>
        </p:blipFill>
        <p:spPr>
          <a:xfrm>
            <a:off x="1003146" y="804519"/>
            <a:ext cx="10185708" cy="4312291"/>
          </a:xfrm>
          <a:prstGeom prst="rect">
            <a:avLst/>
          </a:prstGeom>
        </p:spPr>
      </p:pic>
    </p:spTree>
    <p:extLst>
      <p:ext uri="{BB962C8B-B14F-4D97-AF65-F5344CB8AC3E}">
        <p14:creationId xmlns:p14="http://schemas.microsoft.com/office/powerpoint/2010/main" val="35535953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E62C83-AD57-E502-9372-D6291A9B53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F876714-7797-9F44-AC52-A9D7D945B9B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F56365BD-C409-F0EE-5B06-34437BEEF221}"/>
              </a:ext>
            </a:extLst>
          </p:cNvPr>
          <p:cNvPicPr>
            <a:picLocks noChangeAspect="1"/>
          </p:cNvPicPr>
          <p:nvPr/>
        </p:nvPicPr>
        <p:blipFill>
          <a:blip r:embed="rId2"/>
          <a:stretch>
            <a:fillRect/>
          </a:stretch>
        </p:blipFill>
        <p:spPr>
          <a:xfrm>
            <a:off x="843589" y="673770"/>
            <a:ext cx="10819253" cy="4966634"/>
          </a:xfrm>
          <a:prstGeom prst="rect">
            <a:avLst/>
          </a:prstGeom>
        </p:spPr>
      </p:pic>
    </p:spTree>
    <p:extLst>
      <p:ext uri="{BB962C8B-B14F-4D97-AF65-F5344CB8AC3E}">
        <p14:creationId xmlns:p14="http://schemas.microsoft.com/office/powerpoint/2010/main" val="3714486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CC37EB-A7F8-3BCC-EE01-6DA4017EC1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60E46E90-1864-AD5E-7FC2-464E32716789}"/>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xmlns="" id="{E41C8490-0034-DCAB-2E16-C6111E047AD0}"/>
              </a:ext>
            </a:extLst>
          </p:cNvPr>
          <p:cNvPicPr>
            <a:picLocks noChangeAspect="1"/>
          </p:cNvPicPr>
          <p:nvPr/>
        </p:nvPicPr>
        <p:blipFill>
          <a:blip r:embed="rId2"/>
          <a:stretch>
            <a:fillRect/>
          </a:stretch>
        </p:blipFill>
        <p:spPr>
          <a:xfrm>
            <a:off x="75360" y="453915"/>
            <a:ext cx="12041280" cy="6124951"/>
          </a:xfrm>
          <a:prstGeom prst="rect">
            <a:avLst/>
          </a:prstGeom>
        </p:spPr>
      </p:pic>
    </p:spTree>
    <p:extLst>
      <p:ext uri="{BB962C8B-B14F-4D97-AF65-F5344CB8AC3E}">
        <p14:creationId xmlns:p14="http://schemas.microsoft.com/office/powerpoint/2010/main" val="1833595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CL Commands in SQL">
            <a:extLst>
              <a:ext uri="{FF2B5EF4-FFF2-40B4-BE49-F238E27FC236}">
                <a16:creationId xmlns:a16="http://schemas.microsoft.com/office/drawing/2014/main" xmlns="" id="{DC6EC3B8-4C36-FE35-21E0-6B1685BCA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579" y="804519"/>
            <a:ext cx="5333818" cy="86173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66C0B82B-35DA-264E-F80B-1E75D76E48F0}"/>
              </a:ext>
            </a:extLst>
          </p:cNvPr>
          <p:cNvSpPr txBox="1"/>
          <p:nvPr/>
        </p:nvSpPr>
        <p:spPr>
          <a:xfrm>
            <a:off x="1451579" y="2098307"/>
            <a:ext cx="7702046" cy="923330"/>
          </a:xfrm>
          <a:prstGeom prst="rect">
            <a:avLst/>
          </a:prstGeom>
          <a:noFill/>
        </p:spPr>
        <p:txBody>
          <a:bodyPr wrap="square">
            <a:spAutoFit/>
          </a:bodyPr>
          <a:lstStyle/>
          <a:p>
            <a:r>
              <a:rPr lang="en-US" b="0" i="0" dirty="0">
                <a:solidFill>
                  <a:srgbClr val="333333"/>
                </a:solidFill>
                <a:effectLst/>
                <a:latin typeface="inter-regular"/>
              </a:rPr>
              <a:t>MySQL, by default, commits every query the user executes. But if the user wishes to commit only the specific queries instead of committing every query, then turning off the auto commit is useful.</a:t>
            </a:r>
            <a:endParaRPr lang="en-IN" dirty="0"/>
          </a:p>
        </p:txBody>
      </p:sp>
    </p:spTree>
    <p:extLst>
      <p:ext uri="{BB962C8B-B14F-4D97-AF65-F5344CB8AC3E}">
        <p14:creationId xmlns:p14="http://schemas.microsoft.com/office/powerpoint/2010/main" val="36625057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C6558D5-5F07-6F5A-BF1D-AA4A380EBE66}"/>
              </a:ext>
            </a:extLst>
          </p:cNvPr>
          <p:cNvSpPr>
            <a:spLocks noGrp="1"/>
          </p:cNvSpPr>
          <p:nvPr>
            <p:ph idx="1"/>
          </p:nvPr>
        </p:nvSpPr>
        <p:spPr/>
        <p:txBody>
          <a:bodyPr>
            <a:normAutofit lnSpcReduction="10000"/>
          </a:bodyPr>
          <a:lstStyle/>
          <a:p>
            <a:pPr algn="just"/>
            <a:r>
              <a:rPr lang="en-US" b="0" i="0" dirty="0">
                <a:solidFill>
                  <a:schemeClr val="tx1">
                    <a:lumMod val="65000"/>
                    <a:lumOff val="35000"/>
                  </a:schemeClr>
                </a:solidFill>
                <a:effectLst/>
                <a:latin typeface="erdana"/>
              </a:rPr>
              <a:t>2. SAVEPOINT</a:t>
            </a:r>
          </a:p>
          <a:p>
            <a:pPr algn="just"/>
            <a:r>
              <a:rPr lang="en-US" b="0" i="0" dirty="0">
                <a:solidFill>
                  <a:srgbClr val="333333"/>
                </a:solidFill>
                <a:effectLst/>
                <a:latin typeface="inter-regular"/>
              </a:rPr>
              <a:t>We can divide the database operations into parts. For example, we can consider all the insert related queries that we will execute consecutively as one part of the transaction and the delete command as the other part of the transaction. Using the SAVEPOINT command in SQL, we can save these different parts of the same transaction using different names. </a:t>
            </a:r>
            <a:r>
              <a:rPr lang="en-US" b="1" i="1" dirty="0">
                <a:solidFill>
                  <a:srgbClr val="333333"/>
                </a:solidFill>
                <a:effectLst/>
                <a:latin typeface="inter-bold"/>
              </a:rPr>
              <a:t>For example</a:t>
            </a:r>
            <a:r>
              <a:rPr lang="en-US" b="0" i="0" dirty="0">
                <a:solidFill>
                  <a:srgbClr val="333333"/>
                </a:solidFill>
                <a:effectLst/>
                <a:latin typeface="inter-regular"/>
              </a:rPr>
              <a:t>, we can save all the insert related queries with the </a:t>
            </a:r>
            <a:r>
              <a:rPr lang="en-US" b="0" i="0" dirty="0" err="1">
                <a:solidFill>
                  <a:srgbClr val="333333"/>
                </a:solidFill>
                <a:effectLst/>
                <a:latin typeface="inter-regular"/>
              </a:rPr>
              <a:t>savepoint</a:t>
            </a:r>
            <a:r>
              <a:rPr lang="en-US" b="0" i="0" dirty="0">
                <a:solidFill>
                  <a:srgbClr val="333333"/>
                </a:solidFill>
                <a:effectLst/>
                <a:latin typeface="inter-regular"/>
              </a:rPr>
              <a:t> named INS. To save all the insert related queries in one </a:t>
            </a:r>
            <a:r>
              <a:rPr lang="en-US" b="0" i="0" dirty="0" err="1">
                <a:solidFill>
                  <a:srgbClr val="333333"/>
                </a:solidFill>
                <a:effectLst/>
                <a:latin typeface="inter-regular"/>
              </a:rPr>
              <a:t>savepoint</a:t>
            </a:r>
            <a:r>
              <a:rPr lang="en-US" b="0" i="0" dirty="0">
                <a:solidFill>
                  <a:srgbClr val="333333"/>
                </a:solidFill>
                <a:effectLst/>
                <a:latin typeface="inter-regular"/>
              </a:rPr>
              <a:t>, we have to execute the SAVEPOINT query followed by the </a:t>
            </a:r>
            <a:r>
              <a:rPr lang="en-US" b="0" i="0" dirty="0" err="1">
                <a:solidFill>
                  <a:srgbClr val="333333"/>
                </a:solidFill>
                <a:effectLst/>
                <a:latin typeface="inter-regular"/>
              </a:rPr>
              <a:t>savepoint</a:t>
            </a:r>
            <a:r>
              <a:rPr lang="en-US" b="0" i="0" dirty="0">
                <a:solidFill>
                  <a:srgbClr val="333333"/>
                </a:solidFill>
                <a:effectLst/>
                <a:latin typeface="inter-regular"/>
              </a:rPr>
              <a:t> name after finishing the insert command execution.</a:t>
            </a:r>
          </a:p>
          <a:p>
            <a:endParaRPr lang="en-IN" dirty="0"/>
          </a:p>
        </p:txBody>
      </p:sp>
    </p:spTree>
    <p:extLst>
      <p:ext uri="{BB962C8B-B14F-4D97-AF65-F5344CB8AC3E}">
        <p14:creationId xmlns:p14="http://schemas.microsoft.com/office/powerpoint/2010/main" val="1748074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3F8EC7D-A017-3171-0E59-0E74A8FBBCAC}"/>
              </a:ext>
            </a:extLst>
          </p:cNvPr>
          <p:cNvSpPr>
            <a:spLocks noGrp="1"/>
          </p:cNvSpPr>
          <p:nvPr>
            <p:ph idx="1"/>
          </p:nvPr>
        </p:nvSpPr>
        <p:spPr/>
        <p:txBody>
          <a:bodyPr>
            <a:normAutofit fontScale="92500" lnSpcReduction="10000"/>
          </a:bodyPr>
          <a:lstStyle/>
          <a:p>
            <a:pPr algn="just"/>
            <a:r>
              <a:rPr lang="en-US" b="0" i="0" dirty="0">
                <a:solidFill>
                  <a:schemeClr val="tx1">
                    <a:lumMod val="65000"/>
                    <a:lumOff val="35000"/>
                  </a:schemeClr>
                </a:solidFill>
                <a:effectLst/>
                <a:latin typeface="erdana"/>
              </a:rPr>
              <a:t>3. ROLLBACK</a:t>
            </a:r>
          </a:p>
          <a:p>
            <a:pPr algn="just"/>
            <a:r>
              <a:rPr lang="en-US" b="0" i="0" dirty="0">
                <a:solidFill>
                  <a:srgbClr val="333333"/>
                </a:solidFill>
                <a:effectLst/>
                <a:latin typeface="inter-regular"/>
              </a:rPr>
              <a:t>While carrying a transaction, we must create </a:t>
            </a:r>
            <a:r>
              <a:rPr lang="en-US" b="0" i="0" dirty="0" err="1">
                <a:solidFill>
                  <a:srgbClr val="333333"/>
                </a:solidFill>
                <a:effectLst/>
                <a:latin typeface="inter-regular"/>
              </a:rPr>
              <a:t>savepoints</a:t>
            </a:r>
            <a:r>
              <a:rPr lang="en-US" b="0" i="0" dirty="0">
                <a:solidFill>
                  <a:srgbClr val="333333"/>
                </a:solidFill>
                <a:effectLst/>
                <a:latin typeface="inter-regular"/>
              </a:rPr>
              <a:t> to save different parts of the transaction. According to the user's changing requirements, he/she can roll back the transaction to different </a:t>
            </a:r>
            <a:r>
              <a:rPr lang="en-US" b="0" i="0" dirty="0" err="1">
                <a:solidFill>
                  <a:srgbClr val="333333"/>
                </a:solidFill>
                <a:effectLst/>
                <a:latin typeface="inter-regular"/>
              </a:rPr>
              <a:t>savepoints</a:t>
            </a:r>
            <a:r>
              <a:rPr lang="en-US" b="0" i="0" dirty="0">
                <a:solidFill>
                  <a:srgbClr val="333333"/>
                </a:solidFill>
                <a:effectLst/>
                <a:latin typeface="inter-regular"/>
              </a:rPr>
              <a:t>. </a:t>
            </a:r>
            <a:r>
              <a:rPr lang="en-US" b="0" i="1" dirty="0">
                <a:solidFill>
                  <a:srgbClr val="333333"/>
                </a:solidFill>
                <a:effectLst/>
                <a:latin typeface="inter-regular"/>
              </a:rPr>
              <a:t>Consider a scenario</a:t>
            </a:r>
            <a:r>
              <a:rPr lang="en-US" b="0" i="0" dirty="0">
                <a:solidFill>
                  <a:srgbClr val="333333"/>
                </a:solidFill>
                <a:effectLst/>
                <a:latin typeface="inter-regular"/>
              </a:rPr>
              <a:t>: We have initiated a transaction followed by the table creation and record insertion into the table. After inserting records, we have created a </a:t>
            </a:r>
            <a:r>
              <a:rPr lang="en-US" b="0" i="0" dirty="0" err="1">
                <a:solidFill>
                  <a:srgbClr val="333333"/>
                </a:solidFill>
                <a:effectLst/>
                <a:latin typeface="inter-regular"/>
              </a:rPr>
              <a:t>savepoint</a:t>
            </a:r>
            <a:r>
              <a:rPr lang="en-US" b="0" i="0" dirty="0">
                <a:solidFill>
                  <a:srgbClr val="333333"/>
                </a:solidFill>
                <a:effectLst/>
                <a:latin typeface="inter-regular"/>
              </a:rPr>
              <a:t> INS. Then we executed a delete query, but later we thought that mistakenly we had removed the useful record. Therefore in such situations, we have an option of rolling back our transaction. In this case, we have to roll back our transaction using the </a:t>
            </a:r>
            <a:r>
              <a:rPr lang="en-US" b="0" i="1" dirty="0">
                <a:solidFill>
                  <a:srgbClr val="333333"/>
                </a:solidFill>
                <a:effectLst/>
                <a:latin typeface="inter-regular"/>
              </a:rPr>
              <a:t>ROLLBACK</a:t>
            </a:r>
            <a:r>
              <a:rPr lang="en-US" b="0" i="0" dirty="0">
                <a:solidFill>
                  <a:srgbClr val="333333"/>
                </a:solidFill>
                <a:effectLst/>
                <a:latin typeface="inter-regular"/>
              </a:rPr>
              <a:t> command to the </a:t>
            </a:r>
            <a:r>
              <a:rPr lang="en-US" b="0" i="0" dirty="0" err="1">
                <a:solidFill>
                  <a:srgbClr val="333333"/>
                </a:solidFill>
                <a:effectLst/>
                <a:latin typeface="inter-regular"/>
              </a:rPr>
              <a:t>savepoint</a:t>
            </a:r>
            <a:r>
              <a:rPr lang="en-US" b="0" i="0" dirty="0">
                <a:solidFill>
                  <a:srgbClr val="333333"/>
                </a:solidFill>
                <a:effectLst/>
                <a:latin typeface="inter-regular"/>
              </a:rPr>
              <a:t> INS, which we have created before executing the DELETE query.</a:t>
            </a:r>
          </a:p>
          <a:p>
            <a:endParaRPr lang="en-IN" dirty="0"/>
          </a:p>
        </p:txBody>
      </p:sp>
    </p:spTree>
    <p:extLst>
      <p:ext uri="{BB962C8B-B14F-4D97-AF65-F5344CB8AC3E}">
        <p14:creationId xmlns:p14="http://schemas.microsoft.com/office/powerpoint/2010/main" val="24635649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126BED-1FDB-ADA1-710A-C6588861B9C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532B042B-81F7-649B-52A7-3EC1C8D1956A}"/>
              </a:ext>
            </a:extLst>
          </p:cNvPr>
          <p:cNvSpPr>
            <a:spLocks noGrp="1"/>
          </p:cNvSpPr>
          <p:nvPr>
            <p:ph idx="1"/>
          </p:nvPr>
        </p:nvSpPr>
        <p:spPr/>
        <p:txBody>
          <a:bodyPr/>
          <a:lstStyle/>
          <a:p>
            <a:endParaRPr lang="en-IN"/>
          </a:p>
        </p:txBody>
      </p:sp>
      <p:pic>
        <p:nvPicPr>
          <p:cNvPr id="3074" name="Picture 2" descr="TCL Commands in SQL">
            <a:extLst>
              <a:ext uri="{FF2B5EF4-FFF2-40B4-BE49-F238E27FC236}">
                <a16:creationId xmlns:a16="http://schemas.microsoft.com/office/drawing/2014/main" xmlns="" id="{A684AC33-38DA-B7D4-B996-8FA0C2C33F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074" y="372267"/>
            <a:ext cx="11435851" cy="5595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2923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AF10C7-484E-F1C6-394D-7CC50D612932}"/>
              </a:ext>
            </a:extLst>
          </p:cNvPr>
          <p:cNvSpPr>
            <a:spLocks noGrp="1"/>
          </p:cNvSpPr>
          <p:nvPr>
            <p:ph type="title"/>
          </p:nvPr>
        </p:nvSpPr>
        <p:spPr/>
        <p:txBody>
          <a:bodyPr/>
          <a:lstStyle/>
          <a:p>
            <a:endParaRPr lang="en-IN"/>
          </a:p>
        </p:txBody>
      </p:sp>
      <p:pic>
        <p:nvPicPr>
          <p:cNvPr id="4098" name="Picture 2" descr="TCL Commands in SQL">
            <a:extLst>
              <a:ext uri="{FF2B5EF4-FFF2-40B4-BE49-F238E27FC236}">
                <a16:creationId xmlns:a16="http://schemas.microsoft.com/office/drawing/2014/main" xmlns="" id="{85E9A0B4-031D-3B56-D25D-66675169E0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53" y="804519"/>
            <a:ext cx="10296525" cy="6762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CL Commands in SQL">
            <a:extLst>
              <a:ext uri="{FF2B5EF4-FFF2-40B4-BE49-F238E27FC236}">
                <a16:creationId xmlns:a16="http://schemas.microsoft.com/office/drawing/2014/main" xmlns="" id="{8EA18BB6-F7DC-6464-B943-CD616FF5B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53" y="1480794"/>
            <a:ext cx="10296525" cy="13239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7CAA35DB-5BCA-D7E1-C0F7-6423F3F5CD10}"/>
              </a:ext>
            </a:extLst>
          </p:cNvPr>
          <p:cNvSpPr txBox="1"/>
          <p:nvPr/>
        </p:nvSpPr>
        <p:spPr>
          <a:xfrm>
            <a:off x="1141271" y="2815210"/>
            <a:ext cx="6102416" cy="369332"/>
          </a:xfrm>
          <a:prstGeom prst="rect">
            <a:avLst/>
          </a:prstGeom>
          <a:noFill/>
        </p:spPr>
        <p:txBody>
          <a:bodyPr wrap="square">
            <a:spAutoFit/>
          </a:bodyPr>
          <a:lstStyle/>
          <a:p>
            <a:pPr algn="just"/>
            <a:r>
              <a:rPr lang="en-US" b="0" i="0" dirty="0" err="1">
                <a:solidFill>
                  <a:srgbClr val="000000"/>
                </a:solidFill>
                <a:effectLst/>
                <a:latin typeface="inter-regular"/>
              </a:rPr>
              <a:t>mysql</a:t>
            </a:r>
            <a:r>
              <a:rPr lang="en-US" b="0" i="0" dirty="0">
                <a:solidFill>
                  <a:srgbClr val="000000"/>
                </a:solidFill>
                <a:effectLst/>
                <a:latin typeface="inter-regular"/>
              </a:rPr>
              <a:t>&gt; </a:t>
            </a:r>
            <a:r>
              <a:rPr lang="en-US" b="1" i="0" dirty="0">
                <a:solidFill>
                  <a:srgbClr val="006699"/>
                </a:solidFill>
                <a:effectLst/>
                <a:latin typeface="inter-regular"/>
              </a:rPr>
              <a:t>SELECT</a:t>
            </a:r>
            <a:r>
              <a:rPr lang="en-US" b="0" i="0" dirty="0">
                <a:solidFill>
                  <a:srgbClr val="000000"/>
                </a:solidFill>
                <a:effectLst/>
                <a:latin typeface="inter-regular"/>
              </a:rPr>
              <a:t> *</a:t>
            </a:r>
            <a:r>
              <a:rPr lang="en-US" b="1" i="0" dirty="0">
                <a:solidFill>
                  <a:srgbClr val="006699"/>
                </a:solidFill>
                <a:effectLst/>
                <a:latin typeface="inter-regular"/>
              </a:rPr>
              <a:t>FROM</a:t>
            </a:r>
            <a:r>
              <a:rPr lang="en-US" b="0" i="0" dirty="0">
                <a:solidFill>
                  <a:srgbClr val="000000"/>
                </a:solidFill>
                <a:effectLst/>
                <a:latin typeface="inter-regular"/>
              </a:rPr>
              <a:t> </a:t>
            </a:r>
            <a:r>
              <a:rPr lang="en-US" b="0" i="0" dirty="0" err="1">
                <a:solidFill>
                  <a:srgbClr val="000000"/>
                </a:solidFill>
                <a:effectLst/>
                <a:latin typeface="inter-regular"/>
              </a:rPr>
              <a:t>t_school</a:t>
            </a:r>
            <a:r>
              <a:rPr lang="en-US" b="0" i="0" dirty="0">
                <a:solidFill>
                  <a:srgbClr val="000000"/>
                </a:solidFill>
                <a:effectLst/>
                <a:latin typeface="inter-regular"/>
              </a:rPr>
              <a:t>;  </a:t>
            </a:r>
          </a:p>
        </p:txBody>
      </p:sp>
      <p:pic>
        <p:nvPicPr>
          <p:cNvPr id="4102" name="Picture 6" descr="TCL Commands in SQL">
            <a:extLst>
              <a:ext uri="{FF2B5EF4-FFF2-40B4-BE49-F238E27FC236}">
                <a16:creationId xmlns:a16="http://schemas.microsoft.com/office/drawing/2014/main" xmlns="" id="{7FE23AAF-1A08-B9F4-00C5-E854A8A18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146" y="3204819"/>
            <a:ext cx="3467100" cy="55245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TCL Commands in SQL">
            <a:extLst>
              <a:ext uri="{FF2B5EF4-FFF2-40B4-BE49-F238E27FC236}">
                <a16:creationId xmlns:a16="http://schemas.microsoft.com/office/drawing/2014/main" xmlns="" id="{63DEAFAC-9464-DA8B-32B6-7A63BFE61F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7146" y="3895381"/>
            <a:ext cx="3524250" cy="52387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TCL Commands in SQL">
            <a:extLst>
              <a:ext uri="{FF2B5EF4-FFF2-40B4-BE49-F238E27FC236}">
                <a16:creationId xmlns:a16="http://schemas.microsoft.com/office/drawing/2014/main" xmlns="" id="{9A7A73DB-2FF3-ACF4-55CB-DF2CB364E5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953" y="4624731"/>
            <a:ext cx="60483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TCL Commands in SQL">
            <a:extLst>
              <a:ext uri="{FF2B5EF4-FFF2-40B4-BE49-F238E27FC236}">
                <a16:creationId xmlns:a16="http://schemas.microsoft.com/office/drawing/2014/main" xmlns="" id="{AC74FA2B-0707-D536-788E-DB8E4F353C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4953" y="5568932"/>
            <a:ext cx="34766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TCL Commands in SQL">
            <a:extLst>
              <a:ext uri="{FF2B5EF4-FFF2-40B4-BE49-F238E27FC236}">
                <a16:creationId xmlns:a16="http://schemas.microsoft.com/office/drawing/2014/main" xmlns="" id="{14C6BB5A-1C1B-F236-17F1-B46BBD5272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5721" y="6279375"/>
            <a:ext cx="3495675"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355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2442AF9-3AA0-83EB-E4A4-BDB71633CB4B}"/>
              </a:ext>
            </a:extLst>
          </p:cNvPr>
          <p:cNvSpPr txBox="1"/>
          <p:nvPr/>
        </p:nvSpPr>
        <p:spPr>
          <a:xfrm>
            <a:off x="1032756" y="221729"/>
            <a:ext cx="6102416" cy="369332"/>
          </a:xfrm>
          <a:prstGeom prst="rect">
            <a:avLst/>
          </a:prstGeom>
          <a:noFill/>
        </p:spPr>
        <p:txBody>
          <a:bodyPr wrap="square">
            <a:spAutoFit/>
          </a:bodyPr>
          <a:lstStyle/>
          <a:p>
            <a:pPr algn="just"/>
            <a:r>
              <a:rPr lang="en-US" dirty="0">
                <a:solidFill>
                  <a:schemeClr val="tx1">
                    <a:lumMod val="65000"/>
                    <a:lumOff val="35000"/>
                  </a:schemeClr>
                </a:solidFill>
                <a:latin typeface="erdana"/>
              </a:rPr>
              <a:t>TRIGGERS</a:t>
            </a:r>
            <a:endParaRPr lang="en-IN" dirty="0"/>
          </a:p>
        </p:txBody>
      </p:sp>
      <p:pic>
        <p:nvPicPr>
          <p:cNvPr id="1026" name="Picture 2" descr="Create table person">
            <a:extLst>
              <a:ext uri="{FF2B5EF4-FFF2-40B4-BE49-F238E27FC236}">
                <a16:creationId xmlns:a16="http://schemas.microsoft.com/office/drawing/2014/main" xmlns="" id="{6E2CFC8D-DB7C-8B26-AEB1-DD48CAFF4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5348" y="977968"/>
            <a:ext cx="7620000" cy="2476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reate table average_age">
            <a:extLst>
              <a:ext uri="{FF2B5EF4-FFF2-40B4-BE49-F238E27FC236}">
                <a16:creationId xmlns:a16="http://schemas.microsoft.com/office/drawing/2014/main" xmlns="" id="{D4A4312D-F0DD-EAED-A530-F60E72BF3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5348" y="3672039"/>
            <a:ext cx="7620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8324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625B65-0C07-4E51-4D18-CAB5C3BACE62}"/>
              </a:ext>
            </a:extLst>
          </p:cNvPr>
          <p:cNvSpPr>
            <a:spLocks noGrp="1"/>
          </p:cNvSpPr>
          <p:nvPr>
            <p:ph type="title"/>
          </p:nvPr>
        </p:nvSpPr>
        <p:spPr/>
        <p:txBody>
          <a:bodyPr/>
          <a:lstStyle/>
          <a:p>
            <a:endParaRPr lang="en-IN"/>
          </a:p>
        </p:txBody>
      </p:sp>
      <p:pic>
        <p:nvPicPr>
          <p:cNvPr id="2050" name="Picture 2" descr="Create table person_archive">
            <a:extLst>
              <a:ext uri="{FF2B5EF4-FFF2-40B4-BE49-F238E27FC236}">
                <a16:creationId xmlns:a16="http://schemas.microsoft.com/office/drawing/2014/main" xmlns="" id="{7C567588-8072-7B12-355C-2782AD9ED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579" y="642541"/>
            <a:ext cx="7620000" cy="9525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5233CB08-3151-B9F3-B972-40F669CB9DDF}"/>
              </a:ext>
            </a:extLst>
          </p:cNvPr>
          <p:cNvSpPr txBox="1"/>
          <p:nvPr/>
        </p:nvSpPr>
        <p:spPr>
          <a:xfrm>
            <a:off x="1451579" y="2268687"/>
            <a:ext cx="6102416" cy="2585323"/>
          </a:xfrm>
          <a:prstGeom prst="rect">
            <a:avLst/>
          </a:prstGeom>
          <a:noFill/>
        </p:spPr>
        <p:txBody>
          <a:bodyPr wrap="square">
            <a:spAutoFit/>
          </a:bodyPr>
          <a:lstStyle/>
          <a:p>
            <a:r>
              <a:rPr lang="en-US" dirty="0"/>
              <a:t>delimiter //</a:t>
            </a:r>
          </a:p>
          <a:p>
            <a:r>
              <a:rPr lang="en-US" dirty="0"/>
              <a:t>CREATE TRIGGER </a:t>
            </a:r>
            <a:r>
              <a:rPr lang="en-US" dirty="0" err="1"/>
              <a:t>person_bi</a:t>
            </a:r>
            <a:r>
              <a:rPr lang="en-US" dirty="0"/>
              <a:t> BEFORE INSERT</a:t>
            </a:r>
          </a:p>
          <a:p>
            <a:r>
              <a:rPr lang="en-US" dirty="0"/>
              <a:t>ON person</a:t>
            </a:r>
          </a:p>
          <a:p>
            <a:r>
              <a:rPr lang="en-US" dirty="0"/>
              <a:t>FOR EACH ROW</a:t>
            </a:r>
          </a:p>
          <a:p>
            <a:r>
              <a:rPr lang="en-US" dirty="0"/>
              <a:t>IF </a:t>
            </a:r>
            <a:r>
              <a:rPr lang="en-US" dirty="0" err="1"/>
              <a:t>NEW.age</a:t>
            </a:r>
            <a:r>
              <a:rPr lang="en-US" dirty="0"/>
              <a:t> &lt; 18 THEN</a:t>
            </a:r>
          </a:p>
          <a:p>
            <a:r>
              <a:rPr lang="en-US" dirty="0"/>
              <a:t>SIGNAL SQLSTATE '50001' SET MESSAGE_TEXT = 'Person must be older than 18.';</a:t>
            </a:r>
          </a:p>
          <a:p>
            <a:r>
              <a:rPr lang="en-US" dirty="0"/>
              <a:t>END IF; //</a:t>
            </a:r>
          </a:p>
          <a:p>
            <a:r>
              <a:rPr lang="en-US" dirty="0"/>
              <a:t>delimiter ;</a:t>
            </a:r>
            <a:endParaRPr lang="en-IN" dirty="0"/>
          </a:p>
        </p:txBody>
      </p:sp>
      <p:pic>
        <p:nvPicPr>
          <p:cNvPr id="2052" name="Picture 4" descr="Before insert trigger result">
            <a:extLst>
              <a:ext uri="{FF2B5EF4-FFF2-40B4-BE49-F238E27FC236}">
                <a16:creationId xmlns:a16="http://schemas.microsoft.com/office/drawing/2014/main" xmlns="" id="{B1337308-855A-6306-BA60-C299A88F0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579" y="5404686"/>
            <a:ext cx="7620000" cy="47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383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2CD0B6-AB4F-9F88-2065-FE40665E428A}"/>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xmlns="" id="{B6572AA1-934F-2ACA-B279-440BF34F5BCF}"/>
              </a:ext>
            </a:extLst>
          </p:cNvPr>
          <p:cNvPicPr>
            <a:picLocks noChangeAspect="1"/>
          </p:cNvPicPr>
          <p:nvPr/>
        </p:nvPicPr>
        <p:blipFill>
          <a:blip r:embed="rId2"/>
          <a:stretch>
            <a:fillRect/>
          </a:stretch>
        </p:blipFill>
        <p:spPr>
          <a:xfrm>
            <a:off x="1204261" y="782042"/>
            <a:ext cx="10097909" cy="3376072"/>
          </a:xfrm>
          <a:prstGeom prst="rect">
            <a:avLst/>
          </a:prstGeom>
        </p:spPr>
      </p:pic>
    </p:spTree>
    <p:extLst>
      <p:ext uri="{BB962C8B-B14F-4D97-AF65-F5344CB8AC3E}">
        <p14:creationId xmlns:p14="http://schemas.microsoft.com/office/powerpoint/2010/main" val="25716979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323B80-77D2-838D-0CA1-2E10D7D495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7EB57F0-11E6-C2A6-9024-346778A8CAAB}"/>
              </a:ext>
            </a:extLst>
          </p:cNvPr>
          <p:cNvSpPr>
            <a:spLocks noGrp="1"/>
          </p:cNvSpPr>
          <p:nvPr>
            <p:ph idx="1"/>
          </p:nvPr>
        </p:nvSpPr>
        <p:spPr/>
        <p:txBody>
          <a:bodyPr/>
          <a:lstStyle/>
          <a:p>
            <a:endParaRPr lang="en-IN" dirty="0"/>
          </a:p>
        </p:txBody>
      </p:sp>
      <p:pic>
        <p:nvPicPr>
          <p:cNvPr id="3074" name="Picture 2" descr="create after insert trigger">
            <a:extLst>
              <a:ext uri="{FF2B5EF4-FFF2-40B4-BE49-F238E27FC236}">
                <a16:creationId xmlns:a16="http://schemas.microsoft.com/office/drawing/2014/main" xmlns="" id="{0A10CCE8-F4E6-B24E-DDB4-1487D513D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578" y="520253"/>
            <a:ext cx="9512463" cy="16646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xmlns="" id="{3718B7F6-37B5-47D8-4CBE-00DFD7BB765A}"/>
              </a:ext>
            </a:extLst>
          </p:cNvPr>
          <p:cNvPicPr>
            <a:picLocks noChangeAspect="1"/>
          </p:cNvPicPr>
          <p:nvPr/>
        </p:nvPicPr>
        <p:blipFill>
          <a:blip r:embed="rId3"/>
          <a:stretch>
            <a:fillRect/>
          </a:stretch>
        </p:blipFill>
        <p:spPr>
          <a:xfrm>
            <a:off x="1451578" y="2346912"/>
            <a:ext cx="9192908" cy="4201111"/>
          </a:xfrm>
          <a:prstGeom prst="rect">
            <a:avLst/>
          </a:prstGeom>
        </p:spPr>
      </p:pic>
    </p:spTree>
    <p:extLst>
      <p:ext uri="{BB962C8B-B14F-4D97-AF65-F5344CB8AC3E}">
        <p14:creationId xmlns:p14="http://schemas.microsoft.com/office/powerpoint/2010/main" val="5404680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C77AC6-2DA0-4A72-020E-CF1D67540E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81640E28-AC9C-3D08-9334-DF734082170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xmlns="" id="{84C439F3-8131-1BE0-B993-ACC805884568}"/>
              </a:ext>
            </a:extLst>
          </p:cNvPr>
          <p:cNvPicPr>
            <a:picLocks noChangeAspect="1"/>
          </p:cNvPicPr>
          <p:nvPr/>
        </p:nvPicPr>
        <p:blipFill>
          <a:blip r:embed="rId2"/>
          <a:stretch>
            <a:fillRect/>
          </a:stretch>
        </p:blipFill>
        <p:spPr>
          <a:xfrm>
            <a:off x="1137146" y="691541"/>
            <a:ext cx="10915395" cy="3033435"/>
          </a:xfrm>
          <a:prstGeom prst="rect">
            <a:avLst/>
          </a:prstGeom>
        </p:spPr>
      </p:pic>
    </p:spTree>
    <p:extLst>
      <p:ext uri="{BB962C8B-B14F-4D97-AF65-F5344CB8AC3E}">
        <p14:creationId xmlns:p14="http://schemas.microsoft.com/office/powerpoint/2010/main" val="414386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D90A33-6DD2-47AE-6590-F10B89B9C9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226DEB7-1E84-DC44-CC82-F18D1909FE4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BDD839A5-9571-D198-46F5-B79C8DEA4565}"/>
              </a:ext>
            </a:extLst>
          </p:cNvPr>
          <p:cNvPicPr>
            <a:picLocks noChangeAspect="1"/>
          </p:cNvPicPr>
          <p:nvPr/>
        </p:nvPicPr>
        <p:blipFill>
          <a:blip r:embed="rId2"/>
          <a:stretch>
            <a:fillRect/>
          </a:stretch>
        </p:blipFill>
        <p:spPr>
          <a:xfrm>
            <a:off x="845226" y="137370"/>
            <a:ext cx="10670841" cy="6475186"/>
          </a:xfrm>
          <a:prstGeom prst="rect">
            <a:avLst/>
          </a:prstGeom>
        </p:spPr>
      </p:pic>
    </p:spTree>
    <p:extLst>
      <p:ext uri="{BB962C8B-B14F-4D97-AF65-F5344CB8AC3E}">
        <p14:creationId xmlns:p14="http://schemas.microsoft.com/office/powerpoint/2010/main" val="9502377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0E8733-452F-20D0-33A3-BBF2C12FD7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71D111DD-6093-F3ED-38A4-FEB07207EB8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0D1ADF97-46C9-B806-F2E9-E728860B0171}"/>
              </a:ext>
            </a:extLst>
          </p:cNvPr>
          <p:cNvPicPr>
            <a:picLocks noChangeAspect="1"/>
          </p:cNvPicPr>
          <p:nvPr/>
        </p:nvPicPr>
        <p:blipFill>
          <a:blip r:embed="rId2"/>
          <a:stretch>
            <a:fillRect/>
          </a:stretch>
        </p:blipFill>
        <p:spPr>
          <a:xfrm>
            <a:off x="1451579" y="111787"/>
            <a:ext cx="8738374" cy="6436391"/>
          </a:xfrm>
          <a:prstGeom prst="rect">
            <a:avLst/>
          </a:prstGeom>
        </p:spPr>
      </p:pic>
    </p:spTree>
    <p:extLst>
      <p:ext uri="{BB962C8B-B14F-4D97-AF65-F5344CB8AC3E}">
        <p14:creationId xmlns:p14="http://schemas.microsoft.com/office/powerpoint/2010/main" val="20459970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36F2D2-B805-3969-603B-F5A9DDD127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5230256-2A5E-5F25-FA62-A9E1CC5A3B0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9EEC523C-BA0C-39C2-F05F-687D5D955741}"/>
              </a:ext>
            </a:extLst>
          </p:cNvPr>
          <p:cNvPicPr>
            <a:picLocks noChangeAspect="1"/>
          </p:cNvPicPr>
          <p:nvPr/>
        </p:nvPicPr>
        <p:blipFill>
          <a:blip r:embed="rId2"/>
          <a:stretch>
            <a:fillRect/>
          </a:stretch>
        </p:blipFill>
        <p:spPr>
          <a:xfrm>
            <a:off x="1280440" y="785443"/>
            <a:ext cx="9631119" cy="5287113"/>
          </a:xfrm>
          <a:prstGeom prst="rect">
            <a:avLst/>
          </a:prstGeom>
        </p:spPr>
      </p:pic>
    </p:spTree>
    <p:extLst>
      <p:ext uri="{BB962C8B-B14F-4D97-AF65-F5344CB8AC3E}">
        <p14:creationId xmlns:p14="http://schemas.microsoft.com/office/powerpoint/2010/main" val="2995479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763" y="200025"/>
            <a:ext cx="9896475" cy="645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164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95275"/>
            <a:ext cx="8839200" cy="626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5659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150" y="552450"/>
            <a:ext cx="8267700" cy="575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45022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038" y="438150"/>
            <a:ext cx="8543925" cy="598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80056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3" y="457200"/>
            <a:ext cx="825817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27437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8" y="785813"/>
            <a:ext cx="9001125" cy="528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0990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742950"/>
            <a:ext cx="9115425" cy="537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33917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00" y="485775"/>
            <a:ext cx="9067800" cy="588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02073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1338263"/>
            <a:ext cx="8905875"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1458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8350" y="333375"/>
            <a:ext cx="8115300"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6056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590550"/>
            <a:ext cx="8334375" cy="567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84422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3613" y="804863"/>
            <a:ext cx="7724775"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73889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819150"/>
            <a:ext cx="7677150"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79652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775" y="519113"/>
            <a:ext cx="8172450" cy="581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15981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300038"/>
            <a:ext cx="7962900" cy="625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73261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14DF52FA-CD27-9177-C96B-21492A55CED2}"/>
              </a:ext>
            </a:extLst>
          </p:cNvPr>
          <p:cNvPicPr>
            <a:picLocks noChangeAspect="1"/>
          </p:cNvPicPr>
          <p:nvPr/>
        </p:nvPicPr>
        <p:blipFill>
          <a:blip r:embed="rId2"/>
          <a:stretch>
            <a:fillRect/>
          </a:stretch>
        </p:blipFill>
        <p:spPr>
          <a:xfrm>
            <a:off x="1118493" y="461548"/>
            <a:ext cx="9955014" cy="5934903"/>
          </a:xfrm>
          <a:prstGeom prst="rect">
            <a:avLst/>
          </a:prstGeom>
        </p:spPr>
      </p:pic>
    </p:spTree>
    <p:extLst>
      <p:ext uri="{BB962C8B-B14F-4D97-AF65-F5344CB8AC3E}">
        <p14:creationId xmlns:p14="http://schemas.microsoft.com/office/powerpoint/2010/main" val="6169888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104" y="167690"/>
            <a:ext cx="12163312" cy="2862322"/>
          </a:xfrm>
          <a:prstGeom prst="rect">
            <a:avLst/>
          </a:prstGeom>
        </p:spPr>
        <p:txBody>
          <a:bodyPr wrap="square">
            <a:spAutoFit/>
          </a:bodyPr>
          <a:lstStyle/>
          <a:p>
            <a:pPr fontAlgn="base"/>
            <a:r>
              <a:rPr lang="en-US" dirty="0"/>
              <a:t>During recovery, it would be very difficult for the recovery system to backtrack all the logs and then start recovering.</a:t>
            </a:r>
          </a:p>
          <a:p>
            <a:pPr fontAlgn="base"/>
            <a:r>
              <a:rPr lang="en-US" dirty="0"/>
              <a:t>Recovery with concurrent transactions can be done in the following four ways</a:t>
            </a:r>
            <a:r>
              <a:rPr lang="en-US" dirty="0" smtClean="0"/>
              <a:t>.</a:t>
            </a:r>
          </a:p>
          <a:p>
            <a:pPr fontAlgn="base"/>
            <a:endParaRPr lang="en-US" dirty="0"/>
          </a:p>
          <a:p>
            <a:pPr fontAlgn="base"/>
            <a:r>
              <a:rPr lang="en-US" dirty="0"/>
              <a:t>Interaction with concurrency control</a:t>
            </a:r>
          </a:p>
          <a:p>
            <a:pPr fontAlgn="base"/>
            <a:r>
              <a:rPr lang="en-US" dirty="0"/>
              <a:t>Transaction rollback</a:t>
            </a:r>
          </a:p>
          <a:p>
            <a:pPr fontAlgn="base"/>
            <a:r>
              <a:rPr lang="en-US" dirty="0"/>
              <a:t>Checkpoints</a:t>
            </a:r>
          </a:p>
          <a:p>
            <a:pPr fontAlgn="base"/>
            <a:r>
              <a:rPr lang="en-US" dirty="0"/>
              <a:t>Restart </a:t>
            </a:r>
            <a:r>
              <a:rPr lang="en-US" dirty="0" smtClean="0"/>
              <a:t>recovery</a:t>
            </a:r>
          </a:p>
          <a:p>
            <a:pPr fontAlgn="base"/>
            <a:endParaRPr lang="en-US" dirty="0"/>
          </a:p>
          <a:p>
            <a:pPr fontAlgn="base"/>
            <a:endParaRPr lang="en-US" dirty="0"/>
          </a:p>
          <a:p>
            <a:pPr fontAlgn="base"/>
            <a:r>
              <a:rPr lang="en-US" b="1" dirty="0" smtClean="0"/>
              <a:t>1. Interaction </a:t>
            </a:r>
            <a:r>
              <a:rPr lang="en-US" b="1" dirty="0"/>
              <a:t>with concurrency control :</a:t>
            </a:r>
            <a:endParaRPr lang="en-US" dirty="0"/>
          </a:p>
        </p:txBody>
      </p:sp>
      <p:sp>
        <p:nvSpPr>
          <p:cNvPr id="4" name="Rectangle 3"/>
          <p:cNvSpPr/>
          <p:nvPr/>
        </p:nvSpPr>
        <p:spPr>
          <a:xfrm>
            <a:off x="380104" y="3190589"/>
            <a:ext cx="10678757" cy="2031325"/>
          </a:xfrm>
          <a:prstGeom prst="rect">
            <a:avLst/>
          </a:prstGeom>
        </p:spPr>
        <p:txBody>
          <a:bodyPr wrap="square">
            <a:spAutoFit/>
          </a:bodyPr>
          <a:lstStyle/>
          <a:p>
            <a:pPr fontAlgn="base"/>
            <a:r>
              <a:rPr lang="en-US" dirty="0"/>
              <a:t>In this scheme, the recovery scheme depends greatly on the concurrency control scheme that is used. So, to rollback a failed transaction, we must undo the updates performed by the </a:t>
            </a:r>
            <a:r>
              <a:rPr lang="en-US" dirty="0" smtClean="0"/>
              <a:t>transaction.</a:t>
            </a:r>
          </a:p>
          <a:p>
            <a:pPr fontAlgn="base"/>
            <a:endParaRPr lang="en-US" b="1" dirty="0" smtClean="0"/>
          </a:p>
          <a:p>
            <a:pPr fontAlgn="base"/>
            <a:r>
              <a:rPr lang="en-US" b="1" dirty="0" smtClean="0"/>
              <a:t>2. Transaction </a:t>
            </a:r>
            <a:r>
              <a:rPr lang="en-US" b="1" dirty="0"/>
              <a:t>rollback :</a:t>
            </a:r>
            <a:endParaRPr lang="en-US" dirty="0"/>
          </a:p>
          <a:p>
            <a:pPr fontAlgn="base"/>
            <a:r>
              <a:rPr lang="en-US" dirty="0"/>
              <a:t>In this scheme, we rollback a failed transaction by using the log.</a:t>
            </a:r>
          </a:p>
          <a:p>
            <a:pPr fontAlgn="base"/>
            <a:r>
              <a:rPr lang="en-US" dirty="0"/>
              <a:t>The system scans the log backward a failed transaction, for every log record found in the log the system restores the data item.</a:t>
            </a:r>
          </a:p>
        </p:txBody>
      </p:sp>
    </p:spTree>
    <p:extLst>
      <p:ext uri="{BB962C8B-B14F-4D97-AF65-F5344CB8AC3E}">
        <p14:creationId xmlns:p14="http://schemas.microsoft.com/office/powerpoint/2010/main" val="21178811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606" y="588671"/>
            <a:ext cx="12041393" cy="5355312"/>
          </a:xfrm>
          <a:prstGeom prst="rect">
            <a:avLst/>
          </a:prstGeom>
        </p:spPr>
        <p:txBody>
          <a:bodyPr wrap="square">
            <a:spAutoFit/>
          </a:bodyPr>
          <a:lstStyle/>
          <a:p>
            <a:pPr fontAlgn="base"/>
            <a:r>
              <a:rPr lang="en-US" b="1" dirty="0"/>
              <a:t>3</a:t>
            </a:r>
            <a:r>
              <a:rPr lang="en-US" b="1" dirty="0" smtClean="0"/>
              <a:t>. Checkpoints </a:t>
            </a:r>
            <a:r>
              <a:rPr lang="en-US" b="1" dirty="0"/>
              <a:t>:</a:t>
            </a:r>
            <a:endParaRPr lang="en-US" dirty="0"/>
          </a:p>
          <a:p>
            <a:pPr fontAlgn="base"/>
            <a:r>
              <a:rPr lang="en-US" dirty="0"/>
              <a:t>Checkpoints is a process of saving a snapshot of the applications state so that it can restart from that point in case of failure.</a:t>
            </a:r>
          </a:p>
          <a:p>
            <a:pPr fontAlgn="base"/>
            <a:r>
              <a:rPr lang="en-US" dirty="0"/>
              <a:t>Checkpoint is a point of time at which a record is written onto the database form the buffers.</a:t>
            </a:r>
          </a:p>
          <a:p>
            <a:pPr fontAlgn="base"/>
            <a:r>
              <a:rPr lang="en-US" dirty="0"/>
              <a:t>Checkpoint shortens the recovery process.</a:t>
            </a:r>
          </a:p>
          <a:p>
            <a:pPr fontAlgn="base"/>
            <a:r>
              <a:rPr lang="en-US" dirty="0"/>
              <a:t>When it reaches the checkpoint, then the transaction will be updated into the database, and till that point, the entire log file will be removed from the file. Then the log file is updated with the new step of transaction till the next checkpoint and so on.</a:t>
            </a:r>
          </a:p>
          <a:p>
            <a:pPr fontAlgn="base"/>
            <a:r>
              <a:rPr lang="en-US" dirty="0"/>
              <a:t>The checkpoint is used to declare the point before which the DBMS was in the consistent state, and all the transactions were committed</a:t>
            </a:r>
            <a:r>
              <a:rPr lang="en-US" dirty="0" smtClean="0"/>
              <a:t>.</a:t>
            </a:r>
          </a:p>
          <a:p>
            <a:pPr fontAlgn="base"/>
            <a:endParaRPr lang="en-US" dirty="0"/>
          </a:p>
          <a:p>
            <a:pPr fontAlgn="base"/>
            <a:r>
              <a:rPr lang="en-US" dirty="0"/>
              <a:t>To ease this situation, ‘</a:t>
            </a:r>
            <a:r>
              <a:rPr lang="en-US" u="sng" dirty="0">
                <a:hlinkClick r:id="rId2"/>
              </a:rPr>
              <a:t>Checkpoints</a:t>
            </a:r>
            <a:r>
              <a:rPr lang="en-US" dirty="0"/>
              <a:t>‘ Concept is used by the most DBMS</a:t>
            </a:r>
            <a:r>
              <a:rPr lang="en-US" dirty="0" smtClean="0"/>
              <a:t>.</a:t>
            </a:r>
          </a:p>
          <a:p>
            <a:pPr fontAlgn="base"/>
            <a:endParaRPr lang="en-US" dirty="0"/>
          </a:p>
          <a:p>
            <a:pPr fontAlgn="base"/>
            <a:r>
              <a:rPr lang="en-US" dirty="0"/>
              <a:t>In this scheme, we used checkpoints to reduce the number of log records that the system must scan when it recovers from a crash</a:t>
            </a:r>
            <a:r>
              <a:rPr lang="en-US" dirty="0" smtClean="0"/>
              <a:t>.</a:t>
            </a:r>
          </a:p>
          <a:p>
            <a:pPr fontAlgn="base"/>
            <a:endParaRPr lang="en-US" dirty="0"/>
          </a:p>
          <a:p>
            <a:pPr fontAlgn="base"/>
            <a:r>
              <a:rPr lang="en-US" dirty="0"/>
              <a:t>In a concurrent transaction processing system, we require that the checkpoint log record be of the form &lt;checkpoint L&gt;, where</a:t>
            </a:r>
            <a:r>
              <a:rPr lang="en-US" b="1" dirty="0"/>
              <a:t> ‘L’</a:t>
            </a:r>
            <a:r>
              <a:rPr lang="en-US" dirty="0"/>
              <a:t> is a list of transactions active at the time of the checkpoint</a:t>
            </a:r>
            <a:r>
              <a:rPr lang="en-US" dirty="0" smtClean="0"/>
              <a:t>.</a:t>
            </a:r>
          </a:p>
          <a:p>
            <a:pPr fontAlgn="base"/>
            <a:endParaRPr lang="en-US" dirty="0"/>
          </a:p>
          <a:p>
            <a:pPr fontAlgn="base"/>
            <a:r>
              <a:rPr lang="en-US" dirty="0"/>
              <a:t>A fuzzy checkpoint is a checkpoint where transactions are allowed to perform updates even while buffer blocks are being written out.</a:t>
            </a:r>
          </a:p>
        </p:txBody>
      </p:sp>
    </p:spTree>
    <p:extLst>
      <p:ext uri="{BB962C8B-B14F-4D97-AF65-F5344CB8AC3E}">
        <p14:creationId xmlns:p14="http://schemas.microsoft.com/office/powerpoint/2010/main" val="15711810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3642" y="755352"/>
            <a:ext cx="9628094" cy="3139321"/>
          </a:xfrm>
          <a:prstGeom prst="rect">
            <a:avLst/>
          </a:prstGeom>
        </p:spPr>
        <p:txBody>
          <a:bodyPr wrap="square">
            <a:spAutoFit/>
          </a:bodyPr>
          <a:lstStyle/>
          <a:p>
            <a:pPr fontAlgn="base"/>
            <a:r>
              <a:rPr lang="en-US" b="1" dirty="0"/>
              <a:t>4</a:t>
            </a:r>
            <a:r>
              <a:rPr lang="en-US" b="1" dirty="0" smtClean="0"/>
              <a:t>. Restart </a:t>
            </a:r>
            <a:r>
              <a:rPr lang="en-US" b="1" dirty="0"/>
              <a:t>recovery </a:t>
            </a:r>
            <a:r>
              <a:rPr lang="en-US" b="1" dirty="0" smtClean="0"/>
              <a:t>:</a:t>
            </a:r>
          </a:p>
          <a:p>
            <a:pPr fontAlgn="base"/>
            <a:endParaRPr lang="en-US" dirty="0"/>
          </a:p>
          <a:p>
            <a:pPr fontAlgn="base"/>
            <a:r>
              <a:rPr lang="en-US" dirty="0"/>
              <a:t>When the system recovers from a crash, it constructs two lists.</a:t>
            </a:r>
          </a:p>
          <a:p>
            <a:pPr fontAlgn="base"/>
            <a:r>
              <a:rPr lang="en-US" dirty="0"/>
              <a:t>The undo-list consists of transactions to be undone, and the redo-list consists of transaction to be redone</a:t>
            </a:r>
            <a:r>
              <a:rPr lang="en-US" dirty="0" smtClean="0"/>
              <a:t>.</a:t>
            </a:r>
          </a:p>
          <a:p>
            <a:pPr fontAlgn="base"/>
            <a:endParaRPr lang="en-US" dirty="0"/>
          </a:p>
          <a:p>
            <a:pPr fontAlgn="base"/>
            <a:r>
              <a:rPr lang="en-US" dirty="0"/>
              <a:t>The system constructs the two lists as follows: </a:t>
            </a:r>
            <a:endParaRPr lang="en-US" dirty="0" smtClean="0"/>
          </a:p>
          <a:p>
            <a:pPr fontAlgn="base"/>
            <a:endParaRPr lang="en-US" dirty="0" smtClean="0"/>
          </a:p>
          <a:p>
            <a:pPr fontAlgn="base"/>
            <a:r>
              <a:rPr lang="en-US" dirty="0" smtClean="0"/>
              <a:t>Initially</a:t>
            </a:r>
            <a:r>
              <a:rPr lang="en-US" dirty="0"/>
              <a:t>, they are both empty. </a:t>
            </a:r>
            <a:endParaRPr lang="en-US" dirty="0" smtClean="0"/>
          </a:p>
          <a:p>
            <a:pPr fontAlgn="base"/>
            <a:r>
              <a:rPr lang="en-US" dirty="0" smtClean="0"/>
              <a:t>The </a:t>
            </a:r>
            <a:r>
              <a:rPr lang="en-US" dirty="0"/>
              <a:t>system scans the log backward, examining each record, until it finds the first &lt;checkpoint&gt; record</a:t>
            </a:r>
            <a:r>
              <a:rPr lang="en-US" dirty="0" smtClean="0"/>
              <a:t>.</a:t>
            </a:r>
            <a:endParaRPr lang="en-US" dirty="0"/>
          </a:p>
        </p:txBody>
      </p:sp>
    </p:spTree>
    <p:extLst>
      <p:ext uri="{BB962C8B-B14F-4D97-AF65-F5344CB8AC3E}">
        <p14:creationId xmlns:p14="http://schemas.microsoft.com/office/powerpoint/2010/main" val="4696871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002B8E70-3B44-8E05-C2E7-4C7C9852BF7B}"/>
              </a:ext>
            </a:extLst>
          </p:cNvPr>
          <p:cNvPicPr>
            <a:picLocks noChangeAspect="1"/>
          </p:cNvPicPr>
          <p:nvPr/>
        </p:nvPicPr>
        <p:blipFill>
          <a:blip r:embed="rId2"/>
          <a:stretch>
            <a:fillRect/>
          </a:stretch>
        </p:blipFill>
        <p:spPr>
          <a:xfrm>
            <a:off x="1328072" y="37626"/>
            <a:ext cx="9535856" cy="6782747"/>
          </a:xfrm>
          <a:prstGeom prst="rect">
            <a:avLst/>
          </a:prstGeom>
        </p:spPr>
      </p:pic>
    </p:spTree>
    <p:extLst>
      <p:ext uri="{BB962C8B-B14F-4D97-AF65-F5344CB8AC3E}">
        <p14:creationId xmlns:p14="http://schemas.microsoft.com/office/powerpoint/2010/main" val="31775476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4E00B788-5835-43DD-9714-9D9F36F8E209}"/>
              </a:ext>
            </a:extLst>
          </p:cNvPr>
          <p:cNvPicPr>
            <a:picLocks noChangeAspect="1"/>
          </p:cNvPicPr>
          <p:nvPr/>
        </p:nvPicPr>
        <p:blipFill>
          <a:blip r:embed="rId2"/>
          <a:stretch>
            <a:fillRect/>
          </a:stretch>
        </p:blipFill>
        <p:spPr>
          <a:xfrm>
            <a:off x="1251861" y="66205"/>
            <a:ext cx="9688277" cy="6725589"/>
          </a:xfrm>
          <a:prstGeom prst="rect">
            <a:avLst/>
          </a:prstGeom>
        </p:spPr>
      </p:pic>
    </p:spTree>
    <p:extLst>
      <p:ext uri="{BB962C8B-B14F-4D97-AF65-F5344CB8AC3E}">
        <p14:creationId xmlns:p14="http://schemas.microsoft.com/office/powerpoint/2010/main" val="37334562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A2A2C4C-6452-4A9A-4BC5-188B9FF4D3B7}"/>
              </a:ext>
            </a:extLst>
          </p:cNvPr>
          <p:cNvPicPr>
            <a:picLocks noChangeAspect="1"/>
          </p:cNvPicPr>
          <p:nvPr/>
        </p:nvPicPr>
        <p:blipFill>
          <a:blip r:embed="rId2"/>
          <a:stretch>
            <a:fillRect/>
          </a:stretch>
        </p:blipFill>
        <p:spPr>
          <a:xfrm>
            <a:off x="1368777" y="0"/>
            <a:ext cx="9454445" cy="6858000"/>
          </a:xfrm>
          <a:prstGeom prst="rect">
            <a:avLst/>
          </a:prstGeom>
        </p:spPr>
      </p:pic>
    </p:spTree>
    <p:extLst>
      <p:ext uri="{BB962C8B-B14F-4D97-AF65-F5344CB8AC3E}">
        <p14:creationId xmlns:p14="http://schemas.microsoft.com/office/powerpoint/2010/main" val="17688673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EB32355-41E7-2427-B4B7-E0C21685B1AD}"/>
              </a:ext>
            </a:extLst>
          </p:cNvPr>
          <p:cNvPicPr>
            <a:picLocks noChangeAspect="1"/>
          </p:cNvPicPr>
          <p:nvPr/>
        </p:nvPicPr>
        <p:blipFill>
          <a:blip r:embed="rId2"/>
          <a:stretch>
            <a:fillRect/>
          </a:stretch>
        </p:blipFill>
        <p:spPr>
          <a:xfrm>
            <a:off x="1255870" y="0"/>
            <a:ext cx="9680260" cy="6858000"/>
          </a:xfrm>
          <a:prstGeom prst="rect">
            <a:avLst/>
          </a:prstGeom>
        </p:spPr>
      </p:pic>
    </p:spTree>
    <p:extLst>
      <p:ext uri="{BB962C8B-B14F-4D97-AF65-F5344CB8AC3E}">
        <p14:creationId xmlns:p14="http://schemas.microsoft.com/office/powerpoint/2010/main" val="15989005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48ED33A-2F8F-75A2-2931-F638D693CCFC}"/>
              </a:ext>
            </a:extLst>
          </p:cNvPr>
          <p:cNvPicPr>
            <a:picLocks noChangeAspect="1"/>
          </p:cNvPicPr>
          <p:nvPr/>
        </p:nvPicPr>
        <p:blipFill>
          <a:blip r:embed="rId2"/>
          <a:stretch>
            <a:fillRect/>
          </a:stretch>
        </p:blipFill>
        <p:spPr>
          <a:xfrm>
            <a:off x="1280440" y="271022"/>
            <a:ext cx="9631119" cy="6315956"/>
          </a:xfrm>
          <a:prstGeom prst="rect">
            <a:avLst/>
          </a:prstGeom>
        </p:spPr>
      </p:pic>
    </p:spTree>
    <p:extLst>
      <p:ext uri="{BB962C8B-B14F-4D97-AF65-F5344CB8AC3E}">
        <p14:creationId xmlns:p14="http://schemas.microsoft.com/office/powerpoint/2010/main" val="2673384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926A291-DAAC-8EA6-3F40-612ACC8AE0A3}"/>
              </a:ext>
            </a:extLst>
          </p:cNvPr>
          <p:cNvPicPr>
            <a:picLocks noChangeAspect="1"/>
          </p:cNvPicPr>
          <p:nvPr/>
        </p:nvPicPr>
        <p:blipFill>
          <a:blip r:embed="rId2"/>
          <a:stretch>
            <a:fillRect/>
          </a:stretch>
        </p:blipFill>
        <p:spPr>
          <a:xfrm>
            <a:off x="1323309" y="99548"/>
            <a:ext cx="9545382" cy="6658904"/>
          </a:xfrm>
          <a:prstGeom prst="rect">
            <a:avLst/>
          </a:prstGeom>
        </p:spPr>
      </p:pic>
    </p:spTree>
    <p:extLst>
      <p:ext uri="{BB962C8B-B14F-4D97-AF65-F5344CB8AC3E}">
        <p14:creationId xmlns:p14="http://schemas.microsoft.com/office/powerpoint/2010/main" val="11403126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C169BA7-950F-F2F3-16B2-ADE7446272D6}"/>
              </a:ext>
            </a:extLst>
          </p:cNvPr>
          <p:cNvPicPr>
            <a:picLocks noChangeAspect="1"/>
          </p:cNvPicPr>
          <p:nvPr/>
        </p:nvPicPr>
        <p:blipFill>
          <a:blip r:embed="rId2"/>
          <a:stretch>
            <a:fillRect/>
          </a:stretch>
        </p:blipFill>
        <p:spPr>
          <a:xfrm>
            <a:off x="1266151" y="399627"/>
            <a:ext cx="9659698" cy="6058746"/>
          </a:xfrm>
          <a:prstGeom prst="rect">
            <a:avLst/>
          </a:prstGeom>
        </p:spPr>
      </p:pic>
    </p:spTree>
    <p:extLst>
      <p:ext uri="{BB962C8B-B14F-4D97-AF65-F5344CB8AC3E}">
        <p14:creationId xmlns:p14="http://schemas.microsoft.com/office/powerpoint/2010/main" val="37796390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2575836B-2244-7EEF-E83C-5E6DF1EC0E60}"/>
              </a:ext>
            </a:extLst>
          </p:cNvPr>
          <p:cNvPicPr>
            <a:picLocks noChangeAspect="1"/>
          </p:cNvPicPr>
          <p:nvPr/>
        </p:nvPicPr>
        <p:blipFill rotWithShape="1">
          <a:blip r:embed="rId2"/>
          <a:srcRect b="4562"/>
          <a:stretch/>
        </p:blipFill>
        <p:spPr>
          <a:xfrm>
            <a:off x="1497000" y="0"/>
            <a:ext cx="9198000" cy="6545179"/>
          </a:xfrm>
          <a:prstGeom prst="rect">
            <a:avLst/>
          </a:prstGeom>
        </p:spPr>
      </p:pic>
    </p:spTree>
    <p:extLst>
      <p:ext uri="{BB962C8B-B14F-4D97-AF65-F5344CB8AC3E}">
        <p14:creationId xmlns:p14="http://schemas.microsoft.com/office/powerpoint/2010/main" val="35540000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7944380-0B8F-CA0F-C4DE-5F7AF01764D7}"/>
              </a:ext>
            </a:extLst>
          </p:cNvPr>
          <p:cNvPicPr>
            <a:picLocks noChangeAspect="1"/>
          </p:cNvPicPr>
          <p:nvPr/>
        </p:nvPicPr>
        <p:blipFill>
          <a:blip r:embed="rId2"/>
          <a:stretch>
            <a:fillRect/>
          </a:stretch>
        </p:blipFill>
        <p:spPr>
          <a:xfrm>
            <a:off x="1294730" y="294837"/>
            <a:ext cx="9602540" cy="6268325"/>
          </a:xfrm>
          <a:prstGeom prst="rect">
            <a:avLst/>
          </a:prstGeom>
        </p:spPr>
      </p:pic>
    </p:spTree>
    <p:extLst>
      <p:ext uri="{BB962C8B-B14F-4D97-AF65-F5344CB8AC3E}">
        <p14:creationId xmlns:p14="http://schemas.microsoft.com/office/powerpoint/2010/main" val="11283422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5E4C57E-6DBE-62B3-9D25-6488F4463FE1}"/>
              </a:ext>
            </a:extLst>
          </p:cNvPr>
          <p:cNvPicPr>
            <a:picLocks noChangeAspect="1"/>
          </p:cNvPicPr>
          <p:nvPr/>
        </p:nvPicPr>
        <p:blipFill>
          <a:blip r:embed="rId2"/>
          <a:stretch>
            <a:fillRect/>
          </a:stretch>
        </p:blipFill>
        <p:spPr>
          <a:xfrm>
            <a:off x="1345259" y="0"/>
            <a:ext cx="9501482" cy="6858000"/>
          </a:xfrm>
          <a:prstGeom prst="rect">
            <a:avLst/>
          </a:prstGeom>
        </p:spPr>
      </p:pic>
    </p:spTree>
    <p:extLst>
      <p:ext uri="{BB962C8B-B14F-4D97-AF65-F5344CB8AC3E}">
        <p14:creationId xmlns:p14="http://schemas.microsoft.com/office/powerpoint/2010/main" val="474709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804863"/>
            <a:ext cx="83820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11505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174" y="633357"/>
            <a:ext cx="86868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09339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0F9A1C-6ABD-2596-1124-89C7277CC6E9}"/>
              </a:ext>
            </a:extLst>
          </p:cNvPr>
          <p:cNvSpPr>
            <a:spLocks noGrp="1"/>
          </p:cNvSpPr>
          <p:nvPr>
            <p:ph type="title"/>
          </p:nvPr>
        </p:nvSpPr>
        <p:spPr>
          <a:xfrm>
            <a:off x="1157664" y="2612571"/>
            <a:ext cx="9603275" cy="1049235"/>
          </a:xfrm>
        </p:spPr>
        <p:txBody>
          <a:bodyPr/>
          <a:lstStyle/>
          <a:p>
            <a:pPr algn="ctr"/>
            <a:r>
              <a:rPr lang="en-US" dirty="0"/>
              <a:t>THANK YOU </a:t>
            </a:r>
            <a:endParaRPr lang="en-IN" dirty="0"/>
          </a:p>
        </p:txBody>
      </p:sp>
    </p:spTree>
    <p:extLst>
      <p:ext uri="{BB962C8B-B14F-4D97-AF65-F5344CB8AC3E}">
        <p14:creationId xmlns:p14="http://schemas.microsoft.com/office/powerpoint/2010/main" val="30929063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2787</TotalTime>
  <Words>3818</Words>
  <Application>Microsoft Office PowerPoint</Application>
  <PresentationFormat>Custom</PresentationFormat>
  <Paragraphs>260</Paragraphs>
  <Slides>84</Slides>
  <Notes>0</Notes>
  <HiddenSlides>0</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Gallery</vt:lpstr>
      <vt:lpstr>Database Management Systems</vt:lpstr>
      <vt:lpstr>PowerPoint Presentation</vt:lpstr>
      <vt:lpstr>PowerPoint Presentation</vt:lpstr>
      <vt:lpstr>PowerPoint Presentation</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neha28nandal@outlook.com</dc:creator>
  <cp:lastModifiedBy>staff</cp:lastModifiedBy>
  <cp:revision>414</cp:revision>
  <dcterms:created xsi:type="dcterms:W3CDTF">2023-09-09T04:22:22Z</dcterms:created>
  <dcterms:modified xsi:type="dcterms:W3CDTF">2024-01-08T06:21:08Z</dcterms:modified>
</cp:coreProperties>
</file>