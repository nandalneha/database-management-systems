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18" r:id="rId5"/>
    <p:sldId id="259" r:id="rId6"/>
    <p:sldId id="260" r:id="rId7"/>
    <p:sldId id="261" r:id="rId8"/>
    <p:sldId id="262" r:id="rId9"/>
    <p:sldId id="263" r:id="rId10"/>
    <p:sldId id="360" r:id="rId11"/>
    <p:sldId id="359" r:id="rId12"/>
    <p:sldId id="264" r:id="rId13"/>
    <p:sldId id="265" r:id="rId14"/>
    <p:sldId id="266" r:id="rId15"/>
    <p:sldId id="267" r:id="rId16"/>
    <p:sldId id="309" r:id="rId17"/>
    <p:sldId id="310" r:id="rId18"/>
    <p:sldId id="311" r:id="rId19"/>
    <p:sldId id="312" r:id="rId20"/>
    <p:sldId id="313" r:id="rId21"/>
    <p:sldId id="369" r:id="rId22"/>
    <p:sldId id="370" r:id="rId23"/>
    <p:sldId id="362" r:id="rId24"/>
    <p:sldId id="361" r:id="rId25"/>
    <p:sldId id="363" r:id="rId26"/>
    <p:sldId id="365" r:id="rId27"/>
    <p:sldId id="366" r:id="rId28"/>
    <p:sldId id="367" r:id="rId29"/>
    <p:sldId id="368" r:id="rId30"/>
    <p:sldId id="269" r:id="rId31"/>
    <p:sldId id="271" r:id="rId32"/>
    <p:sldId id="270" r:id="rId33"/>
    <p:sldId id="272" r:id="rId34"/>
    <p:sldId id="273" r:id="rId35"/>
    <p:sldId id="274" r:id="rId36"/>
    <p:sldId id="275" r:id="rId37"/>
    <p:sldId id="276" r:id="rId38"/>
    <p:sldId id="277" r:id="rId39"/>
    <p:sldId id="278" r:id="rId40"/>
    <p:sldId id="279" r:id="rId41"/>
    <p:sldId id="280" r:id="rId42"/>
    <p:sldId id="300" r:id="rId43"/>
    <p:sldId id="301" r:id="rId44"/>
    <p:sldId id="302" r:id="rId45"/>
    <p:sldId id="303" r:id="rId46"/>
    <p:sldId id="287" r:id="rId47"/>
    <p:sldId id="288" r:id="rId48"/>
    <p:sldId id="290" r:id="rId49"/>
    <p:sldId id="289" r:id="rId50"/>
    <p:sldId id="291" r:id="rId51"/>
    <p:sldId id="292" r:id="rId52"/>
    <p:sldId id="293" r:id="rId53"/>
    <p:sldId id="304" r:id="rId54"/>
    <p:sldId id="305" r:id="rId55"/>
    <p:sldId id="306" r:id="rId56"/>
    <p:sldId id="307" r:id="rId57"/>
    <p:sldId id="308" r:id="rId58"/>
    <p:sldId id="314" r:id="rId59"/>
    <p:sldId id="315" r:id="rId60"/>
    <p:sldId id="316" r:id="rId61"/>
    <p:sldId id="317" r:id="rId62"/>
    <p:sldId id="294" r:id="rId63"/>
    <p:sldId id="295" r:id="rId64"/>
    <p:sldId id="296" r:id="rId65"/>
    <p:sldId id="297" r:id="rId66"/>
    <p:sldId id="298" r:id="rId67"/>
    <p:sldId id="299" r:id="rId68"/>
    <p:sldId id="281" r:id="rId69"/>
    <p:sldId id="282" r:id="rId70"/>
    <p:sldId id="283" r:id="rId71"/>
    <p:sldId id="286" r:id="rId72"/>
    <p:sldId id="284" r:id="rId73"/>
    <p:sldId id="285"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47" r:id="rId103"/>
    <p:sldId id="348" r:id="rId104"/>
    <p:sldId id="349" r:id="rId105"/>
    <p:sldId id="350" r:id="rId106"/>
    <p:sldId id="351" r:id="rId107"/>
    <p:sldId id="352" r:id="rId108"/>
    <p:sldId id="353" r:id="rId109"/>
    <p:sldId id="354" r:id="rId110"/>
    <p:sldId id="355" r:id="rId111"/>
    <p:sldId id="356" r:id="rId112"/>
    <p:sldId id="357" r:id="rId113"/>
    <p:sldId id="358" r:id="rId1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traceFormat>
        <inkml:channelProperties>
          <inkml:channelProperty channel="X" name="resolution" value="393.73947" units="1/cm"/>
          <inkml:channelProperty channel="Y" name="resolution" value="393.73947" units="1/cm"/>
          <inkml:channelProperty channel="F" name="resolution" value="249.9771" units="1/in"/>
        </inkml:channelProperties>
      </inkml:inkSource>
      <inkml:timestamp xml:id="ts0" timeString="2026-07-14T07:21:05.466"/>
    </inkml:context>
    <inkml:brush xml:id="br0">
      <inkml:brushProperty name="width" value="0.08333" units="cm"/>
      <inkml:brushProperty name="height" value="0.08333" units="cm"/>
      <inkml:brushProperty name="color" value="#3165BB"/>
      <inkml:brushProperty name="fitToCurve" value="1"/>
    </inkml:brush>
  </inkml:definitions>
  <inkml:traceGroup>
    <inkml:annotationXML>
      <emma:emma xmlns:emma="http://www.w3.org/2003/04/emma" version="1.0">
        <emma:interpretation id="{78214754-1DD6-45F7-850C-5C8294EA68F1}" emma:medium="tactile" emma:mode="ink">
          <msink:context xmlns:msink="http://schemas.microsoft.com/ink/2010/main" type="inkDrawing" rotatedBoundingBox="12126,15788 12141,15788 12141,15803 12126,15803" shapeName="Other"/>
        </emma:interpretation>
      </emma:emma>
    </inkml:annotationXML>
    <inkml:trace contextRef="#ctx0" brushRef="#br0">4300 2593 131,'0'0'154,"0"0"-17,0 0-22,0 0-11,0 0-21,0 0-20,0 0 0,0 0-18,0 0-14,0 0-19,0 0-8,0 0-16,0 0-12,0 0-15,0 0-11,0 0-87,0 0-147,0 0 66</inkml:trace>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14-07-2026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14-07-2026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14-07-2026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geeksforgeeks.org/types-of-attributes-in-er-model/" TargetMode="External"/><Relationship Id="rId2" Type="http://schemas.openxmlformats.org/officeDocument/2006/relationships/hyperlink" Target="https://www.geeksforgeeks.org/difference-between-entity-and-object/" TargetMode="Externa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geeksforgeeks.org/difference-between-entity-entity-set-and-entity-type/"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hyperlink" Target="https://ecomputernotes.com/fundamental/input-output-and-memory/explain-secondary-storage-device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geeksforgeeks.org/dml-full-form/" TargetMode="External"/><Relationship Id="rId2" Type="http://schemas.openxmlformats.org/officeDocument/2006/relationships/hyperlink" Target="https://www.geeksforgeeks.org/ddl-full-form/"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stackby.com/blog/what-is-a-database/" TargetMode="External"/><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www.geeksforgeeks.org/sql-concepts-and-queries/"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geeksforgeeks.org/sql-drop-truncate/" TargetMode="External"/><Relationship Id="rId2" Type="http://schemas.openxmlformats.org/officeDocument/2006/relationships/hyperlink" Target="https://www.geeksforgeeks.org/sql-create/" TargetMode="External"/><Relationship Id="rId1" Type="http://schemas.openxmlformats.org/officeDocument/2006/relationships/slideLayout" Target="../slideLayouts/slideLayout2.xml"/><Relationship Id="rId6" Type="http://schemas.openxmlformats.org/officeDocument/2006/relationships/hyperlink" Target="https://www.geeksforgeeks.org/sql-alter-rename/" TargetMode="External"/><Relationship Id="rId5" Type="http://schemas.openxmlformats.org/officeDocument/2006/relationships/hyperlink" Target="https://www.geeksforgeeks.org/sql-comments/" TargetMode="External"/><Relationship Id="rId4" Type="http://schemas.openxmlformats.org/officeDocument/2006/relationships/hyperlink" Target="https://www.geeksforgeeks.org/sql-alter-add-drop-modify/" TargetMode="External"/></Relationships>
</file>

<file path=ppt/slides/_rels/slide85.xml.rels><?xml version="1.0" encoding="UTF-8" standalone="yes"?>
<Relationships xmlns="http://schemas.openxmlformats.org/package/2006/relationships"><Relationship Id="rId2" Type="http://schemas.openxmlformats.org/officeDocument/2006/relationships/hyperlink" Target="https://www.geeksforgeeks.org/sql-select-clause/"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geeksforgeeks.org/sql-update-statement/" TargetMode="External"/><Relationship Id="rId2" Type="http://schemas.openxmlformats.org/officeDocument/2006/relationships/hyperlink" Target="https://www.geeksforgeeks.org/sql-insert-statement/" TargetMode="External"/><Relationship Id="rId1" Type="http://schemas.openxmlformats.org/officeDocument/2006/relationships/slideLayout" Target="../slideLayouts/slideLayout2.xml"/><Relationship Id="rId5" Type="http://schemas.openxmlformats.org/officeDocument/2006/relationships/hyperlink" Target="https://www.geeksforgeeks.org/sql-lock-table/" TargetMode="External"/><Relationship Id="rId4" Type="http://schemas.openxmlformats.org/officeDocument/2006/relationships/hyperlink" Target="https://www.geeksforgeeks.org/sql-delete-statement/" TargetMode="External"/></Relationships>
</file>

<file path=ppt/slides/_rels/slide87.xml.rels><?xml version="1.0" encoding="UTF-8" standalone="yes"?>
<Relationships xmlns="http://schemas.openxmlformats.org/package/2006/relationships"><Relationship Id="rId3" Type="http://schemas.openxmlformats.org/officeDocument/2006/relationships/hyperlink" Target="https://www.geeksforgeeks.org/difference-between-grant-and-revoke/" TargetMode="External"/><Relationship Id="rId2" Type="http://schemas.openxmlformats.org/officeDocument/2006/relationships/hyperlink" Target="https://www.geeksforgeeks.org/mysql-grant-revoke-privileges/"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www.geeksforgeeks.org/sql-transactions/"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www.geeksforgeeks.org/cardinality-in-dbms/" TargetMode="External"/><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s://media.geeksforgeeks.org/wp-content/uploads/Screenshot-57.png" TargetMode="External"/><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xmlns=""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Nandal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23FC7B4-2F7A-70B8-6FBE-52A6B161F24B}"/>
              </a:ext>
            </a:extLst>
          </p:cNvPr>
          <p:cNvSpPr txBox="1"/>
          <p:nvPr/>
        </p:nvSpPr>
        <p:spPr>
          <a:xfrm>
            <a:off x="3823608" y="245320"/>
            <a:ext cx="610144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DATABASE MANAGEMENT SYSTEMS </a:t>
            </a:r>
            <a:endParaRPr lang="en-IN" dirty="0"/>
          </a:p>
        </p:txBody>
      </p:sp>
      <p:pic>
        <p:nvPicPr>
          <p:cNvPr id="9" name="Picture 8">
            <a:extLst>
              <a:ext uri="{FF2B5EF4-FFF2-40B4-BE49-F238E27FC236}">
                <a16:creationId xmlns:a16="http://schemas.microsoft.com/office/drawing/2014/main" xmlns="" id="{4AC9C2F3-3EF7-F5EC-C85A-C4858FDC4ADD}"/>
              </a:ext>
            </a:extLst>
          </p:cNvPr>
          <p:cNvPicPr>
            <a:picLocks noChangeAspect="1"/>
          </p:cNvPicPr>
          <p:nvPr/>
        </p:nvPicPr>
        <p:blipFill>
          <a:blip r:embed="rId2"/>
          <a:stretch>
            <a:fillRect/>
          </a:stretch>
        </p:blipFill>
        <p:spPr>
          <a:xfrm>
            <a:off x="695088" y="717505"/>
            <a:ext cx="10801824" cy="5422990"/>
          </a:xfrm>
          <a:prstGeom prst="rect">
            <a:avLst/>
          </a:prstGeom>
        </p:spPr>
      </p:pic>
    </p:spTree>
    <p:extLst>
      <p:ext uri="{BB962C8B-B14F-4D97-AF65-F5344CB8AC3E}">
        <p14:creationId xmlns:p14="http://schemas.microsoft.com/office/powerpoint/2010/main" val="631163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267957-2109-C267-879E-01CD91FED856}"/>
              </a:ext>
            </a:extLst>
          </p:cNvPr>
          <p:cNvPicPr>
            <a:picLocks noChangeAspect="1"/>
          </p:cNvPicPr>
          <p:nvPr/>
        </p:nvPicPr>
        <p:blipFill>
          <a:blip r:embed="rId2"/>
          <a:stretch>
            <a:fillRect/>
          </a:stretch>
        </p:blipFill>
        <p:spPr>
          <a:xfrm>
            <a:off x="1230085" y="0"/>
            <a:ext cx="10003971" cy="4385371"/>
          </a:xfrm>
          <a:prstGeom prst="rect">
            <a:avLst/>
          </a:prstGeom>
        </p:spPr>
      </p:pic>
      <p:pic>
        <p:nvPicPr>
          <p:cNvPr id="7" name="Picture 6">
            <a:extLst>
              <a:ext uri="{FF2B5EF4-FFF2-40B4-BE49-F238E27FC236}">
                <a16:creationId xmlns:a16="http://schemas.microsoft.com/office/drawing/2014/main" xmlns="" id="{168CB64E-1C84-237D-ED42-0ACC1DC7396A}"/>
              </a:ext>
            </a:extLst>
          </p:cNvPr>
          <p:cNvPicPr>
            <a:picLocks noChangeAspect="1"/>
          </p:cNvPicPr>
          <p:nvPr/>
        </p:nvPicPr>
        <p:blipFill>
          <a:blip r:embed="rId3"/>
          <a:stretch>
            <a:fillRect/>
          </a:stretch>
        </p:blipFill>
        <p:spPr>
          <a:xfrm>
            <a:off x="1230084" y="4385371"/>
            <a:ext cx="10003971" cy="2021992"/>
          </a:xfrm>
          <a:prstGeom prst="rect">
            <a:avLst/>
          </a:prstGeom>
        </p:spPr>
      </p:pic>
    </p:spTree>
    <p:extLst>
      <p:ext uri="{BB962C8B-B14F-4D97-AF65-F5344CB8AC3E}">
        <p14:creationId xmlns:p14="http://schemas.microsoft.com/office/powerpoint/2010/main" val="332300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962E158D-44FB-5D8D-0AB3-D21CA5ED2642}"/>
              </a:ext>
            </a:extLst>
          </p:cNvPr>
          <p:cNvSpPr txBox="1"/>
          <p:nvPr/>
        </p:nvSpPr>
        <p:spPr>
          <a:xfrm>
            <a:off x="1426029" y="2046514"/>
            <a:ext cx="9914163" cy="1938992"/>
          </a:xfrm>
          <a:prstGeom prst="rect">
            <a:avLst/>
          </a:prstGeom>
          <a:noFill/>
        </p:spPr>
        <p:txBody>
          <a:bodyPr wrap="square">
            <a:spAutoFit/>
          </a:bodyPr>
          <a:lstStyle/>
          <a:p>
            <a:pPr algn="just"/>
            <a:r>
              <a:rPr lang="en-IN" sz="2400" b="1" i="0" u="none" strike="noStrike" baseline="0" dirty="0">
                <a:latin typeface="Times New Roman" panose="02020603050405020304" pitchFamily="18" charset="0"/>
              </a:rPr>
              <a:t>TEXT BOOKS:</a:t>
            </a:r>
          </a:p>
          <a:p>
            <a:pPr algn="just"/>
            <a:r>
              <a:rPr lang="en-US" sz="2400" b="0" i="0" u="none" strike="noStrike" baseline="0" dirty="0">
                <a:latin typeface="Times New Roman" panose="02020603050405020304" pitchFamily="18" charset="0"/>
              </a:rPr>
              <a:t>1. Data base System Concepts, </a:t>
            </a:r>
            <a:r>
              <a:rPr lang="en-US" sz="2400" b="0" i="0" u="none" strike="noStrike" baseline="0" dirty="0" err="1">
                <a:latin typeface="Times New Roman" panose="02020603050405020304" pitchFamily="18" charset="0"/>
              </a:rPr>
              <a:t>Silberschatz</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Korth</a:t>
            </a:r>
            <a:r>
              <a:rPr lang="en-US" sz="2400" b="0" i="0" u="none" strike="noStrike" baseline="0" dirty="0">
                <a:latin typeface="Times New Roman" panose="02020603050405020304" pitchFamily="18" charset="0"/>
              </a:rPr>
              <a:t>, McGraw hill, Sixth Edition.(All UNITS </a:t>
            </a:r>
            <a:r>
              <a:rPr lang="en-IN" sz="2400" b="0" i="0" u="none" strike="noStrike" baseline="0" dirty="0">
                <a:latin typeface="Times New Roman" panose="02020603050405020304" pitchFamily="18" charset="0"/>
              </a:rPr>
              <a:t>except III </a:t>
            </a:r>
            <a:r>
              <a:rPr lang="en-IN" sz="2400" b="0" i="0" u="none" strike="noStrike" baseline="0" dirty="0" err="1">
                <a:latin typeface="Times New Roman" panose="02020603050405020304" pitchFamily="18" charset="0"/>
              </a:rPr>
              <a:t>th</a:t>
            </a:r>
            <a:r>
              <a:rPr lang="en-IN" sz="2400" b="0" i="0" u="none" strike="noStrike" baseline="0" dirty="0">
                <a:latin typeface="Times New Roman" panose="02020603050405020304" pitchFamily="18" charset="0"/>
              </a:rPr>
              <a:t>)</a:t>
            </a:r>
          </a:p>
          <a:p>
            <a:pPr algn="just"/>
            <a:r>
              <a:rPr lang="en-IN" sz="2400" b="0" i="0" u="none" strike="noStrike" baseline="0" dirty="0">
                <a:latin typeface="Times New Roman" panose="02020603050405020304" pitchFamily="18" charset="0"/>
              </a:rPr>
              <a:t>2. Data base Management Systems, </a:t>
            </a:r>
            <a:r>
              <a:rPr lang="en-IN" sz="2400" i="0" u="none" strike="noStrike" baseline="0" dirty="0" err="1">
                <a:latin typeface="Times New Roman" panose="02020603050405020304" pitchFamily="18" charset="0"/>
              </a:rPr>
              <a:t>Raghurama</a:t>
            </a:r>
            <a:r>
              <a:rPr lang="en-IN" sz="2400" i="0" u="none" strike="noStrike" baseline="0" dirty="0">
                <a:latin typeface="Times New Roman" panose="02020603050405020304" pitchFamily="18" charset="0"/>
              </a:rPr>
              <a:t> Krishnan</a:t>
            </a:r>
            <a:r>
              <a:rPr lang="en-IN" sz="2400" b="0" i="0" u="none" strike="noStrike" baseline="0" dirty="0">
                <a:latin typeface="Times New Roman" panose="02020603050405020304" pitchFamily="18" charset="0"/>
              </a:rPr>
              <a:t>, Johannes </a:t>
            </a:r>
            <a:r>
              <a:rPr lang="en-IN" sz="2400" b="0" i="0" u="none" strike="noStrike" baseline="0" dirty="0" err="1">
                <a:latin typeface="Times New Roman" panose="02020603050405020304" pitchFamily="18" charset="0"/>
              </a:rPr>
              <a:t>Gehrke</a:t>
            </a:r>
            <a:r>
              <a:rPr lang="en-IN" sz="2400" b="0" i="0" u="none" strike="noStrike" baseline="0" dirty="0">
                <a:latin typeface="Times New Roman" panose="02020603050405020304" pitchFamily="18" charset="0"/>
              </a:rPr>
              <a:t>, TATA </a:t>
            </a:r>
            <a:r>
              <a:rPr lang="en-IN" sz="2400" b="0" i="0" u="none" strike="noStrike" baseline="0" dirty="0" err="1">
                <a:latin typeface="Times New Roman" panose="02020603050405020304" pitchFamily="18" charset="0"/>
              </a:rPr>
              <a:t>McGrawHill</a:t>
            </a:r>
            <a:r>
              <a:rPr lang="en-IN" sz="2400" b="0" i="0" u="none" strike="noStrike" baseline="0" dirty="0">
                <a:latin typeface="Times New Roman" panose="02020603050405020304" pitchFamily="18" charset="0"/>
              </a:rPr>
              <a:t> 3rd Edition.</a:t>
            </a:r>
            <a:endParaRPr lang="en-IN" sz="2400" dirty="0"/>
          </a:p>
        </p:txBody>
      </p:sp>
    </p:spTree>
    <p:extLst>
      <p:ext uri="{BB962C8B-B14F-4D97-AF65-F5344CB8AC3E}">
        <p14:creationId xmlns:p14="http://schemas.microsoft.com/office/powerpoint/2010/main" val="250196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056D3E-FF7B-DB81-23EB-CE632A2BC57C}"/>
              </a:ext>
            </a:extLst>
          </p:cNvPr>
          <p:cNvSpPr>
            <a:spLocks noGrp="1"/>
          </p:cNvSpPr>
          <p:nvPr>
            <p:ph type="title"/>
          </p:nvPr>
        </p:nvSpPr>
        <p:spPr/>
        <p:txBody>
          <a:bodyPr/>
          <a:lstStyle/>
          <a:p>
            <a:r>
              <a:rPr lang="en-US" dirty="0"/>
              <a:t>Unit 1: introduction</a:t>
            </a:r>
            <a:endParaRPr lang="en-IN" dirty="0"/>
          </a:p>
        </p:txBody>
      </p:sp>
      <p:sp>
        <p:nvSpPr>
          <p:cNvPr id="3" name="Content Placeholder 2">
            <a:extLst>
              <a:ext uri="{FF2B5EF4-FFF2-40B4-BE49-F238E27FC236}">
                <a16:creationId xmlns:a16="http://schemas.microsoft.com/office/drawing/2014/main" xmlns="" id="{B3728833-8DB3-7D84-CF03-1C8A17C8F922}"/>
              </a:ext>
            </a:extLst>
          </p:cNvPr>
          <p:cNvSpPr>
            <a:spLocks noGrp="1"/>
          </p:cNvSpPr>
          <p:nvPr>
            <p:ph idx="1"/>
          </p:nvPr>
        </p:nvSpPr>
        <p:spPr/>
        <p:txBody>
          <a:bodyPr>
            <a:normAutofit fontScale="92500" lnSpcReduction="20000"/>
          </a:bodyPr>
          <a:lstStyle/>
          <a:p>
            <a:r>
              <a:rPr lang="en-US" b="1" dirty="0"/>
              <a:t>What is Management System?</a:t>
            </a:r>
          </a:p>
          <a:p>
            <a:pPr marL="0" indent="0" algn="just">
              <a:buNone/>
            </a:pPr>
            <a:r>
              <a:rPr lang="en-US" dirty="0"/>
              <a:t>A database-management system (DBMS) is a collection of interrelated data and a set of programs to access those data. </a:t>
            </a:r>
          </a:p>
          <a:p>
            <a:pPr marL="0" indent="0">
              <a:buNone/>
            </a:pPr>
            <a:r>
              <a:rPr lang="en-US" dirty="0"/>
              <a:t>This is a collection of related data with an implicit meaning and hence is a </a:t>
            </a:r>
            <a:r>
              <a:rPr lang="en-US" b="1" dirty="0"/>
              <a:t>database</a:t>
            </a:r>
            <a:r>
              <a:rPr lang="en-US" dirty="0"/>
              <a:t>. The collection of data, usually referred to as the </a:t>
            </a:r>
            <a:r>
              <a:rPr lang="en-US" b="1" dirty="0"/>
              <a:t>database</a:t>
            </a:r>
            <a:r>
              <a:rPr lang="en-US" dirty="0"/>
              <a:t>, contains information relevant to an enterprise. </a:t>
            </a:r>
          </a:p>
          <a:p>
            <a:pPr marL="0" indent="0">
              <a:buNone/>
            </a:pPr>
            <a:r>
              <a:rPr lang="en-US" dirty="0"/>
              <a:t>The primary goal of a DBMS is to provide a way to store and retrieve database information that is both convenient and efficient. </a:t>
            </a:r>
          </a:p>
          <a:p>
            <a:pPr marL="0" indent="0">
              <a:buNone/>
            </a:pPr>
            <a:r>
              <a:rPr lang="en-US" dirty="0"/>
              <a:t>By </a:t>
            </a:r>
            <a:r>
              <a:rPr lang="en-US" b="1" dirty="0"/>
              <a:t>data</a:t>
            </a:r>
            <a:r>
              <a:rPr lang="en-US" dirty="0"/>
              <a:t>, we mean known facts that can be recorded and that have implicit meaning.</a:t>
            </a:r>
            <a:endParaRPr lang="en-IN" dirty="0"/>
          </a:p>
        </p:txBody>
      </p:sp>
    </p:spTree>
    <p:extLst>
      <p:ext uri="{BB962C8B-B14F-4D97-AF65-F5344CB8AC3E}">
        <p14:creationId xmlns:p14="http://schemas.microsoft.com/office/powerpoint/2010/main" val="250405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E79CE-8CBA-8902-401E-50ED0C21A0C6}"/>
              </a:ext>
            </a:extLst>
          </p:cNvPr>
          <p:cNvSpPr>
            <a:spLocks noGrp="1"/>
          </p:cNvSpPr>
          <p:nvPr>
            <p:ph type="title"/>
          </p:nvPr>
        </p:nvSpPr>
        <p:spPr/>
        <p:txBody>
          <a:bodyPr/>
          <a:lstStyle/>
          <a:p>
            <a:r>
              <a:rPr lang="en-US" dirty="0"/>
              <a:t>Database Management System (DBMS) and Its Applications:</a:t>
            </a:r>
            <a:endParaRPr lang="en-IN" dirty="0"/>
          </a:p>
        </p:txBody>
      </p:sp>
      <p:sp>
        <p:nvSpPr>
          <p:cNvPr id="7" name="TextBox 6">
            <a:extLst>
              <a:ext uri="{FF2B5EF4-FFF2-40B4-BE49-F238E27FC236}">
                <a16:creationId xmlns:a16="http://schemas.microsoft.com/office/drawing/2014/main" xmlns="" id="{F5609F16-8DFF-5775-0DC6-F48FB2D748AA}"/>
              </a:ext>
            </a:extLst>
          </p:cNvPr>
          <p:cNvSpPr txBox="1"/>
          <p:nvPr/>
        </p:nvSpPr>
        <p:spPr>
          <a:xfrm>
            <a:off x="1451579" y="1951672"/>
            <a:ext cx="7530193" cy="2246769"/>
          </a:xfrm>
          <a:prstGeom prst="rect">
            <a:avLst/>
          </a:prstGeom>
          <a:noFill/>
        </p:spPr>
        <p:txBody>
          <a:bodyPr wrap="square">
            <a:spAutoFit/>
          </a:bodyPr>
          <a:lstStyle/>
          <a:p>
            <a:pPr algn="l"/>
            <a:r>
              <a:rPr lang="en-IN" sz="2800" b="0" i="0" u="none" strike="noStrike" baseline="0" dirty="0">
                <a:latin typeface="Arial Narrow" panose="020B0606020202030204" pitchFamily="34" charset="0"/>
              </a:rPr>
              <a:t>1. Banking</a:t>
            </a:r>
          </a:p>
          <a:p>
            <a:pPr algn="l"/>
            <a:r>
              <a:rPr lang="en-IN" sz="2800" b="0" i="0" u="none" strike="noStrike" baseline="0" dirty="0">
                <a:latin typeface="Arial Narrow" panose="020B0606020202030204" pitchFamily="34" charset="0"/>
              </a:rPr>
              <a:t>2. Airlines</a:t>
            </a:r>
          </a:p>
          <a:p>
            <a:pPr algn="l"/>
            <a:r>
              <a:rPr lang="en-IN" sz="2800" b="0" i="0" u="none" strike="noStrike" baseline="0" dirty="0">
                <a:latin typeface="Arial Narrow" panose="020B0606020202030204" pitchFamily="34" charset="0"/>
              </a:rPr>
              <a:t>3. Universities</a:t>
            </a:r>
          </a:p>
          <a:p>
            <a:pPr algn="l"/>
            <a:r>
              <a:rPr lang="en-IN" sz="2800" b="0" i="0" u="none" strike="noStrike" baseline="0" dirty="0">
                <a:latin typeface="Arial Narrow" panose="020B0606020202030204" pitchFamily="34" charset="0"/>
              </a:rPr>
              <a:t>4. Manufacturing and selling</a:t>
            </a:r>
          </a:p>
          <a:p>
            <a:pPr algn="l"/>
            <a:r>
              <a:rPr lang="en-IN" sz="2800" b="0" i="0" u="none" strike="noStrike" baseline="0" dirty="0">
                <a:latin typeface="Arial Narrow" panose="020B0606020202030204" pitchFamily="34" charset="0"/>
              </a:rPr>
              <a:t>5. Human resources</a:t>
            </a:r>
            <a:endParaRPr lang="en-IN" sz="2800" dirty="0"/>
          </a:p>
        </p:txBody>
      </p:sp>
    </p:spTree>
    <p:extLst>
      <p:ext uri="{BB962C8B-B14F-4D97-AF65-F5344CB8AC3E}">
        <p14:creationId xmlns:p14="http://schemas.microsoft.com/office/powerpoint/2010/main" val="1791188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1A52D-0EAF-E126-97D9-36C680E748DE}"/>
              </a:ext>
            </a:extLst>
          </p:cNvPr>
          <p:cNvSpPr>
            <a:spLocks noGrp="1"/>
          </p:cNvSpPr>
          <p:nvPr>
            <p:ph type="title"/>
          </p:nvPr>
        </p:nvSpPr>
        <p:spPr/>
        <p:txBody>
          <a:bodyPr/>
          <a:lstStyle/>
          <a:p>
            <a:r>
              <a:rPr lang="en-IN" dirty="0"/>
              <a:t>Purpose of Database Systems</a:t>
            </a:r>
          </a:p>
        </p:txBody>
      </p:sp>
      <p:sp>
        <p:nvSpPr>
          <p:cNvPr id="3" name="Content Placeholder 2">
            <a:extLst>
              <a:ext uri="{FF2B5EF4-FFF2-40B4-BE49-F238E27FC236}">
                <a16:creationId xmlns:a16="http://schemas.microsoft.com/office/drawing/2014/main" xmlns="" id="{9CD2E624-ED15-1D31-0F7B-2F001854F7B9}"/>
              </a:ext>
            </a:extLst>
          </p:cNvPr>
          <p:cNvSpPr>
            <a:spLocks noGrp="1"/>
          </p:cNvSpPr>
          <p:nvPr>
            <p:ph idx="1"/>
          </p:nvPr>
        </p:nvSpPr>
        <p:spPr/>
        <p:txBody>
          <a:bodyPr>
            <a:normAutofit fontScale="92500" lnSpcReduction="20000"/>
          </a:bodyPr>
          <a:lstStyle/>
          <a:p>
            <a:pPr marL="0" indent="0" algn="l">
              <a:buNone/>
            </a:pPr>
            <a:r>
              <a:rPr lang="en-US" sz="1800" b="0" i="0" u="none" strike="noStrike" baseline="0" dirty="0">
                <a:latin typeface="Arial Narrow" panose="020B0606020202030204" pitchFamily="34" charset="0"/>
              </a:rPr>
              <a:t>This typical </a:t>
            </a:r>
            <a:r>
              <a:rPr lang="en-US" sz="1800" b="1" i="0" u="none" strike="noStrike" baseline="0" dirty="0">
                <a:latin typeface="Arial Narrow,Bold"/>
              </a:rPr>
              <a:t>file-processing system </a:t>
            </a:r>
            <a:r>
              <a:rPr lang="en-US" sz="1800" b="0" i="0" u="none" strike="noStrike" baseline="0" dirty="0">
                <a:latin typeface="Arial Narrow" panose="020B0606020202030204" pitchFamily="34" charset="0"/>
              </a:rPr>
              <a:t>is supported by a conventional operating system. Keeping organizational information in a file-processing system has a number of major disadvantages:</a:t>
            </a:r>
          </a:p>
          <a:p>
            <a:pPr algn="l"/>
            <a:r>
              <a:rPr lang="en-IN" sz="1800" b="1" i="0" u="none" strike="noStrike" baseline="0" dirty="0">
                <a:latin typeface="Arial Narrow,Bold"/>
              </a:rPr>
              <a:t>Data redundancy and inconsistency</a:t>
            </a:r>
          </a:p>
          <a:p>
            <a:pPr algn="l"/>
            <a:r>
              <a:rPr lang="en-IN" sz="1800" b="1" i="0" u="none" strike="noStrike" baseline="0" dirty="0">
                <a:latin typeface="Arial Narrow,Bold"/>
              </a:rPr>
              <a:t>Difficulty in accessing data</a:t>
            </a:r>
            <a:endParaRPr lang="en-IN" sz="1800" b="1" dirty="0">
              <a:latin typeface="Arial Narrow,Bold"/>
            </a:endParaRPr>
          </a:p>
          <a:p>
            <a:pPr algn="l"/>
            <a:r>
              <a:rPr lang="en-IN" sz="1800" b="1" i="0" u="none" strike="noStrike" baseline="0" dirty="0">
                <a:latin typeface="Arial Narrow,Bold"/>
              </a:rPr>
              <a:t>Data isolation</a:t>
            </a:r>
            <a:r>
              <a:rPr lang="en-IN" sz="1800" b="0" i="0" u="none" strike="noStrike" baseline="0" dirty="0">
                <a:latin typeface="Arial Narrow" panose="020B0606020202030204" pitchFamily="34" charset="0"/>
              </a:rPr>
              <a:t>.</a:t>
            </a:r>
            <a:endParaRPr lang="en-IN" sz="1800" b="1" i="0" u="none" strike="noStrike" baseline="0" dirty="0">
              <a:latin typeface="Arial Narrow,Bold"/>
            </a:endParaRPr>
          </a:p>
          <a:p>
            <a:pPr algn="l"/>
            <a:r>
              <a:rPr lang="en-IN" sz="1800" b="1" i="0" u="none" strike="noStrike" baseline="0" dirty="0">
                <a:latin typeface="Arial Narrow,Bold"/>
              </a:rPr>
              <a:t>Integrity problems</a:t>
            </a:r>
            <a:endParaRPr lang="en-IN" sz="1800" b="1" dirty="0">
              <a:latin typeface="Arial Narrow,Bold"/>
            </a:endParaRPr>
          </a:p>
          <a:p>
            <a:pPr algn="l"/>
            <a:r>
              <a:rPr lang="en-IN" sz="1800" b="1" i="0" u="none" strike="noStrike" baseline="0" dirty="0">
                <a:latin typeface="Arial Narrow,Bold"/>
              </a:rPr>
              <a:t>Atomicity problems</a:t>
            </a:r>
          </a:p>
          <a:p>
            <a:pPr algn="l"/>
            <a:r>
              <a:rPr lang="en-IN" sz="1800" b="1" i="0" u="none" strike="noStrike" baseline="0" dirty="0">
                <a:latin typeface="Arial Narrow,Bold"/>
              </a:rPr>
              <a:t>Concurrent-access anomalies</a:t>
            </a:r>
          </a:p>
          <a:p>
            <a:pPr algn="l"/>
            <a:r>
              <a:rPr lang="en-IN" sz="1800" b="1" i="0" u="none" strike="noStrike" baseline="0" dirty="0">
                <a:latin typeface="Arial Narrow,Bold"/>
              </a:rPr>
              <a:t>Security problems</a:t>
            </a:r>
            <a:endParaRPr lang="en-US" sz="1800" b="0" i="0" u="none" strike="noStrike" baseline="0" dirty="0">
              <a:latin typeface="Arial Narrow" panose="020B0606020202030204" pitchFamily="34" charset="0"/>
            </a:endParaRPr>
          </a:p>
          <a:p>
            <a:pPr algn="l"/>
            <a:endParaRPr lang="en-IN" dirty="0"/>
          </a:p>
        </p:txBody>
      </p:sp>
    </p:spTree>
    <p:extLst>
      <p:ext uri="{BB962C8B-B14F-4D97-AF65-F5344CB8AC3E}">
        <p14:creationId xmlns:p14="http://schemas.microsoft.com/office/powerpoint/2010/main" val="4248409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1A52D-0EAF-E126-97D9-36C680E748DE}"/>
              </a:ext>
            </a:extLst>
          </p:cNvPr>
          <p:cNvSpPr>
            <a:spLocks noGrp="1"/>
          </p:cNvSpPr>
          <p:nvPr>
            <p:ph type="title"/>
          </p:nvPr>
        </p:nvSpPr>
        <p:spPr/>
        <p:txBody>
          <a:bodyPr/>
          <a:lstStyle/>
          <a:p>
            <a:r>
              <a:rPr lang="en-IN" dirty="0"/>
              <a:t>Advantages of Database Systems</a:t>
            </a:r>
          </a:p>
        </p:txBody>
      </p:sp>
      <p:sp>
        <p:nvSpPr>
          <p:cNvPr id="3" name="Content Placeholder 2">
            <a:extLst>
              <a:ext uri="{FF2B5EF4-FFF2-40B4-BE49-F238E27FC236}">
                <a16:creationId xmlns:a16="http://schemas.microsoft.com/office/drawing/2014/main" xmlns="" id="{9CD2E624-ED15-1D31-0F7B-2F001854F7B9}"/>
              </a:ext>
            </a:extLst>
          </p:cNvPr>
          <p:cNvSpPr>
            <a:spLocks noGrp="1"/>
          </p:cNvSpPr>
          <p:nvPr>
            <p:ph idx="1"/>
          </p:nvPr>
        </p:nvSpPr>
        <p:spPr>
          <a:xfrm>
            <a:off x="707571" y="1937658"/>
            <a:ext cx="10347283" cy="3528688"/>
          </a:xfrm>
        </p:spPr>
        <p:txBody>
          <a:bodyPr>
            <a:normAutofit fontScale="85000" lnSpcReduction="20000"/>
          </a:bodyPr>
          <a:lstStyle/>
          <a:p>
            <a:pPr marL="0" indent="0" algn="l">
              <a:buNone/>
            </a:pPr>
            <a:r>
              <a:rPr lang="en-US" sz="1800" b="0" i="0" u="none" strike="noStrike" baseline="0" dirty="0">
                <a:latin typeface="Arial Narrow" panose="020B0606020202030204" pitchFamily="34" charset="0"/>
              </a:rPr>
              <a:t>This typical </a:t>
            </a:r>
            <a:r>
              <a:rPr lang="en-US" sz="1800" b="1" i="0" u="none" strike="noStrike" baseline="0" dirty="0">
                <a:latin typeface="Arial Narrow,Bold"/>
              </a:rPr>
              <a:t>file-processing system </a:t>
            </a:r>
            <a:r>
              <a:rPr lang="en-US" sz="1800" b="0" i="0" u="none" strike="noStrike" baseline="0" dirty="0">
                <a:latin typeface="Arial Narrow" panose="020B0606020202030204" pitchFamily="34" charset="0"/>
              </a:rPr>
              <a:t>is supported by a conventional operating system. Keeping organizational information in a file-processing system has a number of major disadvantages:</a:t>
            </a:r>
          </a:p>
          <a:p>
            <a:pPr algn="l"/>
            <a:r>
              <a:rPr lang="en-IN" sz="1800" b="1" i="0" u="none" strike="noStrike" baseline="0" dirty="0">
                <a:latin typeface="Arial Narrow,Bold"/>
              </a:rPr>
              <a:t>Controlling of Redundancy</a:t>
            </a:r>
          </a:p>
          <a:p>
            <a:pPr algn="l"/>
            <a:r>
              <a:rPr lang="en-IN" sz="1800" b="1" i="0" u="none" strike="noStrike" baseline="0" dirty="0">
                <a:latin typeface="Arial Narrow,Bold"/>
              </a:rPr>
              <a:t>Improved Data Sharing</a:t>
            </a:r>
          </a:p>
          <a:p>
            <a:pPr algn="l"/>
            <a:r>
              <a:rPr lang="en-IN" sz="1800" b="1" i="0" u="none" strike="noStrike" baseline="0" dirty="0">
                <a:latin typeface="Arial Narrow,Bold"/>
              </a:rPr>
              <a:t>Data Integrity</a:t>
            </a:r>
          </a:p>
          <a:p>
            <a:pPr algn="l"/>
            <a:r>
              <a:rPr lang="en-IN" sz="1800" b="1" dirty="0">
                <a:latin typeface="Arial Narrow,Bold"/>
              </a:rPr>
              <a:t>Security</a:t>
            </a:r>
            <a:endParaRPr lang="en-IN" sz="1800" b="1" i="0" u="none" strike="noStrike" baseline="0" dirty="0">
              <a:latin typeface="Arial Narrow,Bold"/>
            </a:endParaRPr>
          </a:p>
          <a:p>
            <a:pPr algn="l"/>
            <a:r>
              <a:rPr lang="en-IN" sz="1800" b="1" i="0" u="none" strike="noStrike" baseline="0" dirty="0">
                <a:latin typeface="Arial Narrow,Bold"/>
              </a:rPr>
              <a:t>Data Consistency</a:t>
            </a:r>
          </a:p>
          <a:p>
            <a:pPr algn="l"/>
            <a:r>
              <a:rPr lang="en-IN" sz="1800" b="1" i="0" u="none" strike="noStrike" baseline="0" dirty="0">
                <a:latin typeface="Arial Narrow,Bold"/>
              </a:rPr>
              <a:t>Efficient data access</a:t>
            </a:r>
          </a:p>
          <a:p>
            <a:pPr algn="l"/>
            <a:r>
              <a:rPr lang="en-IN" sz="1800" b="1" i="0" u="none" strike="noStrike" baseline="0" dirty="0">
                <a:latin typeface="Arial Narrow,Bold"/>
              </a:rPr>
              <a:t>Enforcements of Standards</a:t>
            </a:r>
          </a:p>
          <a:p>
            <a:pPr algn="l"/>
            <a:r>
              <a:rPr lang="en-IN" sz="1800" b="1" i="0" u="none" strike="noStrike" baseline="0" dirty="0">
                <a:latin typeface="Arial Narrow,Bold"/>
              </a:rPr>
              <a:t>Data Independence</a:t>
            </a:r>
            <a:endParaRPr lang="en-IN" dirty="0"/>
          </a:p>
        </p:txBody>
      </p:sp>
    </p:spTree>
    <p:extLst>
      <p:ext uri="{BB962C8B-B14F-4D97-AF65-F5344CB8AC3E}">
        <p14:creationId xmlns:p14="http://schemas.microsoft.com/office/powerpoint/2010/main" val="1824785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F6C0D-3ABD-916C-6A9A-493064088DA1}"/>
              </a:ext>
            </a:extLst>
          </p:cNvPr>
          <p:cNvSpPr>
            <a:spLocks noGrp="1"/>
          </p:cNvSpPr>
          <p:nvPr>
            <p:ph type="title"/>
          </p:nvPr>
        </p:nvSpPr>
        <p:spPr/>
        <p:txBody>
          <a:bodyPr/>
          <a:lstStyle/>
          <a:p>
            <a:r>
              <a:rPr lang="en-IN" dirty="0"/>
              <a:t>Disadvantages of DBMS</a:t>
            </a:r>
            <a:br>
              <a:rPr lang="en-IN" dirty="0"/>
            </a:br>
            <a:endParaRPr lang="en-IN" dirty="0"/>
          </a:p>
        </p:txBody>
      </p:sp>
      <p:sp>
        <p:nvSpPr>
          <p:cNvPr id="3" name="Content Placeholder 2">
            <a:extLst>
              <a:ext uri="{FF2B5EF4-FFF2-40B4-BE49-F238E27FC236}">
                <a16:creationId xmlns:a16="http://schemas.microsoft.com/office/drawing/2014/main" xmlns="" id="{78E6D1F1-1D41-ED6B-644E-A4FE88F06B8F}"/>
              </a:ext>
            </a:extLst>
          </p:cNvPr>
          <p:cNvSpPr>
            <a:spLocks noGrp="1"/>
          </p:cNvSpPr>
          <p:nvPr>
            <p:ph idx="1"/>
          </p:nvPr>
        </p:nvSpPr>
        <p:spPr/>
        <p:txBody>
          <a:bodyPr>
            <a:normAutofit fontScale="92500" lnSpcReduction="20000"/>
          </a:bodyPr>
          <a:lstStyle/>
          <a:p>
            <a:pPr marL="0" indent="0" algn="l">
              <a:buNone/>
            </a:pPr>
            <a:r>
              <a:rPr lang="en-US" sz="1800" b="0" i="0" u="none" strike="noStrike" baseline="0" dirty="0">
                <a:latin typeface="Arial Narrow" panose="020B0606020202030204" pitchFamily="34" charset="0"/>
              </a:rPr>
              <a:t>1) It is bit complex. Since it supports multiple functionality to give the user the best, the underlying software</a:t>
            </a:r>
          </a:p>
          <a:p>
            <a:pPr marL="0" indent="0" algn="l">
              <a:buNone/>
            </a:pPr>
            <a:r>
              <a:rPr lang="en-US" sz="1800" b="0" i="0" u="none" strike="noStrike" baseline="0" dirty="0">
                <a:latin typeface="Arial Narrow" panose="020B0606020202030204" pitchFamily="34" charset="0"/>
              </a:rPr>
              <a:t>has become complex. The designers and developers should have thorough knowledge about the software</a:t>
            </a:r>
          </a:p>
          <a:p>
            <a:pPr marL="0" indent="0" algn="l">
              <a:buNone/>
            </a:pPr>
            <a:r>
              <a:rPr lang="en-US" sz="1800" b="0" i="0" u="none" strike="noStrike" baseline="0" dirty="0">
                <a:latin typeface="Arial Narrow" panose="020B0606020202030204" pitchFamily="34" charset="0"/>
              </a:rPr>
              <a:t>to get the most out of it.</a:t>
            </a:r>
          </a:p>
          <a:p>
            <a:pPr marL="0" indent="0" algn="l">
              <a:buNone/>
            </a:pPr>
            <a:r>
              <a:rPr lang="en-US" sz="1800" b="0" i="0" u="none" strike="noStrike" baseline="0" dirty="0">
                <a:latin typeface="Arial Narrow" panose="020B0606020202030204" pitchFamily="34" charset="0"/>
              </a:rPr>
              <a:t>2) Because of its complexity and functionality, it uses large amount of memory. It also needs large memory to</a:t>
            </a:r>
          </a:p>
          <a:p>
            <a:pPr marL="0" indent="0" algn="l">
              <a:buNone/>
            </a:pPr>
            <a:r>
              <a:rPr lang="en-IN" sz="1800" b="0" i="0" u="none" strike="noStrike" baseline="0" dirty="0">
                <a:latin typeface="Arial Narrow" panose="020B0606020202030204" pitchFamily="34" charset="0"/>
              </a:rPr>
              <a:t>run efficiently.</a:t>
            </a:r>
          </a:p>
          <a:p>
            <a:pPr marL="0" indent="0" algn="l">
              <a:buNone/>
            </a:pPr>
            <a:r>
              <a:rPr lang="en-US" sz="1800" b="0" i="0" u="none" strike="noStrike" baseline="0" dirty="0">
                <a:latin typeface="Arial Narrow" panose="020B0606020202030204" pitchFamily="34" charset="0"/>
              </a:rPr>
              <a:t>3) DBMS system works on the centralized system, i.e.; all the users from all over the world access this</a:t>
            </a:r>
          </a:p>
          <a:p>
            <a:pPr marL="0" indent="0" algn="l">
              <a:buNone/>
            </a:pPr>
            <a:r>
              <a:rPr lang="en-US" sz="1800" b="0" i="0" u="none" strike="noStrike" baseline="0" dirty="0">
                <a:latin typeface="Arial Narrow" panose="020B0606020202030204" pitchFamily="34" charset="0"/>
              </a:rPr>
              <a:t>database. Hence any failure of the DBMS, will impact all the users.</a:t>
            </a:r>
          </a:p>
          <a:p>
            <a:pPr marL="0" indent="0" algn="l">
              <a:buNone/>
            </a:pPr>
            <a:r>
              <a:rPr lang="en-US" sz="1800" b="0" i="0" u="none" strike="noStrike" baseline="0" dirty="0">
                <a:latin typeface="Arial Narrow" panose="020B0606020202030204" pitchFamily="34" charset="0"/>
              </a:rPr>
              <a:t>4) DBMS is generalized software, i.e.; it is written work on the entire systems rather specific one. Hence some</a:t>
            </a:r>
          </a:p>
          <a:p>
            <a:pPr marL="0" indent="0" algn="l">
              <a:buNone/>
            </a:pPr>
            <a:r>
              <a:rPr lang="en-US" sz="1800" b="0" i="0" u="none" strike="noStrike" baseline="0" dirty="0">
                <a:latin typeface="Arial Narrow" panose="020B0606020202030204" pitchFamily="34" charset="0"/>
              </a:rPr>
              <a:t>of the application will run slow.</a:t>
            </a:r>
            <a:endParaRPr lang="en-IN" dirty="0"/>
          </a:p>
        </p:txBody>
      </p:sp>
    </p:spTree>
    <p:extLst>
      <p:ext uri="{BB962C8B-B14F-4D97-AF65-F5344CB8AC3E}">
        <p14:creationId xmlns:p14="http://schemas.microsoft.com/office/powerpoint/2010/main" val="1789986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0D078F13-519D-E2B4-7811-CBCF5722B434}"/>
              </a:ext>
            </a:extLst>
          </p:cNvPr>
          <p:cNvGraphicFramePr>
            <a:graphicFrameLocks noGrp="1"/>
          </p:cNvGraphicFramePr>
          <p:nvPr/>
        </p:nvGraphicFramePr>
        <p:xfrm>
          <a:off x="1086929" y="828135"/>
          <a:ext cx="10291314" cy="4804913"/>
        </p:xfrm>
        <a:graphic>
          <a:graphicData uri="http://schemas.openxmlformats.org/drawingml/2006/table">
            <a:tbl>
              <a:tblPr>
                <a:tableStyleId>{5C22544A-7EE6-4342-B048-85BDC9FD1C3A}</a:tableStyleId>
              </a:tblPr>
              <a:tblGrid>
                <a:gridCol w="2077146">
                  <a:extLst>
                    <a:ext uri="{9D8B030D-6E8A-4147-A177-3AD203B41FA5}">
                      <a16:colId xmlns:a16="http://schemas.microsoft.com/office/drawing/2014/main" xmlns="" val="1157445189"/>
                    </a:ext>
                  </a:extLst>
                </a:gridCol>
                <a:gridCol w="4107084">
                  <a:extLst>
                    <a:ext uri="{9D8B030D-6E8A-4147-A177-3AD203B41FA5}">
                      <a16:colId xmlns:a16="http://schemas.microsoft.com/office/drawing/2014/main" xmlns="" val="1507961193"/>
                    </a:ext>
                  </a:extLst>
                </a:gridCol>
                <a:gridCol w="4107084">
                  <a:extLst>
                    <a:ext uri="{9D8B030D-6E8A-4147-A177-3AD203B41FA5}">
                      <a16:colId xmlns:a16="http://schemas.microsoft.com/office/drawing/2014/main" xmlns="" val="3367863426"/>
                    </a:ext>
                  </a:extLst>
                </a:gridCol>
              </a:tblGrid>
              <a:tr h="420137">
                <a:tc>
                  <a:txBody>
                    <a:bodyPr/>
                    <a:lstStyle/>
                    <a:p>
                      <a:pPr algn="ctr" fontAlgn="ctr"/>
                      <a:r>
                        <a:rPr lang="en-IN" sz="1600" b="1" u="none" strike="noStrike" dirty="0">
                          <a:effectLst/>
                        </a:rPr>
                        <a:t>Aspect</a:t>
                      </a:r>
                      <a:endParaRPr lang="en-IN" sz="16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IN" sz="1600" b="1" u="none" strike="noStrike" dirty="0">
                          <a:effectLst/>
                        </a:rPr>
                        <a:t>File Processing System</a:t>
                      </a:r>
                      <a:endParaRPr lang="en-IN" sz="16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IN" sz="1600" b="1" u="none" strike="noStrike" dirty="0">
                          <a:effectLst/>
                        </a:rPr>
                        <a:t>Database Management System (DBMS)</a:t>
                      </a:r>
                      <a:endParaRPr lang="en-IN" sz="1600" b="1"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1932589858"/>
                  </a:ext>
                </a:extLst>
              </a:tr>
              <a:tr h="420137">
                <a:tc>
                  <a:txBody>
                    <a:bodyPr/>
                    <a:lstStyle/>
                    <a:p>
                      <a:pPr algn="ctr" fontAlgn="ctr"/>
                      <a:r>
                        <a:rPr lang="en-IN" sz="1200" b="1" u="none" strike="noStrike" dirty="0">
                          <a:effectLst/>
                        </a:rPr>
                        <a:t>Data Organization</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Data is stored in flat files (e.g., text, binary).</a:t>
                      </a:r>
                      <a:endParaRPr lang="en-US" sz="1200" b="0"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Data is organized in structured formats like tables (relational) or collections (NoSQL).</a:t>
                      </a:r>
                      <a:endParaRPr lang="en-US" sz="1200" b="0" i="0" u="none" strike="noStrike">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254318463"/>
                  </a:ext>
                </a:extLst>
              </a:tr>
              <a:tr h="420137">
                <a:tc>
                  <a:txBody>
                    <a:bodyPr/>
                    <a:lstStyle/>
                    <a:p>
                      <a:pPr algn="ctr" fontAlgn="ctr"/>
                      <a:r>
                        <a:rPr lang="en-IN" sz="1200" b="1" u="none" strike="noStrike">
                          <a:effectLst/>
                        </a:rPr>
                        <a:t>Data Redundancy</a:t>
                      </a:r>
                      <a:endParaRPr lang="en-IN" sz="1200" b="1"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High potential for data redundancy and duplication.</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Designed to minimize redundancy through normalization and constraints.</a:t>
                      </a:r>
                      <a:endParaRPr lang="en-US" sz="1200" b="0" i="0" u="none" strike="noStrike">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2782922089"/>
                  </a:ext>
                </a:extLst>
              </a:tr>
              <a:tr h="420137">
                <a:tc>
                  <a:txBody>
                    <a:bodyPr/>
                    <a:lstStyle/>
                    <a:p>
                      <a:pPr algn="ctr" fontAlgn="ctr"/>
                      <a:r>
                        <a:rPr lang="en-IN" sz="1200" b="1" u="none" strike="noStrike" dirty="0">
                          <a:effectLst/>
                        </a:rPr>
                        <a:t>Data Access</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Sequential access; searching and retrieval can be inefficient.</a:t>
                      </a:r>
                      <a:endParaRPr lang="en-US" sz="1200" b="0"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Efficient data retrieval using query languages (e.g., SQL) and indexing.</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4198165867"/>
                  </a:ext>
                </a:extLst>
              </a:tr>
              <a:tr h="420137">
                <a:tc>
                  <a:txBody>
                    <a:bodyPr/>
                    <a:lstStyle/>
                    <a:p>
                      <a:pPr algn="ctr" fontAlgn="ctr"/>
                      <a:r>
                        <a:rPr lang="en-IN" sz="1200" b="1" u="none" strike="noStrike">
                          <a:effectLst/>
                        </a:rPr>
                        <a:t>Data Integrity</a:t>
                      </a:r>
                      <a:endParaRPr lang="en-IN" sz="1200" b="1"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Integrity must be managed manually; few built-in constraints.</a:t>
                      </a:r>
                      <a:endParaRPr lang="en-US" sz="1200" b="0"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Enforced through constraints, triggers, and rules to ensure consistency.</a:t>
                      </a:r>
                      <a:endParaRPr lang="en-US" sz="1200" b="0" i="0" u="none" strike="noStrike">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3138664713"/>
                  </a:ext>
                </a:extLst>
              </a:tr>
              <a:tr h="420137">
                <a:tc>
                  <a:txBody>
                    <a:bodyPr/>
                    <a:lstStyle/>
                    <a:p>
                      <a:pPr algn="ctr" fontAlgn="ctr"/>
                      <a:r>
                        <a:rPr lang="en-IN" sz="1200" b="1" u="none" strike="noStrike" dirty="0">
                          <a:effectLst/>
                        </a:rPr>
                        <a:t>Concurrency Control</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Limited or no built-in mechanisms for handling concurrent access.</a:t>
                      </a:r>
                      <a:endParaRPr lang="en-US" sz="1200" b="0"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Provides mechanisms for concurrent access (e.g., transactions, locking).</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2134334865"/>
                  </a:ext>
                </a:extLst>
              </a:tr>
              <a:tr h="420137">
                <a:tc>
                  <a:txBody>
                    <a:bodyPr/>
                    <a:lstStyle/>
                    <a:p>
                      <a:pPr algn="ctr" fontAlgn="ctr"/>
                      <a:r>
                        <a:rPr lang="en-IN" sz="1200" b="1" u="none" strike="noStrike" dirty="0">
                          <a:effectLst/>
                        </a:rPr>
                        <a:t>Scalability</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Difficult to scale; performance may degrade with large data volumes.</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Designed to handle large volumes of data and support scaling through various techniques.</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1028704009"/>
                  </a:ext>
                </a:extLst>
              </a:tr>
              <a:tr h="420137">
                <a:tc>
                  <a:txBody>
                    <a:bodyPr/>
                    <a:lstStyle/>
                    <a:p>
                      <a:pPr algn="ctr" fontAlgn="ctr"/>
                      <a:r>
                        <a:rPr lang="en-IN" sz="1200" b="1" u="none" strike="noStrike" dirty="0">
                          <a:effectLst/>
                        </a:rPr>
                        <a:t>Data Relationships</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Relationships between data must be managed manually.</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Supports complex relationships through foreign keys, joins, and referential integrity.</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747639975"/>
                  </a:ext>
                </a:extLst>
              </a:tr>
              <a:tr h="511840">
                <a:tc>
                  <a:txBody>
                    <a:bodyPr/>
                    <a:lstStyle/>
                    <a:p>
                      <a:pPr algn="ctr" fontAlgn="ctr"/>
                      <a:r>
                        <a:rPr lang="en-IN" sz="1200" b="1" u="none" strike="noStrike" dirty="0">
                          <a:effectLst/>
                        </a:rPr>
                        <a:t>Backup and Recovery</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Typically manual; less robust and automated.</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Robust and automated backup and recovery options, including transaction logs and point-in-time recovery.</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4115290927"/>
                  </a:ext>
                </a:extLst>
              </a:tr>
              <a:tr h="511840">
                <a:tc>
                  <a:txBody>
                    <a:bodyPr/>
                    <a:lstStyle/>
                    <a:p>
                      <a:pPr algn="ctr" fontAlgn="ctr"/>
                      <a:r>
                        <a:rPr lang="en-IN" sz="1200" b="1" u="none" strike="noStrike" dirty="0">
                          <a:effectLst/>
                        </a:rPr>
                        <a:t>Data Management</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Data management is often limited to basic operations.</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Provides comprehensive data management capabilities, including advanced querying and reporting.</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2292269552"/>
                  </a:ext>
                </a:extLst>
              </a:tr>
              <a:tr h="420137">
                <a:tc>
                  <a:txBody>
                    <a:bodyPr/>
                    <a:lstStyle/>
                    <a:p>
                      <a:pPr algn="ctr" fontAlgn="ctr"/>
                      <a:r>
                        <a:rPr lang="en-IN" sz="1200" b="1" u="none" strike="noStrike" dirty="0">
                          <a:effectLst/>
                        </a:rPr>
                        <a:t>Data Security</a:t>
                      </a:r>
                      <a:endParaRPr lang="en-IN" sz="1200" b="1" i="0" u="none" strike="noStrike" dirty="0">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a:effectLst/>
                        </a:rPr>
                        <a:t>Basic security mechanisms, often limited to file system permissions.</a:t>
                      </a:r>
                      <a:endParaRPr lang="en-US" sz="1200" b="0" i="0" u="none" strike="noStrike">
                        <a:solidFill>
                          <a:srgbClr val="000000"/>
                        </a:solidFill>
                        <a:effectLst/>
                        <a:latin typeface="Calibri" panose="020F0502020204030204" pitchFamily="34" charset="0"/>
                      </a:endParaRPr>
                    </a:p>
                  </a:txBody>
                  <a:tcPr marL="6501" marR="6501" marT="6501" marB="0" anchor="ctr"/>
                </a:tc>
                <a:tc>
                  <a:txBody>
                    <a:bodyPr/>
                    <a:lstStyle/>
                    <a:p>
                      <a:pPr algn="ctr" fontAlgn="ctr"/>
                      <a:r>
                        <a:rPr lang="en-US" sz="1200" u="none" strike="noStrike" dirty="0">
                          <a:effectLst/>
                        </a:rPr>
                        <a:t>Advanced security features, including user roles, permissions, and encryption.</a:t>
                      </a:r>
                      <a:endParaRPr lang="en-US" sz="1200" b="0" i="0" u="none" strike="noStrike" dirty="0">
                        <a:solidFill>
                          <a:srgbClr val="000000"/>
                        </a:solidFill>
                        <a:effectLst/>
                        <a:latin typeface="Calibri" panose="020F0502020204030204" pitchFamily="34" charset="0"/>
                      </a:endParaRPr>
                    </a:p>
                  </a:txBody>
                  <a:tcPr marL="6501" marR="6501" marT="6501" marB="0" anchor="ctr"/>
                </a:tc>
                <a:extLst>
                  <a:ext uri="{0D108BD9-81ED-4DB2-BD59-A6C34878D82A}">
                    <a16:rowId xmlns:a16="http://schemas.microsoft.com/office/drawing/2014/main" xmlns="" val="302887342"/>
                  </a:ext>
                </a:extLst>
              </a:tr>
            </a:tbl>
          </a:graphicData>
        </a:graphic>
      </p:graphicFrame>
    </p:spTree>
    <p:extLst>
      <p:ext uri="{BB962C8B-B14F-4D97-AF65-F5344CB8AC3E}">
        <p14:creationId xmlns:p14="http://schemas.microsoft.com/office/powerpoint/2010/main" val="770919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D7BDD-066F-7A34-85FB-C3C4C88B5F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F5644A0-F2B8-2C97-F033-46D36085EA64}"/>
              </a:ext>
            </a:extLst>
          </p:cNvPr>
          <p:cNvSpPr>
            <a:spLocks noGrp="1"/>
          </p:cNvSpPr>
          <p:nvPr>
            <p:ph idx="1"/>
          </p:nvPr>
        </p:nvSpPr>
        <p:spPr/>
        <p:txBody>
          <a:bodyPr/>
          <a:lstStyle/>
          <a:p>
            <a:endParaRPr lang="en-IN"/>
          </a:p>
        </p:txBody>
      </p:sp>
      <p:pic>
        <p:nvPicPr>
          <p:cNvPr id="3074" name="Picture 2" descr="Difference between DBMS and RDBMS | Data Science, Machine Learning ...">
            <a:extLst>
              <a:ext uri="{FF2B5EF4-FFF2-40B4-BE49-F238E27FC236}">
                <a16:creationId xmlns:a16="http://schemas.microsoft.com/office/drawing/2014/main" xmlns="" id="{EB96CE09-5395-6868-403A-4D44E805D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0"/>
            <a:ext cx="100536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289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3397E8-FFD0-53C0-A407-0DF8ACA5E5E0}"/>
              </a:ext>
            </a:extLst>
          </p:cNvPr>
          <p:cNvSpPr>
            <a:spLocks noGrp="1"/>
          </p:cNvSpPr>
          <p:nvPr>
            <p:ph type="title"/>
          </p:nvPr>
        </p:nvSpPr>
        <p:spPr/>
        <p:txBody>
          <a:bodyPr/>
          <a:lstStyle/>
          <a:p>
            <a:r>
              <a:rPr lang="en-IN" dirty="0"/>
              <a:t>View of Data</a:t>
            </a:r>
          </a:p>
        </p:txBody>
      </p:sp>
      <p:sp>
        <p:nvSpPr>
          <p:cNvPr id="3" name="Content Placeholder 2">
            <a:extLst>
              <a:ext uri="{FF2B5EF4-FFF2-40B4-BE49-F238E27FC236}">
                <a16:creationId xmlns:a16="http://schemas.microsoft.com/office/drawing/2014/main" xmlns="" id="{9DC1C975-74F2-F5DE-4692-4E87F1693860}"/>
              </a:ext>
            </a:extLst>
          </p:cNvPr>
          <p:cNvSpPr>
            <a:spLocks noGrp="1"/>
          </p:cNvSpPr>
          <p:nvPr>
            <p:ph idx="1"/>
          </p:nvPr>
        </p:nvSpPr>
        <p:spPr/>
        <p:txBody>
          <a:bodyPr/>
          <a:lstStyle/>
          <a:p>
            <a:r>
              <a:rPr lang="en-US" dirty="0"/>
              <a:t>A database system is a collection of interrelated data and a set of programs that allow users to access and modify these data. A major purpose of a database system is to provide users with an abstract view of the data. That is, the system hides certain details of how the data are stored and maintained. </a:t>
            </a:r>
          </a:p>
          <a:p>
            <a:r>
              <a:rPr lang="en-US" dirty="0"/>
              <a:t>Since many database-system users are not computer trained, developers hide the complexity from users through several levels of abstraction, to simplify users’ interactions with the system</a:t>
            </a:r>
          </a:p>
          <a:p>
            <a:endParaRPr lang="en-US" dirty="0"/>
          </a:p>
          <a:p>
            <a:endParaRPr lang="en-IN" dirty="0"/>
          </a:p>
        </p:txBody>
      </p:sp>
    </p:spTree>
    <p:extLst>
      <p:ext uri="{BB962C8B-B14F-4D97-AF65-F5344CB8AC3E}">
        <p14:creationId xmlns:p14="http://schemas.microsoft.com/office/powerpoint/2010/main" val="1451106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EAA8D2B-E763-93FE-D38A-B04D053BC9F0}"/>
              </a:ext>
            </a:extLst>
          </p:cNvPr>
          <p:cNvPicPr>
            <a:picLocks noChangeAspect="1"/>
          </p:cNvPicPr>
          <p:nvPr/>
        </p:nvPicPr>
        <p:blipFill>
          <a:blip r:embed="rId2"/>
          <a:stretch>
            <a:fillRect/>
          </a:stretch>
        </p:blipFill>
        <p:spPr>
          <a:xfrm>
            <a:off x="2797629" y="775851"/>
            <a:ext cx="6561101" cy="5277630"/>
          </a:xfrm>
          <a:prstGeom prst="rect">
            <a:avLst/>
          </a:prstGeom>
        </p:spPr>
      </p:pic>
    </p:spTree>
    <p:extLst>
      <p:ext uri="{BB962C8B-B14F-4D97-AF65-F5344CB8AC3E}">
        <p14:creationId xmlns:p14="http://schemas.microsoft.com/office/powerpoint/2010/main" val="2003670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C49DD-AD7D-0385-2A87-2D49178C7BDB}"/>
              </a:ext>
            </a:extLst>
          </p:cNvPr>
          <p:cNvSpPr>
            <a:spLocks noGrp="1"/>
          </p:cNvSpPr>
          <p:nvPr>
            <p:ph type="title"/>
          </p:nvPr>
        </p:nvSpPr>
        <p:spPr/>
        <p:txBody>
          <a:bodyPr/>
          <a:lstStyle/>
          <a:p>
            <a:r>
              <a:rPr lang="en-US" dirty="0"/>
              <a:t>Instances and Schemas</a:t>
            </a:r>
            <a:br>
              <a:rPr lang="en-US" dirty="0"/>
            </a:br>
            <a:endParaRPr lang="en-IN" dirty="0"/>
          </a:p>
        </p:txBody>
      </p:sp>
      <p:sp>
        <p:nvSpPr>
          <p:cNvPr id="3" name="Content Placeholder 2">
            <a:extLst>
              <a:ext uri="{FF2B5EF4-FFF2-40B4-BE49-F238E27FC236}">
                <a16:creationId xmlns:a16="http://schemas.microsoft.com/office/drawing/2014/main" xmlns="" id="{74C0977E-081D-13FA-6AE7-E5AC145B4D17}"/>
              </a:ext>
            </a:extLst>
          </p:cNvPr>
          <p:cNvSpPr>
            <a:spLocks noGrp="1"/>
          </p:cNvSpPr>
          <p:nvPr>
            <p:ph idx="1"/>
          </p:nvPr>
        </p:nvSpPr>
        <p:spPr/>
        <p:txBody>
          <a:bodyPr>
            <a:noAutofit/>
          </a:bodyPr>
          <a:lstStyle/>
          <a:p>
            <a:pPr marL="0" indent="0" algn="just">
              <a:buNone/>
            </a:pPr>
            <a:r>
              <a:rPr lang="en-US" sz="1800" b="0" i="0" u="none" strike="noStrike" baseline="0" dirty="0">
                <a:latin typeface="Arial Narrow" panose="020B0606020202030204" pitchFamily="34" charset="0"/>
              </a:rPr>
              <a:t>Databases change over time as information is inserted and deleted. The collection of information stored in the</a:t>
            </a:r>
          </a:p>
          <a:p>
            <a:pPr marL="0" indent="0" algn="just">
              <a:buNone/>
            </a:pPr>
            <a:r>
              <a:rPr lang="en-US" sz="1800" b="0" i="0" u="none" strike="noStrike" baseline="0" dirty="0">
                <a:latin typeface="Arial Narrow" panose="020B0606020202030204" pitchFamily="34" charset="0"/>
              </a:rPr>
              <a:t>database at a particular moment is called an </a:t>
            </a:r>
            <a:r>
              <a:rPr lang="en-US" sz="1800" b="1" i="0" u="none" strike="noStrike" baseline="0" dirty="0">
                <a:latin typeface="Arial Narrow,Bold"/>
              </a:rPr>
              <a:t>instance </a:t>
            </a:r>
            <a:r>
              <a:rPr lang="en-US" sz="1800" b="0" i="0" u="none" strike="noStrike" baseline="0" dirty="0">
                <a:latin typeface="Arial Narrow" panose="020B0606020202030204" pitchFamily="34" charset="0"/>
              </a:rPr>
              <a:t>of the database. The overall design of the database is</a:t>
            </a:r>
          </a:p>
          <a:p>
            <a:pPr marL="0" indent="0" algn="just">
              <a:buNone/>
            </a:pPr>
            <a:r>
              <a:rPr lang="en-IN" sz="1800" b="0" i="0" u="none" strike="noStrike" baseline="0" dirty="0">
                <a:latin typeface="Arial Narrow" panose="020B0606020202030204" pitchFamily="34" charset="0"/>
              </a:rPr>
              <a:t>called the database </a:t>
            </a:r>
            <a:r>
              <a:rPr lang="en-IN" sz="1800" b="1" i="0" u="none" strike="noStrike" baseline="0" dirty="0">
                <a:latin typeface="Arial Narrow,Bold"/>
              </a:rPr>
              <a:t>schema</a:t>
            </a:r>
          </a:p>
          <a:p>
            <a:pPr marL="0" indent="0" algn="just">
              <a:buNone/>
            </a:pPr>
            <a:endParaRPr lang="en-IN" sz="1800" b="1" dirty="0">
              <a:latin typeface="Arial Narrow,Bold"/>
            </a:endParaRPr>
          </a:p>
          <a:p>
            <a:pPr marL="0" indent="0" algn="just">
              <a:buNone/>
            </a:pPr>
            <a:r>
              <a:rPr lang="en-US" sz="1800" b="0" i="0" u="none" strike="noStrike" baseline="0" dirty="0">
                <a:latin typeface="Arial Narrow" panose="020B0606020202030204" pitchFamily="34" charset="0"/>
              </a:rPr>
              <a:t>Each variable has a particular value at a given instant. The values of the variables in a program at a point in</a:t>
            </a:r>
          </a:p>
          <a:p>
            <a:pPr marL="0" indent="0" algn="just">
              <a:buNone/>
            </a:pPr>
            <a:r>
              <a:rPr lang="en-US" sz="1800" b="0" i="0" u="none" strike="noStrike" baseline="0" dirty="0">
                <a:latin typeface="Arial Narrow" panose="020B0606020202030204" pitchFamily="34" charset="0"/>
              </a:rPr>
              <a:t>time correspond to an </a:t>
            </a:r>
            <a:r>
              <a:rPr lang="en-US" sz="1800" b="0" i="1" u="none" strike="noStrike" baseline="0" dirty="0">
                <a:latin typeface="Arial Narrow,Italic"/>
              </a:rPr>
              <a:t>instance </a:t>
            </a:r>
            <a:r>
              <a:rPr lang="en-US" sz="1800" b="0" i="0" u="none" strike="noStrike" baseline="0" dirty="0">
                <a:latin typeface="Arial Narrow" panose="020B0606020202030204" pitchFamily="34" charset="0"/>
              </a:rPr>
              <a:t>of a database schema. Database systems have several schemas, partitioned</a:t>
            </a:r>
          </a:p>
          <a:p>
            <a:pPr marL="0" indent="0" algn="just">
              <a:buNone/>
            </a:pPr>
            <a:r>
              <a:rPr lang="en-US" sz="1800" b="0" i="0" u="none" strike="noStrike" baseline="0" dirty="0">
                <a:latin typeface="Arial Narrow" panose="020B0606020202030204" pitchFamily="34" charset="0"/>
              </a:rPr>
              <a:t>according to the levels of abstraction.</a:t>
            </a:r>
            <a:r>
              <a:rPr lang="en-IN" sz="1800" b="0" i="0" u="none" strike="noStrike" baseline="0" dirty="0">
                <a:latin typeface="Arial Narrow" panose="020B0606020202030204" pitchFamily="34" charset="0"/>
              </a:rPr>
              <a:t>.</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969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69046F-6E41-1CF2-A6E8-AE9A27AB497F}"/>
              </a:ext>
            </a:extLst>
          </p:cNvPr>
          <p:cNvSpPr>
            <a:spLocks noGrp="1"/>
          </p:cNvSpPr>
          <p:nvPr>
            <p:ph type="title"/>
          </p:nvPr>
        </p:nvSpPr>
        <p:spPr/>
        <p:txBody>
          <a:bodyPr/>
          <a:lstStyle/>
          <a:p>
            <a:r>
              <a:rPr lang="en-IN" dirty="0"/>
              <a:t>Data Models</a:t>
            </a:r>
          </a:p>
        </p:txBody>
      </p:sp>
      <p:sp>
        <p:nvSpPr>
          <p:cNvPr id="3" name="Content Placeholder 2">
            <a:extLst>
              <a:ext uri="{FF2B5EF4-FFF2-40B4-BE49-F238E27FC236}">
                <a16:creationId xmlns:a16="http://schemas.microsoft.com/office/drawing/2014/main" xmlns="" id="{B0721334-9348-C20B-D48A-4270BA7A5992}"/>
              </a:ext>
            </a:extLst>
          </p:cNvPr>
          <p:cNvSpPr>
            <a:spLocks noGrp="1"/>
          </p:cNvSpPr>
          <p:nvPr>
            <p:ph idx="1"/>
          </p:nvPr>
        </p:nvSpPr>
        <p:spPr/>
        <p:txBody>
          <a:bodyPr>
            <a:normAutofit fontScale="85000" lnSpcReduction="20000"/>
          </a:bodyPr>
          <a:lstStyle/>
          <a:p>
            <a:pPr marL="0" indent="0">
              <a:buNone/>
            </a:pPr>
            <a:r>
              <a:rPr lang="en-US" dirty="0"/>
              <a:t>Underlying the structure of a database is the data model: a collection of conceptual tools for describing data, data relationships, data semantics, and consistency constraints.</a:t>
            </a:r>
          </a:p>
          <a:p>
            <a:r>
              <a:rPr lang="en-US" b="1" dirty="0"/>
              <a:t> Relational Model. </a:t>
            </a:r>
            <a:r>
              <a:rPr lang="en-US" dirty="0"/>
              <a:t>The relational model uses a collection of tables to represent both data and the relationships among those data. Each table has multiple columns, and each column has a unique name. Tables are also known as relations.</a:t>
            </a:r>
          </a:p>
          <a:p>
            <a:r>
              <a:rPr lang="en-US" b="1" dirty="0"/>
              <a:t>Entity-Relationship Model. </a:t>
            </a:r>
            <a:r>
              <a:rPr lang="en-US" dirty="0"/>
              <a:t>The entity-relationship (E-R) data model uses a collection of basic objects, called identities, and relationships among these objects.</a:t>
            </a:r>
          </a:p>
          <a:p>
            <a:r>
              <a:rPr lang="en-US" b="1" dirty="0"/>
              <a:t>Object-Based Data Model. </a:t>
            </a:r>
            <a:r>
              <a:rPr lang="en-US" dirty="0"/>
              <a:t>object-oriented data model that can be seen as extending the E-R model with notions of encapsulation, methods (functions), and object identity.</a:t>
            </a:r>
          </a:p>
          <a:p>
            <a:r>
              <a:rPr lang="en-US" b="1" dirty="0"/>
              <a:t>Semi-structured Data Model. </a:t>
            </a:r>
            <a:r>
              <a:rPr lang="en-US" dirty="0"/>
              <a:t>The semi-structured data model permits the specification of data where individual data items of the same type may have different sets of attributes.</a:t>
            </a:r>
          </a:p>
          <a:p>
            <a:pPr marL="0" indent="0">
              <a:buNone/>
            </a:pPr>
            <a:endParaRPr lang="en-IN" dirty="0"/>
          </a:p>
        </p:txBody>
      </p:sp>
    </p:spTree>
    <p:extLst>
      <p:ext uri="{BB962C8B-B14F-4D97-AF65-F5344CB8AC3E}">
        <p14:creationId xmlns:p14="http://schemas.microsoft.com/office/powerpoint/2010/main" val="4050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1B7339F-542F-6788-CA9B-ED80BAA805A8}"/>
              </a:ext>
            </a:extLst>
          </p:cNvPr>
          <p:cNvSpPr txBox="1"/>
          <p:nvPr/>
        </p:nvSpPr>
        <p:spPr>
          <a:xfrm>
            <a:off x="1276350" y="907507"/>
            <a:ext cx="9032421" cy="923330"/>
          </a:xfrm>
          <a:prstGeom prst="rect">
            <a:avLst/>
          </a:prstGeom>
          <a:noFill/>
        </p:spPr>
        <p:txBody>
          <a:bodyPr wrap="square">
            <a:spAutoFit/>
          </a:bodyPr>
          <a:lstStyle/>
          <a:p>
            <a:pPr algn="l"/>
            <a:r>
              <a:rPr lang="en-US" b="1" i="0" dirty="0">
                <a:solidFill>
                  <a:srgbClr val="343434"/>
                </a:solidFill>
                <a:effectLst/>
                <a:latin typeface="montserrat" panose="00000500000000000000" pitchFamily="2" charset="0"/>
              </a:rPr>
              <a:t>Hierarchical database model</a:t>
            </a:r>
            <a:endParaRPr lang="en-US" b="0" i="0" dirty="0">
              <a:solidFill>
                <a:srgbClr val="343434"/>
              </a:solidFill>
              <a:effectLst/>
              <a:latin typeface="montserrat" panose="00000500000000000000" pitchFamily="2" charset="0"/>
            </a:endParaRPr>
          </a:p>
          <a:p>
            <a:pPr algn="l"/>
            <a:r>
              <a:rPr lang="en-US" b="0" i="0" dirty="0">
                <a:solidFill>
                  <a:srgbClr val="343434"/>
                </a:solidFill>
                <a:effectLst/>
                <a:latin typeface="roboto" panose="02000000000000000000" pitchFamily="2" charset="0"/>
              </a:rPr>
              <a:t>The Hierarchical model is inspired from tree based data structure format. Where in there is a single root node and other data is linked to the same and expands like a tree.</a:t>
            </a:r>
          </a:p>
        </p:txBody>
      </p:sp>
      <p:pic>
        <p:nvPicPr>
          <p:cNvPr id="8" name="Picture 7">
            <a:extLst>
              <a:ext uri="{FF2B5EF4-FFF2-40B4-BE49-F238E27FC236}">
                <a16:creationId xmlns:a16="http://schemas.microsoft.com/office/drawing/2014/main" xmlns="" id="{A165226A-51DE-890D-4880-36E75C825D90}"/>
              </a:ext>
            </a:extLst>
          </p:cNvPr>
          <p:cNvPicPr>
            <a:picLocks noChangeAspect="1"/>
          </p:cNvPicPr>
          <p:nvPr/>
        </p:nvPicPr>
        <p:blipFill>
          <a:blip r:embed="rId2"/>
          <a:stretch>
            <a:fillRect/>
          </a:stretch>
        </p:blipFill>
        <p:spPr>
          <a:xfrm>
            <a:off x="6869675" y="2145960"/>
            <a:ext cx="4635738" cy="3638737"/>
          </a:xfrm>
          <a:prstGeom prst="rect">
            <a:avLst/>
          </a:prstGeom>
        </p:spPr>
      </p:pic>
      <p:sp>
        <p:nvSpPr>
          <p:cNvPr id="10" name="TextBox 9">
            <a:extLst>
              <a:ext uri="{FF2B5EF4-FFF2-40B4-BE49-F238E27FC236}">
                <a16:creationId xmlns:a16="http://schemas.microsoft.com/office/drawing/2014/main" xmlns="" id="{E325D701-8291-3B52-F1A8-6560DF9AE69B}"/>
              </a:ext>
            </a:extLst>
          </p:cNvPr>
          <p:cNvSpPr txBox="1"/>
          <p:nvPr/>
        </p:nvSpPr>
        <p:spPr>
          <a:xfrm>
            <a:off x="1439637" y="2660497"/>
            <a:ext cx="4928506" cy="1200329"/>
          </a:xfrm>
          <a:prstGeom prst="rect">
            <a:avLst/>
          </a:prstGeom>
          <a:noFill/>
        </p:spPr>
        <p:txBody>
          <a:bodyPr wrap="square">
            <a:spAutoFit/>
          </a:bodyPr>
          <a:lstStyle/>
          <a:p>
            <a:pPr algn="l">
              <a:buFont typeface="+mj-lt"/>
              <a:buAutoNum type="arabicPeriod"/>
            </a:pPr>
            <a:r>
              <a:rPr lang="en-US" b="0" i="0" dirty="0">
                <a:solidFill>
                  <a:srgbClr val="343434"/>
                </a:solidFill>
                <a:effectLst/>
                <a:latin typeface="roboto" panose="02000000000000000000" pitchFamily="2" charset="0"/>
              </a:rPr>
              <a:t>A child node data may only have a single parent node</a:t>
            </a:r>
          </a:p>
          <a:p>
            <a:pPr algn="l">
              <a:buFont typeface="+mj-lt"/>
              <a:buAutoNum type="arabicPeriod"/>
            </a:pPr>
            <a:r>
              <a:rPr lang="en-US" b="0" i="0" dirty="0">
                <a:solidFill>
                  <a:srgbClr val="343434"/>
                </a:solidFill>
                <a:effectLst/>
                <a:latin typeface="roboto" panose="02000000000000000000" pitchFamily="2" charset="0"/>
              </a:rPr>
              <a:t>For any parent node one to many relationship must be maintained. </a:t>
            </a:r>
          </a:p>
        </p:txBody>
      </p:sp>
    </p:spTree>
    <p:extLst>
      <p:ext uri="{BB962C8B-B14F-4D97-AF65-F5344CB8AC3E}">
        <p14:creationId xmlns:p14="http://schemas.microsoft.com/office/powerpoint/2010/main" val="3716495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9B7CFDF-E552-A534-58A6-AFD3319FADDE}"/>
              </a:ext>
            </a:extLst>
          </p:cNvPr>
          <p:cNvSpPr txBox="1"/>
          <p:nvPr/>
        </p:nvSpPr>
        <p:spPr>
          <a:xfrm>
            <a:off x="1378932" y="512985"/>
            <a:ext cx="9434135" cy="1477328"/>
          </a:xfrm>
          <a:prstGeom prst="rect">
            <a:avLst/>
          </a:prstGeom>
          <a:noFill/>
        </p:spPr>
        <p:txBody>
          <a:bodyPr wrap="square">
            <a:spAutoFit/>
          </a:bodyPr>
          <a:lstStyle/>
          <a:p>
            <a:pPr algn="l"/>
            <a:r>
              <a:rPr lang="en-US" b="1" i="0" dirty="0">
                <a:solidFill>
                  <a:srgbClr val="343434"/>
                </a:solidFill>
                <a:effectLst/>
                <a:latin typeface="montserrat" panose="00000500000000000000" pitchFamily="2" charset="0"/>
              </a:rPr>
              <a:t>Network model</a:t>
            </a:r>
            <a:endParaRPr lang="en-US" b="0" i="0" dirty="0">
              <a:solidFill>
                <a:srgbClr val="343434"/>
              </a:solidFill>
              <a:effectLst/>
              <a:latin typeface="montserrat" panose="00000500000000000000" pitchFamily="2" charset="0"/>
            </a:endParaRPr>
          </a:p>
          <a:p>
            <a:pPr algn="l"/>
            <a:r>
              <a:rPr lang="en-US" b="0" i="0" dirty="0">
                <a:solidFill>
                  <a:srgbClr val="343434"/>
                </a:solidFill>
                <a:effectLst/>
                <a:latin typeface="roboto" panose="02000000000000000000" pitchFamily="2" charset="0"/>
              </a:rPr>
              <a:t>Network model was made to overcome the drawbacks for hierarchical model. This works more like a graph rather than a tree.</a:t>
            </a:r>
          </a:p>
          <a:p>
            <a:pPr algn="l"/>
            <a:r>
              <a:rPr lang="en-US" b="0" i="0" dirty="0">
                <a:solidFill>
                  <a:srgbClr val="343434"/>
                </a:solidFill>
                <a:effectLst/>
                <a:latin typeface="roboto" panose="02000000000000000000" pitchFamily="2" charset="0"/>
              </a:rPr>
              <a:t>As the name suggests there is network based looped relationship between various data linked to one another.</a:t>
            </a:r>
          </a:p>
        </p:txBody>
      </p:sp>
      <p:pic>
        <p:nvPicPr>
          <p:cNvPr id="9" name="Picture 8">
            <a:extLst>
              <a:ext uri="{FF2B5EF4-FFF2-40B4-BE49-F238E27FC236}">
                <a16:creationId xmlns:a16="http://schemas.microsoft.com/office/drawing/2014/main" xmlns="" id="{4F900652-21DE-BF64-EB49-2CCE4FACB2D3}"/>
              </a:ext>
            </a:extLst>
          </p:cNvPr>
          <p:cNvPicPr>
            <a:picLocks noChangeAspect="1"/>
          </p:cNvPicPr>
          <p:nvPr/>
        </p:nvPicPr>
        <p:blipFill>
          <a:blip r:embed="rId2"/>
          <a:stretch>
            <a:fillRect/>
          </a:stretch>
        </p:blipFill>
        <p:spPr>
          <a:xfrm>
            <a:off x="7492763" y="1990313"/>
            <a:ext cx="4619506" cy="3909414"/>
          </a:xfrm>
          <a:prstGeom prst="rect">
            <a:avLst/>
          </a:prstGeom>
        </p:spPr>
      </p:pic>
      <p:sp>
        <p:nvSpPr>
          <p:cNvPr id="11" name="TextBox 10">
            <a:extLst>
              <a:ext uri="{FF2B5EF4-FFF2-40B4-BE49-F238E27FC236}">
                <a16:creationId xmlns:a16="http://schemas.microsoft.com/office/drawing/2014/main" xmlns="" id="{8A2D0044-419C-052F-CC51-AEF581BA844D}"/>
              </a:ext>
            </a:extLst>
          </p:cNvPr>
          <p:cNvSpPr txBox="1"/>
          <p:nvPr/>
        </p:nvSpPr>
        <p:spPr>
          <a:xfrm>
            <a:off x="1398816" y="2560025"/>
            <a:ext cx="6101442" cy="923330"/>
          </a:xfrm>
          <a:prstGeom prst="rect">
            <a:avLst/>
          </a:prstGeom>
          <a:noFill/>
        </p:spPr>
        <p:txBody>
          <a:bodyPr wrap="square">
            <a:spAutoFit/>
          </a:bodyPr>
          <a:lstStyle/>
          <a:p>
            <a:pPr algn="l">
              <a:buFont typeface="Arial" panose="020B0604020202020204" pitchFamily="34" charset="0"/>
              <a:buChar char="•"/>
            </a:pPr>
            <a:r>
              <a:rPr lang="en-US" b="0" i="0" dirty="0">
                <a:solidFill>
                  <a:srgbClr val="343434"/>
                </a:solidFill>
                <a:effectLst/>
                <a:latin typeface="roboto" panose="02000000000000000000" pitchFamily="2" charset="0"/>
              </a:rPr>
              <a:t>A child node may have more than one parent. ( As for Node – N6)</a:t>
            </a:r>
          </a:p>
          <a:p>
            <a:pPr algn="l">
              <a:buFont typeface="Arial" panose="020B0604020202020204" pitchFamily="34" charset="0"/>
              <a:buChar char="•"/>
            </a:pPr>
            <a:r>
              <a:rPr lang="en-US" b="0" i="0" dirty="0">
                <a:solidFill>
                  <a:srgbClr val="343434"/>
                </a:solidFill>
                <a:effectLst/>
                <a:latin typeface="roboto" panose="02000000000000000000" pitchFamily="2" charset="0"/>
              </a:rPr>
              <a:t>There can be many to many relationships between data.</a:t>
            </a:r>
          </a:p>
        </p:txBody>
      </p:sp>
    </p:spTree>
    <p:extLst>
      <p:ext uri="{BB962C8B-B14F-4D97-AF65-F5344CB8AC3E}">
        <p14:creationId xmlns:p14="http://schemas.microsoft.com/office/powerpoint/2010/main" val="2278758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319D4C2-25C2-055F-6362-FFE0320615A6}"/>
              </a:ext>
            </a:extLst>
          </p:cNvPr>
          <p:cNvSpPr txBox="1"/>
          <p:nvPr/>
        </p:nvSpPr>
        <p:spPr>
          <a:xfrm>
            <a:off x="1340831" y="832481"/>
            <a:ext cx="9967535" cy="2031325"/>
          </a:xfrm>
          <a:prstGeom prst="rect">
            <a:avLst/>
          </a:prstGeom>
          <a:noFill/>
        </p:spPr>
        <p:txBody>
          <a:bodyPr wrap="square">
            <a:spAutoFit/>
          </a:bodyPr>
          <a:lstStyle/>
          <a:p>
            <a:pPr algn="just"/>
            <a:r>
              <a:rPr lang="en-US" b="1" i="0" dirty="0">
                <a:solidFill>
                  <a:srgbClr val="343434"/>
                </a:solidFill>
                <a:effectLst/>
                <a:latin typeface="montserrat" panose="00000500000000000000" pitchFamily="2" charset="0"/>
              </a:rPr>
              <a:t>Entity-relationship model</a:t>
            </a:r>
            <a:endParaRPr lang="en-US" b="0" i="0" dirty="0">
              <a:solidFill>
                <a:srgbClr val="343434"/>
              </a:solidFill>
              <a:effectLst/>
              <a:latin typeface="montserrat" panose="00000500000000000000" pitchFamily="2" charset="0"/>
            </a:endParaRPr>
          </a:p>
          <a:p>
            <a:pPr algn="just"/>
            <a:r>
              <a:rPr lang="en-US" b="0" i="0" dirty="0">
                <a:solidFill>
                  <a:srgbClr val="343434"/>
                </a:solidFill>
                <a:effectLst/>
                <a:latin typeface="roboto" panose="02000000000000000000" pitchFamily="2" charset="0"/>
              </a:rPr>
              <a:t>This is modeled about break and related model, i.e. we break data into different components based on characteristics, in terms of entity and attributes.</a:t>
            </a:r>
          </a:p>
          <a:p>
            <a:pPr algn="just"/>
            <a:endParaRPr lang="en-US" b="0" i="0" dirty="0">
              <a:solidFill>
                <a:srgbClr val="343434"/>
              </a:solidFill>
              <a:effectLst/>
              <a:latin typeface="roboto" panose="02000000000000000000" pitchFamily="2" charset="0"/>
            </a:endParaRPr>
          </a:p>
          <a:p>
            <a:pPr algn="just"/>
            <a:r>
              <a:rPr lang="en-US" b="0" i="0" dirty="0">
                <a:solidFill>
                  <a:srgbClr val="343434"/>
                </a:solidFill>
                <a:effectLst/>
                <a:latin typeface="roboto" panose="02000000000000000000" pitchFamily="2" charset="0"/>
              </a:rPr>
              <a:t>Imagine an entity student, its various attributes maybe </a:t>
            </a:r>
            <a:r>
              <a:rPr lang="en-US" b="0" i="0" dirty="0" err="1">
                <a:solidFill>
                  <a:srgbClr val="343434"/>
                </a:solidFill>
                <a:effectLst/>
                <a:latin typeface="roboto" panose="02000000000000000000" pitchFamily="2" charset="0"/>
              </a:rPr>
              <a:t>studentID</a:t>
            </a:r>
            <a:r>
              <a:rPr lang="en-US" b="0" i="0" dirty="0">
                <a:solidFill>
                  <a:srgbClr val="343434"/>
                </a:solidFill>
                <a:effectLst/>
                <a:latin typeface="roboto" panose="02000000000000000000" pitchFamily="2" charset="0"/>
              </a:rPr>
              <a:t>, age, </a:t>
            </a:r>
            <a:r>
              <a:rPr lang="en-US" b="0" i="0" dirty="0" err="1">
                <a:solidFill>
                  <a:srgbClr val="343434"/>
                </a:solidFill>
                <a:effectLst/>
                <a:latin typeface="roboto" panose="02000000000000000000" pitchFamily="2" charset="0"/>
              </a:rPr>
              <a:t>dateOfBirth</a:t>
            </a:r>
            <a:r>
              <a:rPr lang="en-US" b="0" i="0" dirty="0">
                <a:solidFill>
                  <a:srgbClr val="343434"/>
                </a:solidFill>
                <a:effectLst/>
                <a:latin typeface="roboto" panose="02000000000000000000" pitchFamily="2" charset="0"/>
              </a:rPr>
              <a:t> </a:t>
            </a:r>
            <a:r>
              <a:rPr lang="en-US" b="0" i="0" dirty="0" err="1">
                <a:solidFill>
                  <a:srgbClr val="343434"/>
                </a:solidFill>
                <a:effectLst/>
                <a:latin typeface="roboto" panose="02000000000000000000" pitchFamily="2" charset="0"/>
              </a:rPr>
              <a:t>etc</a:t>
            </a:r>
            <a:r>
              <a:rPr lang="en-US" b="0" i="0" dirty="0">
                <a:solidFill>
                  <a:srgbClr val="343434"/>
                </a:solidFill>
                <a:effectLst/>
                <a:latin typeface="roboto" panose="02000000000000000000" pitchFamily="2" charset="0"/>
              </a:rPr>
              <a:t> etc. It may have a relationship with courses offered to the student, which further may have attributes like </a:t>
            </a:r>
            <a:r>
              <a:rPr lang="en-US" b="0" i="0" dirty="0" err="1">
                <a:solidFill>
                  <a:srgbClr val="343434"/>
                </a:solidFill>
                <a:effectLst/>
                <a:latin typeface="roboto" panose="02000000000000000000" pitchFamily="2" charset="0"/>
              </a:rPr>
              <a:t>CourseID</a:t>
            </a:r>
            <a:r>
              <a:rPr lang="en-US" b="0" i="0" dirty="0">
                <a:solidFill>
                  <a:srgbClr val="343434"/>
                </a:solidFill>
                <a:effectLst/>
                <a:latin typeface="roboto" panose="02000000000000000000" pitchFamily="2" charset="0"/>
              </a:rPr>
              <a:t> and credits.</a:t>
            </a:r>
          </a:p>
        </p:txBody>
      </p:sp>
      <p:pic>
        <p:nvPicPr>
          <p:cNvPr id="9" name="Picture 8">
            <a:extLst>
              <a:ext uri="{FF2B5EF4-FFF2-40B4-BE49-F238E27FC236}">
                <a16:creationId xmlns:a16="http://schemas.microsoft.com/office/drawing/2014/main" xmlns="" id="{7F5CA896-27E4-46E7-973E-A00076943408}"/>
              </a:ext>
            </a:extLst>
          </p:cNvPr>
          <p:cNvPicPr>
            <a:picLocks noChangeAspect="1"/>
          </p:cNvPicPr>
          <p:nvPr/>
        </p:nvPicPr>
        <p:blipFill>
          <a:blip r:embed="rId2"/>
          <a:stretch>
            <a:fillRect/>
          </a:stretch>
        </p:blipFill>
        <p:spPr>
          <a:xfrm>
            <a:off x="3606660" y="2942652"/>
            <a:ext cx="4753569" cy="3753987"/>
          </a:xfrm>
          <a:prstGeom prst="rect">
            <a:avLst/>
          </a:prstGeom>
        </p:spPr>
      </p:pic>
    </p:spTree>
    <p:extLst>
      <p:ext uri="{BB962C8B-B14F-4D97-AF65-F5344CB8AC3E}">
        <p14:creationId xmlns:p14="http://schemas.microsoft.com/office/powerpoint/2010/main" val="3082874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1A43B06-8E8A-F34B-9CF5-230D9956DD77}"/>
              </a:ext>
            </a:extLst>
          </p:cNvPr>
          <p:cNvSpPr txBox="1"/>
          <p:nvPr/>
        </p:nvSpPr>
        <p:spPr>
          <a:xfrm>
            <a:off x="1352550" y="1377940"/>
            <a:ext cx="6101442" cy="3693319"/>
          </a:xfrm>
          <a:prstGeom prst="rect">
            <a:avLst/>
          </a:prstGeom>
          <a:noFill/>
        </p:spPr>
        <p:txBody>
          <a:bodyPr wrap="square">
            <a:spAutoFit/>
          </a:bodyPr>
          <a:lstStyle/>
          <a:p>
            <a:pPr algn="l"/>
            <a:r>
              <a:rPr lang="en-US" b="1" i="0" dirty="0">
                <a:solidFill>
                  <a:srgbClr val="343434"/>
                </a:solidFill>
                <a:effectLst/>
                <a:latin typeface="montserrat" panose="00000500000000000000" pitchFamily="2" charset="0"/>
              </a:rPr>
              <a:t>Relational model</a:t>
            </a:r>
          </a:p>
          <a:p>
            <a:pPr algn="l"/>
            <a:endParaRPr lang="en-US" b="0" i="0" dirty="0">
              <a:solidFill>
                <a:srgbClr val="343434"/>
              </a:solidFill>
              <a:effectLst/>
              <a:latin typeface="montserrat" panose="00000500000000000000" pitchFamily="2" charset="0"/>
            </a:endParaRPr>
          </a:p>
          <a:p>
            <a:pPr algn="l"/>
            <a:r>
              <a:rPr lang="en-US" b="0" i="0" dirty="0">
                <a:solidFill>
                  <a:srgbClr val="343434"/>
                </a:solidFill>
                <a:effectLst/>
                <a:latin typeface="roboto" panose="02000000000000000000" pitchFamily="2" charset="0"/>
              </a:rPr>
              <a:t>This is the most used model and even with DBMS that we will studying in future posts it will be based upon the same. Relational model is a tabular 2 dimensional relationship between various related tables having at least one common field.</a:t>
            </a:r>
          </a:p>
          <a:p>
            <a:pPr algn="l"/>
            <a:r>
              <a:rPr lang="en-US" b="0" i="0" dirty="0">
                <a:solidFill>
                  <a:srgbClr val="343434"/>
                </a:solidFill>
                <a:effectLst/>
                <a:latin typeface="roboto" panose="02000000000000000000" pitchFamily="2" charset="0"/>
              </a:rPr>
              <a:t>This works around</a:t>
            </a:r>
          </a:p>
          <a:p>
            <a:pPr marL="742950" lvl="1" indent="-285750" algn="l">
              <a:buFont typeface="Arial" panose="020B0604020202020204" pitchFamily="34" charset="0"/>
              <a:buChar char="•"/>
            </a:pPr>
            <a:r>
              <a:rPr lang="en-US" b="0" i="0" dirty="0">
                <a:solidFill>
                  <a:srgbClr val="343434"/>
                </a:solidFill>
                <a:effectLst/>
                <a:latin typeface="roboto" panose="02000000000000000000" pitchFamily="2" charset="0"/>
              </a:rPr>
              <a:t>Rows</a:t>
            </a:r>
          </a:p>
          <a:p>
            <a:pPr marL="742950" lvl="1" indent="-285750" algn="l">
              <a:buFont typeface="Arial" panose="020B0604020202020204" pitchFamily="34" charset="0"/>
              <a:buChar char="•"/>
            </a:pPr>
            <a:r>
              <a:rPr lang="en-US" b="0" i="0" dirty="0">
                <a:solidFill>
                  <a:srgbClr val="343434"/>
                </a:solidFill>
                <a:effectLst/>
                <a:latin typeface="roboto" panose="02000000000000000000" pitchFamily="2" charset="0"/>
              </a:rPr>
              <a:t>Entities</a:t>
            </a:r>
          </a:p>
          <a:p>
            <a:pPr marL="742950" lvl="1" indent="-285750" algn="l">
              <a:buFont typeface="Arial" panose="020B0604020202020204" pitchFamily="34" charset="0"/>
              <a:buChar char="•"/>
            </a:pPr>
            <a:r>
              <a:rPr lang="en-US" b="0" i="0" dirty="0">
                <a:solidFill>
                  <a:srgbClr val="343434"/>
                </a:solidFill>
                <a:effectLst/>
                <a:latin typeface="roboto" panose="02000000000000000000" pitchFamily="2" charset="0"/>
              </a:rPr>
              <a:t>Tuples</a:t>
            </a:r>
          </a:p>
          <a:p>
            <a:pPr marL="742950" lvl="1" indent="-285750" algn="l">
              <a:buFont typeface="Arial" panose="020B0604020202020204" pitchFamily="34" charset="0"/>
              <a:buChar char="•"/>
            </a:pPr>
            <a:r>
              <a:rPr lang="en-US" b="0" i="0" dirty="0">
                <a:solidFill>
                  <a:srgbClr val="343434"/>
                </a:solidFill>
                <a:effectLst/>
                <a:latin typeface="roboto" panose="02000000000000000000" pitchFamily="2" charset="0"/>
              </a:rPr>
              <a:t>Columns</a:t>
            </a:r>
          </a:p>
          <a:p>
            <a:pPr marL="742950" lvl="1" indent="-285750" algn="l">
              <a:buFont typeface="Arial" panose="020B0604020202020204" pitchFamily="34" charset="0"/>
              <a:buChar char="•"/>
            </a:pPr>
            <a:r>
              <a:rPr lang="en-US" b="0" i="0" dirty="0">
                <a:solidFill>
                  <a:srgbClr val="343434"/>
                </a:solidFill>
                <a:effectLst/>
                <a:latin typeface="roboto" panose="02000000000000000000" pitchFamily="2" charset="0"/>
              </a:rPr>
              <a:t>Table</a:t>
            </a:r>
          </a:p>
        </p:txBody>
      </p:sp>
      <p:pic>
        <p:nvPicPr>
          <p:cNvPr id="9" name="Picture 8">
            <a:extLst>
              <a:ext uri="{FF2B5EF4-FFF2-40B4-BE49-F238E27FC236}">
                <a16:creationId xmlns:a16="http://schemas.microsoft.com/office/drawing/2014/main" xmlns="" id="{5C4D222D-1C42-B7DE-EE94-9D5FC6C2AE5A}"/>
              </a:ext>
            </a:extLst>
          </p:cNvPr>
          <p:cNvPicPr>
            <a:picLocks noChangeAspect="1"/>
          </p:cNvPicPr>
          <p:nvPr/>
        </p:nvPicPr>
        <p:blipFill>
          <a:blip r:embed="rId2"/>
          <a:stretch>
            <a:fillRect/>
          </a:stretch>
        </p:blipFill>
        <p:spPr>
          <a:xfrm>
            <a:off x="7453992" y="2619595"/>
            <a:ext cx="4720488" cy="3693319"/>
          </a:xfrm>
          <a:prstGeom prst="rect">
            <a:avLst/>
          </a:prstGeom>
        </p:spPr>
      </p:pic>
    </p:spTree>
    <p:extLst>
      <p:ext uri="{BB962C8B-B14F-4D97-AF65-F5344CB8AC3E}">
        <p14:creationId xmlns:p14="http://schemas.microsoft.com/office/powerpoint/2010/main" val="6186975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B48E899-C55F-CD29-3DE1-BE7BA9327AE8}"/>
              </a:ext>
            </a:extLst>
          </p:cNvPr>
          <p:cNvSpPr txBox="1"/>
          <p:nvPr/>
        </p:nvSpPr>
        <p:spPr>
          <a:xfrm>
            <a:off x="1330780" y="537232"/>
            <a:ext cx="6202134" cy="6186309"/>
          </a:xfrm>
          <a:prstGeom prst="rect">
            <a:avLst/>
          </a:prstGeom>
          <a:noFill/>
        </p:spPr>
        <p:txBody>
          <a:bodyPr wrap="square">
            <a:spAutoFit/>
          </a:bodyPr>
          <a:lstStyle/>
          <a:p>
            <a:pPr algn="just"/>
            <a:r>
              <a:rPr lang="en-US" b="1" i="0" dirty="0">
                <a:solidFill>
                  <a:srgbClr val="343434"/>
                </a:solidFill>
                <a:effectLst/>
                <a:latin typeface="montserrat" panose="00000500000000000000" pitchFamily="2" charset="0"/>
              </a:rPr>
              <a:t>Object-oriented database model</a:t>
            </a:r>
            <a:endParaRPr lang="en-US" b="0" i="0" dirty="0">
              <a:solidFill>
                <a:srgbClr val="343434"/>
              </a:solidFill>
              <a:effectLst/>
              <a:latin typeface="montserrat" panose="00000500000000000000" pitchFamily="2" charset="0"/>
            </a:endParaRPr>
          </a:p>
          <a:p>
            <a:pPr algn="just"/>
            <a:r>
              <a:rPr lang="en-US" b="0" i="0" dirty="0">
                <a:solidFill>
                  <a:srgbClr val="343434"/>
                </a:solidFill>
                <a:effectLst/>
                <a:latin typeface="roboto" panose="02000000000000000000" pitchFamily="2" charset="0"/>
              </a:rPr>
              <a:t>The increasing complexity of the code in the modern age, where we try to create real time </a:t>
            </a:r>
            <a:r>
              <a:rPr lang="en-US" b="0" i="0" dirty="0" err="1">
                <a:solidFill>
                  <a:srgbClr val="343434"/>
                </a:solidFill>
                <a:effectLst/>
                <a:latin typeface="roboto" panose="02000000000000000000" pitchFamily="2" charset="0"/>
              </a:rPr>
              <a:t>scenerios</a:t>
            </a:r>
            <a:r>
              <a:rPr lang="en-US" b="0" i="0" dirty="0">
                <a:solidFill>
                  <a:srgbClr val="343434"/>
                </a:solidFill>
                <a:effectLst/>
                <a:latin typeface="roboto" panose="02000000000000000000" pitchFamily="2" charset="0"/>
              </a:rPr>
              <a:t>. Specially in Artificial Intelligence, Machine learning or Image processing.</a:t>
            </a:r>
          </a:p>
          <a:p>
            <a:pPr algn="just"/>
            <a:r>
              <a:rPr lang="en-US" b="0" i="0" dirty="0">
                <a:solidFill>
                  <a:srgbClr val="343434"/>
                </a:solidFill>
                <a:effectLst/>
                <a:latin typeface="roboto" panose="02000000000000000000" pitchFamily="2" charset="0"/>
              </a:rPr>
              <a:t>We need a database that can also represent the real work </a:t>
            </a:r>
            <a:r>
              <a:rPr lang="en-US" b="0" i="0" dirty="0" err="1">
                <a:solidFill>
                  <a:srgbClr val="343434"/>
                </a:solidFill>
                <a:effectLst/>
                <a:latin typeface="roboto" panose="02000000000000000000" pitchFamily="2" charset="0"/>
              </a:rPr>
              <a:t>scenerios</a:t>
            </a:r>
            <a:r>
              <a:rPr lang="en-US" b="0" i="0" dirty="0">
                <a:solidFill>
                  <a:srgbClr val="343434"/>
                </a:solidFill>
                <a:effectLst/>
                <a:latin typeface="roboto" panose="02000000000000000000" pitchFamily="2" charset="0"/>
              </a:rPr>
              <a:t> very clearly and hence it is solved by having an object oriented database model.</a:t>
            </a:r>
          </a:p>
          <a:p>
            <a:pPr marL="742950" lvl="1" indent="-285750" algn="just">
              <a:buFont typeface="Arial" panose="020B0604020202020204" pitchFamily="34" charset="0"/>
              <a:buChar char="•"/>
            </a:pPr>
            <a:r>
              <a:rPr lang="en-US" b="0" i="0" dirty="0">
                <a:solidFill>
                  <a:srgbClr val="343434"/>
                </a:solidFill>
                <a:effectLst/>
                <a:latin typeface="roboto" panose="02000000000000000000" pitchFamily="2" charset="0"/>
              </a:rPr>
              <a:t>An object is an abstraction of a real-world entity. More or less an object is a real world instance of an entity in Entity Relationship Model</a:t>
            </a:r>
          </a:p>
          <a:p>
            <a:pPr marL="742950" lvl="1" indent="-285750" algn="just">
              <a:buFont typeface="Arial" panose="020B0604020202020204" pitchFamily="34" charset="0"/>
              <a:buChar char="•"/>
            </a:pPr>
            <a:r>
              <a:rPr lang="en-US" b="0" i="0" dirty="0">
                <a:solidFill>
                  <a:srgbClr val="343434"/>
                </a:solidFill>
                <a:effectLst/>
                <a:latin typeface="roboto" panose="02000000000000000000" pitchFamily="2" charset="0"/>
              </a:rPr>
              <a:t>Attributes describe the properties of an object, </a:t>
            </a:r>
            <a:r>
              <a:rPr lang="en-US" b="0" i="0" dirty="0" err="1">
                <a:solidFill>
                  <a:srgbClr val="343434"/>
                </a:solidFill>
                <a:effectLst/>
                <a:latin typeface="roboto" panose="02000000000000000000" pitchFamily="2" charset="0"/>
              </a:rPr>
              <a:t>i.e</a:t>
            </a:r>
            <a:r>
              <a:rPr lang="en-US" b="0" i="0" dirty="0">
                <a:solidFill>
                  <a:srgbClr val="343434"/>
                </a:solidFill>
                <a:effectLst/>
                <a:latin typeface="roboto" panose="02000000000000000000" pitchFamily="2" charset="0"/>
              </a:rPr>
              <a:t> </a:t>
            </a:r>
            <a:r>
              <a:rPr lang="en-US" b="0" i="0" dirty="0" err="1">
                <a:solidFill>
                  <a:srgbClr val="343434"/>
                </a:solidFill>
                <a:effectLst/>
                <a:latin typeface="roboto" panose="02000000000000000000" pitchFamily="2" charset="0"/>
              </a:rPr>
              <a:t>customerID</a:t>
            </a:r>
            <a:r>
              <a:rPr lang="en-US" b="0" i="0" dirty="0">
                <a:solidFill>
                  <a:srgbClr val="343434"/>
                </a:solidFill>
                <a:effectLst/>
                <a:latin typeface="roboto" panose="02000000000000000000" pitchFamily="2" charset="0"/>
              </a:rPr>
              <a:t> or </a:t>
            </a:r>
            <a:r>
              <a:rPr lang="en-US" b="0" i="0" dirty="0" err="1">
                <a:solidFill>
                  <a:srgbClr val="343434"/>
                </a:solidFill>
                <a:effectLst/>
                <a:latin typeface="roboto" panose="02000000000000000000" pitchFamily="2" charset="0"/>
              </a:rPr>
              <a:t>orderID</a:t>
            </a:r>
            <a:r>
              <a:rPr lang="en-US" b="0" i="0" dirty="0">
                <a:solidFill>
                  <a:srgbClr val="343434"/>
                </a:solidFill>
                <a:effectLst/>
                <a:latin typeface="roboto" panose="02000000000000000000" pitchFamily="2" charset="0"/>
              </a:rPr>
              <a:t> maybe called as properties of the object or attributes as in entity relationship model</a:t>
            </a:r>
          </a:p>
          <a:p>
            <a:pPr marL="742950" lvl="1" indent="-285750" algn="just">
              <a:buFont typeface="Arial" panose="020B0604020202020204" pitchFamily="34" charset="0"/>
              <a:buChar char="•"/>
            </a:pPr>
            <a:r>
              <a:rPr lang="en-US" b="0" i="0" dirty="0">
                <a:solidFill>
                  <a:srgbClr val="343434"/>
                </a:solidFill>
                <a:effectLst/>
                <a:latin typeface="roboto" panose="02000000000000000000" pitchFamily="2" charset="0"/>
              </a:rPr>
              <a:t>As we use classes and inheritance in OOPs concept. The similar can be used here. Classes are a superior set of objects with similar characteristics right?</a:t>
            </a:r>
          </a:p>
          <a:p>
            <a:pPr marL="742950" lvl="1" indent="-285750" algn="just">
              <a:buFont typeface="Arial" panose="020B0604020202020204" pitchFamily="34" charset="0"/>
              <a:buChar char="•"/>
            </a:pPr>
            <a:r>
              <a:rPr lang="en-US" b="0" i="0" dirty="0">
                <a:solidFill>
                  <a:srgbClr val="343434"/>
                </a:solidFill>
                <a:effectLst/>
                <a:latin typeface="roboto" panose="02000000000000000000" pitchFamily="2" charset="0"/>
              </a:rPr>
              <a:t>Inheritance is highly used in such, thus also using network or hierarchical model as default inspirations</a:t>
            </a:r>
          </a:p>
        </p:txBody>
      </p:sp>
      <p:pic>
        <p:nvPicPr>
          <p:cNvPr id="7" name="Picture 6">
            <a:extLst>
              <a:ext uri="{FF2B5EF4-FFF2-40B4-BE49-F238E27FC236}">
                <a16:creationId xmlns:a16="http://schemas.microsoft.com/office/drawing/2014/main" xmlns="" id="{DA9D6E9C-0C4D-685B-867C-C9996A382639}"/>
              </a:ext>
            </a:extLst>
          </p:cNvPr>
          <p:cNvPicPr>
            <a:picLocks noChangeAspect="1"/>
          </p:cNvPicPr>
          <p:nvPr/>
        </p:nvPicPr>
        <p:blipFill>
          <a:blip r:embed="rId2"/>
          <a:stretch>
            <a:fillRect/>
          </a:stretch>
        </p:blipFill>
        <p:spPr>
          <a:xfrm>
            <a:off x="7669768" y="2198914"/>
            <a:ext cx="4466917" cy="3656341"/>
          </a:xfrm>
          <a:prstGeom prst="rect">
            <a:avLst/>
          </a:prstGeom>
        </p:spPr>
      </p:pic>
    </p:spTree>
    <p:extLst>
      <p:ext uri="{BB962C8B-B14F-4D97-AF65-F5344CB8AC3E}">
        <p14:creationId xmlns:p14="http://schemas.microsoft.com/office/powerpoint/2010/main" val="26379213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 y="96715"/>
            <a:ext cx="11910644" cy="6699738"/>
          </a:xfrm>
        </p:spPr>
      </p:pic>
    </p:spTree>
    <p:extLst>
      <p:ext uri="{BB962C8B-B14F-4D97-AF65-F5344CB8AC3E}">
        <p14:creationId xmlns:p14="http://schemas.microsoft.com/office/powerpoint/2010/main" val="16018065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3516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7279" y="2853127"/>
            <a:ext cx="9603275" cy="1049235"/>
          </a:xfrm>
        </p:spPr>
        <p:txBody>
          <a:bodyPr/>
          <a:lstStyle/>
          <a:p>
            <a:pPr algn="ctr"/>
            <a:r>
              <a:rPr lang="en-US" dirty="0"/>
              <a:t>SELECT * FROM student WHERE </a:t>
            </a:r>
            <a:r>
              <a:rPr lang="en-US" dirty="0" err="1"/>
              <a:t>hallticket</a:t>
            </a:r>
            <a:r>
              <a:rPr lang="en-US" dirty="0"/>
              <a:t> = 'YOUR NUMBER';</a:t>
            </a:r>
            <a:endParaRPr lang="en-IN" dirty="0"/>
          </a:p>
        </p:txBody>
      </p:sp>
      <mc:AlternateContent xmlns:mc="http://schemas.openxmlformats.org/markup-compatibility/2006">
        <mc:Choice xmlns:p14="http://schemas.microsoft.com/office/powerpoint/2010/main" Requires="p14">
          <p:contentPart p14:bwMode="auto" r:id="rId2">
            <p14:nvContentPartPr>
              <p14:cNvPr id="23" name="Ink 22"/>
              <p14:cNvContentPartPr/>
              <p14:nvPr/>
            </p14:nvContentPartPr>
            <p14:xfrm>
              <a:off x="4365526" y="5683818"/>
              <a:ext cx="360" cy="360"/>
            </p14:xfrm>
          </p:contentPart>
        </mc:Choice>
        <mc:Fallback>
          <p:pic>
            <p:nvPicPr>
              <p:cNvPr id="23" name="Ink 22"/>
              <p:cNvPicPr/>
              <p:nvPr/>
            </p:nvPicPr>
            <p:blipFill>
              <a:blip r:embed="rId3"/>
              <a:stretch>
                <a:fillRect/>
              </a:stretch>
            </p:blipFill>
            <p:spPr>
              <a:xfrm>
                <a:off x="4359046" y="5677338"/>
                <a:ext cx="13320" cy="13320"/>
              </a:xfrm>
              <a:prstGeom prst="rect">
                <a:avLst/>
              </a:prstGeom>
            </p:spPr>
          </p:pic>
        </mc:Fallback>
      </mc:AlternateContent>
    </p:spTree>
    <p:extLst>
      <p:ext uri="{BB962C8B-B14F-4D97-AF65-F5344CB8AC3E}">
        <p14:creationId xmlns:p14="http://schemas.microsoft.com/office/powerpoint/2010/main" val="30611573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6101" y="0"/>
            <a:ext cx="9740686" cy="6805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84311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YPC\Downloads\dbms_architecture.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6820"/>
          <a:stretch/>
        </p:blipFill>
        <p:spPr bwMode="auto">
          <a:xfrm>
            <a:off x="211015" y="1780952"/>
            <a:ext cx="11712444" cy="18969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52278" y="5187434"/>
            <a:ext cx="3717043" cy="369332"/>
          </a:xfrm>
          <a:prstGeom prst="rect">
            <a:avLst/>
          </a:prstGeom>
        </p:spPr>
        <p:txBody>
          <a:bodyPr wrap="none">
            <a:spAutoFit/>
          </a:bodyPr>
          <a:lstStyle/>
          <a:p>
            <a:r>
              <a:rPr lang="en-US" dirty="0"/>
              <a:t>★ 2–3 marks: Types of database users</a:t>
            </a:r>
            <a:endParaRPr lang="en-IN" dirty="0"/>
          </a:p>
        </p:txBody>
      </p:sp>
    </p:spTree>
    <p:extLst>
      <p:ext uri="{BB962C8B-B14F-4D97-AF65-F5344CB8AC3E}">
        <p14:creationId xmlns:p14="http://schemas.microsoft.com/office/powerpoint/2010/main" val="37731143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2220" b="42383"/>
          <a:stretch/>
        </p:blipFill>
        <p:spPr bwMode="auto">
          <a:xfrm>
            <a:off x="98800" y="993532"/>
            <a:ext cx="11838133" cy="2927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65875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6454" b="21773"/>
          <a:stretch/>
        </p:blipFill>
        <p:spPr bwMode="auto">
          <a:xfrm>
            <a:off x="0" y="624254"/>
            <a:ext cx="12052432" cy="1833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41629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6478"/>
          <a:stretch/>
        </p:blipFill>
        <p:spPr bwMode="auto">
          <a:xfrm>
            <a:off x="0" y="1072290"/>
            <a:ext cx="11987491" cy="1970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57912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6101" y="0"/>
            <a:ext cx="9740686" cy="6805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57912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44D72F-DF99-5F5E-C23A-1D0C44290648}"/>
              </a:ext>
            </a:extLst>
          </p:cNvPr>
          <p:cNvSpPr>
            <a:spLocks noGrp="1"/>
          </p:cNvSpPr>
          <p:nvPr>
            <p:ph idx="1"/>
          </p:nvPr>
        </p:nvSpPr>
        <p:spPr>
          <a:xfrm>
            <a:off x="1451579" y="664030"/>
            <a:ext cx="9603275" cy="4802316"/>
          </a:xfrm>
        </p:spPr>
        <p:txBody>
          <a:bodyPr/>
          <a:lstStyle/>
          <a:p>
            <a:pPr marL="0" indent="0">
              <a:buNone/>
            </a:pPr>
            <a:r>
              <a:rPr lang="en-US" dirty="0"/>
              <a:t>The functional components of a database system can be broadly divided into </a:t>
            </a:r>
            <a:r>
              <a:rPr lang="en-US" b="1" dirty="0"/>
              <a:t>the storage manager and the query processor components.</a:t>
            </a:r>
            <a:endParaRPr lang="en-IN" b="1" dirty="0"/>
          </a:p>
        </p:txBody>
      </p:sp>
      <p:sp>
        <p:nvSpPr>
          <p:cNvPr id="5" name="TextBox 4">
            <a:extLst>
              <a:ext uri="{FF2B5EF4-FFF2-40B4-BE49-F238E27FC236}">
                <a16:creationId xmlns:a16="http://schemas.microsoft.com/office/drawing/2014/main" xmlns="" id="{37802529-F3D7-5A9A-432D-9D16532FCF05}"/>
              </a:ext>
            </a:extLst>
          </p:cNvPr>
          <p:cNvSpPr txBox="1"/>
          <p:nvPr/>
        </p:nvSpPr>
        <p:spPr>
          <a:xfrm>
            <a:off x="1451579" y="1859340"/>
            <a:ext cx="10482943" cy="1569660"/>
          </a:xfrm>
          <a:prstGeom prst="rect">
            <a:avLst/>
          </a:prstGeom>
          <a:noFill/>
        </p:spPr>
        <p:txBody>
          <a:bodyPr wrap="square">
            <a:spAutoFit/>
          </a:bodyPr>
          <a:lstStyle/>
          <a:p>
            <a:pPr algn="l"/>
            <a:r>
              <a:rPr lang="en-IN" sz="2400" b="1" i="0" u="none" strike="noStrike" baseline="0" dirty="0">
                <a:solidFill>
                  <a:srgbClr val="2B1E1B"/>
                </a:solidFill>
                <a:latin typeface="Arial Narrow,Bold"/>
              </a:rPr>
              <a:t>Query Processor:</a:t>
            </a:r>
          </a:p>
          <a:p>
            <a:pPr algn="l"/>
            <a:r>
              <a:rPr lang="en-US" sz="1800" b="0" i="0" u="none" strike="noStrike" baseline="0" dirty="0">
                <a:solidFill>
                  <a:srgbClr val="2B1E1B"/>
                </a:solidFill>
                <a:latin typeface="Arial Narrow" panose="020B0606020202030204" pitchFamily="34" charset="0"/>
              </a:rPr>
              <a:t>The query processor components include</a:t>
            </a:r>
          </a:p>
          <a:p>
            <a:pPr algn="l"/>
            <a:r>
              <a:rPr lang="en-US" sz="1800" b="0" i="0" u="none" strike="noStrike" baseline="0" dirty="0">
                <a:solidFill>
                  <a:srgbClr val="2B1E1B"/>
                </a:solidFill>
                <a:latin typeface="Arial Narrow" panose="020B0606020202030204" pitchFamily="34" charset="0"/>
              </a:rPr>
              <a:t>· </a:t>
            </a:r>
            <a:r>
              <a:rPr lang="en-US" sz="1800" b="1" i="0" u="none" strike="noStrike" baseline="0" dirty="0">
                <a:solidFill>
                  <a:srgbClr val="2B1E1B"/>
                </a:solidFill>
                <a:latin typeface="Arial Narrow,Bold"/>
              </a:rPr>
              <a:t>DDL interpreter, </a:t>
            </a:r>
            <a:r>
              <a:rPr lang="en-US" sz="1800" b="0" i="0" u="none" strike="noStrike" baseline="0" dirty="0">
                <a:solidFill>
                  <a:srgbClr val="2B1E1B"/>
                </a:solidFill>
                <a:latin typeface="Arial Narrow" panose="020B0606020202030204" pitchFamily="34" charset="0"/>
              </a:rPr>
              <a:t>which interprets DDL statements and records the definitions in the data dictionary.</a:t>
            </a:r>
          </a:p>
          <a:p>
            <a:pPr algn="l"/>
            <a:r>
              <a:rPr lang="en-US" sz="1800" b="0" i="0" u="none" strike="noStrike" baseline="0" dirty="0">
                <a:solidFill>
                  <a:srgbClr val="2B1E1B"/>
                </a:solidFill>
                <a:latin typeface="Arial Narrow" panose="020B0606020202030204" pitchFamily="34" charset="0"/>
              </a:rPr>
              <a:t>· </a:t>
            </a:r>
            <a:r>
              <a:rPr lang="en-US" sz="1800" b="1" i="0" u="none" strike="noStrike" baseline="0" dirty="0">
                <a:solidFill>
                  <a:srgbClr val="2B1E1B"/>
                </a:solidFill>
                <a:latin typeface="Arial Narrow,Bold"/>
              </a:rPr>
              <a:t>DML compiler, </a:t>
            </a:r>
            <a:r>
              <a:rPr lang="en-US" sz="1800" b="0" i="0" u="none" strike="noStrike" baseline="0" dirty="0">
                <a:solidFill>
                  <a:srgbClr val="2B1E1B"/>
                </a:solidFill>
                <a:latin typeface="Arial Narrow" panose="020B0606020202030204" pitchFamily="34" charset="0"/>
              </a:rPr>
              <a:t>which translates DML statements in a query language into an evaluation plan consisting</a:t>
            </a:r>
          </a:p>
          <a:p>
            <a:pPr algn="l"/>
            <a:r>
              <a:rPr lang="en-US" sz="1800" b="0" i="0" u="none" strike="noStrike" baseline="0" dirty="0">
                <a:solidFill>
                  <a:srgbClr val="2B1E1B"/>
                </a:solidFill>
                <a:latin typeface="Arial Narrow" panose="020B0606020202030204" pitchFamily="34" charset="0"/>
              </a:rPr>
              <a:t>of low-level instructions that the query evaluation engine understands.</a:t>
            </a:r>
            <a:endParaRPr lang="en-IN" dirty="0"/>
          </a:p>
        </p:txBody>
      </p:sp>
      <p:sp>
        <p:nvSpPr>
          <p:cNvPr id="7" name="TextBox 6">
            <a:extLst>
              <a:ext uri="{FF2B5EF4-FFF2-40B4-BE49-F238E27FC236}">
                <a16:creationId xmlns:a16="http://schemas.microsoft.com/office/drawing/2014/main" xmlns="" id="{B175AA1E-4585-0A27-6588-8361904C9502}"/>
              </a:ext>
            </a:extLst>
          </p:cNvPr>
          <p:cNvSpPr txBox="1"/>
          <p:nvPr/>
        </p:nvSpPr>
        <p:spPr>
          <a:xfrm>
            <a:off x="1451579" y="3431228"/>
            <a:ext cx="9488564" cy="1569660"/>
          </a:xfrm>
          <a:prstGeom prst="rect">
            <a:avLst/>
          </a:prstGeom>
          <a:noFill/>
        </p:spPr>
        <p:txBody>
          <a:bodyPr wrap="square">
            <a:spAutoFit/>
          </a:bodyPr>
          <a:lstStyle/>
          <a:p>
            <a:pPr algn="l"/>
            <a:r>
              <a:rPr lang="en-IN" sz="2400" b="1" i="0" u="none" strike="noStrike" baseline="0" dirty="0">
                <a:solidFill>
                  <a:srgbClr val="2B1E1B"/>
                </a:solidFill>
                <a:latin typeface="Arial Narrow,Bold"/>
              </a:rPr>
              <a:t>Storage Manager:</a:t>
            </a:r>
          </a:p>
          <a:p>
            <a:pPr algn="l"/>
            <a:r>
              <a:rPr lang="en-US" sz="1800" b="0" i="0" u="none" strike="noStrike" baseline="0" dirty="0">
                <a:solidFill>
                  <a:srgbClr val="2B1E1B"/>
                </a:solidFill>
                <a:latin typeface="Arial Narrow" panose="020B0606020202030204" pitchFamily="34" charset="0"/>
              </a:rPr>
              <a:t>A </a:t>
            </a:r>
            <a:r>
              <a:rPr lang="en-US" sz="1800" b="0" i="1" u="none" strike="noStrike" baseline="0" dirty="0">
                <a:solidFill>
                  <a:srgbClr val="2B1E1B"/>
                </a:solidFill>
                <a:latin typeface="Arial Narrow,Italic"/>
              </a:rPr>
              <a:t>storage manager </a:t>
            </a:r>
            <a:r>
              <a:rPr lang="en-US" sz="1800" b="0" i="0" u="none" strike="noStrike" baseline="0" dirty="0">
                <a:solidFill>
                  <a:srgbClr val="2B1E1B"/>
                </a:solidFill>
                <a:latin typeface="Arial Narrow" panose="020B0606020202030204" pitchFamily="34" charset="0"/>
              </a:rPr>
              <a:t>is a program module that provides the interface between the </a:t>
            </a:r>
            <a:r>
              <a:rPr lang="en-US" sz="1800" b="0" i="0" u="none" strike="noStrike" baseline="0" dirty="0" err="1">
                <a:solidFill>
                  <a:srgbClr val="2B1E1B"/>
                </a:solidFill>
                <a:latin typeface="Arial Narrow" panose="020B0606020202030204" pitchFamily="34" charset="0"/>
              </a:rPr>
              <a:t>lowlevel</a:t>
            </a:r>
            <a:r>
              <a:rPr lang="en-US" sz="1800" b="0" i="0" u="none" strike="noStrike" baseline="0" dirty="0">
                <a:solidFill>
                  <a:srgbClr val="2B1E1B"/>
                </a:solidFill>
                <a:latin typeface="Arial Narrow" panose="020B0606020202030204" pitchFamily="34" charset="0"/>
              </a:rPr>
              <a:t> data stored in the</a:t>
            </a:r>
          </a:p>
          <a:p>
            <a:pPr algn="l"/>
            <a:r>
              <a:rPr lang="en-US" sz="1800" b="0" i="0" u="none" strike="noStrike" baseline="0" dirty="0">
                <a:solidFill>
                  <a:srgbClr val="2B1E1B"/>
                </a:solidFill>
                <a:latin typeface="Arial Narrow" panose="020B0606020202030204" pitchFamily="34" charset="0"/>
              </a:rPr>
              <a:t>database and the application programs and queries submitted to the system. The storage manager is</a:t>
            </a:r>
          </a:p>
          <a:p>
            <a:pPr algn="l"/>
            <a:r>
              <a:rPr lang="en-US" sz="1800" b="0" i="0" u="none" strike="noStrike" baseline="0" dirty="0">
                <a:solidFill>
                  <a:srgbClr val="2B1E1B"/>
                </a:solidFill>
                <a:latin typeface="Arial Narrow" panose="020B0606020202030204" pitchFamily="34" charset="0"/>
              </a:rPr>
              <a:t>responsible for the interaction with the file manager.</a:t>
            </a:r>
          </a:p>
          <a:p>
            <a:pPr algn="l"/>
            <a:endParaRPr lang="en-IN" dirty="0"/>
          </a:p>
        </p:txBody>
      </p:sp>
      <p:sp>
        <p:nvSpPr>
          <p:cNvPr id="9" name="TextBox 8">
            <a:extLst>
              <a:ext uri="{FF2B5EF4-FFF2-40B4-BE49-F238E27FC236}">
                <a16:creationId xmlns:a16="http://schemas.microsoft.com/office/drawing/2014/main" xmlns="" id="{D269AB95-E194-410B-935B-AFEB4F39DB07}"/>
              </a:ext>
            </a:extLst>
          </p:cNvPr>
          <p:cNvSpPr txBox="1"/>
          <p:nvPr/>
        </p:nvSpPr>
        <p:spPr>
          <a:xfrm>
            <a:off x="1394223" y="4723890"/>
            <a:ext cx="9603275" cy="1292662"/>
          </a:xfrm>
          <a:prstGeom prst="rect">
            <a:avLst/>
          </a:prstGeom>
          <a:noFill/>
        </p:spPr>
        <p:txBody>
          <a:bodyPr wrap="square">
            <a:spAutoFit/>
          </a:bodyPr>
          <a:lstStyle/>
          <a:p>
            <a:pPr algn="l"/>
            <a:r>
              <a:rPr lang="en-IN" sz="2400" b="1" i="0" u="none" strike="noStrike" baseline="0" dirty="0">
                <a:solidFill>
                  <a:srgbClr val="2B1E1B"/>
                </a:solidFill>
                <a:latin typeface="Arial Narrow,Bold"/>
              </a:rPr>
              <a:t>Transaction Manager:</a:t>
            </a:r>
          </a:p>
          <a:p>
            <a:pPr algn="l"/>
            <a:r>
              <a:rPr lang="en-US" sz="1800" b="0" i="0" u="none" strike="noStrike" baseline="0" dirty="0">
                <a:solidFill>
                  <a:srgbClr val="2B1E1B"/>
                </a:solidFill>
                <a:latin typeface="Arial Narrow" panose="020B0606020202030204" pitchFamily="34" charset="0"/>
              </a:rPr>
              <a:t>A </a:t>
            </a:r>
            <a:r>
              <a:rPr lang="en-US" sz="1800" b="1" i="0" u="none" strike="noStrike" baseline="0" dirty="0">
                <a:solidFill>
                  <a:srgbClr val="2B1E1B"/>
                </a:solidFill>
                <a:latin typeface="Arial Narrow,Bold"/>
              </a:rPr>
              <a:t>transaction </a:t>
            </a:r>
            <a:r>
              <a:rPr lang="en-US" sz="1800" b="0" i="0" u="none" strike="noStrike" baseline="0" dirty="0">
                <a:solidFill>
                  <a:srgbClr val="2B1E1B"/>
                </a:solidFill>
                <a:latin typeface="Arial Narrow" panose="020B0606020202030204" pitchFamily="34" charset="0"/>
              </a:rPr>
              <a:t>is a collection of operations that performs a single logical function in a database application.</a:t>
            </a:r>
          </a:p>
          <a:p>
            <a:pPr algn="l"/>
            <a:r>
              <a:rPr lang="en-US" sz="1800" b="0" i="0" u="none" strike="noStrike" baseline="0" dirty="0">
                <a:solidFill>
                  <a:srgbClr val="2B1E1B"/>
                </a:solidFill>
                <a:latin typeface="Arial Narrow" panose="020B0606020202030204" pitchFamily="34" charset="0"/>
              </a:rPr>
              <a:t>Each transaction is a unit of both atomicity and consistency. Thus, we require that transactions do not violate</a:t>
            </a:r>
          </a:p>
          <a:p>
            <a:pPr algn="l"/>
            <a:r>
              <a:rPr lang="en-IN" sz="1800" b="0" i="0" u="none" strike="noStrike" baseline="0" dirty="0">
                <a:solidFill>
                  <a:srgbClr val="2B1E1B"/>
                </a:solidFill>
                <a:latin typeface="Arial Narrow" panose="020B0606020202030204" pitchFamily="34" charset="0"/>
              </a:rPr>
              <a:t>any database-consistency constraints.</a:t>
            </a:r>
            <a:endParaRPr lang="en-IN" dirty="0"/>
          </a:p>
        </p:txBody>
      </p:sp>
    </p:spTree>
    <p:extLst>
      <p:ext uri="{BB962C8B-B14F-4D97-AF65-F5344CB8AC3E}">
        <p14:creationId xmlns:p14="http://schemas.microsoft.com/office/powerpoint/2010/main" val="7575820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D27BB8D-5ED5-2069-42F5-BA70AFC902C6}"/>
              </a:ext>
            </a:extLst>
          </p:cNvPr>
          <p:cNvSpPr txBox="1"/>
          <p:nvPr/>
        </p:nvSpPr>
        <p:spPr>
          <a:xfrm>
            <a:off x="1451579" y="1970567"/>
            <a:ext cx="9603275" cy="2585323"/>
          </a:xfrm>
          <a:prstGeom prst="rect">
            <a:avLst/>
          </a:prstGeom>
          <a:noFill/>
        </p:spPr>
        <p:txBody>
          <a:bodyPr wrap="square">
            <a:spAutoFit/>
          </a:bodyPr>
          <a:lstStyle/>
          <a:p>
            <a:pPr algn="l"/>
            <a:r>
              <a:rPr lang="en-US" sz="1800" b="1" i="0" u="none" strike="noStrike" baseline="0" dirty="0">
                <a:solidFill>
                  <a:srgbClr val="2B1E1B"/>
                </a:solidFill>
                <a:latin typeface="Arial Narrow,Bold"/>
              </a:rPr>
              <a:t>Authorization and integrity manager</a:t>
            </a:r>
            <a:r>
              <a:rPr lang="en-US" sz="1800" b="0" i="0" u="none" strike="noStrike" baseline="0" dirty="0">
                <a:solidFill>
                  <a:srgbClr val="2B1E1B"/>
                </a:solidFill>
                <a:latin typeface="Arial Narrow" panose="020B0606020202030204" pitchFamily="34" charset="0"/>
              </a:rPr>
              <a:t>, which tests for the satisfaction of integrity constraints and checks</a:t>
            </a:r>
          </a:p>
          <a:p>
            <a:pPr algn="l"/>
            <a:r>
              <a:rPr lang="en-US" sz="1800" b="0" i="0" u="none" strike="noStrike" baseline="0" dirty="0">
                <a:solidFill>
                  <a:srgbClr val="2B1E1B"/>
                </a:solidFill>
                <a:latin typeface="Arial Narrow" panose="020B0606020202030204" pitchFamily="34" charset="0"/>
              </a:rPr>
              <a:t>the authority of users to access data.</a:t>
            </a:r>
          </a:p>
          <a:p>
            <a:pPr algn="l"/>
            <a:r>
              <a:rPr lang="en-US" sz="1800" b="0" i="0" u="none" strike="noStrike" baseline="0" dirty="0">
                <a:solidFill>
                  <a:srgbClr val="2B1E1B"/>
                </a:solidFill>
                <a:latin typeface="Arial Narrow" panose="020B0606020202030204" pitchFamily="34" charset="0"/>
              </a:rPr>
              <a:t>· </a:t>
            </a:r>
            <a:r>
              <a:rPr lang="en-US" sz="1800" b="1" i="0" u="none" strike="noStrike" baseline="0" dirty="0">
                <a:solidFill>
                  <a:srgbClr val="2B1E1B"/>
                </a:solidFill>
                <a:latin typeface="Arial Narrow,Bold"/>
              </a:rPr>
              <a:t>Transaction manager</a:t>
            </a:r>
            <a:r>
              <a:rPr lang="en-US" sz="1800" b="0" i="0" u="none" strike="noStrike" baseline="0" dirty="0">
                <a:solidFill>
                  <a:srgbClr val="2B1E1B"/>
                </a:solidFill>
                <a:latin typeface="Arial Narrow" panose="020B0606020202030204" pitchFamily="34" charset="0"/>
              </a:rPr>
              <a:t>, which ensures that the database remains in a consistent (correct) state despite</a:t>
            </a:r>
          </a:p>
          <a:p>
            <a:pPr algn="l"/>
            <a:r>
              <a:rPr lang="en-US" sz="1800" b="0" i="0" u="none" strike="noStrike" baseline="0" dirty="0">
                <a:solidFill>
                  <a:srgbClr val="2B1E1B"/>
                </a:solidFill>
                <a:latin typeface="Arial Narrow" panose="020B0606020202030204" pitchFamily="34" charset="0"/>
              </a:rPr>
              <a:t>system failures, and that concurrent transaction executions proceed without conflicting.</a:t>
            </a:r>
          </a:p>
          <a:p>
            <a:pPr algn="l"/>
            <a:r>
              <a:rPr lang="en-US" sz="1800" b="0" i="0" u="none" strike="noStrike" baseline="0" dirty="0">
                <a:solidFill>
                  <a:srgbClr val="2B1E1B"/>
                </a:solidFill>
                <a:latin typeface="Arial Narrow" panose="020B0606020202030204" pitchFamily="34" charset="0"/>
              </a:rPr>
              <a:t>· </a:t>
            </a:r>
            <a:r>
              <a:rPr lang="en-US" sz="1800" b="1" i="0" u="none" strike="noStrike" baseline="0" dirty="0">
                <a:solidFill>
                  <a:srgbClr val="2B1E1B"/>
                </a:solidFill>
                <a:latin typeface="Arial Narrow,Bold"/>
              </a:rPr>
              <a:t>File manager</a:t>
            </a:r>
            <a:r>
              <a:rPr lang="en-US" sz="1800" b="0" i="0" u="none" strike="noStrike" baseline="0" dirty="0">
                <a:solidFill>
                  <a:srgbClr val="2B1E1B"/>
                </a:solidFill>
                <a:latin typeface="Arial Narrow" panose="020B0606020202030204" pitchFamily="34" charset="0"/>
              </a:rPr>
              <a:t>, which manages the allocation of space on disk storage and the data structures used to</a:t>
            </a:r>
          </a:p>
          <a:p>
            <a:pPr algn="l"/>
            <a:r>
              <a:rPr lang="en-IN" sz="1800" b="0" i="0" u="none" strike="noStrike" baseline="0" dirty="0">
                <a:solidFill>
                  <a:srgbClr val="2B1E1B"/>
                </a:solidFill>
                <a:latin typeface="Arial Narrow" panose="020B0606020202030204" pitchFamily="34" charset="0"/>
              </a:rPr>
              <a:t>represent information stored on disk.</a:t>
            </a:r>
          </a:p>
          <a:p>
            <a:pPr algn="l"/>
            <a:r>
              <a:rPr lang="en-US" sz="1800" b="0" i="0" u="none" strike="noStrike" baseline="0" dirty="0">
                <a:solidFill>
                  <a:srgbClr val="2B1E1B"/>
                </a:solidFill>
                <a:latin typeface="Arial Narrow" panose="020B0606020202030204" pitchFamily="34" charset="0"/>
              </a:rPr>
              <a:t>· </a:t>
            </a:r>
            <a:r>
              <a:rPr lang="en-US" sz="1800" b="1" i="0" u="none" strike="noStrike" baseline="0" dirty="0">
                <a:solidFill>
                  <a:srgbClr val="2B1E1B"/>
                </a:solidFill>
                <a:latin typeface="Arial Narrow,Bold"/>
              </a:rPr>
              <a:t>Buffer manager</a:t>
            </a:r>
            <a:r>
              <a:rPr lang="en-US" sz="1800" b="0" i="0" u="none" strike="noStrike" baseline="0" dirty="0">
                <a:solidFill>
                  <a:srgbClr val="2B1E1B"/>
                </a:solidFill>
                <a:latin typeface="Arial Narrow" panose="020B0606020202030204" pitchFamily="34" charset="0"/>
              </a:rPr>
              <a:t>, which is responsible for fetching data from disk storage into main memory, and deciding</a:t>
            </a:r>
          </a:p>
          <a:p>
            <a:pPr algn="l"/>
            <a:r>
              <a:rPr lang="en-US" sz="1800" b="0" i="0" u="none" strike="noStrike" baseline="0" dirty="0">
                <a:solidFill>
                  <a:srgbClr val="2B1E1B"/>
                </a:solidFill>
                <a:latin typeface="Arial Narrow" panose="020B0606020202030204" pitchFamily="34" charset="0"/>
              </a:rPr>
              <a:t>what data to cache in main memory. The buffer manager is a critical part of the database system, since it</a:t>
            </a:r>
          </a:p>
          <a:p>
            <a:pPr algn="l"/>
            <a:r>
              <a:rPr lang="en-US" sz="1800" b="0" i="0" u="none" strike="noStrike" baseline="0" dirty="0">
                <a:solidFill>
                  <a:srgbClr val="2B1E1B"/>
                </a:solidFill>
                <a:latin typeface="Arial Narrow" panose="020B0606020202030204" pitchFamily="34" charset="0"/>
              </a:rPr>
              <a:t>enables the database to handle data sizes that are much larger than the size of main memory.</a:t>
            </a:r>
            <a:endParaRPr lang="en-IN" dirty="0"/>
          </a:p>
        </p:txBody>
      </p:sp>
    </p:spTree>
    <p:extLst>
      <p:ext uri="{BB962C8B-B14F-4D97-AF65-F5344CB8AC3E}">
        <p14:creationId xmlns:p14="http://schemas.microsoft.com/office/powerpoint/2010/main" val="26261979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A3CEB-356F-364E-430C-FC195680B769}"/>
              </a:ext>
            </a:extLst>
          </p:cNvPr>
          <p:cNvSpPr>
            <a:spLocks noGrp="1"/>
          </p:cNvSpPr>
          <p:nvPr>
            <p:ph type="title"/>
          </p:nvPr>
        </p:nvSpPr>
        <p:spPr/>
        <p:txBody>
          <a:bodyPr/>
          <a:lstStyle/>
          <a:p>
            <a:r>
              <a:rPr lang="en-IN" dirty="0"/>
              <a:t>Conceptual Database Design - Entity Relationship(ER) </a:t>
            </a:r>
            <a:r>
              <a:rPr lang="en-IN" dirty="0" err="1"/>
              <a:t>Modeling</a:t>
            </a:r>
            <a:endParaRPr lang="en-IN" dirty="0"/>
          </a:p>
        </p:txBody>
      </p:sp>
      <p:sp>
        <p:nvSpPr>
          <p:cNvPr id="5" name="TextBox 4">
            <a:extLst>
              <a:ext uri="{FF2B5EF4-FFF2-40B4-BE49-F238E27FC236}">
                <a16:creationId xmlns:a16="http://schemas.microsoft.com/office/drawing/2014/main" xmlns="" id="{56BDEE28-597B-6389-312B-80A7348F6AF5}"/>
              </a:ext>
            </a:extLst>
          </p:cNvPr>
          <p:cNvSpPr txBox="1"/>
          <p:nvPr/>
        </p:nvSpPr>
        <p:spPr>
          <a:xfrm>
            <a:off x="1451579" y="2080149"/>
            <a:ext cx="9737683" cy="646331"/>
          </a:xfrm>
          <a:prstGeom prst="rect">
            <a:avLst/>
          </a:prstGeom>
          <a:noFill/>
        </p:spPr>
        <p:txBody>
          <a:bodyPr wrap="square">
            <a:spAutoFit/>
          </a:bodyPr>
          <a:lstStyle/>
          <a:p>
            <a:pPr algn="just"/>
            <a:r>
              <a:rPr lang="en-US" sz="1800" b="0" i="0" u="none" strike="noStrike" baseline="0" dirty="0">
                <a:latin typeface="Arial Narrow" panose="020B0606020202030204" pitchFamily="34" charset="0"/>
              </a:rPr>
              <a:t>A graphical technique for understanding and organizing the data independent of the actual database</a:t>
            </a:r>
          </a:p>
          <a:p>
            <a:pPr algn="just"/>
            <a:r>
              <a:rPr lang="en-IN" sz="1800" b="0" i="0" u="none" strike="noStrike" baseline="0" dirty="0">
                <a:latin typeface="Arial Narrow" panose="020B0606020202030204" pitchFamily="34" charset="0"/>
              </a:rPr>
              <a:t>implementation</a:t>
            </a:r>
            <a:endParaRPr lang="en-IN" dirty="0"/>
          </a:p>
        </p:txBody>
      </p:sp>
      <p:sp>
        <p:nvSpPr>
          <p:cNvPr id="7" name="TextBox 6">
            <a:extLst>
              <a:ext uri="{FF2B5EF4-FFF2-40B4-BE49-F238E27FC236}">
                <a16:creationId xmlns:a16="http://schemas.microsoft.com/office/drawing/2014/main" xmlns="" id="{03A57BC2-CCEE-DB71-71D9-D1A8EE2A1B66}"/>
              </a:ext>
            </a:extLst>
          </p:cNvPr>
          <p:cNvSpPr txBox="1"/>
          <p:nvPr/>
        </p:nvSpPr>
        <p:spPr>
          <a:xfrm>
            <a:off x="1451580" y="2834279"/>
            <a:ext cx="5068810" cy="1200329"/>
          </a:xfrm>
          <a:prstGeom prst="rect">
            <a:avLst/>
          </a:prstGeom>
          <a:noFill/>
        </p:spPr>
        <p:txBody>
          <a:bodyPr wrap="square">
            <a:spAutoFit/>
          </a:bodyPr>
          <a:lstStyle/>
          <a:p>
            <a:pPr algn="l"/>
            <a:r>
              <a:rPr lang="en-IN" sz="1800" b="1" i="0" u="none" strike="noStrike" baseline="0" dirty="0">
                <a:latin typeface="Arial Narrow,Bold"/>
              </a:rPr>
              <a:t>Entity</a:t>
            </a:r>
          </a:p>
          <a:p>
            <a:pPr algn="l"/>
            <a:r>
              <a:rPr lang="en-US" sz="1800" b="0" i="0" u="none" strike="noStrike" baseline="0" dirty="0">
                <a:latin typeface="Arial Narrow" panose="020B0606020202030204" pitchFamily="34" charset="0"/>
              </a:rPr>
              <a:t>Any thing that has an independent existence and about which we collect data. It is also known as entity type.</a:t>
            </a:r>
          </a:p>
          <a:p>
            <a:pPr algn="l"/>
            <a:r>
              <a:rPr lang="en-US" sz="1800" b="0" i="0" u="none" strike="noStrike" baseline="0" dirty="0">
                <a:latin typeface="Arial Narrow" panose="020B0606020202030204" pitchFamily="34" charset="0"/>
              </a:rPr>
              <a:t>In ER modeling, notation for entity is given below.</a:t>
            </a:r>
            <a:endParaRPr lang="en-IN" dirty="0"/>
          </a:p>
        </p:txBody>
      </p:sp>
      <p:pic>
        <p:nvPicPr>
          <p:cNvPr id="9" name="Picture 8">
            <a:extLst>
              <a:ext uri="{FF2B5EF4-FFF2-40B4-BE49-F238E27FC236}">
                <a16:creationId xmlns:a16="http://schemas.microsoft.com/office/drawing/2014/main" xmlns="" id="{26B34BBD-103C-3C70-AF55-FE0FCE6D824F}"/>
              </a:ext>
            </a:extLst>
          </p:cNvPr>
          <p:cNvPicPr>
            <a:picLocks noChangeAspect="1"/>
          </p:cNvPicPr>
          <p:nvPr/>
        </p:nvPicPr>
        <p:blipFill>
          <a:blip r:embed="rId2"/>
          <a:stretch>
            <a:fillRect/>
          </a:stretch>
        </p:blipFill>
        <p:spPr>
          <a:xfrm>
            <a:off x="7054096" y="3180577"/>
            <a:ext cx="1545465" cy="663262"/>
          </a:xfrm>
          <a:prstGeom prst="rect">
            <a:avLst/>
          </a:prstGeom>
        </p:spPr>
      </p:pic>
      <p:sp>
        <p:nvSpPr>
          <p:cNvPr id="11" name="TextBox 10">
            <a:extLst>
              <a:ext uri="{FF2B5EF4-FFF2-40B4-BE49-F238E27FC236}">
                <a16:creationId xmlns:a16="http://schemas.microsoft.com/office/drawing/2014/main" xmlns="" id="{FEABE7D7-5B2F-3797-1F5F-CD45BDD74358}"/>
              </a:ext>
            </a:extLst>
          </p:cNvPr>
          <p:cNvSpPr txBox="1"/>
          <p:nvPr/>
        </p:nvSpPr>
        <p:spPr>
          <a:xfrm>
            <a:off x="1451579" y="4297936"/>
            <a:ext cx="4807707" cy="369332"/>
          </a:xfrm>
          <a:prstGeom prst="rect">
            <a:avLst/>
          </a:prstGeom>
          <a:noFill/>
        </p:spPr>
        <p:txBody>
          <a:bodyPr wrap="square">
            <a:spAutoFit/>
          </a:bodyPr>
          <a:lstStyle/>
          <a:p>
            <a:pPr algn="l"/>
            <a:r>
              <a:rPr lang="en-US" sz="1800" b="0" i="0" u="none" strike="noStrike" baseline="0" dirty="0">
                <a:latin typeface="Arial Narrow" panose="020B0606020202030204" pitchFamily="34" charset="0"/>
              </a:rPr>
              <a:t>In ER modeling, notation for </a:t>
            </a:r>
            <a:r>
              <a:rPr lang="en-US" sz="1800" b="1" i="0" u="none" strike="noStrike" baseline="0" dirty="0">
                <a:latin typeface="Arial Narrow" panose="020B0606020202030204" pitchFamily="34" charset="0"/>
              </a:rPr>
              <a:t>weak entity </a:t>
            </a:r>
            <a:r>
              <a:rPr lang="en-US" sz="1800" b="0" i="0" u="none" strike="noStrike" baseline="0" dirty="0">
                <a:latin typeface="Arial Narrow" panose="020B0606020202030204" pitchFamily="34" charset="0"/>
              </a:rPr>
              <a:t>is</a:t>
            </a:r>
            <a:endParaRPr lang="en-IN" dirty="0"/>
          </a:p>
        </p:txBody>
      </p:sp>
      <p:pic>
        <p:nvPicPr>
          <p:cNvPr id="13" name="Picture 12">
            <a:extLst>
              <a:ext uri="{FF2B5EF4-FFF2-40B4-BE49-F238E27FC236}">
                <a16:creationId xmlns:a16="http://schemas.microsoft.com/office/drawing/2014/main" xmlns="" id="{E944A700-3272-9C96-D94D-197927C94654}"/>
              </a:ext>
            </a:extLst>
          </p:cNvPr>
          <p:cNvPicPr>
            <a:picLocks noChangeAspect="1"/>
          </p:cNvPicPr>
          <p:nvPr/>
        </p:nvPicPr>
        <p:blipFill>
          <a:blip r:embed="rId3"/>
          <a:stretch>
            <a:fillRect/>
          </a:stretch>
        </p:blipFill>
        <p:spPr>
          <a:xfrm>
            <a:off x="6912428" y="4086576"/>
            <a:ext cx="1828800" cy="792051"/>
          </a:xfrm>
          <a:prstGeom prst="rect">
            <a:avLst/>
          </a:prstGeom>
        </p:spPr>
      </p:pic>
      <p:sp>
        <p:nvSpPr>
          <p:cNvPr id="15" name="TextBox 14">
            <a:extLst>
              <a:ext uri="{FF2B5EF4-FFF2-40B4-BE49-F238E27FC236}">
                <a16:creationId xmlns:a16="http://schemas.microsoft.com/office/drawing/2014/main" xmlns="" id="{A80D0A87-DECC-9A6B-61E3-DCD78E80F574}"/>
              </a:ext>
            </a:extLst>
          </p:cNvPr>
          <p:cNvSpPr txBox="1"/>
          <p:nvPr/>
        </p:nvSpPr>
        <p:spPr>
          <a:xfrm>
            <a:off x="1451579" y="5018878"/>
            <a:ext cx="5341107" cy="923330"/>
          </a:xfrm>
          <a:prstGeom prst="rect">
            <a:avLst/>
          </a:prstGeom>
          <a:noFill/>
        </p:spPr>
        <p:txBody>
          <a:bodyPr wrap="square">
            <a:spAutoFit/>
          </a:bodyPr>
          <a:lstStyle/>
          <a:p>
            <a:pPr algn="l"/>
            <a:r>
              <a:rPr lang="en-IN" sz="1800" b="1" i="0" u="none" strike="noStrike" baseline="0" dirty="0">
                <a:latin typeface="Arial Narrow,Bold"/>
              </a:rPr>
              <a:t>Attributes</a:t>
            </a:r>
          </a:p>
          <a:p>
            <a:pPr algn="l"/>
            <a:r>
              <a:rPr lang="en-US" sz="1800" b="0" i="0" u="none" strike="noStrike" baseline="0" dirty="0">
                <a:latin typeface="Arial Narrow" panose="020B0606020202030204" pitchFamily="34" charset="0"/>
              </a:rPr>
              <a:t>Properties/characteristics which describe entities are called attributes.</a:t>
            </a:r>
            <a:endParaRPr lang="en-IN" dirty="0"/>
          </a:p>
        </p:txBody>
      </p:sp>
      <p:pic>
        <p:nvPicPr>
          <p:cNvPr id="17" name="Picture 16">
            <a:extLst>
              <a:ext uri="{FF2B5EF4-FFF2-40B4-BE49-F238E27FC236}">
                <a16:creationId xmlns:a16="http://schemas.microsoft.com/office/drawing/2014/main" xmlns="" id="{338235D2-D649-CC24-8CDE-102E2901670A}"/>
              </a:ext>
            </a:extLst>
          </p:cNvPr>
          <p:cNvPicPr>
            <a:picLocks noChangeAspect="1"/>
          </p:cNvPicPr>
          <p:nvPr/>
        </p:nvPicPr>
        <p:blipFill>
          <a:blip r:embed="rId4"/>
          <a:stretch>
            <a:fillRect/>
          </a:stretch>
        </p:blipFill>
        <p:spPr>
          <a:xfrm>
            <a:off x="6912428" y="5324022"/>
            <a:ext cx="1828800" cy="618186"/>
          </a:xfrm>
          <a:prstGeom prst="rect">
            <a:avLst/>
          </a:prstGeom>
        </p:spPr>
      </p:pic>
    </p:spTree>
    <p:extLst>
      <p:ext uri="{BB962C8B-B14F-4D97-AF65-F5344CB8AC3E}">
        <p14:creationId xmlns:p14="http://schemas.microsoft.com/office/powerpoint/2010/main" val="7103526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DED1810B-D726-3A84-CDD4-BED805FB9A70}"/>
              </a:ext>
            </a:extLst>
          </p:cNvPr>
          <p:cNvSpPr txBox="1"/>
          <p:nvPr/>
        </p:nvSpPr>
        <p:spPr>
          <a:xfrm>
            <a:off x="1435100" y="1498600"/>
            <a:ext cx="9880600" cy="1200329"/>
          </a:xfrm>
          <a:prstGeom prst="rect">
            <a:avLst/>
          </a:prstGeom>
          <a:noFill/>
        </p:spPr>
        <p:txBody>
          <a:bodyPr wrap="square">
            <a:spAutoFit/>
          </a:bodyPr>
          <a:lstStyle/>
          <a:p>
            <a:pPr algn="l"/>
            <a:r>
              <a:rPr lang="en-IN" sz="1800" b="1" i="0" u="none" strike="noStrike" baseline="0" dirty="0">
                <a:latin typeface="Arial Narrow,Bold"/>
              </a:rPr>
              <a:t>Domain of Attributes</a:t>
            </a:r>
          </a:p>
          <a:p>
            <a:pPr algn="l"/>
            <a:r>
              <a:rPr lang="en-US" sz="1800" b="0" i="0" u="none" strike="noStrike" baseline="0" dirty="0">
                <a:latin typeface="Arial Narrow" panose="020B0606020202030204" pitchFamily="34" charset="0"/>
              </a:rPr>
              <a:t>The set of possible values that an attribute can take is called the domain of the attribute. For example, the</a:t>
            </a:r>
          </a:p>
          <a:p>
            <a:pPr algn="l"/>
            <a:r>
              <a:rPr lang="en-US" sz="1800" b="0" i="0" u="none" strike="noStrike" baseline="0" dirty="0">
                <a:latin typeface="Arial Narrow" panose="020B0606020202030204" pitchFamily="34" charset="0"/>
              </a:rPr>
              <a:t>attribute day may take any value from the set {Monday, Tuesday ... Friday}. Hence this set can be termed as the</a:t>
            </a:r>
          </a:p>
          <a:p>
            <a:pPr algn="l"/>
            <a:r>
              <a:rPr lang="en-US" sz="1800" b="0" i="0" u="none" strike="noStrike" baseline="0" dirty="0">
                <a:latin typeface="Arial Narrow" panose="020B0606020202030204" pitchFamily="34" charset="0"/>
              </a:rPr>
              <a:t>domain of the attribute day.</a:t>
            </a:r>
            <a:endParaRPr lang="en-IN" dirty="0"/>
          </a:p>
        </p:txBody>
      </p:sp>
      <p:sp>
        <p:nvSpPr>
          <p:cNvPr id="7" name="TextBox 6">
            <a:extLst>
              <a:ext uri="{FF2B5EF4-FFF2-40B4-BE49-F238E27FC236}">
                <a16:creationId xmlns:a16="http://schemas.microsoft.com/office/drawing/2014/main" xmlns="" id="{3F0ADD5C-499E-70B9-4330-E6155DDC79B5}"/>
              </a:ext>
            </a:extLst>
          </p:cNvPr>
          <p:cNvSpPr txBox="1"/>
          <p:nvPr/>
        </p:nvSpPr>
        <p:spPr>
          <a:xfrm>
            <a:off x="1435100" y="2698929"/>
            <a:ext cx="6102350" cy="923330"/>
          </a:xfrm>
          <a:prstGeom prst="rect">
            <a:avLst/>
          </a:prstGeom>
          <a:noFill/>
        </p:spPr>
        <p:txBody>
          <a:bodyPr wrap="square">
            <a:spAutoFit/>
          </a:bodyPr>
          <a:lstStyle/>
          <a:p>
            <a:pPr algn="l"/>
            <a:r>
              <a:rPr lang="en-IN" sz="1800" b="1" i="0" u="none" strike="noStrike" baseline="0" dirty="0">
                <a:latin typeface="Arial Narrow,Bold"/>
              </a:rPr>
              <a:t>Key attribute</a:t>
            </a:r>
          </a:p>
          <a:p>
            <a:pPr algn="l"/>
            <a:r>
              <a:rPr lang="en-US" sz="1800" b="0" i="0" u="none" strike="noStrike" baseline="0" dirty="0">
                <a:latin typeface="Arial Narrow" panose="020B0606020202030204" pitchFamily="34" charset="0"/>
              </a:rPr>
              <a:t>The attribute (or combination of attributes) which is unique for every entity instance is called key attribute.</a:t>
            </a:r>
            <a:endParaRPr lang="en-IN" dirty="0"/>
          </a:p>
        </p:txBody>
      </p:sp>
      <p:pic>
        <p:nvPicPr>
          <p:cNvPr id="9" name="Picture 8">
            <a:extLst>
              <a:ext uri="{FF2B5EF4-FFF2-40B4-BE49-F238E27FC236}">
                <a16:creationId xmlns:a16="http://schemas.microsoft.com/office/drawing/2014/main" xmlns="" id="{B9001774-64A7-C617-11D4-02D2CE84F0C8}"/>
              </a:ext>
            </a:extLst>
          </p:cNvPr>
          <p:cNvPicPr>
            <a:picLocks noChangeAspect="1"/>
          </p:cNvPicPr>
          <p:nvPr/>
        </p:nvPicPr>
        <p:blipFill>
          <a:blip r:embed="rId2"/>
          <a:stretch>
            <a:fillRect/>
          </a:stretch>
        </p:blipFill>
        <p:spPr>
          <a:xfrm>
            <a:off x="7537450" y="2926800"/>
            <a:ext cx="2034862" cy="695459"/>
          </a:xfrm>
          <a:prstGeom prst="rect">
            <a:avLst/>
          </a:prstGeom>
        </p:spPr>
      </p:pic>
      <p:sp>
        <p:nvSpPr>
          <p:cNvPr id="11" name="TextBox 10">
            <a:extLst>
              <a:ext uri="{FF2B5EF4-FFF2-40B4-BE49-F238E27FC236}">
                <a16:creationId xmlns:a16="http://schemas.microsoft.com/office/drawing/2014/main" xmlns="" id="{F9E219DE-A515-B688-63F1-793DD1E6A3CE}"/>
              </a:ext>
            </a:extLst>
          </p:cNvPr>
          <p:cNvSpPr txBox="1"/>
          <p:nvPr/>
        </p:nvSpPr>
        <p:spPr>
          <a:xfrm>
            <a:off x="1435100" y="3624289"/>
            <a:ext cx="6102350" cy="923330"/>
          </a:xfrm>
          <a:prstGeom prst="rect">
            <a:avLst/>
          </a:prstGeom>
          <a:noFill/>
        </p:spPr>
        <p:txBody>
          <a:bodyPr wrap="square">
            <a:spAutoFit/>
          </a:bodyPr>
          <a:lstStyle/>
          <a:p>
            <a:pPr algn="l"/>
            <a:r>
              <a:rPr lang="en-IN" sz="1800" b="1" i="0" u="none" strike="noStrike" baseline="0" dirty="0">
                <a:latin typeface="Arial Narrow,Bold"/>
              </a:rPr>
              <a:t>Simple attribute</a:t>
            </a:r>
          </a:p>
          <a:p>
            <a:pPr algn="l"/>
            <a:r>
              <a:rPr lang="en-US" sz="1800" b="0" i="0" u="none" strike="noStrike" baseline="0" dirty="0">
                <a:latin typeface="Arial Narrow" panose="020B0606020202030204" pitchFamily="34" charset="0"/>
              </a:rPr>
              <a:t>If an attribute cannot be divided into simpler components, it is a simple attribute</a:t>
            </a:r>
            <a:endParaRPr lang="en-IN" dirty="0"/>
          </a:p>
        </p:txBody>
      </p:sp>
      <p:sp>
        <p:nvSpPr>
          <p:cNvPr id="13" name="TextBox 12">
            <a:extLst>
              <a:ext uri="{FF2B5EF4-FFF2-40B4-BE49-F238E27FC236}">
                <a16:creationId xmlns:a16="http://schemas.microsoft.com/office/drawing/2014/main" xmlns="" id="{2C07B2F2-F9A8-F025-5615-FB1EAA02C112}"/>
              </a:ext>
            </a:extLst>
          </p:cNvPr>
          <p:cNvSpPr txBox="1"/>
          <p:nvPr/>
        </p:nvSpPr>
        <p:spPr>
          <a:xfrm>
            <a:off x="1527175" y="4547619"/>
            <a:ext cx="6102350" cy="923330"/>
          </a:xfrm>
          <a:prstGeom prst="rect">
            <a:avLst/>
          </a:prstGeom>
          <a:noFill/>
        </p:spPr>
        <p:txBody>
          <a:bodyPr wrap="square">
            <a:spAutoFit/>
          </a:bodyPr>
          <a:lstStyle/>
          <a:p>
            <a:pPr algn="l"/>
            <a:r>
              <a:rPr lang="en-IN" sz="1800" b="1" i="0" u="none" strike="noStrike" baseline="0" dirty="0">
                <a:latin typeface="Arial Narrow,Bold"/>
              </a:rPr>
              <a:t>Composite attribute</a:t>
            </a:r>
          </a:p>
          <a:p>
            <a:pPr algn="l"/>
            <a:r>
              <a:rPr lang="en-US" sz="1800" b="0" i="0" u="none" strike="noStrike" baseline="0" dirty="0">
                <a:latin typeface="Arial Narrow" panose="020B0606020202030204" pitchFamily="34" charset="0"/>
              </a:rPr>
              <a:t>If an attribute can be split into components, it is called a composite attribute.</a:t>
            </a:r>
            <a:endParaRPr lang="en-IN" dirty="0"/>
          </a:p>
        </p:txBody>
      </p:sp>
    </p:spTree>
    <p:extLst>
      <p:ext uri="{BB962C8B-B14F-4D97-AF65-F5344CB8AC3E}">
        <p14:creationId xmlns:p14="http://schemas.microsoft.com/office/powerpoint/2010/main" val="24547583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2CA218C0-F2F3-FBF0-D1B0-C2D1655890C5}"/>
              </a:ext>
            </a:extLst>
          </p:cNvPr>
          <p:cNvSpPr txBox="1"/>
          <p:nvPr/>
        </p:nvSpPr>
        <p:spPr>
          <a:xfrm>
            <a:off x="1336674" y="1428175"/>
            <a:ext cx="8886825" cy="892552"/>
          </a:xfrm>
          <a:prstGeom prst="rect">
            <a:avLst/>
          </a:prstGeom>
          <a:noFill/>
        </p:spPr>
        <p:txBody>
          <a:bodyPr wrap="square">
            <a:spAutoFit/>
          </a:bodyPr>
          <a:lstStyle/>
          <a:p>
            <a:pPr algn="l"/>
            <a:r>
              <a:rPr lang="en-IN" sz="1800" b="1" i="0" u="none" strike="noStrike" baseline="0" dirty="0">
                <a:solidFill>
                  <a:srgbClr val="000000"/>
                </a:solidFill>
                <a:latin typeface="Arial Narrow,Bold"/>
              </a:rPr>
              <a:t>Single valued Attributes</a:t>
            </a:r>
          </a:p>
          <a:p>
            <a:pPr algn="l"/>
            <a:endParaRPr lang="en-IN" sz="1600" b="1" i="0" u="none" strike="noStrike" baseline="0" dirty="0">
              <a:solidFill>
                <a:srgbClr val="FFFFFF"/>
              </a:solidFill>
              <a:latin typeface="Times New Roman" panose="02020603050405020304" pitchFamily="18" charset="0"/>
            </a:endParaRPr>
          </a:p>
          <a:p>
            <a:pPr algn="l"/>
            <a:r>
              <a:rPr lang="en-US" sz="1800" b="0" i="0" u="none" strike="noStrike" baseline="0" dirty="0">
                <a:solidFill>
                  <a:srgbClr val="000000"/>
                </a:solidFill>
                <a:latin typeface="Arial Narrow" panose="020B0606020202030204" pitchFamily="34" charset="0"/>
              </a:rPr>
              <a:t>If an attribute can take only a single value for each entity instance, it is a single valued attribute</a:t>
            </a:r>
            <a:endParaRPr lang="en-IN" dirty="0"/>
          </a:p>
        </p:txBody>
      </p:sp>
      <p:sp>
        <p:nvSpPr>
          <p:cNvPr id="7" name="TextBox 6">
            <a:extLst>
              <a:ext uri="{FF2B5EF4-FFF2-40B4-BE49-F238E27FC236}">
                <a16:creationId xmlns:a16="http://schemas.microsoft.com/office/drawing/2014/main" xmlns="" id="{5BD1877F-AB54-BD6F-AB96-C56F68FDED9D}"/>
              </a:ext>
            </a:extLst>
          </p:cNvPr>
          <p:cNvSpPr txBox="1"/>
          <p:nvPr/>
        </p:nvSpPr>
        <p:spPr>
          <a:xfrm>
            <a:off x="1336674" y="2485707"/>
            <a:ext cx="6102350" cy="923330"/>
          </a:xfrm>
          <a:prstGeom prst="rect">
            <a:avLst/>
          </a:prstGeom>
          <a:noFill/>
        </p:spPr>
        <p:txBody>
          <a:bodyPr wrap="square">
            <a:spAutoFit/>
          </a:bodyPr>
          <a:lstStyle/>
          <a:p>
            <a:pPr algn="l"/>
            <a:r>
              <a:rPr lang="en-IN" sz="1800" b="1" i="0" u="none" strike="noStrike" baseline="0" dirty="0">
                <a:latin typeface="Arial Narrow,Bold"/>
              </a:rPr>
              <a:t>Multi-valued Attributes</a:t>
            </a:r>
          </a:p>
          <a:p>
            <a:pPr algn="l"/>
            <a:r>
              <a:rPr lang="en-US" sz="1800" b="0" i="0" u="none" strike="noStrike" baseline="0" dirty="0">
                <a:latin typeface="Arial Narrow" panose="020B0606020202030204" pitchFamily="34" charset="0"/>
              </a:rPr>
              <a:t>If an attribute can take more than one value for each entity instance, it is a multi-valued attribute.</a:t>
            </a:r>
            <a:endParaRPr lang="en-IN" dirty="0"/>
          </a:p>
        </p:txBody>
      </p:sp>
      <p:pic>
        <p:nvPicPr>
          <p:cNvPr id="9" name="Picture 8">
            <a:extLst>
              <a:ext uri="{FF2B5EF4-FFF2-40B4-BE49-F238E27FC236}">
                <a16:creationId xmlns:a16="http://schemas.microsoft.com/office/drawing/2014/main" xmlns="" id="{D5BE267A-F13C-10EE-4074-7F51988341D6}"/>
              </a:ext>
            </a:extLst>
          </p:cNvPr>
          <p:cNvPicPr>
            <a:picLocks noChangeAspect="1"/>
          </p:cNvPicPr>
          <p:nvPr/>
        </p:nvPicPr>
        <p:blipFill>
          <a:blip r:embed="rId2"/>
          <a:stretch>
            <a:fillRect/>
          </a:stretch>
        </p:blipFill>
        <p:spPr>
          <a:xfrm>
            <a:off x="7871317" y="2682025"/>
            <a:ext cx="2215166" cy="746975"/>
          </a:xfrm>
          <a:prstGeom prst="rect">
            <a:avLst/>
          </a:prstGeom>
        </p:spPr>
      </p:pic>
      <p:sp>
        <p:nvSpPr>
          <p:cNvPr id="11" name="TextBox 10">
            <a:extLst>
              <a:ext uri="{FF2B5EF4-FFF2-40B4-BE49-F238E27FC236}">
                <a16:creationId xmlns:a16="http://schemas.microsoft.com/office/drawing/2014/main" xmlns="" id="{56CC77F0-DDB4-07CB-1278-652AD6D44A85}"/>
              </a:ext>
            </a:extLst>
          </p:cNvPr>
          <p:cNvSpPr txBox="1"/>
          <p:nvPr/>
        </p:nvSpPr>
        <p:spPr>
          <a:xfrm>
            <a:off x="1336674" y="3409037"/>
            <a:ext cx="6102350" cy="2308324"/>
          </a:xfrm>
          <a:prstGeom prst="rect">
            <a:avLst/>
          </a:prstGeom>
          <a:noFill/>
        </p:spPr>
        <p:txBody>
          <a:bodyPr wrap="square">
            <a:spAutoFit/>
          </a:bodyPr>
          <a:lstStyle/>
          <a:p>
            <a:pPr algn="l"/>
            <a:r>
              <a:rPr lang="en-IN" sz="1800" b="1" i="0" u="none" strike="noStrike" baseline="0" dirty="0">
                <a:latin typeface="Arial Narrow,Bold"/>
              </a:rPr>
              <a:t>Stored Attribute</a:t>
            </a:r>
          </a:p>
          <a:p>
            <a:pPr algn="l"/>
            <a:r>
              <a:rPr lang="en-US" sz="1800" b="0" i="0" u="none" strike="noStrike" baseline="0" dirty="0">
                <a:latin typeface="Arial Narrow" panose="020B0606020202030204" pitchFamily="34" charset="0"/>
              </a:rPr>
              <a:t>An attribute which need to be stored permanently is a stored attribute</a:t>
            </a:r>
          </a:p>
          <a:p>
            <a:pPr algn="l"/>
            <a:r>
              <a:rPr lang="en-US" sz="1800" b="0" i="0" u="none" strike="noStrike" baseline="0" dirty="0">
                <a:latin typeface="Arial Narrow" panose="020B0606020202030204" pitchFamily="34" charset="0"/>
              </a:rPr>
              <a:t>Example for stored attribute : name of a student</a:t>
            </a:r>
          </a:p>
          <a:p>
            <a:pPr algn="l"/>
            <a:r>
              <a:rPr lang="en-IN" sz="1800" b="1" i="0" u="none" strike="noStrike" baseline="0" dirty="0">
                <a:latin typeface="Arial Narrow,Bold"/>
              </a:rPr>
              <a:t>Derived Attribute</a:t>
            </a:r>
          </a:p>
          <a:p>
            <a:pPr algn="l"/>
            <a:r>
              <a:rPr lang="en-US" sz="1800" b="0" i="0" u="none" strike="noStrike" baseline="0" dirty="0">
                <a:latin typeface="Arial Narrow" panose="020B0606020202030204" pitchFamily="34" charset="0"/>
              </a:rPr>
              <a:t>An attribute which can be calculated or derived based on other attributes is a derived attribute.</a:t>
            </a:r>
          </a:p>
          <a:p>
            <a:pPr algn="l"/>
            <a:r>
              <a:rPr lang="en-US" sz="1800" b="0" i="0" u="none" strike="noStrike" baseline="0" dirty="0">
                <a:latin typeface="Arial Narrow" panose="020B0606020202030204" pitchFamily="34" charset="0"/>
              </a:rPr>
              <a:t>Example for derived attribute : age of employee which can be calculated from date of birth and current date.</a:t>
            </a:r>
            <a:endParaRPr lang="en-IN" dirty="0"/>
          </a:p>
        </p:txBody>
      </p:sp>
      <p:pic>
        <p:nvPicPr>
          <p:cNvPr id="13" name="Picture 12">
            <a:extLst>
              <a:ext uri="{FF2B5EF4-FFF2-40B4-BE49-F238E27FC236}">
                <a16:creationId xmlns:a16="http://schemas.microsoft.com/office/drawing/2014/main" xmlns="" id="{AB82726A-8D3E-B9B9-BEFD-0C49745B236E}"/>
              </a:ext>
            </a:extLst>
          </p:cNvPr>
          <p:cNvPicPr>
            <a:picLocks noChangeAspect="1"/>
          </p:cNvPicPr>
          <p:nvPr/>
        </p:nvPicPr>
        <p:blipFill>
          <a:blip r:embed="rId3"/>
          <a:stretch>
            <a:fillRect/>
          </a:stretch>
        </p:blipFill>
        <p:spPr>
          <a:xfrm>
            <a:off x="7871317" y="4563199"/>
            <a:ext cx="2215166" cy="746975"/>
          </a:xfrm>
          <a:prstGeom prst="rect">
            <a:avLst/>
          </a:prstGeom>
        </p:spPr>
      </p:pic>
    </p:spTree>
    <p:extLst>
      <p:ext uri="{BB962C8B-B14F-4D97-AF65-F5344CB8AC3E}">
        <p14:creationId xmlns:p14="http://schemas.microsoft.com/office/powerpoint/2010/main" val="13705714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B4EC39BA-E276-747B-A37B-52D7B5F09EFF}"/>
              </a:ext>
            </a:extLst>
          </p:cNvPr>
          <p:cNvSpPr txBox="1"/>
          <p:nvPr/>
        </p:nvSpPr>
        <p:spPr>
          <a:xfrm>
            <a:off x="1412875" y="1951672"/>
            <a:ext cx="6102350" cy="1477328"/>
          </a:xfrm>
          <a:prstGeom prst="rect">
            <a:avLst/>
          </a:prstGeom>
          <a:noFill/>
        </p:spPr>
        <p:txBody>
          <a:bodyPr wrap="square">
            <a:spAutoFit/>
          </a:bodyPr>
          <a:lstStyle/>
          <a:p>
            <a:pPr algn="l"/>
            <a:r>
              <a:rPr lang="en-IN" sz="1800" b="1" i="0" u="none" strike="noStrike" baseline="0" dirty="0">
                <a:latin typeface="Arial Narrow,Bold"/>
              </a:rPr>
              <a:t>Relationships</a:t>
            </a:r>
          </a:p>
          <a:p>
            <a:pPr algn="l"/>
            <a:r>
              <a:rPr lang="en-US" sz="1800" b="0" i="0" u="none" strike="noStrike" baseline="0" dirty="0">
                <a:latin typeface="Arial Narrow" panose="020B0606020202030204" pitchFamily="34" charset="0"/>
              </a:rPr>
              <a:t>Associations between entities are called relationships</a:t>
            </a:r>
          </a:p>
          <a:p>
            <a:pPr algn="l"/>
            <a:r>
              <a:rPr lang="en-US" sz="1800" b="0" i="0" u="none" strike="noStrike" baseline="0" dirty="0">
                <a:latin typeface="Arial Narrow" panose="020B0606020202030204" pitchFamily="34" charset="0"/>
              </a:rPr>
              <a:t>Example : An employee works for an organization. Here "works for" is a relation between the entities employee</a:t>
            </a:r>
          </a:p>
          <a:p>
            <a:pPr algn="l"/>
            <a:r>
              <a:rPr lang="en-IN" sz="1800" b="0" i="0" u="none" strike="noStrike" baseline="0" dirty="0">
                <a:latin typeface="Arial Narrow" panose="020B0606020202030204" pitchFamily="34" charset="0"/>
              </a:rPr>
              <a:t>and organization.</a:t>
            </a:r>
            <a:endParaRPr lang="en-IN" dirty="0"/>
          </a:p>
        </p:txBody>
      </p:sp>
      <p:pic>
        <p:nvPicPr>
          <p:cNvPr id="7" name="Picture 6">
            <a:extLst>
              <a:ext uri="{FF2B5EF4-FFF2-40B4-BE49-F238E27FC236}">
                <a16:creationId xmlns:a16="http://schemas.microsoft.com/office/drawing/2014/main" xmlns="" id="{FEE7AA82-6CA0-2A2F-8B05-2EE77C958B15}"/>
              </a:ext>
            </a:extLst>
          </p:cNvPr>
          <p:cNvPicPr>
            <a:picLocks noChangeAspect="1"/>
          </p:cNvPicPr>
          <p:nvPr/>
        </p:nvPicPr>
        <p:blipFill>
          <a:blip r:embed="rId2"/>
          <a:stretch>
            <a:fillRect/>
          </a:stretch>
        </p:blipFill>
        <p:spPr>
          <a:xfrm>
            <a:off x="8180946" y="1903211"/>
            <a:ext cx="1519707" cy="1500389"/>
          </a:xfrm>
          <a:prstGeom prst="rect">
            <a:avLst/>
          </a:prstGeom>
        </p:spPr>
      </p:pic>
      <p:sp>
        <p:nvSpPr>
          <p:cNvPr id="9" name="TextBox 8">
            <a:extLst>
              <a:ext uri="{FF2B5EF4-FFF2-40B4-BE49-F238E27FC236}">
                <a16:creationId xmlns:a16="http://schemas.microsoft.com/office/drawing/2014/main" xmlns="" id="{F340D768-F4E4-CA03-A51B-0B643B715143}"/>
              </a:ext>
            </a:extLst>
          </p:cNvPr>
          <p:cNvSpPr txBox="1"/>
          <p:nvPr/>
        </p:nvSpPr>
        <p:spPr>
          <a:xfrm>
            <a:off x="1412875" y="4084082"/>
            <a:ext cx="6102350" cy="369332"/>
          </a:xfrm>
          <a:prstGeom prst="rect">
            <a:avLst/>
          </a:prstGeom>
          <a:noFill/>
        </p:spPr>
        <p:txBody>
          <a:bodyPr wrap="square">
            <a:spAutoFit/>
          </a:bodyPr>
          <a:lstStyle/>
          <a:p>
            <a:r>
              <a:rPr lang="en-IN" sz="1800" b="0" i="0" u="none" strike="noStrike" baseline="0" dirty="0">
                <a:latin typeface="Arial Narrow" panose="020B0606020202030204" pitchFamily="34" charset="0"/>
              </a:rPr>
              <a:t>weak relationship notation</a:t>
            </a:r>
            <a:endParaRPr lang="en-IN" dirty="0"/>
          </a:p>
        </p:txBody>
      </p:sp>
      <p:pic>
        <p:nvPicPr>
          <p:cNvPr id="11" name="Picture 10">
            <a:extLst>
              <a:ext uri="{FF2B5EF4-FFF2-40B4-BE49-F238E27FC236}">
                <a16:creationId xmlns:a16="http://schemas.microsoft.com/office/drawing/2014/main" xmlns="" id="{941D1A30-9BCE-F4CE-A806-D991A68E77C4}"/>
              </a:ext>
            </a:extLst>
          </p:cNvPr>
          <p:cNvPicPr>
            <a:picLocks noChangeAspect="1"/>
          </p:cNvPicPr>
          <p:nvPr/>
        </p:nvPicPr>
        <p:blipFill>
          <a:blip r:embed="rId3"/>
          <a:stretch>
            <a:fillRect/>
          </a:stretch>
        </p:blipFill>
        <p:spPr>
          <a:xfrm>
            <a:off x="4197780" y="3530084"/>
            <a:ext cx="1527773" cy="1477328"/>
          </a:xfrm>
          <a:prstGeom prst="rect">
            <a:avLst/>
          </a:prstGeom>
        </p:spPr>
      </p:pic>
    </p:spTree>
    <p:extLst>
      <p:ext uri="{BB962C8B-B14F-4D97-AF65-F5344CB8AC3E}">
        <p14:creationId xmlns:p14="http://schemas.microsoft.com/office/powerpoint/2010/main" val="41044137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F272A915-4326-CB95-AB4F-3D5F00903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7050" y="439886"/>
            <a:ext cx="8597900" cy="5978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2761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xmlns="" id="{D16430F5-03FB-1A61-F195-B805584BB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300" y="244931"/>
            <a:ext cx="9702800" cy="6368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4115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04620A2-9E1D-F9C4-66E5-D02B074B1BA2}"/>
              </a:ext>
            </a:extLst>
          </p:cNvPr>
          <p:cNvSpPr txBox="1"/>
          <p:nvPr/>
        </p:nvSpPr>
        <p:spPr>
          <a:xfrm>
            <a:off x="1425574" y="1366788"/>
            <a:ext cx="9521826" cy="2554545"/>
          </a:xfrm>
          <a:prstGeom prst="rect">
            <a:avLst/>
          </a:prstGeom>
          <a:noFill/>
        </p:spPr>
        <p:txBody>
          <a:bodyPr wrap="square">
            <a:spAutoFit/>
          </a:bodyPr>
          <a:lstStyle/>
          <a:p>
            <a:pPr algn="l"/>
            <a:r>
              <a:rPr lang="en-IN" sz="2000" b="1" i="0" u="none" strike="noStrike" baseline="0" dirty="0">
                <a:latin typeface="Arial Narrow,Bold"/>
              </a:rPr>
              <a:t>Cardinality of a Relationship</a:t>
            </a:r>
          </a:p>
          <a:p>
            <a:pPr algn="l"/>
            <a:endParaRPr lang="en-IN" sz="2000" b="1" i="0" u="none" strike="noStrike" baseline="0" dirty="0">
              <a:latin typeface="Arial Narrow,Bold"/>
            </a:endParaRPr>
          </a:p>
          <a:p>
            <a:pPr algn="l"/>
            <a:r>
              <a:rPr lang="en-US" sz="2000" b="0" i="0" u="none" strike="noStrike" baseline="0" dirty="0">
                <a:latin typeface="Arial Narrow" panose="020B0606020202030204" pitchFamily="34" charset="0"/>
              </a:rPr>
              <a:t>Relationship cardinalities specify how many of each entity type is allowed. Relationships can have four possible </a:t>
            </a:r>
            <a:r>
              <a:rPr lang="en-IN" sz="2000" b="0" i="0" u="none" strike="noStrike" baseline="0" dirty="0" err="1">
                <a:latin typeface="Arial Narrow" panose="020B0606020202030204" pitchFamily="34" charset="0"/>
              </a:rPr>
              <a:t>connectivities</a:t>
            </a:r>
            <a:r>
              <a:rPr lang="en-IN" sz="2000" b="0" i="0" u="none" strike="noStrike" baseline="0" dirty="0">
                <a:latin typeface="Arial Narrow" panose="020B0606020202030204" pitchFamily="34" charset="0"/>
              </a:rPr>
              <a:t> as given below.</a:t>
            </a:r>
          </a:p>
          <a:p>
            <a:pPr algn="l"/>
            <a:r>
              <a:rPr lang="en-US" sz="2000" b="0" i="0" u="none" strike="noStrike" baseline="0" dirty="0">
                <a:latin typeface="Arial Narrow" panose="020B0606020202030204" pitchFamily="34" charset="0"/>
              </a:rPr>
              <a:t>1. One to one (1:1) relationship</a:t>
            </a:r>
          </a:p>
          <a:p>
            <a:pPr algn="l"/>
            <a:r>
              <a:rPr lang="en-US" sz="2000" b="0" i="0" u="none" strike="noStrike" baseline="0" dirty="0">
                <a:latin typeface="Arial Narrow" panose="020B0606020202030204" pitchFamily="34" charset="0"/>
              </a:rPr>
              <a:t>2. One to many (1:N) relationship</a:t>
            </a:r>
          </a:p>
          <a:p>
            <a:pPr algn="l"/>
            <a:r>
              <a:rPr lang="en-US" sz="2000" b="0" i="0" u="none" strike="noStrike" baseline="0" dirty="0">
                <a:latin typeface="Arial Narrow" panose="020B0606020202030204" pitchFamily="34" charset="0"/>
              </a:rPr>
              <a:t>3. Many to one (M:1) relationship</a:t>
            </a:r>
          </a:p>
          <a:p>
            <a:pPr algn="l"/>
            <a:r>
              <a:rPr lang="en-US" sz="2000" b="0" i="0" u="none" strike="noStrike" baseline="0" dirty="0">
                <a:latin typeface="Arial Narrow" panose="020B0606020202030204" pitchFamily="34" charset="0"/>
              </a:rPr>
              <a:t>4. Many to many (M:N) relationship</a:t>
            </a:r>
            <a:endParaRPr lang="en-IN" sz="2000" dirty="0"/>
          </a:p>
        </p:txBody>
      </p:sp>
      <p:sp>
        <p:nvSpPr>
          <p:cNvPr id="7" name="TextBox 6">
            <a:extLst>
              <a:ext uri="{FF2B5EF4-FFF2-40B4-BE49-F238E27FC236}">
                <a16:creationId xmlns:a16="http://schemas.microsoft.com/office/drawing/2014/main" xmlns="" id="{7163CEB6-AE5A-BAB9-4D8F-9414DC1B537C}"/>
              </a:ext>
            </a:extLst>
          </p:cNvPr>
          <p:cNvSpPr txBox="1"/>
          <p:nvPr/>
        </p:nvSpPr>
        <p:spPr>
          <a:xfrm>
            <a:off x="1425574" y="4012684"/>
            <a:ext cx="6102350" cy="369332"/>
          </a:xfrm>
          <a:prstGeom prst="rect">
            <a:avLst/>
          </a:prstGeom>
          <a:noFill/>
        </p:spPr>
        <p:txBody>
          <a:bodyPr wrap="square">
            <a:spAutoFit/>
          </a:bodyPr>
          <a:lstStyle/>
          <a:p>
            <a:r>
              <a:rPr lang="en-IN" sz="1800" b="1" i="0" u="none" strike="noStrike" baseline="0" dirty="0">
                <a:latin typeface="Arial Narrow,Bold"/>
              </a:rPr>
              <a:t>One-to-One (1:1)</a:t>
            </a:r>
            <a:endParaRPr lang="en-IN" dirty="0"/>
          </a:p>
        </p:txBody>
      </p:sp>
      <p:pic>
        <p:nvPicPr>
          <p:cNvPr id="9" name="Picture 8">
            <a:extLst>
              <a:ext uri="{FF2B5EF4-FFF2-40B4-BE49-F238E27FC236}">
                <a16:creationId xmlns:a16="http://schemas.microsoft.com/office/drawing/2014/main" xmlns="" id="{632A2B10-6ED2-94F9-626F-4118232C14D5}"/>
              </a:ext>
            </a:extLst>
          </p:cNvPr>
          <p:cNvPicPr>
            <a:picLocks noChangeAspect="1"/>
          </p:cNvPicPr>
          <p:nvPr/>
        </p:nvPicPr>
        <p:blipFill>
          <a:blip r:embed="rId2"/>
          <a:stretch>
            <a:fillRect/>
          </a:stretch>
        </p:blipFill>
        <p:spPr>
          <a:xfrm>
            <a:off x="3200401" y="4012684"/>
            <a:ext cx="4175124" cy="2666646"/>
          </a:xfrm>
          <a:prstGeom prst="rect">
            <a:avLst/>
          </a:prstGeom>
        </p:spPr>
      </p:pic>
      <p:pic>
        <p:nvPicPr>
          <p:cNvPr id="11" name="Picture 10">
            <a:extLst>
              <a:ext uri="{FF2B5EF4-FFF2-40B4-BE49-F238E27FC236}">
                <a16:creationId xmlns:a16="http://schemas.microsoft.com/office/drawing/2014/main" xmlns="" id="{F24793BB-0064-49A8-33B4-A77B056B53B4}"/>
              </a:ext>
            </a:extLst>
          </p:cNvPr>
          <p:cNvPicPr>
            <a:picLocks noChangeAspect="1"/>
          </p:cNvPicPr>
          <p:nvPr/>
        </p:nvPicPr>
        <p:blipFill>
          <a:blip r:embed="rId3"/>
          <a:stretch>
            <a:fillRect/>
          </a:stretch>
        </p:blipFill>
        <p:spPr>
          <a:xfrm>
            <a:off x="7596025" y="4573968"/>
            <a:ext cx="4489947" cy="1090232"/>
          </a:xfrm>
          <a:prstGeom prst="rect">
            <a:avLst/>
          </a:prstGeom>
        </p:spPr>
      </p:pic>
    </p:spTree>
    <p:extLst>
      <p:ext uri="{BB962C8B-B14F-4D97-AF65-F5344CB8AC3E}">
        <p14:creationId xmlns:p14="http://schemas.microsoft.com/office/powerpoint/2010/main" val="20387106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836C4CB7-6B3C-51EA-F014-7DBB0B07B992}"/>
              </a:ext>
            </a:extLst>
          </p:cNvPr>
          <p:cNvSpPr txBox="1"/>
          <p:nvPr/>
        </p:nvSpPr>
        <p:spPr>
          <a:xfrm>
            <a:off x="1412875" y="1383784"/>
            <a:ext cx="6102350" cy="369332"/>
          </a:xfrm>
          <a:prstGeom prst="rect">
            <a:avLst/>
          </a:prstGeom>
          <a:noFill/>
        </p:spPr>
        <p:txBody>
          <a:bodyPr wrap="square">
            <a:spAutoFit/>
          </a:bodyPr>
          <a:lstStyle/>
          <a:p>
            <a:r>
              <a:rPr lang="en-IN" sz="1800" b="1" i="0" u="none" strike="noStrike" baseline="0" dirty="0">
                <a:latin typeface="Arial Narrow,Bold"/>
              </a:rPr>
              <a:t>One-to-Many (1:N)</a:t>
            </a:r>
            <a:endParaRPr lang="en-IN" dirty="0"/>
          </a:p>
        </p:txBody>
      </p:sp>
      <p:pic>
        <p:nvPicPr>
          <p:cNvPr id="7" name="Picture 6">
            <a:extLst>
              <a:ext uri="{FF2B5EF4-FFF2-40B4-BE49-F238E27FC236}">
                <a16:creationId xmlns:a16="http://schemas.microsoft.com/office/drawing/2014/main" xmlns="" id="{3E470392-CD38-2F19-CEF0-ED51FCAE552F}"/>
              </a:ext>
            </a:extLst>
          </p:cNvPr>
          <p:cNvPicPr>
            <a:picLocks noChangeAspect="1"/>
          </p:cNvPicPr>
          <p:nvPr/>
        </p:nvPicPr>
        <p:blipFill>
          <a:blip r:embed="rId2"/>
          <a:stretch>
            <a:fillRect/>
          </a:stretch>
        </p:blipFill>
        <p:spPr>
          <a:xfrm>
            <a:off x="1594475" y="1967605"/>
            <a:ext cx="4080419" cy="3010795"/>
          </a:xfrm>
          <a:prstGeom prst="rect">
            <a:avLst/>
          </a:prstGeom>
        </p:spPr>
      </p:pic>
      <p:pic>
        <p:nvPicPr>
          <p:cNvPr id="9" name="Picture 8">
            <a:extLst>
              <a:ext uri="{FF2B5EF4-FFF2-40B4-BE49-F238E27FC236}">
                <a16:creationId xmlns:a16="http://schemas.microsoft.com/office/drawing/2014/main" xmlns="" id="{372602F0-EE6C-8FB1-CFAF-B231E6E12097}"/>
              </a:ext>
            </a:extLst>
          </p:cNvPr>
          <p:cNvPicPr>
            <a:picLocks noChangeAspect="1"/>
          </p:cNvPicPr>
          <p:nvPr/>
        </p:nvPicPr>
        <p:blipFill>
          <a:blip r:embed="rId3"/>
          <a:stretch>
            <a:fillRect/>
          </a:stretch>
        </p:blipFill>
        <p:spPr>
          <a:xfrm>
            <a:off x="6226756" y="2867695"/>
            <a:ext cx="4945487" cy="1210614"/>
          </a:xfrm>
          <a:prstGeom prst="rect">
            <a:avLst/>
          </a:prstGeom>
        </p:spPr>
      </p:pic>
      <p:sp>
        <p:nvSpPr>
          <p:cNvPr id="11" name="TextBox 10">
            <a:extLst>
              <a:ext uri="{FF2B5EF4-FFF2-40B4-BE49-F238E27FC236}">
                <a16:creationId xmlns:a16="http://schemas.microsoft.com/office/drawing/2014/main" xmlns="" id="{CF9BBCFC-D2A9-900B-388C-C354096A22DB}"/>
              </a:ext>
            </a:extLst>
          </p:cNvPr>
          <p:cNvSpPr txBox="1"/>
          <p:nvPr/>
        </p:nvSpPr>
        <p:spPr>
          <a:xfrm>
            <a:off x="1870075" y="5104885"/>
            <a:ext cx="9302168" cy="646331"/>
          </a:xfrm>
          <a:prstGeom prst="rect">
            <a:avLst/>
          </a:prstGeom>
          <a:noFill/>
        </p:spPr>
        <p:txBody>
          <a:bodyPr wrap="square">
            <a:spAutoFit/>
          </a:bodyPr>
          <a:lstStyle/>
          <a:p>
            <a:pPr algn="l"/>
            <a:r>
              <a:rPr lang="en-US" sz="1800" b="0" i="0" u="none" strike="noStrike" baseline="0" dirty="0">
                <a:latin typeface="Arial Narrow" panose="020B0606020202030204" pitchFamily="34" charset="0"/>
              </a:rPr>
              <a:t>One organization can have many employees , but one employee works in only one organization. Hence it is a</a:t>
            </a:r>
          </a:p>
          <a:p>
            <a:pPr algn="l"/>
            <a:r>
              <a:rPr lang="en-US" sz="1800" b="0" i="0" u="none" strike="noStrike" baseline="0" dirty="0">
                <a:latin typeface="Arial Narrow" panose="020B0606020202030204" pitchFamily="34" charset="0"/>
              </a:rPr>
              <a:t>1:N relationship and cardinality is One-To-Many (1:N)</a:t>
            </a:r>
            <a:endParaRPr lang="en-IN" dirty="0"/>
          </a:p>
        </p:txBody>
      </p:sp>
    </p:spTree>
    <p:extLst>
      <p:ext uri="{BB962C8B-B14F-4D97-AF65-F5344CB8AC3E}">
        <p14:creationId xmlns:p14="http://schemas.microsoft.com/office/powerpoint/2010/main" val="22616222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A890224-270D-6357-CB12-4DF0A0658A45}"/>
              </a:ext>
            </a:extLst>
          </p:cNvPr>
          <p:cNvSpPr txBox="1"/>
          <p:nvPr/>
        </p:nvSpPr>
        <p:spPr>
          <a:xfrm>
            <a:off x="1387475" y="1371084"/>
            <a:ext cx="6102350" cy="369332"/>
          </a:xfrm>
          <a:prstGeom prst="rect">
            <a:avLst/>
          </a:prstGeom>
          <a:noFill/>
        </p:spPr>
        <p:txBody>
          <a:bodyPr wrap="square">
            <a:spAutoFit/>
          </a:bodyPr>
          <a:lstStyle/>
          <a:p>
            <a:r>
              <a:rPr lang="en-IN" sz="1800" b="1" i="0" u="none" strike="noStrike" baseline="0" dirty="0">
                <a:latin typeface="Arial Narrow,Bold"/>
              </a:rPr>
              <a:t>Many-to-One (M :1)</a:t>
            </a:r>
            <a:endParaRPr lang="en-IN" dirty="0"/>
          </a:p>
        </p:txBody>
      </p:sp>
      <p:pic>
        <p:nvPicPr>
          <p:cNvPr id="5" name="Picture 4">
            <a:extLst>
              <a:ext uri="{FF2B5EF4-FFF2-40B4-BE49-F238E27FC236}">
                <a16:creationId xmlns:a16="http://schemas.microsoft.com/office/drawing/2014/main" xmlns="" id="{ACC2F6B8-8C0E-2637-2E21-C9DAA28C53D4}"/>
              </a:ext>
            </a:extLst>
          </p:cNvPr>
          <p:cNvPicPr>
            <a:picLocks noChangeAspect="1"/>
          </p:cNvPicPr>
          <p:nvPr/>
        </p:nvPicPr>
        <p:blipFill>
          <a:blip r:embed="rId2"/>
          <a:stretch>
            <a:fillRect/>
          </a:stretch>
        </p:blipFill>
        <p:spPr>
          <a:xfrm>
            <a:off x="1703767" y="2205507"/>
            <a:ext cx="3374265" cy="2446986"/>
          </a:xfrm>
          <a:prstGeom prst="rect">
            <a:avLst/>
          </a:prstGeom>
        </p:spPr>
      </p:pic>
      <p:sp>
        <p:nvSpPr>
          <p:cNvPr id="7" name="TextBox 6">
            <a:extLst>
              <a:ext uri="{FF2B5EF4-FFF2-40B4-BE49-F238E27FC236}">
                <a16:creationId xmlns:a16="http://schemas.microsoft.com/office/drawing/2014/main" xmlns="" id="{A599BB14-9CF7-E18A-FEFD-998AFC9F4317}"/>
              </a:ext>
            </a:extLst>
          </p:cNvPr>
          <p:cNvSpPr txBox="1"/>
          <p:nvPr/>
        </p:nvSpPr>
        <p:spPr>
          <a:xfrm>
            <a:off x="1703766" y="5025251"/>
            <a:ext cx="9599233" cy="646331"/>
          </a:xfrm>
          <a:prstGeom prst="rect">
            <a:avLst/>
          </a:prstGeom>
          <a:noFill/>
        </p:spPr>
        <p:txBody>
          <a:bodyPr wrap="square">
            <a:spAutoFit/>
          </a:bodyPr>
          <a:lstStyle/>
          <a:p>
            <a:pPr algn="l"/>
            <a:r>
              <a:rPr lang="en-US" sz="1800" b="0" i="0" u="none" strike="noStrike" baseline="0" dirty="0">
                <a:latin typeface="Arial Narrow" panose="020B0606020202030204" pitchFamily="34" charset="0"/>
              </a:rPr>
              <a:t>One employee works in only one organization But one organization can have many employees. Hence it is a</a:t>
            </a:r>
          </a:p>
          <a:p>
            <a:pPr algn="l"/>
            <a:r>
              <a:rPr lang="en-US" sz="1800" b="0" i="0" u="none" strike="noStrike" baseline="0" dirty="0">
                <a:latin typeface="Arial Narrow" panose="020B0606020202030204" pitchFamily="34" charset="0"/>
              </a:rPr>
              <a:t>M:1 relationship and cardinality is Many-to-One (M :1)</a:t>
            </a:r>
            <a:endParaRPr lang="en-IN" dirty="0"/>
          </a:p>
        </p:txBody>
      </p:sp>
      <p:pic>
        <p:nvPicPr>
          <p:cNvPr id="9" name="Picture 8">
            <a:extLst>
              <a:ext uri="{FF2B5EF4-FFF2-40B4-BE49-F238E27FC236}">
                <a16:creationId xmlns:a16="http://schemas.microsoft.com/office/drawing/2014/main" xmlns="" id="{78BCC9F9-9821-0216-2F73-FFA7C726F5B7}"/>
              </a:ext>
            </a:extLst>
          </p:cNvPr>
          <p:cNvPicPr>
            <a:picLocks noChangeAspect="1"/>
          </p:cNvPicPr>
          <p:nvPr/>
        </p:nvPicPr>
        <p:blipFill>
          <a:blip r:embed="rId3"/>
          <a:stretch>
            <a:fillRect/>
          </a:stretch>
        </p:blipFill>
        <p:spPr>
          <a:xfrm>
            <a:off x="6109416" y="2848360"/>
            <a:ext cx="4378817" cy="1068946"/>
          </a:xfrm>
          <a:prstGeom prst="rect">
            <a:avLst/>
          </a:prstGeom>
        </p:spPr>
      </p:pic>
    </p:spTree>
    <p:extLst>
      <p:ext uri="{BB962C8B-B14F-4D97-AF65-F5344CB8AC3E}">
        <p14:creationId xmlns:p14="http://schemas.microsoft.com/office/powerpoint/2010/main" val="12776427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052E0D5-DDB7-F0C0-6AFF-71DCF9CEB3C7}"/>
              </a:ext>
            </a:extLst>
          </p:cNvPr>
          <p:cNvSpPr txBox="1"/>
          <p:nvPr/>
        </p:nvSpPr>
        <p:spPr>
          <a:xfrm>
            <a:off x="1387475" y="1256784"/>
            <a:ext cx="6102350" cy="369332"/>
          </a:xfrm>
          <a:prstGeom prst="rect">
            <a:avLst/>
          </a:prstGeom>
          <a:noFill/>
        </p:spPr>
        <p:txBody>
          <a:bodyPr wrap="square">
            <a:spAutoFit/>
          </a:bodyPr>
          <a:lstStyle/>
          <a:p>
            <a:r>
              <a:rPr lang="en-IN" sz="1800" b="1" i="0" u="none" strike="noStrike" baseline="0" dirty="0">
                <a:latin typeface="Arial Narrow,Bold"/>
              </a:rPr>
              <a:t>Many-to-Many (M:N)</a:t>
            </a:r>
            <a:endParaRPr lang="en-IN" dirty="0"/>
          </a:p>
        </p:txBody>
      </p:sp>
      <p:pic>
        <p:nvPicPr>
          <p:cNvPr id="5" name="Picture 4">
            <a:extLst>
              <a:ext uri="{FF2B5EF4-FFF2-40B4-BE49-F238E27FC236}">
                <a16:creationId xmlns:a16="http://schemas.microsoft.com/office/drawing/2014/main" xmlns="" id="{37A122DB-518D-763B-5A2D-F5FF53FF2A25}"/>
              </a:ext>
            </a:extLst>
          </p:cNvPr>
          <p:cNvPicPr>
            <a:picLocks noChangeAspect="1"/>
          </p:cNvPicPr>
          <p:nvPr/>
        </p:nvPicPr>
        <p:blipFill>
          <a:blip r:embed="rId2"/>
          <a:stretch>
            <a:fillRect/>
          </a:stretch>
        </p:blipFill>
        <p:spPr>
          <a:xfrm>
            <a:off x="1556554" y="2203003"/>
            <a:ext cx="4260045" cy="3069738"/>
          </a:xfrm>
          <a:prstGeom prst="rect">
            <a:avLst/>
          </a:prstGeom>
        </p:spPr>
      </p:pic>
      <p:pic>
        <p:nvPicPr>
          <p:cNvPr id="7" name="Picture 6">
            <a:extLst>
              <a:ext uri="{FF2B5EF4-FFF2-40B4-BE49-F238E27FC236}">
                <a16:creationId xmlns:a16="http://schemas.microsoft.com/office/drawing/2014/main" xmlns="" id="{98413263-E062-E7C0-21E2-733C3B1D0892}"/>
              </a:ext>
            </a:extLst>
          </p:cNvPr>
          <p:cNvPicPr>
            <a:picLocks noChangeAspect="1"/>
          </p:cNvPicPr>
          <p:nvPr/>
        </p:nvPicPr>
        <p:blipFill>
          <a:blip r:embed="rId3"/>
          <a:stretch>
            <a:fillRect/>
          </a:stretch>
        </p:blipFill>
        <p:spPr>
          <a:xfrm>
            <a:off x="6497749" y="2688244"/>
            <a:ext cx="4327301" cy="1049628"/>
          </a:xfrm>
          <a:prstGeom prst="rect">
            <a:avLst/>
          </a:prstGeom>
        </p:spPr>
      </p:pic>
      <p:sp>
        <p:nvSpPr>
          <p:cNvPr id="9" name="TextBox 8">
            <a:extLst>
              <a:ext uri="{FF2B5EF4-FFF2-40B4-BE49-F238E27FC236}">
                <a16:creationId xmlns:a16="http://schemas.microsoft.com/office/drawing/2014/main" xmlns="" id="{F4B46FD3-5E26-F9C3-D3E2-88E5680D9E03}"/>
              </a:ext>
            </a:extLst>
          </p:cNvPr>
          <p:cNvSpPr txBox="1"/>
          <p:nvPr/>
        </p:nvSpPr>
        <p:spPr>
          <a:xfrm>
            <a:off x="1548506" y="5387963"/>
            <a:ext cx="9538594" cy="646331"/>
          </a:xfrm>
          <a:prstGeom prst="rect">
            <a:avLst/>
          </a:prstGeom>
          <a:noFill/>
        </p:spPr>
        <p:txBody>
          <a:bodyPr wrap="square">
            <a:spAutoFit/>
          </a:bodyPr>
          <a:lstStyle/>
          <a:p>
            <a:pPr algn="l"/>
            <a:r>
              <a:rPr lang="en-US" sz="1800" b="0" i="0" u="none" strike="noStrike" baseline="0" dirty="0">
                <a:latin typeface="Arial Narrow" panose="020B0606020202030204" pitchFamily="34" charset="0"/>
              </a:rPr>
              <a:t>One student can enroll for many courses and one course can be enrolled by many students. Hence it is a M:N</a:t>
            </a:r>
          </a:p>
          <a:p>
            <a:pPr algn="l"/>
            <a:r>
              <a:rPr lang="en-US" sz="1800" b="0" i="0" u="none" strike="noStrike" baseline="0" dirty="0">
                <a:latin typeface="Arial Narrow" panose="020B0606020202030204" pitchFamily="34" charset="0"/>
              </a:rPr>
              <a:t>relationship and cardinality is Many-to-Many (M:N)</a:t>
            </a:r>
            <a:endParaRPr lang="en-IN" dirty="0"/>
          </a:p>
        </p:txBody>
      </p:sp>
    </p:spTree>
    <p:extLst>
      <p:ext uri="{BB962C8B-B14F-4D97-AF65-F5344CB8AC3E}">
        <p14:creationId xmlns:p14="http://schemas.microsoft.com/office/powerpoint/2010/main" val="205286593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C72E8B-BC3D-FFF2-FE81-16FA3A37D406}"/>
              </a:ext>
            </a:extLst>
          </p:cNvPr>
          <p:cNvSpPr>
            <a:spLocks noGrp="1"/>
          </p:cNvSpPr>
          <p:nvPr>
            <p:ph type="title"/>
          </p:nvPr>
        </p:nvSpPr>
        <p:spPr/>
        <p:txBody>
          <a:bodyPr>
            <a:normAutofit fontScale="90000"/>
          </a:bodyPr>
          <a:lstStyle/>
          <a:p>
            <a:pPr fontAlgn="base"/>
            <a:r>
              <a:rPr lang="en-US" b="1" i="0" dirty="0">
                <a:solidFill>
                  <a:srgbClr val="273239"/>
                </a:solidFill>
                <a:effectLst/>
                <a:latin typeface="Nunito" pitchFamily="2" charset="0"/>
              </a:rPr>
              <a:t>Degree of Relationship</a:t>
            </a:r>
            <a:br>
              <a:rPr lang="en-US" b="1" i="0" dirty="0">
                <a:solidFill>
                  <a:srgbClr val="273239"/>
                </a:solidFill>
                <a:effectLst/>
                <a:latin typeface="Nunito" pitchFamily="2" charset="0"/>
              </a:rPr>
            </a:br>
            <a:r>
              <a:rPr lang="en-US" b="0" i="0" dirty="0">
                <a:solidFill>
                  <a:srgbClr val="273239"/>
                </a:solidFill>
                <a:effectLst/>
                <a:latin typeface="Nunito" pitchFamily="2" charset="0"/>
              </a:rPr>
              <a:t>. </a:t>
            </a:r>
            <a:br>
              <a:rPr lang="en-US" b="0"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3E2E2C66-91E0-8450-C2D3-A74A713AA8EF}"/>
              </a:ext>
            </a:extLst>
          </p:cNvPr>
          <p:cNvSpPr>
            <a:spLocks noGrp="1"/>
          </p:cNvSpPr>
          <p:nvPr>
            <p:ph idx="1"/>
          </p:nvPr>
        </p:nvSpPr>
        <p:spPr/>
        <p:txBody>
          <a:bodyPr/>
          <a:lstStyle/>
          <a:p>
            <a:r>
              <a:rPr lang="en-US" b="0" i="0">
                <a:solidFill>
                  <a:srgbClr val="273239"/>
                </a:solidFill>
                <a:effectLst/>
                <a:latin typeface="Nunito" pitchFamily="2" charset="0"/>
              </a:rPr>
              <a:t>In DBMS, a degree of relationship represents the number of entity types that associate in a relationship</a:t>
            </a:r>
            <a:endParaRPr lang="en-IN" dirty="0"/>
          </a:p>
        </p:txBody>
      </p:sp>
      <p:sp>
        <p:nvSpPr>
          <p:cNvPr id="5" name="TextBox 4">
            <a:extLst>
              <a:ext uri="{FF2B5EF4-FFF2-40B4-BE49-F238E27FC236}">
                <a16:creationId xmlns:a16="http://schemas.microsoft.com/office/drawing/2014/main" xmlns="" id="{CAE70D0B-C5E5-1B06-23EE-292D3D45A9D7}"/>
              </a:ext>
            </a:extLst>
          </p:cNvPr>
          <p:cNvSpPr txBox="1"/>
          <p:nvPr/>
        </p:nvSpPr>
        <p:spPr>
          <a:xfrm>
            <a:off x="1451579" y="2873828"/>
            <a:ext cx="6101442" cy="1477328"/>
          </a:xfrm>
          <a:prstGeom prst="rect">
            <a:avLst/>
          </a:prstGeom>
          <a:noFill/>
        </p:spPr>
        <p:txBody>
          <a:bodyPr wrap="square">
            <a:spAutoFit/>
          </a:bodyPr>
          <a:lstStyle/>
          <a:p>
            <a:pPr algn="just" fontAlgn="base"/>
            <a:r>
              <a:rPr lang="en-US" b="1" i="0" dirty="0">
                <a:solidFill>
                  <a:srgbClr val="273239"/>
                </a:solidFill>
                <a:effectLst/>
                <a:latin typeface="Nunito" pitchFamily="2" charset="0"/>
              </a:rPr>
              <a:t>Unary</a:t>
            </a:r>
          </a:p>
          <a:p>
            <a:pPr algn="just" fontAlgn="base"/>
            <a:r>
              <a:rPr lang="en-US" b="0" i="0" dirty="0">
                <a:solidFill>
                  <a:srgbClr val="273239"/>
                </a:solidFill>
                <a:effectLst/>
                <a:latin typeface="Nunito" pitchFamily="2" charset="0"/>
              </a:rPr>
              <a:t>In this type of relationship, both the associating entity type are the same. So, we can say that unary relationships exist when both entity types are the same and we call them the degree of relationship is 1.</a:t>
            </a:r>
          </a:p>
        </p:txBody>
      </p:sp>
      <p:sp>
        <p:nvSpPr>
          <p:cNvPr id="7" name="TextBox 6">
            <a:extLst>
              <a:ext uri="{FF2B5EF4-FFF2-40B4-BE49-F238E27FC236}">
                <a16:creationId xmlns:a16="http://schemas.microsoft.com/office/drawing/2014/main" xmlns="" id="{B2A5AD6E-0DDE-67F1-0735-F498A13CFF93}"/>
              </a:ext>
            </a:extLst>
          </p:cNvPr>
          <p:cNvSpPr txBox="1"/>
          <p:nvPr/>
        </p:nvSpPr>
        <p:spPr>
          <a:xfrm>
            <a:off x="1451579" y="4470588"/>
            <a:ext cx="6101442" cy="1477328"/>
          </a:xfrm>
          <a:prstGeom prst="rect">
            <a:avLst/>
          </a:prstGeom>
          <a:noFill/>
        </p:spPr>
        <p:txBody>
          <a:bodyPr wrap="square">
            <a:spAutoFit/>
          </a:bodyPr>
          <a:lstStyle/>
          <a:p>
            <a:pPr algn="just"/>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In a particular class, we have many students, there are monitors too. So, here class monitors are also students. Thus, we can say that only students are participating here. So the degree of such type of relationship is 1.</a:t>
            </a:r>
            <a:endParaRPr lang="en-IN" dirty="0"/>
          </a:p>
        </p:txBody>
      </p:sp>
      <p:pic>
        <p:nvPicPr>
          <p:cNvPr id="1026" name="Picture 2" descr="Lightbox">
            <a:extLst>
              <a:ext uri="{FF2B5EF4-FFF2-40B4-BE49-F238E27FC236}">
                <a16:creationId xmlns:a16="http://schemas.microsoft.com/office/drawing/2014/main" xmlns="" id="{E78A3331-57B6-C5AC-8EAD-C6D73AD16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5661" y="3506560"/>
            <a:ext cx="344805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8878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5235A9D-D4B2-8238-71D3-56121A4454C4}"/>
              </a:ext>
            </a:extLst>
          </p:cNvPr>
          <p:cNvSpPr txBox="1"/>
          <p:nvPr/>
        </p:nvSpPr>
        <p:spPr>
          <a:xfrm>
            <a:off x="1319893" y="2071724"/>
            <a:ext cx="5581650" cy="1477328"/>
          </a:xfrm>
          <a:prstGeom prst="rect">
            <a:avLst/>
          </a:prstGeom>
          <a:noFill/>
        </p:spPr>
        <p:txBody>
          <a:bodyPr wrap="square">
            <a:spAutoFit/>
          </a:bodyPr>
          <a:lstStyle/>
          <a:p>
            <a:pPr algn="just" fontAlgn="base"/>
            <a:r>
              <a:rPr lang="en-US" b="1" i="0" dirty="0">
                <a:solidFill>
                  <a:srgbClr val="273239"/>
                </a:solidFill>
                <a:effectLst/>
                <a:latin typeface="Nunito" pitchFamily="2" charset="0"/>
              </a:rPr>
              <a:t>Binary (degree 2)</a:t>
            </a:r>
          </a:p>
          <a:p>
            <a:pPr algn="just" fontAlgn="base"/>
            <a:r>
              <a:rPr lang="en-US" b="0" i="0" dirty="0">
                <a:solidFill>
                  <a:srgbClr val="273239"/>
                </a:solidFill>
                <a:effectLst/>
                <a:latin typeface="Nunito" pitchFamily="2" charset="0"/>
              </a:rPr>
              <a:t>In a Binary relationship, there are two types of entity associates. So, we can say that a Binary relationship exists when there are two types of entity and we call them a degree of relationship is 2. </a:t>
            </a:r>
          </a:p>
        </p:txBody>
      </p:sp>
      <p:sp>
        <p:nvSpPr>
          <p:cNvPr id="9" name="TextBox 8">
            <a:extLst>
              <a:ext uri="{FF2B5EF4-FFF2-40B4-BE49-F238E27FC236}">
                <a16:creationId xmlns:a16="http://schemas.microsoft.com/office/drawing/2014/main" xmlns="" id="{F12A3926-7DE0-DBB4-FE69-5760A08D77C6}"/>
              </a:ext>
            </a:extLst>
          </p:cNvPr>
          <p:cNvSpPr txBox="1"/>
          <p:nvPr/>
        </p:nvSpPr>
        <p:spPr>
          <a:xfrm>
            <a:off x="1319893" y="3792222"/>
            <a:ext cx="6101442" cy="1200329"/>
          </a:xfrm>
          <a:prstGeom prst="rect">
            <a:avLst/>
          </a:prstGeom>
          <a:noFill/>
        </p:spPr>
        <p:txBody>
          <a:bodyPr wrap="square">
            <a:spAutoFit/>
          </a:bodyPr>
          <a:lstStyle/>
          <a:p>
            <a:r>
              <a:rPr lang="en-US" b="1" i="0" dirty="0">
                <a:solidFill>
                  <a:srgbClr val="273239"/>
                </a:solidFill>
                <a:effectLst/>
                <a:latin typeface="Nunito" pitchFamily="2" charset="0"/>
              </a:rPr>
              <a:t>Example: </a:t>
            </a:r>
            <a:r>
              <a:rPr lang="en-US" b="0" i="0" dirty="0">
                <a:solidFill>
                  <a:srgbClr val="273239"/>
                </a:solidFill>
                <a:effectLst/>
                <a:latin typeface="Nunito" pitchFamily="2" charset="0"/>
              </a:rPr>
              <a:t>We have two entity types ‘Student’ and ‘ID’ where each ‘Student’ has his ‘ID’. So, here two entity types are associating we can say it is a binary relationship.</a:t>
            </a:r>
            <a:endParaRPr lang="en-IN" dirty="0"/>
          </a:p>
        </p:txBody>
      </p:sp>
      <p:pic>
        <p:nvPicPr>
          <p:cNvPr id="2050" name="Picture 2" descr="Lightbox">
            <a:extLst>
              <a:ext uri="{FF2B5EF4-FFF2-40B4-BE49-F238E27FC236}">
                <a16:creationId xmlns:a16="http://schemas.microsoft.com/office/drawing/2014/main" xmlns="" id="{C7343A11-A45D-F2E6-476C-DF8B6482F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8518" y="4736646"/>
            <a:ext cx="5734050" cy="78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6714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B4BD99D-9B58-FE59-44E9-2FF3A8A04FBA}"/>
              </a:ext>
            </a:extLst>
          </p:cNvPr>
          <p:cNvSpPr txBox="1"/>
          <p:nvPr/>
        </p:nvSpPr>
        <p:spPr>
          <a:xfrm>
            <a:off x="1439636" y="1951672"/>
            <a:ext cx="6101442" cy="1477328"/>
          </a:xfrm>
          <a:prstGeom prst="rect">
            <a:avLst/>
          </a:prstGeom>
          <a:noFill/>
        </p:spPr>
        <p:txBody>
          <a:bodyPr wrap="square">
            <a:spAutoFit/>
          </a:bodyPr>
          <a:lstStyle/>
          <a:p>
            <a:pPr algn="l" fontAlgn="base"/>
            <a:r>
              <a:rPr lang="en-US" b="1" i="0" dirty="0">
                <a:solidFill>
                  <a:srgbClr val="273239"/>
                </a:solidFill>
                <a:effectLst/>
                <a:latin typeface="Nunito" pitchFamily="2" charset="0"/>
              </a:rPr>
              <a:t>Ternary(degree 3)</a:t>
            </a:r>
          </a:p>
          <a:p>
            <a:pPr algn="just" fontAlgn="base"/>
            <a:r>
              <a:rPr lang="en-US" b="0" i="0" dirty="0">
                <a:solidFill>
                  <a:srgbClr val="273239"/>
                </a:solidFill>
                <a:effectLst/>
                <a:latin typeface="Nunito" pitchFamily="2" charset="0"/>
              </a:rPr>
              <a:t>In the Ternary relationship, there are three types of entity associates. So, we can say that a Ternary relationship exists when there are three types of entity and we call them a degree of relationship is 3.</a:t>
            </a:r>
          </a:p>
        </p:txBody>
      </p:sp>
      <p:sp>
        <p:nvSpPr>
          <p:cNvPr id="7" name="TextBox 6">
            <a:extLst>
              <a:ext uri="{FF2B5EF4-FFF2-40B4-BE49-F238E27FC236}">
                <a16:creationId xmlns:a16="http://schemas.microsoft.com/office/drawing/2014/main" xmlns="" id="{08F3E0F9-2B61-3C9A-56D6-7D6EF86EFA66}"/>
              </a:ext>
            </a:extLst>
          </p:cNvPr>
          <p:cNvSpPr txBox="1"/>
          <p:nvPr/>
        </p:nvSpPr>
        <p:spPr>
          <a:xfrm>
            <a:off x="1439636" y="3874451"/>
            <a:ext cx="6101442" cy="1754326"/>
          </a:xfrm>
          <a:prstGeom prst="rect">
            <a:avLst/>
          </a:prstGeom>
          <a:noFill/>
        </p:spPr>
        <p:txBody>
          <a:bodyPr wrap="square">
            <a:spAutoFit/>
          </a:bodyPr>
          <a:lstStyle/>
          <a:p>
            <a:pPr algn="just"/>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We have three entity types ‘Teacher’, ‘Course’, and ‘Class’. The relationship between these entities is defined as the teacher teaching a particular course, also the teacher teaches a particular class. So, here three entity types are associating we can say it is a ternary relationship.</a:t>
            </a:r>
            <a:endParaRPr lang="en-IN" dirty="0"/>
          </a:p>
        </p:txBody>
      </p:sp>
      <p:pic>
        <p:nvPicPr>
          <p:cNvPr id="3074" name="Picture 2" descr="Lightbox">
            <a:extLst>
              <a:ext uri="{FF2B5EF4-FFF2-40B4-BE49-F238E27FC236}">
                <a16:creationId xmlns:a16="http://schemas.microsoft.com/office/drawing/2014/main" xmlns="" id="{E1E96B82-CFD2-53EA-F975-5E9F1FAF6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875" y="2651601"/>
            <a:ext cx="4364067" cy="1754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0003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FB28BEA-55C3-A62A-81F4-09D9058D306A}"/>
              </a:ext>
            </a:extLst>
          </p:cNvPr>
          <p:cNvSpPr txBox="1"/>
          <p:nvPr/>
        </p:nvSpPr>
        <p:spPr>
          <a:xfrm>
            <a:off x="1451579" y="1853754"/>
            <a:ext cx="6101442" cy="1200329"/>
          </a:xfrm>
          <a:prstGeom prst="rect">
            <a:avLst/>
          </a:prstGeom>
          <a:noFill/>
        </p:spPr>
        <p:txBody>
          <a:bodyPr wrap="square">
            <a:spAutoFit/>
          </a:bodyPr>
          <a:lstStyle/>
          <a:p>
            <a:pPr algn="l" fontAlgn="base"/>
            <a:r>
              <a:rPr lang="en-US" b="1" i="0" dirty="0">
                <a:solidFill>
                  <a:srgbClr val="273239"/>
                </a:solidFill>
                <a:effectLst/>
                <a:latin typeface="Nunito" pitchFamily="2" charset="0"/>
              </a:rPr>
              <a:t>N-</a:t>
            </a:r>
            <a:r>
              <a:rPr lang="en-US" b="1" i="0" dirty="0" err="1">
                <a:solidFill>
                  <a:srgbClr val="273239"/>
                </a:solidFill>
                <a:effectLst/>
                <a:latin typeface="Nunito" pitchFamily="2" charset="0"/>
              </a:rPr>
              <a:t>ary</a:t>
            </a:r>
            <a:r>
              <a:rPr lang="en-US" b="1" i="0" dirty="0">
                <a:solidFill>
                  <a:srgbClr val="273239"/>
                </a:solidFill>
                <a:effectLst/>
                <a:latin typeface="Nunito" pitchFamily="2" charset="0"/>
              </a:rPr>
              <a:t> (n degree)</a:t>
            </a:r>
          </a:p>
          <a:p>
            <a:pPr algn="l" fontAlgn="base"/>
            <a:r>
              <a:rPr lang="en-US" b="0" i="0" dirty="0">
                <a:solidFill>
                  <a:srgbClr val="273239"/>
                </a:solidFill>
                <a:effectLst/>
                <a:latin typeface="Nunito" pitchFamily="2" charset="0"/>
              </a:rPr>
              <a:t>In the N-</a:t>
            </a:r>
            <a:r>
              <a:rPr lang="en-US" b="0" i="0" dirty="0" err="1">
                <a:solidFill>
                  <a:srgbClr val="273239"/>
                </a:solidFill>
                <a:effectLst/>
                <a:latin typeface="Nunito" pitchFamily="2" charset="0"/>
              </a:rPr>
              <a:t>ary</a:t>
            </a:r>
            <a:r>
              <a:rPr lang="en-US" b="0" i="0" dirty="0">
                <a:solidFill>
                  <a:srgbClr val="273239"/>
                </a:solidFill>
                <a:effectLst/>
                <a:latin typeface="Nunito" pitchFamily="2" charset="0"/>
              </a:rPr>
              <a:t> relationship, there are n types of entity that associates. So, we can say that an N-</a:t>
            </a:r>
            <a:r>
              <a:rPr lang="en-US" b="0" i="0" dirty="0" err="1">
                <a:solidFill>
                  <a:srgbClr val="273239"/>
                </a:solidFill>
                <a:effectLst/>
                <a:latin typeface="Nunito" pitchFamily="2" charset="0"/>
              </a:rPr>
              <a:t>ary</a:t>
            </a:r>
            <a:r>
              <a:rPr lang="en-US" b="0" i="0" dirty="0">
                <a:solidFill>
                  <a:srgbClr val="273239"/>
                </a:solidFill>
                <a:effectLst/>
                <a:latin typeface="Nunito" pitchFamily="2" charset="0"/>
              </a:rPr>
              <a:t> relationship exists when there are n types of entities. </a:t>
            </a:r>
          </a:p>
        </p:txBody>
      </p:sp>
      <p:sp>
        <p:nvSpPr>
          <p:cNvPr id="7" name="TextBox 6">
            <a:extLst>
              <a:ext uri="{FF2B5EF4-FFF2-40B4-BE49-F238E27FC236}">
                <a16:creationId xmlns:a16="http://schemas.microsoft.com/office/drawing/2014/main" xmlns="" id="{699105F0-02C7-EB2D-FF95-4A7199E6921C}"/>
              </a:ext>
            </a:extLst>
          </p:cNvPr>
          <p:cNvSpPr txBox="1"/>
          <p:nvPr/>
        </p:nvSpPr>
        <p:spPr>
          <a:xfrm>
            <a:off x="1451579" y="3429000"/>
            <a:ext cx="6101442" cy="1477328"/>
          </a:xfrm>
          <a:prstGeom prst="rect">
            <a:avLst/>
          </a:prstGeom>
          <a:noFill/>
        </p:spPr>
        <p:txBody>
          <a:bodyPr wrap="square">
            <a:spAutoFit/>
          </a:bodyPr>
          <a:lstStyle/>
          <a:p>
            <a:pPr algn="l" fontAlgn="base"/>
            <a:r>
              <a:rPr lang="en-US" b="1" i="0" dirty="0">
                <a:solidFill>
                  <a:srgbClr val="273239"/>
                </a:solidFill>
                <a:effectLst/>
                <a:latin typeface="Nunito" pitchFamily="2" charset="0"/>
              </a:rPr>
              <a:t>Example: </a:t>
            </a:r>
            <a:r>
              <a:rPr lang="en-US" b="0" i="0" dirty="0">
                <a:solidFill>
                  <a:srgbClr val="273239"/>
                </a:solidFill>
                <a:effectLst/>
                <a:latin typeface="Nunito" pitchFamily="2" charset="0"/>
              </a:rPr>
              <a:t>We have 5 entities Teacher, Class, Location, Salary, Course. So, here five entity types are associating we can say an n-</a:t>
            </a:r>
            <a:r>
              <a:rPr lang="en-US" b="0" i="0" dirty="0" err="1">
                <a:solidFill>
                  <a:srgbClr val="273239"/>
                </a:solidFill>
                <a:effectLst/>
                <a:latin typeface="Nunito" pitchFamily="2" charset="0"/>
              </a:rPr>
              <a:t>ary</a:t>
            </a:r>
            <a:r>
              <a:rPr lang="en-US" b="0" i="0" dirty="0">
                <a:solidFill>
                  <a:srgbClr val="273239"/>
                </a:solidFill>
                <a:effectLst/>
                <a:latin typeface="Nunito" pitchFamily="2" charset="0"/>
              </a:rPr>
              <a:t> relationship is 5. </a:t>
            </a:r>
          </a:p>
          <a:p>
            <a:r>
              <a:rPr lang="en-US" dirty="0"/>
              <a:t/>
            </a:r>
            <a:br>
              <a:rPr lang="en-US" dirty="0"/>
            </a:br>
            <a:endParaRPr lang="en-IN" dirty="0"/>
          </a:p>
        </p:txBody>
      </p:sp>
      <p:pic>
        <p:nvPicPr>
          <p:cNvPr id="4100" name="Picture 4" descr="Lightbox">
            <a:extLst>
              <a:ext uri="{FF2B5EF4-FFF2-40B4-BE49-F238E27FC236}">
                <a16:creationId xmlns:a16="http://schemas.microsoft.com/office/drawing/2014/main" xmlns="" id="{152A956A-08A7-3FD5-34AA-42D3A537C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167664"/>
            <a:ext cx="573405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620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215B7F-1DBE-C7C9-6C16-C9786F46C03E}"/>
              </a:ext>
            </a:extLst>
          </p:cNvPr>
          <p:cNvSpPr>
            <a:spLocks noGrp="1"/>
          </p:cNvSpPr>
          <p:nvPr>
            <p:ph type="title"/>
          </p:nvPr>
        </p:nvSpPr>
        <p:spPr>
          <a:xfrm>
            <a:off x="1516894" y="3429000"/>
            <a:ext cx="9603275" cy="1049235"/>
          </a:xfrm>
        </p:spPr>
        <p:txBody>
          <a:bodyPr/>
          <a:lstStyle/>
          <a:p>
            <a:r>
              <a:rPr lang="en-US" dirty="0"/>
              <a:t>Draw an er-model for project management system.</a:t>
            </a:r>
            <a:endParaRPr lang="en-IN" dirty="0"/>
          </a:p>
        </p:txBody>
      </p:sp>
    </p:spTree>
    <p:extLst>
      <p:ext uri="{BB962C8B-B14F-4D97-AF65-F5344CB8AC3E}">
        <p14:creationId xmlns:p14="http://schemas.microsoft.com/office/powerpoint/2010/main" val="20623066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4BAE42AD-D23D-0FF4-4FDF-E1CEDD3190F2}"/>
              </a:ext>
            </a:extLst>
          </p:cNvPr>
          <p:cNvSpPr txBox="1"/>
          <p:nvPr/>
        </p:nvSpPr>
        <p:spPr>
          <a:xfrm>
            <a:off x="1480457" y="2090057"/>
            <a:ext cx="9579429" cy="2246769"/>
          </a:xfrm>
          <a:prstGeom prst="rect">
            <a:avLst/>
          </a:prstGeom>
          <a:noFill/>
        </p:spPr>
        <p:txBody>
          <a:bodyPr wrap="square">
            <a:spAutoFit/>
          </a:bodyPr>
          <a:lstStyle/>
          <a:p>
            <a:pPr algn="l"/>
            <a:r>
              <a:rPr lang="en-US" sz="2000" b="0" i="0" dirty="0">
                <a:solidFill>
                  <a:srgbClr val="333333"/>
                </a:solidFill>
                <a:effectLst/>
                <a:latin typeface="open sans" panose="020B0606030504020204" pitchFamily="34" charset="0"/>
              </a:rPr>
              <a:t>We will follow the 3 basic rules in creating the ER Diagram.</a:t>
            </a:r>
          </a:p>
          <a:p>
            <a:pPr algn="l"/>
            <a:endParaRPr lang="en-US" sz="2000" b="0" i="0" dirty="0">
              <a:solidFill>
                <a:srgbClr val="333333"/>
              </a:solidFill>
              <a:effectLst/>
              <a:latin typeface="open sans" panose="020B0606030504020204" pitchFamily="34" charset="0"/>
            </a:endParaRPr>
          </a:p>
          <a:p>
            <a:pPr algn="l">
              <a:buFont typeface="+mj-lt"/>
              <a:buAutoNum type="arabicPeriod"/>
            </a:pPr>
            <a:r>
              <a:rPr lang="en-US" sz="2000" b="0" i="0" dirty="0">
                <a:solidFill>
                  <a:srgbClr val="333333"/>
                </a:solidFill>
                <a:effectLst/>
                <a:latin typeface="open sans" panose="020B0606030504020204" pitchFamily="34" charset="0"/>
              </a:rPr>
              <a:t>Identify all the entities.</a:t>
            </a:r>
          </a:p>
          <a:p>
            <a:pPr algn="l">
              <a:buFont typeface="+mj-lt"/>
              <a:buAutoNum type="arabicPeriod"/>
            </a:pPr>
            <a:endParaRPr lang="en-US" sz="2000" b="0" i="0" dirty="0">
              <a:solidFill>
                <a:srgbClr val="333333"/>
              </a:solidFill>
              <a:effectLst/>
              <a:latin typeface="open sans" panose="020B0606030504020204" pitchFamily="34" charset="0"/>
            </a:endParaRPr>
          </a:p>
          <a:p>
            <a:pPr algn="l">
              <a:buFont typeface="+mj-lt"/>
              <a:buAutoNum type="arabicPeriod"/>
            </a:pPr>
            <a:r>
              <a:rPr lang="en-US" sz="2000" b="0" i="0" dirty="0">
                <a:solidFill>
                  <a:srgbClr val="333333"/>
                </a:solidFill>
                <a:effectLst/>
                <a:latin typeface="open sans" panose="020B0606030504020204" pitchFamily="34" charset="0"/>
              </a:rPr>
              <a:t>Identify the relationship between entities and</a:t>
            </a:r>
          </a:p>
          <a:p>
            <a:pPr algn="l">
              <a:buFont typeface="+mj-lt"/>
              <a:buAutoNum type="arabicPeriod"/>
            </a:pPr>
            <a:endParaRPr lang="en-US" sz="2000" b="0" i="0" dirty="0">
              <a:solidFill>
                <a:srgbClr val="333333"/>
              </a:solidFill>
              <a:effectLst/>
              <a:latin typeface="open sans" panose="020B0606030504020204" pitchFamily="34" charset="0"/>
            </a:endParaRPr>
          </a:p>
          <a:p>
            <a:pPr algn="l">
              <a:buFont typeface="+mj-lt"/>
              <a:buAutoNum type="arabicPeriod"/>
            </a:pPr>
            <a:r>
              <a:rPr lang="en-US" sz="2000" b="0" i="0" dirty="0">
                <a:solidFill>
                  <a:srgbClr val="333333"/>
                </a:solidFill>
                <a:effectLst/>
                <a:latin typeface="open sans" panose="020B0606030504020204" pitchFamily="34" charset="0"/>
              </a:rPr>
              <a:t>Add meaningful attributes to our entities.</a:t>
            </a:r>
          </a:p>
        </p:txBody>
      </p:sp>
    </p:spTree>
    <p:extLst>
      <p:ext uri="{BB962C8B-B14F-4D97-AF65-F5344CB8AC3E}">
        <p14:creationId xmlns:p14="http://schemas.microsoft.com/office/powerpoint/2010/main" val="19792611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8FF18B1-9447-DD90-F6FF-6399E784C23A}"/>
              </a:ext>
            </a:extLst>
          </p:cNvPr>
          <p:cNvSpPr txBox="1"/>
          <p:nvPr/>
        </p:nvSpPr>
        <p:spPr>
          <a:xfrm>
            <a:off x="1524000" y="2231571"/>
            <a:ext cx="7628164" cy="2677656"/>
          </a:xfrm>
          <a:prstGeom prst="rect">
            <a:avLst/>
          </a:prstGeom>
          <a:noFill/>
        </p:spPr>
        <p:txBody>
          <a:bodyPr wrap="square">
            <a:spAutoFit/>
          </a:bodyPr>
          <a:lstStyle/>
          <a:p>
            <a:pPr algn="l">
              <a:buFont typeface="Arial" panose="020B0604020202020204" pitchFamily="34" charset="0"/>
              <a:buChar char="•"/>
            </a:pPr>
            <a:r>
              <a:rPr lang="en-US" sz="2400" b="0" i="0" dirty="0">
                <a:solidFill>
                  <a:srgbClr val="333333"/>
                </a:solidFill>
                <a:effectLst/>
                <a:latin typeface="open sans" panose="020B0606030504020204" pitchFamily="34" charset="0"/>
              </a:rPr>
              <a:t>Company</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 Category</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 Member Assignment</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 Member</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 Manager</a:t>
            </a:r>
          </a:p>
          <a:p>
            <a:pPr algn="l">
              <a:buFont typeface="Arial" panose="020B0604020202020204" pitchFamily="34" charset="0"/>
              <a:buChar char="•"/>
            </a:pPr>
            <a:r>
              <a:rPr lang="en-US" sz="2400" b="0" i="0" dirty="0">
                <a:solidFill>
                  <a:srgbClr val="333333"/>
                </a:solidFill>
                <a:effectLst/>
                <a:latin typeface="open sans" panose="020B0606030504020204" pitchFamily="34" charset="0"/>
              </a:rPr>
              <a:t>Project Updates</a:t>
            </a:r>
          </a:p>
        </p:txBody>
      </p:sp>
      <p:sp>
        <p:nvSpPr>
          <p:cNvPr id="6" name="TextBox 5">
            <a:extLst>
              <a:ext uri="{FF2B5EF4-FFF2-40B4-BE49-F238E27FC236}">
                <a16:creationId xmlns:a16="http://schemas.microsoft.com/office/drawing/2014/main" xmlns="" id="{0576408C-5ED3-4465-5DD4-065529CEFC45}"/>
              </a:ext>
            </a:extLst>
          </p:cNvPr>
          <p:cNvSpPr txBox="1"/>
          <p:nvPr/>
        </p:nvSpPr>
        <p:spPr>
          <a:xfrm>
            <a:off x="1613808" y="1275781"/>
            <a:ext cx="6101442" cy="461665"/>
          </a:xfrm>
          <a:prstGeom prst="rect">
            <a:avLst/>
          </a:prstGeom>
          <a:noFill/>
        </p:spPr>
        <p:txBody>
          <a:bodyPr wrap="square">
            <a:spAutoFit/>
          </a:bodyPr>
          <a:lstStyle/>
          <a:p>
            <a:pPr algn="l"/>
            <a:r>
              <a:rPr lang="en-US" sz="2400" b="1" i="0" dirty="0">
                <a:solidFill>
                  <a:srgbClr val="333333"/>
                </a:solidFill>
                <a:effectLst/>
                <a:latin typeface="open sans" panose="020B0606030504020204" pitchFamily="34" charset="0"/>
              </a:rPr>
              <a:t>Entities:</a:t>
            </a:r>
          </a:p>
        </p:txBody>
      </p:sp>
    </p:spTree>
    <p:extLst>
      <p:ext uri="{BB962C8B-B14F-4D97-AF65-F5344CB8AC3E}">
        <p14:creationId xmlns:p14="http://schemas.microsoft.com/office/powerpoint/2010/main" val="37915450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Project Management System ER Diagram - Step 1 Identify Entities">
            <a:extLst>
              <a:ext uri="{FF2B5EF4-FFF2-40B4-BE49-F238E27FC236}">
                <a16:creationId xmlns:a16="http://schemas.microsoft.com/office/drawing/2014/main" xmlns="" id="{CEA3845A-970F-79F5-86E1-FAB9D59FFC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Project Management System ER Diagram - Step 1 Identify Entities">
            <a:extLst>
              <a:ext uri="{FF2B5EF4-FFF2-40B4-BE49-F238E27FC236}">
                <a16:creationId xmlns:a16="http://schemas.microsoft.com/office/drawing/2014/main" xmlns="" id="{876387BD-C256-5B16-0642-13695BB107E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Project Management System ER Diagram - Step 1 Identify Entities">
            <a:extLst>
              <a:ext uri="{FF2B5EF4-FFF2-40B4-BE49-F238E27FC236}">
                <a16:creationId xmlns:a16="http://schemas.microsoft.com/office/drawing/2014/main" xmlns="" id="{9841700D-6106-588C-FCEE-EEC571314C3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xmlns="" id="{C1869EE6-DA67-2026-8C30-F2430382A885}"/>
              </a:ext>
            </a:extLst>
          </p:cNvPr>
          <p:cNvPicPr>
            <a:picLocks noChangeAspect="1"/>
          </p:cNvPicPr>
          <p:nvPr/>
        </p:nvPicPr>
        <p:blipFill>
          <a:blip r:embed="rId2"/>
          <a:stretch>
            <a:fillRect/>
          </a:stretch>
        </p:blipFill>
        <p:spPr>
          <a:xfrm>
            <a:off x="1948543" y="583360"/>
            <a:ext cx="7303569" cy="5011101"/>
          </a:xfrm>
          <a:prstGeom prst="rect">
            <a:avLst/>
          </a:prstGeom>
        </p:spPr>
      </p:pic>
    </p:spTree>
    <p:extLst>
      <p:ext uri="{BB962C8B-B14F-4D97-AF65-F5344CB8AC3E}">
        <p14:creationId xmlns:p14="http://schemas.microsoft.com/office/powerpoint/2010/main" val="211253878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55DF4DC-E8B7-8832-8051-3A8A84DD37D0}"/>
              </a:ext>
            </a:extLst>
          </p:cNvPr>
          <p:cNvSpPr>
            <a:spLocks noGrp="1"/>
          </p:cNvSpPr>
          <p:nvPr>
            <p:ph idx="1"/>
          </p:nvPr>
        </p:nvSpPr>
        <p:spPr>
          <a:xfrm>
            <a:off x="1418922" y="1210189"/>
            <a:ext cx="9603275" cy="3450613"/>
          </a:xfrm>
        </p:spPr>
        <p:txBody>
          <a:bodyPr/>
          <a:lstStyle/>
          <a:p>
            <a:r>
              <a:rPr lang="en-US" b="0" i="0" dirty="0">
                <a:solidFill>
                  <a:srgbClr val="333333"/>
                </a:solidFill>
                <a:effectLst/>
                <a:latin typeface="open sans" panose="020B0606030504020204" pitchFamily="34" charset="0"/>
              </a:rPr>
              <a:t>establish a relationship among the entities.</a:t>
            </a:r>
            <a:endParaRPr lang="en-IN" dirty="0"/>
          </a:p>
        </p:txBody>
      </p:sp>
      <p:pic>
        <p:nvPicPr>
          <p:cNvPr id="16" name="Picture 15">
            <a:extLst>
              <a:ext uri="{FF2B5EF4-FFF2-40B4-BE49-F238E27FC236}">
                <a16:creationId xmlns:a16="http://schemas.microsoft.com/office/drawing/2014/main" xmlns="" id="{B7BDA4F5-38C4-FF45-7D76-FB1A2E5C34B6}"/>
              </a:ext>
            </a:extLst>
          </p:cNvPr>
          <p:cNvPicPr>
            <a:picLocks noChangeAspect="1"/>
          </p:cNvPicPr>
          <p:nvPr/>
        </p:nvPicPr>
        <p:blipFill>
          <a:blip r:embed="rId2"/>
          <a:stretch>
            <a:fillRect/>
          </a:stretch>
        </p:blipFill>
        <p:spPr>
          <a:xfrm>
            <a:off x="2768298" y="2041881"/>
            <a:ext cx="6245073" cy="4733275"/>
          </a:xfrm>
          <a:prstGeom prst="rect">
            <a:avLst/>
          </a:prstGeom>
        </p:spPr>
      </p:pic>
    </p:spTree>
    <p:extLst>
      <p:ext uri="{BB962C8B-B14F-4D97-AF65-F5344CB8AC3E}">
        <p14:creationId xmlns:p14="http://schemas.microsoft.com/office/powerpoint/2010/main" val="20608444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44E275D0-10BC-4658-85C6-83650118FB55}"/>
              </a:ext>
            </a:extLst>
          </p:cNvPr>
          <p:cNvSpPr txBox="1"/>
          <p:nvPr/>
        </p:nvSpPr>
        <p:spPr>
          <a:xfrm>
            <a:off x="1328056" y="2122714"/>
            <a:ext cx="10101943" cy="2862322"/>
          </a:xfrm>
          <a:prstGeom prst="rect">
            <a:avLst/>
          </a:prstGeom>
          <a:noFill/>
        </p:spPr>
        <p:txBody>
          <a:bodyPr wrap="square">
            <a:spAutoFit/>
          </a:bodyPr>
          <a:lstStyle/>
          <a:p>
            <a:pPr algn="l">
              <a:buFont typeface="Arial" panose="020B0604020202020204" pitchFamily="34" charset="0"/>
              <a:buChar char="•"/>
            </a:pPr>
            <a:r>
              <a:rPr lang="en-US" sz="2000" b="0" i="0" dirty="0">
                <a:solidFill>
                  <a:srgbClr val="333333"/>
                </a:solidFill>
                <a:effectLst/>
                <a:latin typeface="open sans" panose="020B0606030504020204" pitchFamily="34" charset="0"/>
              </a:rPr>
              <a:t>company has 1 or more projects to be managed (1 to many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belongs to a specific type or category (1 to 1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can be managed by multiple project managers, it depends of the scope of the project, but to be more flexible the relationship will be set to (1 to many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will be assigned to several members (1 to many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member can be assigned to several tasks (1 to many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member posts an updates (1 to many relationship).</a:t>
            </a:r>
          </a:p>
          <a:p>
            <a:pPr algn="l">
              <a:buFont typeface="Arial" panose="020B0604020202020204" pitchFamily="34" charset="0"/>
              <a:buChar char="•"/>
            </a:pPr>
            <a:r>
              <a:rPr lang="en-US" sz="2000" b="0" i="0" dirty="0">
                <a:solidFill>
                  <a:srgbClr val="333333"/>
                </a:solidFill>
                <a:effectLst/>
                <a:latin typeface="open sans" panose="020B0606030504020204" pitchFamily="34" charset="0"/>
              </a:rPr>
              <a:t>The project will receive an updates (1 to many relationship).</a:t>
            </a:r>
          </a:p>
        </p:txBody>
      </p:sp>
    </p:spTree>
    <p:extLst>
      <p:ext uri="{BB962C8B-B14F-4D97-AF65-F5344CB8AC3E}">
        <p14:creationId xmlns:p14="http://schemas.microsoft.com/office/powerpoint/2010/main" val="33332425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C1E0D0-967D-BCD9-B019-0016E05A4F6D}"/>
              </a:ext>
            </a:extLst>
          </p:cNvPr>
          <p:cNvSpPr>
            <a:spLocks noGrp="1"/>
          </p:cNvSpPr>
          <p:nvPr>
            <p:ph type="title"/>
          </p:nvPr>
        </p:nvSpPr>
        <p:spPr/>
        <p:txBody>
          <a:bodyPr>
            <a:normAutofit/>
          </a:bodyPr>
          <a:lstStyle/>
          <a:p>
            <a:r>
              <a:rPr lang="en-US" sz="2000" dirty="0"/>
              <a:t>Add attributes</a:t>
            </a:r>
            <a:endParaRPr lang="en-IN" sz="2000" dirty="0"/>
          </a:p>
        </p:txBody>
      </p:sp>
      <p:pic>
        <p:nvPicPr>
          <p:cNvPr id="5" name="Picture 4">
            <a:extLst>
              <a:ext uri="{FF2B5EF4-FFF2-40B4-BE49-F238E27FC236}">
                <a16:creationId xmlns:a16="http://schemas.microsoft.com/office/drawing/2014/main" xmlns="" id="{1BD05193-8B1C-82DA-212C-7B84F23DEC72}"/>
              </a:ext>
            </a:extLst>
          </p:cNvPr>
          <p:cNvPicPr>
            <a:picLocks noChangeAspect="1"/>
          </p:cNvPicPr>
          <p:nvPr/>
        </p:nvPicPr>
        <p:blipFill>
          <a:blip r:embed="rId2"/>
          <a:stretch>
            <a:fillRect/>
          </a:stretch>
        </p:blipFill>
        <p:spPr>
          <a:xfrm>
            <a:off x="97971" y="1219200"/>
            <a:ext cx="11636829" cy="5473282"/>
          </a:xfrm>
          <a:prstGeom prst="rect">
            <a:avLst/>
          </a:prstGeom>
        </p:spPr>
      </p:pic>
    </p:spTree>
    <p:extLst>
      <p:ext uri="{BB962C8B-B14F-4D97-AF65-F5344CB8AC3E}">
        <p14:creationId xmlns:p14="http://schemas.microsoft.com/office/powerpoint/2010/main" val="38003969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157B65-B209-E162-1CFA-B2B652743667}"/>
              </a:ext>
            </a:extLst>
          </p:cNvPr>
          <p:cNvSpPr>
            <a:spLocks noGrp="1"/>
          </p:cNvSpPr>
          <p:nvPr>
            <p:ph type="title"/>
          </p:nvPr>
        </p:nvSpPr>
        <p:spPr/>
        <p:txBody>
          <a:bodyPr/>
          <a:lstStyle/>
          <a:p>
            <a:r>
              <a:rPr lang="en-US" dirty="0"/>
              <a:t>Additional features of er model</a:t>
            </a:r>
            <a:endParaRPr lang="en-IN" dirty="0"/>
          </a:p>
        </p:txBody>
      </p:sp>
      <p:sp>
        <p:nvSpPr>
          <p:cNvPr id="3" name="Content Placeholder 2">
            <a:extLst>
              <a:ext uri="{FF2B5EF4-FFF2-40B4-BE49-F238E27FC236}">
                <a16:creationId xmlns:a16="http://schemas.microsoft.com/office/drawing/2014/main" xmlns="" id="{EF84878C-BD0C-3CF7-5D6B-BDD51E393530}"/>
              </a:ext>
            </a:extLst>
          </p:cNvPr>
          <p:cNvSpPr>
            <a:spLocks noGrp="1"/>
          </p:cNvSpPr>
          <p:nvPr>
            <p:ph idx="1"/>
          </p:nvPr>
        </p:nvSpPr>
        <p:spPr/>
        <p:txBody>
          <a:bodyPr/>
          <a:lstStyle/>
          <a:p>
            <a:r>
              <a:rPr lang="en-US" b="0" i="0" dirty="0">
                <a:solidFill>
                  <a:srgbClr val="273239"/>
                </a:solidFill>
                <a:effectLst/>
                <a:latin typeface="Nunito" pitchFamily="2" charset="0"/>
              </a:rPr>
              <a:t>Enhanced entity-relationship diagrams are advanced database diagrams very similar to regular ER diagrams which represent the requirements and complexities of complex databases. </a:t>
            </a:r>
          </a:p>
          <a:p>
            <a:r>
              <a:rPr lang="en-US" b="0" i="0" dirty="0">
                <a:solidFill>
                  <a:srgbClr val="273239"/>
                </a:solidFill>
                <a:effectLst/>
                <a:latin typeface="Nunito" pitchFamily="2" charset="0"/>
              </a:rPr>
              <a:t>It is a diagrammatic technique for displaying the Sub Class and Super Class; Specialization and Generalization; Union or Category; Aggregation etc. </a:t>
            </a:r>
            <a:endParaRPr lang="en-US" dirty="0">
              <a:solidFill>
                <a:srgbClr val="273239"/>
              </a:solidFill>
              <a:latin typeface="Nunito" pitchFamily="2" charset="0"/>
            </a:endParaRPr>
          </a:p>
          <a:p>
            <a:endParaRPr lang="en-IN" dirty="0"/>
          </a:p>
        </p:txBody>
      </p:sp>
    </p:spTree>
    <p:extLst>
      <p:ext uri="{BB962C8B-B14F-4D97-AF65-F5344CB8AC3E}">
        <p14:creationId xmlns:p14="http://schemas.microsoft.com/office/powerpoint/2010/main" val="149493069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8CE1271-4774-807E-6391-F9A52C0C1CCB}"/>
              </a:ext>
            </a:extLst>
          </p:cNvPr>
          <p:cNvSpPr>
            <a:spLocks noGrp="1"/>
          </p:cNvSpPr>
          <p:nvPr>
            <p:ph idx="1"/>
          </p:nvPr>
        </p:nvSpPr>
        <p:spPr>
          <a:xfrm>
            <a:off x="1294362" y="1112218"/>
            <a:ext cx="9603275" cy="3450613"/>
          </a:xfrm>
        </p:spPr>
        <p:txBody>
          <a:bodyPr/>
          <a:lstStyle/>
          <a:p>
            <a:r>
              <a:rPr lang="en-US" b="1" i="0" dirty="0">
                <a:solidFill>
                  <a:srgbClr val="273239"/>
                </a:solidFill>
                <a:effectLst/>
                <a:latin typeface="Nunito" pitchFamily="2" charset="0"/>
              </a:rPr>
              <a:t>Generalization and Specialization: </a:t>
            </a:r>
            <a:r>
              <a:rPr lang="en-US" b="0" i="0" dirty="0">
                <a:solidFill>
                  <a:srgbClr val="273239"/>
                </a:solidFill>
                <a:effectLst/>
                <a:latin typeface="Nunito" pitchFamily="2" charset="0"/>
              </a:rPr>
              <a:t>These are very common relationships found in real entities. </a:t>
            </a:r>
          </a:p>
          <a:p>
            <a:r>
              <a:rPr lang="en-US" b="1" i="0" dirty="0">
                <a:solidFill>
                  <a:srgbClr val="273239"/>
                </a:solidFill>
                <a:effectLst/>
                <a:latin typeface="Nunito" pitchFamily="2" charset="0"/>
              </a:rPr>
              <a:t>Specialized </a:t>
            </a:r>
            <a:r>
              <a:rPr lang="en-US" b="0" i="0" dirty="0">
                <a:solidFill>
                  <a:srgbClr val="273239"/>
                </a:solidFill>
                <a:effectLst/>
                <a:latin typeface="Nunito" pitchFamily="2" charset="0"/>
              </a:rPr>
              <a:t>classes are often called </a:t>
            </a:r>
            <a:r>
              <a:rPr lang="en-US" b="1" i="0" dirty="0">
                <a:solidFill>
                  <a:srgbClr val="273239"/>
                </a:solidFill>
                <a:effectLst/>
                <a:latin typeface="Nunito" pitchFamily="2" charset="0"/>
              </a:rPr>
              <a:t>subclass</a:t>
            </a:r>
            <a:r>
              <a:rPr lang="en-US" b="0" i="0" dirty="0">
                <a:solidFill>
                  <a:srgbClr val="273239"/>
                </a:solidFill>
                <a:effectLst/>
                <a:latin typeface="Nunito" pitchFamily="2" charset="0"/>
              </a:rPr>
              <a:t> while a </a:t>
            </a:r>
            <a:r>
              <a:rPr lang="en-US" b="1" i="0" dirty="0">
                <a:solidFill>
                  <a:srgbClr val="273239"/>
                </a:solidFill>
                <a:effectLst/>
                <a:latin typeface="Nunito" pitchFamily="2" charset="0"/>
              </a:rPr>
              <a:t>generalized class</a:t>
            </a:r>
            <a:r>
              <a:rPr lang="en-US" b="0" i="0" dirty="0">
                <a:solidFill>
                  <a:srgbClr val="273239"/>
                </a:solidFill>
                <a:effectLst/>
                <a:latin typeface="Nunito" pitchFamily="2" charset="0"/>
              </a:rPr>
              <a:t> is called a superclass, probably inspired by object-oriented programming.</a:t>
            </a:r>
          </a:p>
          <a:p>
            <a:r>
              <a:rPr lang="en-US" b="0" i="0" dirty="0">
                <a:solidFill>
                  <a:srgbClr val="273239"/>
                </a:solidFill>
                <a:effectLst/>
                <a:latin typeface="Nunito" pitchFamily="2" charset="0"/>
              </a:rPr>
              <a:t>A sub-class is best understood by </a:t>
            </a:r>
            <a:r>
              <a:rPr lang="en-US" b="1" i="0" dirty="0">
                <a:solidFill>
                  <a:srgbClr val="273239"/>
                </a:solidFill>
                <a:effectLst/>
                <a:latin typeface="Nunito" pitchFamily="2" charset="0"/>
              </a:rPr>
              <a:t>“IS-A analysis”</a:t>
            </a:r>
            <a:r>
              <a:rPr lang="en-US" b="0" i="0" dirty="0">
                <a:solidFill>
                  <a:srgbClr val="273239"/>
                </a:solidFill>
                <a:effectLst/>
                <a:latin typeface="Nunito" pitchFamily="2" charset="0"/>
              </a:rPr>
              <a:t>. The following statements hopefully make some sense to your mind “Technician IS-A Employee”, and “Laptop IS-A Computer”. </a:t>
            </a:r>
            <a:endParaRPr lang="en-IN" dirty="0"/>
          </a:p>
        </p:txBody>
      </p:sp>
    </p:spTree>
    <p:extLst>
      <p:ext uri="{BB962C8B-B14F-4D97-AF65-F5344CB8AC3E}">
        <p14:creationId xmlns:p14="http://schemas.microsoft.com/office/powerpoint/2010/main" val="29760231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ghtbox">
            <a:extLst>
              <a:ext uri="{FF2B5EF4-FFF2-40B4-BE49-F238E27FC236}">
                <a16:creationId xmlns:a16="http://schemas.microsoft.com/office/drawing/2014/main" xmlns="" id="{79179120-BA3E-9014-1702-A5B49EBE8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7874" y="1943201"/>
            <a:ext cx="6827383" cy="42575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07131630-2C26-84BC-3CAE-388FA2578DB5}"/>
              </a:ext>
            </a:extLst>
          </p:cNvPr>
          <p:cNvSpPr txBox="1"/>
          <p:nvPr/>
        </p:nvSpPr>
        <p:spPr>
          <a:xfrm>
            <a:off x="2577873" y="860950"/>
            <a:ext cx="8046583" cy="646331"/>
          </a:xfrm>
          <a:prstGeom prst="rect">
            <a:avLst/>
          </a:prstGeom>
          <a:noFill/>
        </p:spPr>
        <p:txBody>
          <a:bodyPr wrap="square">
            <a:spAutoFit/>
          </a:bodyPr>
          <a:lstStyle/>
          <a:p>
            <a:pPr algn="l" fontAlgn="base">
              <a:buFont typeface="Arial" panose="020B0604020202020204" pitchFamily="34" charset="0"/>
              <a:buChar char="•"/>
            </a:pPr>
            <a:r>
              <a:rPr lang="en-US" b="0" i="0" dirty="0">
                <a:solidFill>
                  <a:srgbClr val="273239"/>
                </a:solidFill>
                <a:effectLst/>
                <a:latin typeface="Nunito" pitchFamily="2" charset="0"/>
              </a:rPr>
              <a:t>Sub-class entity “inherits” all attributes of super-class; for example, employee 1001 will have attributes </a:t>
            </a:r>
            <a:r>
              <a:rPr lang="en-US" b="0" i="0" dirty="0" err="1">
                <a:solidFill>
                  <a:srgbClr val="273239"/>
                </a:solidFill>
                <a:effectLst/>
                <a:latin typeface="Nunito" pitchFamily="2" charset="0"/>
              </a:rPr>
              <a:t>eno</a:t>
            </a:r>
            <a:r>
              <a:rPr lang="en-US" b="0" i="0" dirty="0">
                <a:solidFill>
                  <a:srgbClr val="273239"/>
                </a:solidFill>
                <a:effectLst/>
                <a:latin typeface="Nunito" pitchFamily="2" charset="0"/>
              </a:rPr>
              <a:t>, name, salary, and typing speed.</a:t>
            </a:r>
          </a:p>
        </p:txBody>
      </p:sp>
    </p:spTree>
    <p:extLst>
      <p:ext uri="{BB962C8B-B14F-4D97-AF65-F5344CB8AC3E}">
        <p14:creationId xmlns:p14="http://schemas.microsoft.com/office/powerpoint/2010/main" val="29598923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ightbox">
            <a:extLst>
              <a:ext uri="{FF2B5EF4-FFF2-40B4-BE49-F238E27FC236}">
                <a16:creationId xmlns:a16="http://schemas.microsoft.com/office/drawing/2014/main" xmlns="" id="{83AD46C8-1717-B58E-2C77-03C6F8BD0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638175"/>
            <a:ext cx="7915275" cy="558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478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D0C944C6-2987-65AD-904D-853FC37CCC43}"/>
              </a:ext>
            </a:extLst>
          </p:cNvPr>
          <p:cNvSpPr txBox="1"/>
          <p:nvPr/>
        </p:nvSpPr>
        <p:spPr>
          <a:xfrm>
            <a:off x="1382486" y="1295400"/>
            <a:ext cx="9829800" cy="2862322"/>
          </a:xfrm>
          <a:prstGeom prst="rect">
            <a:avLst/>
          </a:prstGeom>
          <a:noFill/>
        </p:spPr>
        <p:txBody>
          <a:bodyPr wrap="square">
            <a:spAutoFit/>
          </a:bodyPr>
          <a:lstStyle/>
          <a:p>
            <a:pPr algn="just" fontAlgn="base"/>
            <a:r>
              <a:rPr lang="en-US" b="1" i="0" dirty="0">
                <a:solidFill>
                  <a:srgbClr val="273239"/>
                </a:solidFill>
                <a:effectLst/>
                <a:latin typeface="Nunito" pitchFamily="2" charset="0"/>
              </a:rPr>
              <a:t>Constraints –</a:t>
            </a:r>
            <a:r>
              <a:rPr lang="en-US" b="0" i="0" dirty="0">
                <a:solidFill>
                  <a:srgbClr val="273239"/>
                </a:solidFill>
                <a:effectLst/>
                <a:latin typeface="Nunito" pitchFamily="2" charset="0"/>
              </a:rPr>
              <a:t> There are two types of constraints on the “Sub-class” relationship.  </a:t>
            </a:r>
          </a:p>
          <a:p>
            <a:pPr algn="just" fontAlgn="base"/>
            <a:endParaRPr lang="en-US" dirty="0">
              <a:solidFill>
                <a:srgbClr val="273239"/>
              </a:solidFill>
              <a:latin typeface="Nunito" pitchFamily="2" charset="0"/>
            </a:endParaRPr>
          </a:p>
          <a:p>
            <a:pPr algn="just" fontAlgn="base"/>
            <a:endParaRPr lang="en-US" b="0" i="0" dirty="0">
              <a:solidFill>
                <a:srgbClr val="273239"/>
              </a:solidFill>
              <a:effectLst/>
              <a:latin typeface="Nunito" pitchFamily="2" charset="0"/>
            </a:endParaRPr>
          </a:p>
          <a:p>
            <a:pPr algn="just" fontAlgn="base">
              <a:buFont typeface="+mj-lt"/>
              <a:buAutoNum type="arabicPeriod"/>
            </a:pPr>
            <a:r>
              <a:rPr lang="en-US" b="1" i="0" dirty="0">
                <a:solidFill>
                  <a:srgbClr val="273239"/>
                </a:solidFill>
                <a:effectLst/>
                <a:latin typeface="Nunito" pitchFamily="2" charset="0"/>
              </a:rPr>
              <a:t> Total or Partial –</a:t>
            </a:r>
            <a:r>
              <a:rPr lang="en-US" b="0" i="0" dirty="0">
                <a:solidFill>
                  <a:srgbClr val="273239"/>
                </a:solidFill>
                <a:effectLst/>
                <a:latin typeface="Nunito" pitchFamily="2" charset="0"/>
              </a:rPr>
              <a:t> A sub-classing relationship is total if every super-class entity is to be associated with some sub-class entity, otherwise partial. Sub-class “job type based employee category” is partial sub-cl  </a:t>
            </a:r>
            <a:r>
              <a:rPr lang="en-US" b="0" i="0" dirty="0" err="1">
                <a:solidFill>
                  <a:srgbClr val="273239"/>
                </a:solidFill>
                <a:effectLst/>
                <a:latin typeface="Nunito" pitchFamily="2" charset="0"/>
              </a:rPr>
              <a:t>assing</a:t>
            </a:r>
            <a:r>
              <a:rPr lang="en-US" b="0" i="0" dirty="0">
                <a:solidFill>
                  <a:srgbClr val="273239"/>
                </a:solidFill>
                <a:effectLst/>
                <a:latin typeface="Nunito" pitchFamily="2" charset="0"/>
              </a:rPr>
              <a:t> – not necessary every employee is one of (secretary, engineer, and technician)B N, i.e. union of these three types is a proper subset of all employees. Whereas other sub-classing “Salaried Employee AND Hourly Employee” is total; the union of entities from sub-classes is equal to the total employee set, i.e. every employee necessarily has to be one of them.</a:t>
            </a:r>
          </a:p>
        </p:txBody>
      </p:sp>
      <p:sp>
        <p:nvSpPr>
          <p:cNvPr id="7" name="TextBox 6">
            <a:extLst>
              <a:ext uri="{FF2B5EF4-FFF2-40B4-BE49-F238E27FC236}">
                <a16:creationId xmlns:a16="http://schemas.microsoft.com/office/drawing/2014/main" xmlns="" id="{0F1343D8-D351-EAC8-161F-C75D4EC56030}"/>
              </a:ext>
            </a:extLst>
          </p:cNvPr>
          <p:cNvSpPr txBox="1"/>
          <p:nvPr/>
        </p:nvSpPr>
        <p:spPr>
          <a:xfrm>
            <a:off x="1382485" y="4157722"/>
            <a:ext cx="9829799" cy="923330"/>
          </a:xfrm>
          <a:prstGeom prst="rect">
            <a:avLst/>
          </a:prstGeom>
          <a:noFill/>
        </p:spPr>
        <p:txBody>
          <a:bodyPr wrap="square">
            <a:spAutoFit/>
          </a:bodyPr>
          <a:lstStyle/>
          <a:p>
            <a:pPr algn="l" fontAlgn="base"/>
            <a:r>
              <a:rPr lang="en-US" b="1" i="0" dirty="0">
                <a:solidFill>
                  <a:srgbClr val="273239"/>
                </a:solidFill>
                <a:effectLst/>
                <a:latin typeface="Nunito" pitchFamily="2" charset="0"/>
              </a:rPr>
              <a:t>2. Overlapped or Disjoint – </a:t>
            </a:r>
            <a:r>
              <a:rPr lang="en-US" b="0" i="0" dirty="0">
                <a:solidFill>
                  <a:srgbClr val="273239"/>
                </a:solidFill>
                <a:effectLst/>
                <a:latin typeface="Nunito" pitchFamily="2" charset="0"/>
              </a:rPr>
              <a:t>If an entity from a super-set can be related (can occur) in multiple sub-class sets, then it is overlapped sub-classing, otherwise disjoint. Both the examples: job-type based and salaries/hourly employee sub-classing are disjoint.</a:t>
            </a:r>
          </a:p>
        </p:txBody>
      </p:sp>
    </p:spTree>
    <p:extLst>
      <p:ext uri="{BB962C8B-B14F-4D97-AF65-F5344CB8AC3E}">
        <p14:creationId xmlns:p14="http://schemas.microsoft.com/office/powerpoint/2010/main" val="17517894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Generalization">
            <a:extLst>
              <a:ext uri="{FF2B5EF4-FFF2-40B4-BE49-F238E27FC236}">
                <a16:creationId xmlns:a16="http://schemas.microsoft.com/office/drawing/2014/main" xmlns="" id="{15C4D4B8-C557-47F6-ABDB-3B6E3397080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xmlns="" id="{0E07E647-3CB7-BDF9-FAA3-C29D2518A920}"/>
              </a:ext>
            </a:extLst>
          </p:cNvPr>
          <p:cNvSpPr txBox="1"/>
          <p:nvPr/>
        </p:nvSpPr>
        <p:spPr>
          <a:xfrm>
            <a:off x="1309007" y="2063740"/>
            <a:ext cx="6101442" cy="3416320"/>
          </a:xfrm>
          <a:prstGeom prst="rect">
            <a:avLst/>
          </a:prstGeom>
          <a:noFill/>
        </p:spPr>
        <p:txBody>
          <a:bodyPr wrap="square">
            <a:spAutoFit/>
          </a:bodyPr>
          <a:lstStyle/>
          <a:p>
            <a:pPr algn="just" rtl="0" fontAlgn="base"/>
            <a:r>
              <a:rPr lang="en-US" b="0" i="0" dirty="0">
                <a:solidFill>
                  <a:srgbClr val="273239"/>
                </a:solidFill>
                <a:effectLst/>
                <a:latin typeface="Nunito" pitchFamily="2" charset="0"/>
              </a:rPr>
              <a:t>Generalization is the process of extracting common properties from a set of entities and creating a generalized entity from it. It is a bottom-up approach in which two or more entities can be generalized to a higher-level entity if they have some attributes in common. For Example, STUDENT and FACULTY can be generalized to a higher-level entity called PERSON as shown in Figure 1. In this case, common attributes like P_NAME, and P_ADD become part of a higher </a:t>
            </a:r>
            <a:r>
              <a:rPr lang="en-US" b="0" i="0" u="sng" dirty="0">
                <a:solidFill>
                  <a:srgbClr val="273239"/>
                </a:solidFill>
                <a:effectLst/>
                <a:latin typeface="Nunito" pitchFamily="2" charset="0"/>
                <a:hlinkClick r:id="rId2"/>
              </a:rPr>
              <a:t>entity</a:t>
            </a:r>
            <a:r>
              <a:rPr lang="en-US" b="0" i="0" dirty="0">
                <a:solidFill>
                  <a:srgbClr val="273239"/>
                </a:solidFill>
                <a:effectLst/>
                <a:latin typeface="Nunito" pitchFamily="2" charset="0"/>
              </a:rPr>
              <a:t> (PERSON), and specialized </a:t>
            </a:r>
            <a:r>
              <a:rPr lang="en-US" b="0" i="0" u="sng" dirty="0">
                <a:solidFill>
                  <a:srgbClr val="273239"/>
                </a:solidFill>
                <a:effectLst/>
                <a:latin typeface="Nunito" pitchFamily="2" charset="0"/>
                <a:hlinkClick r:id="rId3"/>
              </a:rPr>
              <a:t>attributes</a:t>
            </a:r>
            <a:r>
              <a:rPr lang="en-US" b="0" i="0" dirty="0">
                <a:solidFill>
                  <a:srgbClr val="273239"/>
                </a:solidFill>
                <a:effectLst/>
                <a:latin typeface="Nunito" pitchFamily="2" charset="0"/>
              </a:rPr>
              <a:t> like S_FEE become part of a specialized entity (STUDENT). </a:t>
            </a:r>
          </a:p>
          <a:p>
            <a:pPr algn="l" rtl="0" fontAlgn="base"/>
            <a:r>
              <a:rPr lang="en-US" b="0" i="0" dirty="0">
                <a:solidFill>
                  <a:srgbClr val="273239"/>
                </a:solidFill>
                <a:effectLst/>
                <a:latin typeface="Nunito" pitchFamily="2" charset="0"/>
              </a:rPr>
              <a:t>Generalization is also called as ‘ Bottom-up approach”.</a:t>
            </a:r>
          </a:p>
        </p:txBody>
      </p:sp>
      <p:pic>
        <p:nvPicPr>
          <p:cNvPr id="9" name="Picture 8">
            <a:extLst>
              <a:ext uri="{FF2B5EF4-FFF2-40B4-BE49-F238E27FC236}">
                <a16:creationId xmlns:a16="http://schemas.microsoft.com/office/drawing/2014/main" xmlns="" id="{1C77A929-F3EB-2144-86BF-453841368C72}"/>
              </a:ext>
            </a:extLst>
          </p:cNvPr>
          <p:cNvPicPr>
            <a:picLocks noChangeAspect="1"/>
          </p:cNvPicPr>
          <p:nvPr/>
        </p:nvPicPr>
        <p:blipFill>
          <a:blip r:embed="rId4"/>
          <a:stretch>
            <a:fillRect/>
          </a:stretch>
        </p:blipFill>
        <p:spPr>
          <a:xfrm>
            <a:off x="8096743" y="2286000"/>
            <a:ext cx="3531135" cy="3092104"/>
          </a:xfrm>
          <a:prstGeom prst="rect">
            <a:avLst/>
          </a:prstGeom>
        </p:spPr>
      </p:pic>
    </p:spTree>
    <p:extLst>
      <p:ext uri="{BB962C8B-B14F-4D97-AF65-F5344CB8AC3E}">
        <p14:creationId xmlns:p14="http://schemas.microsoft.com/office/powerpoint/2010/main" val="25386983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CF1BB12-F98A-663C-491E-F30A86A0C4A7}"/>
              </a:ext>
            </a:extLst>
          </p:cNvPr>
          <p:cNvSpPr>
            <a:spLocks noGrp="1"/>
          </p:cNvSpPr>
          <p:nvPr>
            <p:ph idx="1"/>
          </p:nvPr>
        </p:nvSpPr>
        <p:spPr>
          <a:xfrm>
            <a:off x="1451579" y="2015732"/>
            <a:ext cx="6255507" cy="3450613"/>
          </a:xfrm>
        </p:spPr>
        <p:txBody>
          <a:bodyPr>
            <a:normAutofit fontScale="92500" lnSpcReduction="20000"/>
          </a:bodyPr>
          <a:lstStyle/>
          <a:p>
            <a:pPr algn="just"/>
            <a:r>
              <a:rPr lang="en-US" b="0" i="0" dirty="0">
                <a:solidFill>
                  <a:srgbClr val="273239"/>
                </a:solidFill>
                <a:effectLst/>
                <a:latin typeface="Nunito" pitchFamily="2" charset="0"/>
              </a:rPr>
              <a:t>In specialization, an entity is divided into sub-entities based on its characteristics. It is a top-down approach where the higher-level entity is specialized into two or more lower-level </a:t>
            </a:r>
            <a:r>
              <a:rPr lang="en-US" b="0" i="0" u="sng" dirty="0">
                <a:effectLst/>
                <a:latin typeface="Nunito" pitchFamily="2" charset="0"/>
                <a:hlinkClick r:id="rId2"/>
              </a:rPr>
              <a:t>entities</a:t>
            </a:r>
            <a:r>
              <a:rPr lang="en-US" b="0" i="0" dirty="0">
                <a:solidFill>
                  <a:srgbClr val="273239"/>
                </a:solidFill>
                <a:effectLst/>
                <a:latin typeface="Nunito" pitchFamily="2" charset="0"/>
              </a:rPr>
              <a:t>. For Example, an EMPLOYEE entity in an Employee management system can be specialized into DEVELOPER, TESTER, etc. as shown in Figure 2. In this case, common attributes like E_NAME, E_SAL, etc. become part of a higher entity (EMPLOYEE), and specialized attributes like TES_TYPE become part of a specialized entity (TESTER). </a:t>
            </a:r>
            <a:endParaRPr lang="en-IN" dirty="0"/>
          </a:p>
        </p:txBody>
      </p:sp>
      <p:pic>
        <p:nvPicPr>
          <p:cNvPr id="5" name="Picture 4">
            <a:extLst>
              <a:ext uri="{FF2B5EF4-FFF2-40B4-BE49-F238E27FC236}">
                <a16:creationId xmlns:a16="http://schemas.microsoft.com/office/drawing/2014/main" xmlns="" id="{C394FC5A-511F-AC80-23DC-18D382AFC069}"/>
              </a:ext>
            </a:extLst>
          </p:cNvPr>
          <p:cNvPicPr>
            <a:picLocks noChangeAspect="1"/>
          </p:cNvPicPr>
          <p:nvPr/>
        </p:nvPicPr>
        <p:blipFill>
          <a:blip r:embed="rId3"/>
          <a:stretch>
            <a:fillRect/>
          </a:stretch>
        </p:blipFill>
        <p:spPr>
          <a:xfrm>
            <a:off x="8031708" y="2015732"/>
            <a:ext cx="3913560" cy="3450614"/>
          </a:xfrm>
          <a:prstGeom prst="rect">
            <a:avLst/>
          </a:prstGeom>
        </p:spPr>
      </p:pic>
    </p:spTree>
    <p:extLst>
      <p:ext uri="{BB962C8B-B14F-4D97-AF65-F5344CB8AC3E}">
        <p14:creationId xmlns:p14="http://schemas.microsoft.com/office/powerpoint/2010/main" val="3547057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FCACF95-6AC4-3773-8A88-38CF521226A2}"/>
              </a:ext>
            </a:extLst>
          </p:cNvPr>
          <p:cNvSpPr txBox="1"/>
          <p:nvPr/>
        </p:nvSpPr>
        <p:spPr>
          <a:xfrm>
            <a:off x="1330780" y="1844185"/>
            <a:ext cx="6101442" cy="4247317"/>
          </a:xfrm>
          <a:prstGeom prst="rect">
            <a:avLst/>
          </a:prstGeom>
          <a:noFill/>
        </p:spPr>
        <p:txBody>
          <a:bodyPr wrap="square">
            <a:spAutoFit/>
          </a:bodyPr>
          <a:lstStyle/>
          <a:p>
            <a:pPr algn="just" rtl="0" fontAlgn="base"/>
            <a:r>
              <a:rPr lang="en-US" b="0" i="0" dirty="0">
                <a:solidFill>
                  <a:srgbClr val="273239"/>
                </a:solidFill>
                <a:effectLst/>
                <a:latin typeface="Nunito" pitchFamily="2" charset="0"/>
              </a:rPr>
              <a:t>An ER diagram is not capable of representing the relationship between an entity and a relationship which may be required in some scenarios. In those cases, a relationship with its corresponding entities is aggregated into a higher-level entity. Aggregation is an abstraction through which we can represent relationships as higher-level entity sets.</a:t>
            </a:r>
          </a:p>
          <a:p>
            <a:pPr algn="just" rtl="0" fontAlgn="base"/>
            <a:r>
              <a:rPr lang="en-US" b="0" i="0" dirty="0">
                <a:solidFill>
                  <a:srgbClr val="273239"/>
                </a:solidFill>
                <a:effectLst/>
                <a:latin typeface="Nunito" pitchFamily="2" charset="0"/>
              </a:rPr>
              <a:t>For Example, an Employee working on a project may require some machinery. So, REQUIRE relationship is needed between the relationship WORKS_FOR and entity MACHINERY. Using aggregation, WORKS_FOR relationship with its entities EMPLOYEE and PROJECT is aggregated into a single entity and relationship REQUIRE is created between the aggregated entity and MACHINERY.</a:t>
            </a:r>
          </a:p>
        </p:txBody>
      </p:sp>
      <p:pic>
        <p:nvPicPr>
          <p:cNvPr id="7" name="Picture 6">
            <a:extLst>
              <a:ext uri="{FF2B5EF4-FFF2-40B4-BE49-F238E27FC236}">
                <a16:creationId xmlns:a16="http://schemas.microsoft.com/office/drawing/2014/main" xmlns="" id="{3759F7CF-A62C-9A76-D4CF-3C8D19350DA2}"/>
              </a:ext>
            </a:extLst>
          </p:cNvPr>
          <p:cNvPicPr>
            <a:picLocks noChangeAspect="1"/>
          </p:cNvPicPr>
          <p:nvPr/>
        </p:nvPicPr>
        <p:blipFill>
          <a:blip r:embed="rId2"/>
          <a:stretch>
            <a:fillRect/>
          </a:stretch>
        </p:blipFill>
        <p:spPr>
          <a:xfrm>
            <a:off x="7461007" y="1844185"/>
            <a:ext cx="4730993" cy="3911801"/>
          </a:xfrm>
          <a:prstGeom prst="rect">
            <a:avLst/>
          </a:prstGeom>
        </p:spPr>
      </p:pic>
    </p:spTree>
    <p:extLst>
      <p:ext uri="{BB962C8B-B14F-4D97-AF65-F5344CB8AC3E}">
        <p14:creationId xmlns:p14="http://schemas.microsoft.com/office/powerpoint/2010/main" val="33801500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F606C20-14AE-A922-94AA-936A0A0ACE2A}"/>
              </a:ext>
            </a:extLst>
          </p:cNvPr>
          <p:cNvSpPr>
            <a:spLocks noGrp="1"/>
          </p:cNvSpPr>
          <p:nvPr>
            <p:ph idx="1"/>
          </p:nvPr>
        </p:nvSpPr>
        <p:spPr>
          <a:xfrm>
            <a:off x="1294362" y="535275"/>
            <a:ext cx="9603275" cy="3450613"/>
          </a:xfrm>
        </p:spPr>
        <p:txBody>
          <a:bodyPr/>
          <a:lstStyle/>
          <a:p>
            <a:r>
              <a:rPr lang="en-US" b="0" i="0" dirty="0">
                <a:solidFill>
                  <a:srgbClr val="333333"/>
                </a:solidFill>
                <a:effectLst/>
                <a:latin typeface="Times New Roman" panose="02020603050405020304" pitchFamily="18" charset="0"/>
              </a:rPr>
              <a:t>Another form of aggregation says that it is abstracting a relationship between objects and viewing the relationship as an object. So, in Figure 2, the Enrollment relationship between entities Center and Course entity can be viewed as entity REGISTRATION.</a:t>
            </a:r>
            <a:endParaRPr lang="en-IN" dirty="0"/>
          </a:p>
        </p:txBody>
      </p:sp>
      <p:pic>
        <p:nvPicPr>
          <p:cNvPr id="2050" name="Picture 2">
            <a:extLst>
              <a:ext uri="{FF2B5EF4-FFF2-40B4-BE49-F238E27FC236}">
                <a16:creationId xmlns:a16="http://schemas.microsoft.com/office/drawing/2014/main" xmlns="" id="{895B7494-9ED6-5F2D-FF72-8154FCE99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2864" y="2080888"/>
            <a:ext cx="476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162E4FA1-4A91-46DF-7929-0B1D15A82B2B}"/>
              </a:ext>
            </a:extLst>
          </p:cNvPr>
          <p:cNvSpPr txBox="1"/>
          <p:nvPr/>
        </p:nvSpPr>
        <p:spPr>
          <a:xfrm>
            <a:off x="1678603" y="3307221"/>
            <a:ext cx="5070021" cy="923330"/>
          </a:xfrm>
          <a:prstGeom prst="rect">
            <a:avLst/>
          </a:prstGeom>
          <a:noFill/>
        </p:spPr>
        <p:txBody>
          <a:bodyPr wrap="square">
            <a:spAutoFit/>
          </a:bodyPr>
          <a:lstStyle/>
          <a:p>
            <a:r>
              <a:rPr lang="en-US" b="0" i="0" dirty="0">
                <a:solidFill>
                  <a:srgbClr val="333333"/>
                </a:solidFill>
                <a:effectLst/>
                <a:latin typeface="Times New Roman" panose="02020603050405020304" pitchFamily="18" charset="0"/>
              </a:rPr>
              <a:t>In simple terms, Aggregation is a process when relation between two entity is treated as a single entity.</a:t>
            </a:r>
            <a:endParaRPr lang="en-IN" dirty="0"/>
          </a:p>
        </p:txBody>
      </p:sp>
    </p:spTree>
    <p:extLst>
      <p:ext uri="{BB962C8B-B14F-4D97-AF65-F5344CB8AC3E}">
        <p14:creationId xmlns:p14="http://schemas.microsoft.com/office/powerpoint/2010/main" val="151328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7E971D-8C11-6113-A038-0A5FD10BEF87}"/>
              </a:ext>
            </a:extLst>
          </p:cNvPr>
          <p:cNvSpPr>
            <a:spLocks noGrp="1"/>
          </p:cNvSpPr>
          <p:nvPr>
            <p:ph type="title"/>
          </p:nvPr>
        </p:nvSpPr>
        <p:spPr/>
        <p:txBody>
          <a:bodyPr/>
          <a:lstStyle/>
          <a:p>
            <a:r>
              <a:rPr lang="en-US" dirty="0"/>
              <a:t>Associative entity (Bridge or intersection)</a:t>
            </a:r>
            <a:endParaRPr lang="en-IN" dirty="0"/>
          </a:p>
        </p:txBody>
      </p:sp>
      <p:sp>
        <p:nvSpPr>
          <p:cNvPr id="3" name="Content Placeholder 2">
            <a:extLst>
              <a:ext uri="{FF2B5EF4-FFF2-40B4-BE49-F238E27FC236}">
                <a16:creationId xmlns:a16="http://schemas.microsoft.com/office/drawing/2014/main" xmlns="" id="{78BDD0BE-DF88-15C5-5043-3C9A2ECD629C}"/>
              </a:ext>
            </a:extLst>
          </p:cNvPr>
          <p:cNvSpPr>
            <a:spLocks noGrp="1"/>
          </p:cNvSpPr>
          <p:nvPr>
            <p:ph idx="1"/>
          </p:nvPr>
        </p:nvSpPr>
        <p:spPr/>
        <p:txBody>
          <a:bodyPr/>
          <a:lstStyle/>
          <a:p>
            <a:r>
              <a:rPr lang="en-US" dirty="0"/>
              <a:t>Associative entity is a type of entity that associate the instances of one or many entity type with one another. </a:t>
            </a:r>
          </a:p>
          <a:p>
            <a:r>
              <a:rPr lang="en-US" dirty="0"/>
              <a:t>The presence of one or mor attributes on a relationship suggest to the designer that the relationship should be represented as entity type. </a:t>
            </a:r>
          </a:p>
          <a:p>
            <a:r>
              <a:rPr lang="en-US" dirty="0"/>
              <a:t>This type of entity is known as Associative Entity</a:t>
            </a:r>
          </a:p>
          <a:p>
            <a:endParaRPr lang="en-IN" dirty="0"/>
          </a:p>
        </p:txBody>
      </p:sp>
      <p:pic>
        <p:nvPicPr>
          <p:cNvPr id="5" name="Picture 4">
            <a:extLst>
              <a:ext uri="{FF2B5EF4-FFF2-40B4-BE49-F238E27FC236}">
                <a16:creationId xmlns:a16="http://schemas.microsoft.com/office/drawing/2014/main" xmlns="" id="{415A440D-3459-DFF1-51E7-F7B005421A9A}"/>
              </a:ext>
            </a:extLst>
          </p:cNvPr>
          <p:cNvPicPr>
            <a:picLocks noChangeAspect="1"/>
          </p:cNvPicPr>
          <p:nvPr/>
        </p:nvPicPr>
        <p:blipFill>
          <a:blip r:embed="rId2"/>
          <a:stretch>
            <a:fillRect/>
          </a:stretch>
        </p:blipFill>
        <p:spPr>
          <a:xfrm>
            <a:off x="2121060" y="4512749"/>
            <a:ext cx="7949880" cy="1907192"/>
          </a:xfrm>
          <a:prstGeom prst="rect">
            <a:avLst/>
          </a:prstGeom>
        </p:spPr>
      </p:pic>
    </p:spTree>
    <p:extLst>
      <p:ext uri="{BB962C8B-B14F-4D97-AF65-F5344CB8AC3E}">
        <p14:creationId xmlns:p14="http://schemas.microsoft.com/office/powerpoint/2010/main" val="8205185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A1E1F-72F0-1877-536F-CAADBCBDEB66}"/>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xmlns="" id="{A56D7B23-B95F-EC3D-0D7B-EEBF472DC4B0}"/>
              </a:ext>
            </a:extLst>
          </p:cNvPr>
          <p:cNvPicPr>
            <a:picLocks noChangeAspect="1"/>
          </p:cNvPicPr>
          <p:nvPr/>
        </p:nvPicPr>
        <p:blipFill>
          <a:blip r:embed="rId2"/>
          <a:stretch>
            <a:fillRect/>
          </a:stretch>
        </p:blipFill>
        <p:spPr>
          <a:xfrm>
            <a:off x="1188475" y="348343"/>
            <a:ext cx="9815049" cy="2641638"/>
          </a:xfrm>
          <a:prstGeom prst="rect">
            <a:avLst/>
          </a:prstGeom>
        </p:spPr>
      </p:pic>
      <p:pic>
        <p:nvPicPr>
          <p:cNvPr id="7" name="Picture 6">
            <a:extLst>
              <a:ext uri="{FF2B5EF4-FFF2-40B4-BE49-F238E27FC236}">
                <a16:creationId xmlns:a16="http://schemas.microsoft.com/office/drawing/2014/main" xmlns="" id="{D776375E-4CA7-D2C4-895B-44049B9828F3}"/>
              </a:ext>
            </a:extLst>
          </p:cNvPr>
          <p:cNvPicPr>
            <a:picLocks noChangeAspect="1"/>
          </p:cNvPicPr>
          <p:nvPr/>
        </p:nvPicPr>
        <p:blipFill>
          <a:blip r:embed="rId3"/>
          <a:stretch>
            <a:fillRect/>
          </a:stretch>
        </p:blipFill>
        <p:spPr>
          <a:xfrm>
            <a:off x="2944027" y="3311918"/>
            <a:ext cx="6080229" cy="3460907"/>
          </a:xfrm>
          <a:prstGeom prst="rect">
            <a:avLst/>
          </a:prstGeom>
        </p:spPr>
      </p:pic>
    </p:spTree>
    <p:extLst>
      <p:ext uri="{BB962C8B-B14F-4D97-AF65-F5344CB8AC3E}">
        <p14:creationId xmlns:p14="http://schemas.microsoft.com/office/powerpoint/2010/main" val="3747782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A09935F2-7E3D-0EF4-5C5C-5E9354586C37}"/>
              </a:ext>
            </a:extLst>
          </p:cNvPr>
          <p:cNvPicPr>
            <a:picLocks noChangeAspect="1"/>
          </p:cNvPicPr>
          <p:nvPr/>
        </p:nvPicPr>
        <p:blipFill>
          <a:blip r:embed="rId2"/>
          <a:stretch>
            <a:fillRect/>
          </a:stretch>
        </p:blipFill>
        <p:spPr>
          <a:xfrm>
            <a:off x="1905000" y="448808"/>
            <a:ext cx="8040764" cy="6213317"/>
          </a:xfrm>
          <a:prstGeom prst="rect">
            <a:avLst/>
          </a:prstGeom>
        </p:spPr>
      </p:pic>
    </p:spTree>
    <p:extLst>
      <p:ext uri="{BB962C8B-B14F-4D97-AF65-F5344CB8AC3E}">
        <p14:creationId xmlns:p14="http://schemas.microsoft.com/office/powerpoint/2010/main" val="3293819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4C5E841C-1663-7F7F-3629-75322529A3CB}"/>
              </a:ext>
            </a:extLst>
          </p:cNvPr>
          <p:cNvPicPr>
            <a:picLocks noChangeAspect="1"/>
          </p:cNvPicPr>
          <p:nvPr/>
        </p:nvPicPr>
        <p:blipFill>
          <a:blip r:embed="rId2"/>
          <a:stretch>
            <a:fillRect/>
          </a:stretch>
        </p:blipFill>
        <p:spPr>
          <a:xfrm>
            <a:off x="790909" y="544286"/>
            <a:ext cx="10790724" cy="4582885"/>
          </a:xfrm>
          <a:prstGeom prst="rect">
            <a:avLst/>
          </a:prstGeom>
        </p:spPr>
      </p:pic>
    </p:spTree>
    <p:extLst>
      <p:ext uri="{BB962C8B-B14F-4D97-AF65-F5344CB8AC3E}">
        <p14:creationId xmlns:p14="http://schemas.microsoft.com/office/powerpoint/2010/main" val="8760282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BA8F91-70DC-E69B-379F-301309E456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E4079E8-FE0F-0C3C-6C6F-FF3D097FBF0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B4957963-23FC-0B27-3BE9-0162C226C5A6}"/>
              </a:ext>
            </a:extLst>
          </p:cNvPr>
          <p:cNvPicPr>
            <a:picLocks noChangeAspect="1"/>
          </p:cNvPicPr>
          <p:nvPr/>
        </p:nvPicPr>
        <p:blipFill>
          <a:blip r:embed="rId2"/>
          <a:stretch>
            <a:fillRect/>
          </a:stretch>
        </p:blipFill>
        <p:spPr>
          <a:xfrm>
            <a:off x="769661" y="566057"/>
            <a:ext cx="9778596" cy="4626429"/>
          </a:xfrm>
          <a:prstGeom prst="rect">
            <a:avLst/>
          </a:prstGeom>
        </p:spPr>
      </p:pic>
    </p:spTree>
    <p:extLst>
      <p:ext uri="{BB962C8B-B14F-4D97-AF65-F5344CB8AC3E}">
        <p14:creationId xmlns:p14="http://schemas.microsoft.com/office/powerpoint/2010/main" val="23456491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2DC0EC-46CF-E8E1-761C-23873EE871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E254772-EA27-B54A-98D2-C6AA9610D7E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D42A482C-9974-C3BE-5138-D887815EF905}"/>
              </a:ext>
            </a:extLst>
          </p:cNvPr>
          <p:cNvPicPr>
            <a:picLocks noChangeAspect="1"/>
          </p:cNvPicPr>
          <p:nvPr/>
        </p:nvPicPr>
        <p:blipFill>
          <a:blip r:embed="rId2"/>
          <a:stretch>
            <a:fillRect/>
          </a:stretch>
        </p:blipFill>
        <p:spPr>
          <a:xfrm>
            <a:off x="1216638" y="704673"/>
            <a:ext cx="9603275" cy="4761672"/>
          </a:xfrm>
          <a:prstGeom prst="rect">
            <a:avLst/>
          </a:prstGeom>
        </p:spPr>
      </p:pic>
    </p:spTree>
    <p:extLst>
      <p:ext uri="{BB962C8B-B14F-4D97-AF65-F5344CB8AC3E}">
        <p14:creationId xmlns:p14="http://schemas.microsoft.com/office/powerpoint/2010/main" val="7171114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FCB0C1F-9D0D-1025-B087-40BDDBCAC362}"/>
              </a:ext>
            </a:extLst>
          </p:cNvPr>
          <p:cNvSpPr txBox="1"/>
          <p:nvPr/>
        </p:nvSpPr>
        <p:spPr>
          <a:xfrm>
            <a:off x="1301750" y="1092200"/>
            <a:ext cx="10001250" cy="4093428"/>
          </a:xfrm>
          <a:prstGeom prst="rect">
            <a:avLst/>
          </a:prstGeom>
          <a:noFill/>
        </p:spPr>
        <p:txBody>
          <a:bodyPr wrap="square">
            <a:spAutoFit/>
          </a:bodyPr>
          <a:lstStyle/>
          <a:p>
            <a:pPr algn="just"/>
            <a:r>
              <a:rPr lang="en-US" sz="2000" b="1" i="0" u="none" strike="noStrike" baseline="0" dirty="0">
                <a:solidFill>
                  <a:srgbClr val="212121"/>
                </a:solidFill>
                <a:latin typeface="Arial Narrow,Bold"/>
              </a:rPr>
              <a:t>Advantages and Disadvantages of ER Modeling ( Merits and Demerits of ER Modeling )</a:t>
            </a:r>
          </a:p>
          <a:p>
            <a:pPr algn="just"/>
            <a:r>
              <a:rPr lang="en-IN" sz="2000" b="1" i="0" u="none" strike="noStrike" baseline="0" dirty="0">
                <a:solidFill>
                  <a:srgbClr val="212121"/>
                </a:solidFill>
                <a:latin typeface="Arial Narrow,Bold"/>
              </a:rPr>
              <a:t>Advantages</a:t>
            </a:r>
          </a:p>
          <a:p>
            <a:pPr algn="just"/>
            <a:endParaRPr lang="en-IN" sz="2000" b="1" i="0" u="none" strike="noStrike" baseline="0" dirty="0">
              <a:solidFill>
                <a:srgbClr val="212121"/>
              </a:solidFill>
              <a:latin typeface="Arial Narrow,Bold"/>
            </a:endParaRPr>
          </a:p>
          <a:p>
            <a:pPr algn="just"/>
            <a:r>
              <a:rPr lang="en-US" sz="2000" b="0" i="0" u="none" strike="noStrike" baseline="0" dirty="0">
                <a:solidFill>
                  <a:srgbClr val="212121"/>
                </a:solidFill>
                <a:latin typeface="Arial Narrow" panose="020B0606020202030204" pitchFamily="34" charset="0"/>
              </a:rPr>
              <a:t>1. ER Modeling is simple and easily understandable. It is represented in business users language and it can be</a:t>
            </a:r>
          </a:p>
          <a:p>
            <a:pPr algn="just"/>
            <a:r>
              <a:rPr lang="en-IN" sz="2000" b="0" i="0" u="none" strike="noStrike" baseline="0" dirty="0">
                <a:solidFill>
                  <a:srgbClr val="212121"/>
                </a:solidFill>
                <a:latin typeface="Arial Narrow" panose="020B0606020202030204" pitchFamily="34" charset="0"/>
              </a:rPr>
              <a:t>understood by non-technical specialist.</a:t>
            </a:r>
          </a:p>
          <a:p>
            <a:pPr algn="just"/>
            <a:r>
              <a:rPr lang="en-US" sz="2000" b="0" i="0" u="none" strike="noStrike" baseline="0" dirty="0">
                <a:solidFill>
                  <a:srgbClr val="212121"/>
                </a:solidFill>
                <a:latin typeface="Arial Narrow" panose="020B0606020202030204" pitchFamily="34" charset="0"/>
              </a:rPr>
              <a:t>2. Intuitive and helps in Physical Database creation.</a:t>
            </a:r>
          </a:p>
          <a:p>
            <a:pPr algn="just"/>
            <a:r>
              <a:rPr lang="en-US" sz="2000" b="0" i="0" u="none" strike="noStrike" baseline="0" dirty="0">
                <a:solidFill>
                  <a:srgbClr val="212121"/>
                </a:solidFill>
                <a:latin typeface="Arial Narrow" panose="020B0606020202030204" pitchFamily="34" charset="0"/>
              </a:rPr>
              <a:t>3. Can be generalized and specialized based on needs.</a:t>
            </a:r>
          </a:p>
          <a:p>
            <a:pPr algn="just"/>
            <a:r>
              <a:rPr lang="en-US" sz="2000" b="0" i="0" u="none" strike="noStrike" baseline="0" dirty="0">
                <a:solidFill>
                  <a:srgbClr val="212121"/>
                </a:solidFill>
                <a:latin typeface="Arial Narrow" panose="020B0606020202030204" pitchFamily="34" charset="0"/>
              </a:rPr>
              <a:t>4. Can help in database design.</a:t>
            </a:r>
          </a:p>
          <a:p>
            <a:pPr algn="just"/>
            <a:r>
              <a:rPr lang="en-US" sz="2000" b="0" i="0" u="none" strike="noStrike" baseline="0" dirty="0">
                <a:solidFill>
                  <a:srgbClr val="212121"/>
                </a:solidFill>
                <a:latin typeface="Arial Narrow" panose="020B0606020202030204" pitchFamily="34" charset="0"/>
              </a:rPr>
              <a:t>5. Gives a higher level description of the system.</a:t>
            </a:r>
          </a:p>
          <a:p>
            <a:pPr algn="just"/>
            <a:r>
              <a:rPr lang="en-IN" sz="2000" b="1" i="0" u="none" strike="noStrike" baseline="0" dirty="0">
                <a:solidFill>
                  <a:srgbClr val="212121"/>
                </a:solidFill>
                <a:latin typeface="Arial Narrow,Bold"/>
              </a:rPr>
              <a:t>Disadvantages</a:t>
            </a:r>
          </a:p>
          <a:p>
            <a:pPr algn="just"/>
            <a:r>
              <a:rPr lang="en-US" sz="2000" b="0" i="0" u="none" strike="noStrike" baseline="0" dirty="0">
                <a:solidFill>
                  <a:srgbClr val="212121"/>
                </a:solidFill>
                <a:latin typeface="Arial Narrow" panose="020B0606020202030204" pitchFamily="34" charset="0"/>
              </a:rPr>
              <a:t>1. Physical design derived from E-R Model may have some amount of ambiguities or inconsistency.</a:t>
            </a:r>
          </a:p>
          <a:p>
            <a:pPr algn="just"/>
            <a:r>
              <a:rPr lang="en-US" sz="2000" b="0" i="0" u="none" strike="noStrike" baseline="0" dirty="0">
                <a:solidFill>
                  <a:srgbClr val="212121"/>
                </a:solidFill>
                <a:latin typeface="Arial Narrow" panose="020B0606020202030204" pitchFamily="34" charset="0"/>
              </a:rPr>
              <a:t>2. Sometime diagrams may lead to misinterpretations</a:t>
            </a:r>
            <a:endParaRPr lang="en-IN" sz="2000" dirty="0"/>
          </a:p>
        </p:txBody>
      </p:sp>
    </p:spTree>
    <p:extLst>
      <p:ext uri="{BB962C8B-B14F-4D97-AF65-F5344CB8AC3E}">
        <p14:creationId xmlns:p14="http://schemas.microsoft.com/office/powerpoint/2010/main" val="21224015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7CA3FE2-D2BC-606D-7A88-02384EFC70A2}"/>
              </a:ext>
            </a:extLst>
          </p:cNvPr>
          <p:cNvSpPr txBox="1"/>
          <p:nvPr/>
        </p:nvSpPr>
        <p:spPr>
          <a:xfrm>
            <a:off x="1450973" y="1014621"/>
            <a:ext cx="8582025" cy="523220"/>
          </a:xfrm>
          <a:prstGeom prst="rect">
            <a:avLst/>
          </a:prstGeom>
          <a:noFill/>
        </p:spPr>
        <p:txBody>
          <a:bodyPr wrap="square">
            <a:spAutoFit/>
          </a:bodyPr>
          <a:lstStyle/>
          <a:p>
            <a:pPr algn="just"/>
            <a:r>
              <a:rPr lang="en-US" sz="2800" b="1" i="0" u="none" strike="noStrike" baseline="0" dirty="0">
                <a:solidFill>
                  <a:srgbClr val="212121"/>
                </a:solidFill>
                <a:latin typeface="Arial Narrow,Bold"/>
              </a:rPr>
              <a:t>Database Access for Application Programs:</a:t>
            </a:r>
            <a:endParaRPr lang="en-IN" sz="2800" b="1" i="0" u="none" strike="noStrike" baseline="0" dirty="0">
              <a:solidFill>
                <a:srgbClr val="212121"/>
              </a:solidFill>
              <a:latin typeface="Arial Narrow,Bold"/>
            </a:endParaRPr>
          </a:p>
        </p:txBody>
      </p:sp>
      <p:sp>
        <p:nvSpPr>
          <p:cNvPr id="5" name="TextBox 4">
            <a:extLst>
              <a:ext uri="{FF2B5EF4-FFF2-40B4-BE49-F238E27FC236}">
                <a16:creationId xmlns:a16="http://schemas.microsoft.com/office/drawing/2014/main" xmlns="" id="{42179F2C-63C0-8308-6DBF-2173802E401F}"/>
              </a:ext>
            </a:extLst>
          </p:cNvPr>
          <p:cNvSpPr txBox="1"/>
          <p:nvPr/>
        </p:nvSpPr>
        <p:spPr>
          <a:xfrm>
            <a:off x="1450974" y="1856085"/>
            <a:ext cx="9953625"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Any access to the stored data is done by the data manager. A user’s request for data is-received by the data manager, which determines the physical record required. </a:t>
            </a:r>
            <a:endParaRPr lang="en-IN" dirty="0"/>
          </a:p>
        </p:txBody>
      </p:sp>
      <p:sp>
        <p:nvSpPr>
          <p:cNvPr id="7" name="TextBox 6">
            <a:extLst>
              <a:ext uri="{FF2B5EF4-FFF2-40B4-BE49-F238E27FC236}">
                <a16:creationId xmlns:a16="http://schemas.microsoft.com/office/drawing/2014/main" xmlns="" id="{BD871BD1-BC06-C68B-0A69-D926AB725B67}"/>
              </a:ext>
            </a:extLst>
          </p:cNvPr>
          <p:cNvSpPr txBox="1"/>
          <p:nvPr/>
        </p:nvSpPr>
        <p:spPr>
          <a:xfrm>
            <a:off x="1450973" y="2615684"/>
            <a:ext cx="9953625"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data manager sends the request for a specific physical record to the file manager. The file manager decides which physical block of secondary </a:t>
            </a:r>
            <a:r>
              <a:rPr lang="en-US" b="0" i="0" u="none" strike="noStrike" dirty="0">
                <a:solidFill>
                  <a:srgbClr val="38A8D6"/>
                </a:solidFill>
                <a:effectLst/>
                <a:latin typeface="arial" panose="020B0604020202020204" pitchFamily="34" charset="0"/>
                <a:hlinkClick r:id="rId2" tooltip="Storage Devices"/>
              </a:rPr>
              <a:t>storage devices</a:t>
            </a:r>
            <a:r>
              <a:rPr lang="en-US" b="0" i="0" dirty="0">
                <a:solidFill>
                  <a:srgbClr val="000000"/>
                </a:solidFill>
                <a:effectLst/>
                <a:latin typeface="arial" panose="020B0604020202020204" pitchFamily="34" charset="0"/>
              </a:rPr>
              <a:t> contains the required record and sends the request for the appropriate block to the disk manager.</a:t>
            </a:r>
            <a:endParaRPr lang="en-IN" dirty="0"/>
          </a:p>
        </p:txBody>
      </p:sp>
      <p:pic>
        <p:nvPicPr>
          <p:cNvPr id="3074" name="Picture 2" descr="Any access to the stored data is done by the data manager.">
            <a:extLst>
              <a:ext uri="{FF2B5EF4-FFF2-40B4-BE49-F238E27FC236}">
                <a16:creationId xmlns:a16="http://schemas.microsoft.com/office/drawing/2014/main" xmlns="" id="{BB756D75-63F6-278F-1E7F-1A55453D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3539014"/>
            <a:ext cx="8674101" cy="3141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361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9E281C3-F628-88C0-19D0-F5733DD6C2B1}"/>
              </a:ext>
            </a:extLst>
          </p:cNvPr>
          <p:cNvSpPr txBox="1"/>
          <p:nvPr/>
        </p:nvSpPr>
        <p:spPr>
          <a:xfrm>
            <a:off x="1244600" y="829786"/>
            <a:ext cx="10731500" cy="923330"/>
          </a:xfrm>
          <a:prstGeom prst="rect">
            <a:avLst/>
          </a:prstGeom>
          <a:noFill/>
        </p:spPr>
        <p:txBody>
          <a:bodyPr wrap="square">
            <a:spAutoFit/>
          </a:bodyPr>
          <a:lstStyle/>
          <a:p>
            <a:r>
              <a:rPr lang="en-US" dirty="0"/>
              <a:t>The database management system is a bridge between the application program, (that determines what data are needed and how they are processed), and the operating system of the computer, which is responsible for placing data on the magnetic storage devices.</a:t>
            </a:r>
            <a:endParaRPr lang="en-IN" dirty="0"/>
          </a:p>
        </p:txBody>
      </p:sp>
      <p:sp>
        <p:nvSpPr>
          <p:cNvPr id="9" name="TextBox 8">
            <a:extLst>
              <a:ext uri="{FF2B5EF4-FFF2-40B4-BE49-F238E27FC236}">
                <a16:creationId xmlns:a16="http://schemas.microsoft.com/office/drawing/2014/main" xmlns="" id="{7889CAE0-5975-C30D-F9F9-0F81421E2E8D}"/>
              </a:ext>
            </a:extLst>
          </p:cNvPr>
          <p:cNvSpPr txBox="1"/>
          <p:nvPr/>
        </p:nvSpPr>
        <p:spPr>
          <a:xfrm>
            <a:off x="1092200" y="1951672"/>
            <a:ext cx="10883900" cy="1477328"/>
          </a:xfrm>
          <a:prstGeom prst="rect">
            <a:avLst/>
          </a:prstGeom>
          <a:noFill/>
        </p:spPr>
        <p:txBody>
          <a:bodyPr wrap="square">
            <a:spAutoFit/>
          </a:bodyPr>
          <a:lstStyle/>
          <a:p>
            <a:pPr algn="just"/>
            <a:r>
              <a:rPr lang="en-US" sz="1800" b="0" i="0" dirty="0">
                <a:solidFill>
                  <a:srgbClr val="000000"/>
                </a:solidFill>
                <a:effectLst/>
                <a:latin typeface="arial" panose="020B0604020202020204" pitchFamily="34" charset="0"/>
              </a:rPr>
              <a:t>To retrieve data from the database, the following operations are performed internally:</a:t>
            </a:r>
          </a:p>
          <a:p>
            <a:pPr algn="just"/>
            <a:endParaRPr lang="en-US"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 A user issues an access request, using some application program or data manipulation language.</a:t>
            </a:r>
            <a:endParaRPr lang="en-US"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 The application program determines what data are needed and communicates the need to the database management system.</a:t>
            </a:r>
            <a:endParaRPr lang="en-US" b="0" i="0" dirty="0">
              <a:solidFill>
                <a:srgbClr val="000000"/>
              </a:solidFill>
              <a:effectLst/>
              <a:latin typeface="arial" panose="020B0604020202020204" pitchFamily="34" charset="0"/>
            </a:endParaRPr>
          </a:p>
        </p:txBody>
      </p:sp>
      <p:sp>
        <p:nvSpPr>
          <p:cNvPr id="13" name="TextBox 12">
            <a:extLst>
              <a:ext uri="{FF2B5EF4-FFF2-40B4-BE49-F238E27FC236}">
                <a16:creationId xmlns:a16="http://schemas.microsoft.com/office/drawing/2014/main" xmlns="" id="{E560A074-F914-B8DA-5DBB-FCD66C4754FD}"/>
              </a:ext>
            </a:extLst>
          </p:cNvPr>
          <p:cNvSpPr txBox="1"/>
          <p:nvPr/>
        </p:nvSpPr>
        <p:spPr>
          <a:xfrm>
            <a:off x="1092200" y="3429000"/>
            <a:ext cx="10731500" cy="2585323"/>
          </a:xfrm>
          <a:prstGeom prst="rect">
            <a:avLst/>
          </a:prstGeom>
          <a:noFill/>
        </p:spPr>
        <p:txBody>
          <a:bodyPr wrap="square">
            <a:spAutoFit/>
          </a:bodyPr>
          <a:lstStyle/>
          <a:p>
            <a:r>
              <a:rPr lang="en-US" dirty="0"/>
              <a:t>• The DBMS intercepts the request and interprets it .</a:t>
            </a:r>
          </a:p>
          <a:p>
            <a:endParaRPr lang="en-US" dirty="0"/>
          </a:p>
          <a:p>
            <a:r>
              <a:rPr lang="en-US" dirty="0"/>
              <a:t>• . The DBMS inspects, in turn, the external schema, the external/conceptual mapping, the conceptual schema, the conceptually internal mapping, and storage structure definition.</a:t>
            </a:r>
          </a:p>
          <a:p>
            <a:endParaRPr lang="en-US" dirty="0"/>
          </a:p>
          <a:p>
            <a:r>
              <a:rPr lang="en-US" dirty="0"/>
              <a:t>• The data base management system instructs the operating system to locate and retrieve the data from the specific location on the magnetic disk (or whatever device it is stored on).</a:t>
            </a:r>
          </a:p>
          <a:p>
            <a:endParaRPr lang="en-US" dirty="0"/>
          </a:p>
          <a:p>
            <a:r>
              <a:rPr lang="en-US" dirty="0"/>
              <a:t>• A copy of the data is given to the application program for processing.</a:t>
            </a:r>
            <a:endParaRPr lang="en-IN" dirty="0"/>
          </a:p>
        </p:txBody>
      </p:sp>
    </p:spTree>
    <p:extLst>
      <p:ext uri="{BB962C8B-B14F-4D97-AF65-F5344CB8AC3E}">
        <p14:creationId xmlns:p14="http://schemas.microsoft.com/office/powerpoint/2010/main" val="17129251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81D95C-B7A9-FA62-759C-A958E254380B}"/>
              </a:ext>
            </a:extLst>
          </p:cNvPr>
          <p:cNvSpPr>
            <a:spLocks noGrp="1"/>
          </p:cNvSpPr>
          <p:nvPr>
            <p:ph type="title"/>
          </p:nvPr>
        </p:nvSpPr>
        <p:spPr/>
        <p:txBody>
          <a:bodyPr/>
          <a:lstStyle/>
          <a:p>
            <a:r>
              <a:rPr lang="en-US" dirty="0"/>
              <a:t>Data Storage and Querying,– data base Users and Administrator</a:t>
            </a:r>
            <a:endParaRPr lang="en-IN" dirty="0"/>
          </a:p>
        </p:txBody>
      </p:sp>
      <p:sp>
        <p:nvSpPr>
          <p:cNvPr id="3" name="Content Placeholder 2">
            <a:extLst>
              <a:ext uri="{FF2B5EF4-FFF2-40B4-BE49-F238E27FC236}">
                <a16:creationId xmlns:a16="http://schemas.microsoft.com/office/drawing/2014/main" xmlns="" id="{C67D7D06-F8D4-816D-D140-F1709FEB2F96}"/>
              </a:ext>
            </a:extLst>
          </p:cNvPr>
          <p:cNvSpPr>
            <a:spLocks noGrp="1"/>
          </p:cNvSpPr>
          <p:nvPr>
            <p:ph idx="1"/>
          </p:nvPr>
        </p:nvSpPr>
        <p:spPr/>
        <p:txBody>
          <a:bodyPr/>
          <a:lstStyle/>
          <a:p>
            <a:r>
              <a:rPr lang="en-IN" b="1" i="0" dirty="0">
                <a:solidFill>
                  <a:srgbClr val="273239"/>
                </a:solidFill>
                <a:effectLst/>
                <a:latin typeface="Nunito" pitchFamily="2" charset="0"/>
              </a:rPr>
              <a:t>Data Storage </a:t>
            </a:r>
          </a:p>
          <a:p>
            <a:pPr marL="0" indent="0" algn="just">
              <a:buNone/>
            </a:pPr>
            <a:r>
              <a:rPr lang="en-US" b="0" i="0" dirty="0">
                <a:solidFill>
                  <a:srgbClr val="273239"/>
                </a:solidFill>
                <a:effectLst/>
                <a:latin typeface="Nunito" pitchFamily="2" charset="0"/>
              </a:rPr>
              <a:t>Data Storage Manager also known as “Database Control System”, is generally a program that provides an interface between the data/information stored and the queries received. It helps us to maintain the integrity and consistency of the database by applying the constraints. </a:t>
            </a:r>
          </a:p>
          <a:p>
            <a:pPr marL="0" indent="0" algn="just">
              <a:buNone/>
            </a:pPr>
            <a:r>
              <a:rPr lang="en-US" b="0" i="0" dirty="0">
                <a:solidFill>
                  <a:srgbClr val="273239"/>
                </a:solidFill>
                <a:effectLst/>
                <a:latin typeface="Nunito" pitchFamily="2" charset="0"/>
              </a:rPr>
              <a:t>Storage Manager is generally in charge of the interactions with the File Manager, where raw data is stored on the data with the help of the file system. It translates various DML statements into low-level commands.</a:t>
            </a:r>
            <a:endParaRPr lang="en-US" dirty="0">
              <a:solidFill>
                <a:srgbClr val="273239"/>
              </a:solidFill>
              <a:latin typeface="Nunito" pitchFamily="2" charset="0"/>
            </a:endParaRPr>
          </a:p>
        </p:txBody>
      </p:sp>
    </p:spTree>
    <p:extLst>
      <p:ext uri="{BB962C8B-B14F-4D97-AF65-F5344CB8AC3E}">
        <p14:creationId xmlns:p14="http://schemas.microsoft.com/office/powerpoint/2010/main" val="15578446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788E3A5-700E-0BC7-AFE4-B6BD585A7B60}"/>
              </a:ext>
            </a:extLst>
          </p:cNvPr>
          <p:cNvSpPr txBox="1"/>
          <p:nvPr/>
        </p:nvSpPr>
        <p:spPr>
          <a:xfrm>
            <a:off x="1338943" y="1997839"/>
            <a:ext cx="9797143" cy="3416320"/>
          </a:xfrm>
          <a:prstGeom prst="rect">
            <a:avLst/>
          </a:prstGeom>
          <a:noFill/>
        </p:spPr>
        <p:txBody>
          <a:bodyPr wrap="square">
            <a:spAutoFit/>
          </a:bodyPr>
          <a:lstStyle/>
          <a:p>
            <a:pPr algn="just" fontAlgn="base">
              <a:buFont typeface="Arial" panose="020B0604020202020204" pitchFamily="34" charset="0"/>
              <a:buChar char="•"/>
            </a:pPr>
            <a:r>
              <a:rPr lang="en-US" b="1" i="0" dirty="0">
                <a:solidFill>
                  <a:srgbClr val="273239"/>
                </a:solidFill>
                <a:effectLst/>
                <a:latin typeface="Nunito" pitchFamily="2" charset="0"/>
              </a:rPr>
              <a:t>Authorization and Integrity Manager: </a:t>
            </a:r>
            <a:r>
              <a:rPr lang="en-US" b="0" i="0" dirty="0">
                <a:solidFill>
                  <a:srgbClr val="273239"/>
                </a:solidFill>
                <a:effectLst/>
                <a:latin typeface="Nunito" pitchFamily="2" charset="0"/>
              </a:rPr>
              <a:t>The main purpose of the Authorization and Integrity Manager is to ensure the satisfaction of the integrity constraints and checks the authority of users to access information.</a:t>
            </a:r>
          </a:p>
          <a:p>
            <a:pPr algn="just" fontAlgn="base">
              <a:buFont typeface="Arial" panose="020B0604020202020204" pitchFamily="34" charset="0"/>
              <a:buChar char="•"/>
            </a:pPr>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dirty="0">
                <a:solidFill>
                  <a:srgbClr val="273239"/>
                </a:solidFill>
                <a:effectLst/>
                <a:latin typeface="Nunito" pitchFamily="2" charset="0"/>
              </a:rPr>
              <a:t>Transaction Manager:</a:t>
            </a:r>
            <a:r>
              <a:rPr lang="en-US" b="0" i="0" dirty="0">
                <a:solidFill>
                  <a:srgbClr val="273239"/>
                </a:solidFill>
                <a:effectLst/>
                <a:latin typeface="Nunito" pitchFamily="2" charset="0"/>
              </a:rPr>
              <a:t> The main purpose of Transaction Manager is to ensure that even after the system failures, the database should remain in a uniform state.</a:t>
            </a:r>
          </a:p>
          <a:p>
            <a:pPr algn="just" fontAlgn="base">
              <a:buFont typeface="Arial" panose="020B0604020202020204" pitchFamily="34" charset="0"/>
              <a:buChar char="•"/>
            </a:pPr>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dirty="0">
                <a:solidFill>
                  <a:srgbClr val="273239"/>
                </a:solidFill>
                <a:effectLst/>
                <a:latin typeface="Nunito" pitchFamily="2" charset="0"/>
              </a:rPr>
              <a:t>File Manager: </a:t>
            </a:r>
            <a:r>
              <a:rPr lang="en-US" b="0" i="0" dirty="0">
                <a:solidFill>
                  <a:srgbClr val="273239"/>
                </a:solidFill>
                <a:effectLst/>
                <a:latin typeface="Nunito" pitchFamily="2" charset="0"/>
              </a:rPr>
              <a:t>The main purpose of File Manager is to manage the allocation of space on the disk storage.</a:t>
            </a:r>
          </a:p>
          <a:p>
            <a:pPr algn="just" fontAlgn="base">
              <a:buFont typeface="Arial" panose="020B0604020202020204" pitchFamily="34" charset="0"/>
              <a:buChar char="•"/>
            </a:pPr>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dirty="0">
                <a:solidFill>
                  <a:srgbClr val="273239"/>
                </a:solidFill>
                <a:effectLst/>
                <a:latin typeface="Nunito" pitchFamily="2" charset="0"/>
              </a:rPr>
              <a:t>Buffer Manager: </a:t>
            </a:r>
            <a:r>
              <a:rPr lang="en-US" b="0" i="0" dirty="0">
                <a:solidFill>
                  <a:srgbClr val="273239"/>
                </a:solidFill>
                <a:effectLst/>
                <a:latin typeface="Nunito" pitchFamily="2" charset="0"/>
              </a:rPr>
              <a:t>The main purpose of Buffer Manager is to fetch the data from disk storage into the main memory.</a:t>
            </a:r>
          </a:p>
        </p:txBody>
      </p:sp>
    </p:spTree>
    <p:extLst>
      <p:ext uri="{BB962C8B-B14F-4D97-AF65-F5344CB8AC3E}">
        <p14:creationId xmlns:p14="http://schemas.microsoft.com/office/powerpoint/2010/main" val="230998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6FDB8EB-6FF4-D416-1453-3D5BA5307742}"/>
              </a:ext>
            </a:extLst>
          </p:cNvPr>
          <p:cNvSpPr txBox="1"/>
          <p:nvPr/>
        </p:nvSpPr>
        <p:spPr>
          <a:xfrm>
            <a:off x="1287237" y="1301234"/>
            <a:ext cx="6101442" cy="523220"/>
          </a:xfrm>
          <a:prstGeom prst="rect">
            <a:avLst/>
          </a:prstGeom>
          <a:noFill/>
        </p:spPr>
        <p:txBody>
          <a:bodyPr wrap="square">
            <a:spAutoFit/>
          </a:bodyPr>
          <a:lstStyle/>
          <a:p>
            <a:pPr algn="just" fontAlgn="base"/>
            <a:r>
              <a:rPr lang="en-IN" sz="2800" b="1" i="0" dirty="0">
                <a:solidFill>
                  <a:srgbClr val="273239"/>
                </a:solidFill>
                <a:effectLst/>
                <a:latin typeface="Nunito" pitchFamily="2" charset="0"/>
              </a:rPr>
              <a:t>Query Processor:</a:t>
            </a:r>
          </a:p>
        </p:txBody>
      </p:sp>
      <p:sp>
        <p:nvSpPr>
          <p:cNvPr id="9" name="TextBox 8">
            <a:extLst>
              <a:ext uri="{FF2B5EF4-FFF2-40B4-BE49-F238E27FC236}">
                <a16:creationId xmlns:a16="http://schemas.microsoft.com/office/drawing/2014/main" xmlns="" id="{C4F942BD-9966-8599-2BE6-B09FD8237E2B}"/>
              </a:ext>
            </a:extLst>
          </p:cNvPr>
          <p:cNvSpPr txBox="1"/>
          <p:nvPr/>
        </p:nvSpPr>
        <p:spPr>
          <a:xfrm>
            <a:off x="1287237" y="2140446"/>
            <a:ext cx="9688286" cy="3416320"/>
          </a:xfrm>
          <a:prstGeom prst="rect">
            <a:avLst/>
          </a:prstGeom>
          <a:noFill/>
        </p:spPr>
        <p:txBody>
          <a:bodyPr wrap="square">
            <a:spAutoFit/>
          </a:bodyPr>
          <a:lstStyle/>
          <a:p>
            <a:pPr algn="just" fontAlgn="base"/>
            <a:r>
              <a:rPr lang="en-US" b="0" i="0" dirty="0">
                <a:solidFill>
                  <a:srgbClr val="273239"/>
                </a:solidFill>
                <a:effectLst/>
                <a:latin typeface="Nunito" pitchFamily="2" charset="0"/>
              </a:rPr>
              <a:t>Query Processor contains the following three components:</a:t>
            </a:r>
          </a:p>
          <a:p>
            <a:pPr algn="just" fontAlgn="base"/>
            <a:endParaRPr lang="en-US" b="0" i="0" dirty="0">
              <a:effectLst/>
              <a:latin typeface="Nunito" pitchFamily="2" charset="0"/>
            </a:endParaRPr>
          </a:p>
          <a:p>
            <a:pPr algn="just" fontAlgn="base">
              <a:buFont typeface="Arial" panose="020B0604020202020204" pitchFamily="34" charset="0"/>
              <a:buChar char="•"/>
            </a:pPr>
            <a:r>
              <a:rPr lang="en-US" b="1" i="0" dirty="0">
                <a:effectLst/>
                <a:latin typeface="Nunito" pitchFamily="2" charset="0"/>
              </a:rPr>
              <a:t>DDL Interpreter: </a:t>
            </a:r>
            <a:r>
              <a:rPr lang="en-US" b="0" i="0" dirty="0">
                <a:effectLst/>
                <a:latin typeface="Nunito" pitchFamily="2" charset="0"/>
              </a:rPr>
              <a:t>DDL Interpreter is the </a:t>
            </a:r>
            <a:r>
              <a:rPr lang="en-US" b="0" i="0" u="sng" dirty="0">
                <a:effectLst/>
                <a:latin typeface="Nunito" pitchFamily="2" charset="0"/>
                <a:hlinkClick r:id="rId2">
                  <a:extLst>
                    <a:ext uri="{A12FA001-AC4F-418D-AE19-62706E023703}">
                      <ahyp:hlinkClr xmlns:ahyp="http://schemas.microsoft.com/office/drawing/2018/hyperlinkcolor" xmlns="" val="tx"/>
                    </a:ext>
                  </a:extLst>
                </a:hlinkClick>
              </a:rPr>
              <a:t>Data Definition Language</a:t>
            </a:r>
            <a:r>
              <a:rPr lang="en-US" b="0" i="0" dirty="0">
                <a:effectLst/>
                <a:latin typeface="Nunito" pitchFamily="2" charset="0"/>
              </a:rPr>
              <a:t> Interpreter which is basically used to build and modify the structure of your tables and other objects in the table.</a:t>
            </a:r>
          </a:p>
          <a:p>
            <a:pPr algn="just" fontAlgn="base">
              <a:buFont typeface="Arial" panose="020B0604020202020204" pitchFamily="34" charset="0"/>
              <a:buChar char="•"/>
            </a:pPr>
            <a:endParaRPr lang="en-US" b="0" i="0" dirty="0">
              <a:effectLst/>
              <a:latin typeface="Nunito" pitchFamily="2" charset="0"/>
            </a:endParaRPr>
          </a:p>
          <a:p>
            <a:pPr algn="just" fontAlgn="base">
              <a:buFont typeface="Arial" panose="020B0604020202020204" pitchFamily="34" charset="0"/>
              <a:buChar char="•"/>
            </a:pPr>
            <a:r>
              <a:rPr lang="en-US" b="1" i="0" dirty="0">
                <a:effectLst/>
                <a:latin typeface="Nunito" pitchFamily="2" charset="0"/>
              </a:rPr>
              <a:t>DML Compiler: </a:t>
            </a:r>
            <a:r>
              <a:rPr lang="en-US" b="0" i="0" dirty="0">
                <a:effectLst/>
                <a:latin typeface="Nunito" pitchFamily="2" charset="0"/>
              </a:rPr>
              <a:t>DML Compiler is the </a:t>
            </a:r>
            <a:r>
              <a:rPr lang="en-US" b="0" i="0" u="sng" dirty="0">
                <a:effectLst/>
                <a:latin typeface="Nunito" pitchFamily="2" charset="0"/>
                <a:hlinkClick r:id="rId3">
                  <a:extLst>
                    <a:ext uri="{A12FA001-AC4F-418D-AE19-62706E023703}">
                      <ahyp:hlinkClr xmlns:ahyp="http://schemas.microsoft.com/office/drawing/2018/hyperlinkcolor" xmlns="" val="tx"/>
                    </a:ext>
                  </a:extLst>
                </a:hlinkClick>
              </a:rPr>
              <a:t>Data Manipulation Language</a:t>
            </a:r>
            <a:r>
              <a:rPr lang="en-US" b="0" i="0" dirty="0">
                <a:effectLst/>
                <a:latin typeface="Nunito" pitchFamily="2" charset="0"/>
              </a:rPr>
              <a:t> </a:t>
            </a:r>
            <a:r>
              <a:rPr lang="en-US" b="0" i="0" dirty="0">
                <a:solidFill>
                  <a:srgbClr val="273239"/>
                </a:solidFill>
                <a:effectLst/>
                <a:latin typeface="Nunito" pitchFamily="2" charset="0"/>
              </a:rPr>
              <a:t>which is used for adding (inserting), deleting, and modifying (updating) data in a database. or we can say translating the DML statements into query language consists of low-level instructions that only query engine can understand.</a:t>
            </a:r>
          </a:p>
          <a:p>
            <a:pPr algn="just" fontAlgn="base">
              <a:buFont typeface="Arial" panose="020B0604020202020204" pitchFamily="34" charset="0"/>
              <a:buChar char="•"/>
            </a:pPr>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dirty="0">
                <a:solidFill>
                  <a:srgbClr val="273239"/>
                </a:solidFill>
                <a:effectLst/>
                <a:latin typeface="Nunito" pitchFamily="2" charset="0"/>
              </a:rPr>
              <a:t>Query Evaluation Engine: </a:t>
            </a:r>
            <a:r>
              <a:rPr lang="en-US" b="0" i="0" dirty="0">
                <a:solidFill>
                  <a:srgbClr val="273239"/>
                </a:solidFill>
                <a:effectLst/>
                <a:latin typeface="Nunito" pitchFamily="2" charset="0"/>
              </a:rPr>
              <a:t>It basically executes the low-level language instructions, generated by DML Compiler.</a:t>
            </a:r>
          </a:p>
        </p:txBody>
      </p:sp>
    </p:spTree>
    <p:extLst>
      <p:ext uri="{BB962C8B-B14F-4D97-AF65-F5344CB8AC3E}">
        <p14:creationId xmlns:p14="http://schemas.microsoft.com/office/powerpoint/2010/main" val="27262695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CDDFED33-C1C3-953E-5B66-A3C25F68660E}"/>
              </a:ext>
            </a:extLst>
          </p:cNvPr>
          <p:cNvPicPr>
            <a:picLocks noChangeAspect="1"/>
          </p:cNvPicPr>
          <p:nvPr/>
        </p:nvPicPr>
        <p:blipFill>
          <a:blip r:embed="rId2"/>
          <a:stretch>
            <a:fillRect/>
          </a:stretch>
        </p:blipFill>
        <p:spPr>
          <a:xfrm>
            <a:off x="1393371" y="1139128"/>
            <a:ext cx="9710057" cy="4298523"/>
          </a:xfrm>
          <a:prstGeom prst="rect">
            <a:avLst/>
          </a:prstGeom>
        </p:spPr>
      </p:pic>
    </p:spTree>
    <p:extLst>
      <p:ext uri="{BB962C8B-B14F-4D97-AF65-F5344CB8AC3E}">
        <p14:creationId xmlns:p14="http://schemas.microsoft.com/office/powerpoint/2010/main" val="13628478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283AEB7-A2E4-A394-2E21-A136C879F9E0}"/>
              </a:ext>
            </a:extLst>
          </p:cNvPr>
          <p:cNvPicPr>
            <a:picLocks noChangeAspect="1"/>
          </p:cNvPicPr>
          <p:nvPr/>
        </p:nvPicPr>
        <p:blipFill>
          <a:blip r:embed="rId2"/>
          <a:stretch>
            <a:fillRect/>
          </a:stretch>
        </p:blipFill>
        <p:spPr>
          <a:xfrm>
            <a:off x="1393371" y="347659"/>
            <a:ext cx="9688285" cy="6074912"/>
          </a:xfrm>
          <a:prstGeom prst="rect">
            <a:avLst/>
          </a:prstGeom>
        </p:spPr>
      </p:pic>
    </p:spTree>
    <p:extLst>
      <p:ext uri="{BB962C8B-B14F-4D97-AF65-F5344CB8AC3E}">
        <p14:creationId xmlns:p14="http://schemas.microsoft.com/office/powerpoint/2010/main" val="19074450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2B249D5-B92B-A503-27FD-1AF02B7CAB28}"/>
              </a:ext>
            </a:extLst>
          </p:cNvPr>
          <p:cNvPicPr>
            <a:picLocks noChangeAspect="1"/>
          </p:cNvPicPr>
          <p:nvPr/>
        </p:nvPicPr>
        <p:blipFill>
          <a:blip r:embed="rId2"/>
          <a:stretch>
            <a:fillRect/>
          </a:stretch>
        </p:blipFill>
        <p:spPr>
          <a:xfrm>
            <a:off x="1426029" y="204927"/>
            <a:ext cx="9895114" cy="6370044"/>
          </a:xfrm>
          <a:prstGeom prst="rect">
            <a:avLst/>
          </a:prstGeom>
        </p:spPr>
      </p:pic>
    </p:spTree>
    <p:extLst>
      <p:ext uri="{BB962C8B-B14F-4D97-AF65-F5344CB8AC3E}">
        <p14:creationId xmlns:p14="http://schemas.microsoft.com/office/powerpoint/2010/main" val="5362331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0B4FD4D9-A58E-5DC3-A393-D31F26D35595}"/>
              </a:ext>
            </a:extLst>
          </p:cNvPr>
          <p:cNvPicPr>
            <a:picLocks noChangeAspect="1"/>
          </p:cNvPicPr>
          <p:nvPr/>
        </p:nvPicPr>
        <p:blipFill>
          <a:blip r:embed="rId2"/>
          <a:stretch>
            <a:fillRect/>
          </a:stretch>
        </p:blipFill>
        <p:spPr>
          <a:xfrm>
            <a:off x="1421399" y="375120"/>
            <a:ext cx="5948230" cy="746119"/>
          </a:xfrm>
          <a:prstGeom prst="rect">
            <a:avLst/>
          </a:prstGeom>
        </p:spPr>
      </p:pic>
      <p:pic>
        <p:nvPicPr>
          <p:cNvPr id="7" name="Picture 6">
            <a:extLst>
              <a:ext uri="{FF2B5EF4-FFF2-40B4-BE49-F238E27FC236}">
                <a16:creationId xmlns:a16="http://schemas.microsoft.com/office/drawing/2014/main" xmlns="" id="{71FB8FD3-40DA-3B7C-AFEA-886CC0961644}"/>
              </a:ext>
            </a:extLst>
          </p:cNvPr>
          <p:cNvPicPr>
            <a:picLocks noChangeAspect="1"/>
          </p:cNvPicPr>
          <p:nvPr/>
        </p:nvPicPr>
        <p:blipFill>
          <a:blip r:embed="rId3"/>
          <a:stretch>
            <a:fillRect/>
          </a:stretch>
        </p:blipFill>
        <p:spPr>
          <a:xfrm>
            <a:off x="1421399" y="1377934"/>
            <a:ext cx="9600110" cy="918952"/>
          </a:xfrm>
          <a:prstGeom prst="rect">
            <a:avLst/>
          </a:prstGeom>
        </p:spPr>
      </p:pic>
      <p:pic>
        <p:nvPicPr>
          <p:cNvPr id="9" name="Picture 8">
            <a:extLst>
              <a:ext uri="{FF2B5EF4-FFF2-40B4-BE49-F238E27FC236}">
                <a16:creationId xmlns:a16="http://schemas.microsoft.com/office/drawing/2014/main" xmlns="" id="{BAC79654-816F-A2BD-7BB0-46E072E95A99}"/>
              </a:ext>
            </a:extLst>
          </p:cNvPr>
          <p:cNvPicPr>
            <a:picLocks noChangeAspect="1"/>
          </p:cNvPicPr>
          <p:nvPr/>
        </p:nvPicPr>
        <p:blipFill>
          <a:blip r:embed="rId4"/>
          <a:stretch>
            <a:fillRect/>
          </a:stretch>
        </p:blipFill>
        <p:spPr>
          <a:xfrm>
            <a:off x="1421399" y="2978123"/>
            <a:ext cx="9600110" cy="3776520"/>
          </a:xfrm>
          <a:prstGeom prst="rect">
            <a:avLst/>
          </a:prstGeom>
        </p:spPr>
      </p:pic>
    </p:spTree>
    <p:extLst>
      <p:ext uri="{BB962C8B-B14F-4D97-AF65-F5344CB8AC3E}">
        <p14:creationId xmlns:p14="http://schemas.microsoft.com/office/powerpoint/2010/main" val="3163015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421398E7-E293-2CCD-5586-FA228F664594}"/>
              </a:ext>
            </a:extLst>
          </p:cNvPr>
          <p:cNvPicPr>
            <a:picLocks noChangeAspect="1"/>
          </p:cNvPicPr>
          <p:nvPr/>
        </p:nvPicPr>
        <p:blipFill>
          <a:blip r:embed="rId2"/>
          <a:stretch>
            <a:fillRect/>
          </a:stretch>
        </p:blipFill>
        <p:spPr>
          <a:xfrm>
            <a:off x="521539" y="631371"/>
            <a:ext cx="10944466" cy="2888842"/>
          </a:xfrm>
          <a:prstGeom prst="rect">
            <a:avLst/>
          </a:prstGeom>
        </p:spPr>
      </p:pic>
    </p:spTree>
    <p:extLst>
      <p:ext uri="{BB962C8B-B14F-4D97-AF65-F5344CB8AC3E}">
        <p14:creationId xmlns:p14="http://schemas.microsoft.com/office/powerpoint/2010/main" val="5781473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99F7C5-B310-F86D-93E1-407513046FA4}"/>
              </a:ext>
            </a:extLst>
          </p:cNvPr>
          <p:cNvSpPr>
            <a:spLocks noGrp="1"/>
          </p:cNvSpPr>
          <p:nvPr>
            <p:ph type="title"/>
          </p:nvPr>
        </p:nvSpPr>
        <p:spPr>
          <a:xfrm>
            <a:off x="1249782" y="216690"/>
            <a:ext cx="9603275" cy="1049235"/>
          </a:xfrm>
        </p:spPr>
        <p:txBody>
          <a:bodyPr/>
          <a:lstStyle/>
          <a:p>
            <a:r>
              <a:rPr lang="en-US" dirty="0"/>
              <a:t>Database system structure</a:t>
            </a:r>
            <a:endParaRPr lang="en-IN" dirty="0"/>
          </a:p>
        </p:txBody>
      </p:sp>
      <p:pic>
        <p:nvPicPr>
          <p:cNvPr id="4" name="Picture 3">
            <a:extLst>
              <a:ext uri="{FF2B5EF4-FFF2-40B4-BE49-F238E27FC236}">
                <a16:creationId xmlns:a16="http://schemas.microsoft.com/office/drawing/2014/main" xmlns="" id="{980CEB88-576E-06F7-BC35-4B4702A252A0}"/>
              </a:ext>
            </a:extLst>
          </p:cNvPr>
          <p:cNvPicPr>
            <a:picLocks noChangeAspect="1"/>
          </p:cNvPicPr>
          <p:nvPr/>
        </p:nvPicPr>
        <p:blipFill>
          <a:blip r:embed="rId2"/>
          <a:stretch>
            <a:fillRect/>
          </a:stretch>
        </p:blipFill>
        <p:spPr>
          <a:xfrm>
            <a:off x="1338943" y="827315"/>
            <a:ext cx="10308771" cy="5943600"/>
          </a:xfrm>
          <a:prstGeom prst="rect">
            <a:avLst/>
          </a:prstGeom>
        </p:spPr>
      </p:pic>
    </p:spTree>
    <p:extLst>
      <p:ext uri="{BB962C8B-B14F-4D97-AF65-F5344CB8AC3E}">
        <p14:creationId xmlns:p14="http://schemas.microsoft.com/office/powerpoint/2010/main" val="29196287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70C7C7-E49F-7872-D1A5-DBBEF60144C2}"/>
              </a:ext>
            </a:extLst>
          </p:cNvPr>
          <p:cNvSpPr>
            <a:spLocks noGrp="1"/>
          </p:cNvSpPr>
          <p:nvPr>
            <p:ph type="title"/>
          </p:nvPr>
        </p:nvSpPr>
        <p:spPr/>
        <p:txBody>
          <a:bodyPr/>
          <a:lstStyle/>
          <a:p>
            <a:r>
              <a:rPr lang="en-US" dirty="0"/>
              <a:t>History of database systems</a:t>
            </a:r>
            <a:endParaRPr lang="en-IN" dirty="0"/>
          </a:p>
        </p:txBody>
      </p:sp>
      <p:sp>
        <p:nvSpPr>
          <p:cNvPr id="4" name="AutoShape 2">
            <a:extLst>
              <a:ext uri="{FF2B5EF4-FFF2-40B4-BE49-F238E27FC236}">
                <a16:creationId xmlns:a16="http://schemas.microsoft.com/office/drawing/2014/main" xmlns="" id="{BCE877C3-30E0-BADD-7272-0B80EBAE39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xmlns="" id="{0502B5A5-93F8-534E-3FCC-A9986CDA2EF6}"/>
              </a:ext>
            </a:extLst>
          </p:cNvPr>
          <p:cNvPicPr>
            <a:picLocks noChangeAspect="1"/>
          </p:cNvPicPr>
          <p:nvPr/>
        </p:nvPicPr>
        <p:blipFill>
          <a:blip r:embed="rId2"/>
          <a:stretch>
            <a:fillRect/>
          </a:stretch>
        </p:blipFill>
        <p:spPr>
          <a:xfrm>
            <a:off x="393278" y="2070947"/>
            <a:ext cx="11405444" cy="3361024"/>
          </a:xfrm>
          <a:prstGeom prst="rect">
            <a:avLst/>
          </a:prstGeom>
        </p:spPr>
      </p:pic>
      <p:sp>
        <p:nvSpPr>
          <p:cNvPr id="8" name="TextBox 7">
            <a:extLst>
              <a:ext uri="{FF2B5EF4-FFF2-40B4-BE49-F238E27FC236}">
                <a16:creationId xmlns:a16="http://schemas.microsoft.com/office/drawing/2014/main" xmlns="" id="{DA0173F4-289A-D150-74D9-6B012C229312}"/>
              </a:ext>
            </a:extLst>
          </p:cNvPr>
          <p:cNvSpPr txBox="1"/>
          <p:nvPr/>
        </p:nvSpPr>
        <p:spPr>
          <a:xfrm>
            <a:off x="514350" y="5684149"/>
            <a:ext cx="8488135" cy="369332"/>
          </a:xfrm>
          <a:prstGeom prst="rect">
            <a:avLst/>
          </a:prstGeom>
          <a:noFill/>
        </p:spPr>
        <p:txBody>
          <a:bodyPr wrap="square">
            <a:spAutoFit/>
          </a:bodyPr>
          <a:lstStyle/>
          <a:p>
            <a:r>
              <a:rPr lang="en-US" dirty="0">
                <a:hlinkClick r:id="rId3"/>
              </a:rPr>
              <a:t>What is a database: A beginner's guide | </a:t>
            </a:r>
            <a:r>
              <a:rPr lang="en-US" dirty="0" err="1">
                <a:hlinkClick r:id="rId3"/>
              </a:rPr>
              <a:t>Stackby</a:t>
            </a:r>
            <a:r>
              <a:rPr lang="en-US" dirty="0">
                <a:hlinkClick r:id="rId3"/>
              </a:rPr>
              <a:t> [Updated 2023]</a:t>
            </a:r>
            <a:endParaRPr lang="en-IN" dirty="0"/>
          </a:p>
        </p:txBody>
      </p:sp>
    </p:spTree>
    <p:extLst>
      <p:ext uri="{BB962C8B-B14F-4D97-AF65-F5344CB8AC3E}">
        <p14:creationId xmlns:p14="http://schemas.microsoft.com/office/powerpoint/2010/main" val="28441011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A771A6-2904-D694-CFEE-62E250FE6AC2}"/>
              </a:ext>
            </a:extLst>
          </p:cNvPr>
          <p:cNvSpPr>
            <a:spLocks noGrp="1"/>
          </p:cNvSpPr>
          <p:nvPr>
            <p:ph type="title"/>
          </p:nvPr>
        </p:nvSpPr>
        <p:spPr/>
        <p:txBody>
          <a:bodyPr>
            <a:normAutofit fontScale="90000"/>
          </a:bodyPr>
          <a:lstStyle/>
          <a:p>
            <a:r>
              <a:rPr lang="en-US" b="1" i="0" dirty="0">
                <a:solidFill>
                  <a:srgbClr val="273239"/>
                </a:solidFill>
                <a:effectLst/>
                <a:latin typeface="Source Sans 3"/>
              </a:rPr>
              <a:t>DATABSE LANGUAGES: </a:t>
            </a:r>
            <a:br>
              <a:rPr lang="en-US" b="1" i="0" dirty="0">
                <a:solidFill>
                  <a:srgbClr val="273239"/>
                </a:solidFill>
                <a:effectLst/>
                <a:latin typeface="Source Sans 3"/>
              </a:rPr>
            </a:br>
            <a:r>
              <a:rPr lang="en-US" b="1" i="0" dirty="0">
                <a:solidFill>
                  <a:srgbClr val="273239"/>
                </a:solidFill>
                <a:effectLst/>
                <a:latin typeface="Source Sans 3"/>
              </a:rPr>
              <a:t>SQL | DDL, DQL, DML, DCL and TCL Commands</a:t>
            </a:r>
            <a:br>
              <a:rPr lang="en-US" b="1" i="0" dirty="0">
                <a:solidFill>
                  <a:srgbClr val="273239"/>
                </a:solidFill>
                <a:effectLst/>
                <a:latin typeface="Source Sans 3"/>
              </a:rPr>
            </a:br>
            <a:endParaRPr lang="en-IN" dirty="0"/>
          </a:p>
        </p:txBody>
      </p:sp>
      <p:sp>
        <p:nvSpPr>
          <p:cNvPr id="5" name="TextBox 4">
            <a:extLst>
              <a:ext uri="{FF2B5EF4-FFF2-40B4-BE49-F238E27FC236}">
                <a16:creationId xmlns:a16="http://schemas.microsoft.com/office/drawing/2014/main" xmlns="" id="{EEB10820-7529-319B-11FC-C3FB89814606}"/>
              </a:ext>
            </a:extLst>
          </p:cNvPr>
          <p:cNvSpPr txBox="1"/>
          <p:nvPr/>
        </p:nvSpPr>
        <p:spPr>
          <a:xfrm>
            <a:off x="1451577" y="2038158"/>
            <a:ext cx="9603275" cy="1569660"/>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273239"/>
                </a:solidFill>
                <a:effectLst/>
                <a:latin typeface="Nunito" pitchFamily="2" charset="0"/>
              </a:rPr>
              <a:t>Structured Query Language(SQL) as we all know is the database language by the use of which we can perform certain operations on the existing database and also we can use this language to create a database.</a:t>
            </a:r>
            <a:endParaRPr lang="en-IN" sz="2400" dirty="0"/>
          </a:p>
        </p:txBody>
      </p:sp>
      <p:sp>
        <p:nvSpPr>
          <p:cNvPr id="7" name="TextBox 6">
            <a:extLst>
              <a:ext uri="{FF2B5EF4-FFF2-40B4-BE49-F238E27FC236}">
                <a16:creationId xmlns:a16="http://schemas.microsoft.com/office/drawing/2014/main" xmlns="" id="{2A7F6743-4310-477A-EC69-8F7FA4D70E26}"/>
              </a:ext>
            </a:extLst>
          </p:cNvPr>
          <p:cNvSpPr txBox="1"/>
          <p:nvPr/>
        </p:nvSpPr>
        <p:spPr>
          <a:xfrm>
            <a:off x="1451578" y="3705136"/>
            <a:ext cx="9603275" cy="1569660"/>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273239"/>
                </a:solidFill>
                <a:effectLst/>
                <a:latin typeface="Nunito" pitchFamily="2" charset="0"/>
              </a:rPr>
              <a:t>Structured Query Language(SQL) as we all know is the database language by the use of which we can perform certain operations on the existing database and also we can use this language to create a database.</a:t>
            </a:r>
            <a:endParaRPr lang="en-IN" sz="2400" dirty="0"/>
          </a:p>
        </p:txBody>
      </p:sp>
    </p:spTree>
    <p:extLst>
      <p:ext uri="{BB962C8B-B14F-4D97-AF65-F5344CB8AC3E}">
        <p14:creationId xmlns:p14="http://schemas.microsoft.com/office/powerpoint/2010/main" val="41619810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D8625-03F5-308D-9FD1-DD34133145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183AA64-F5D7-A650-1967-1A96A883C846}"/>
              </a:ext>
            </a:extLst>
          </p:cNvPr>
          <p:cNvSpPr>
            <a:spLocks noGrp="1"/>
          </p:cNvSpPr>
          <p:nvPr>
            <p:ph idx="1"/>
          </p:nvPr>
        </p:nvSpPr>
        <p:spPr/>
        <p:txBody>
          <a:bodyPr/>
          <a:lstStyle/>
          <a:p>
            <a:pPr algn="l" fontAlgn="base"/>
            <a:r>
              <a:rPr lang="en-IN" b="0" i="0" u="sng" dirty="0">
                <a:solidFill>
                  <a:srgbClr val="273239"/>
                </a:solidFill>
                <a:effectLst/>
                <a:latin typeface="Nunito" pitchFamily="2" charset="0"/>
                <a:hlinkClick r:id="rId2"/>
              </a:rPr>
              <a:t>SQL </a:t>
            </a:r>
            <a:r>
              <a:rPr lang="en-IN" b="0" i="0" dirty="0">
                <a:solidFill>
                  <a:srgbClr val="273239"/>
                </a:solidFill>
                <a:effectLst/>
                <a:latin typeface="Nunito" pitchFamily="2" charset="0"/>
              </a:rPr>
              <a:t>commands are mainly categorized into five categories: </a:t>
            </a:r>
          </a:p>
          <a:p>
            <a:pPr algn="just" fontAlgn="base">
              <a:buFont typeface="+mj-lt"/>
              <a:buAutoNum type="arabicPeriod"/>
            </a:pPr>
            <a:r>
              <a:rPr lang="en-IN" b="0" i="0" dirty="0">
                <a:solidFill>
                  <a:srgbClr val="273239"/>
                </a:solidFill>
                <a:effectLst/>
                <a:latin typeface="Nunito" pitchFamily="2" charset="0"/>
              </a:rPr>
              <a:t>DDL – Data Definition Language</a:t>
            </a:r>
          </a:p>
          <a:p>
            <a:pPr algn="just" fontAlgn="base">
              <a:buFont typeface="+mj-lt"/>
              <a:buAutoNum type="arabicPeriod"/>
            </a:pPr>
            <a:r>
              <a:rPr lang="en-IN" b="0" i="0" dirty="0">
                <a:solidFill>
                  <a:srgbClr val="273239"/>
                </a:solidFill>
                <a:effectLst/>
                <a:latin typeface="Nunito" pitchFamily="2" charset="0"/>
              </a:rPr>
              <a:t>DQL – Data Query Language</a:t>
            </a:r>
          </a:p>
          <a:p>
            <a:pPr algn="just" fontAlgn="base">
              <a:buFont typeface="+mj-lt"/>
              <a:buAutoNum type="arabicPeriod"/>
            </a:pPr>
            <a:r>
              <a:rPr lang="en-IN" b="0" i="0" dirty="0">
                <a:solidFill>
                  <a:srgbClr val="273239"/>
                </a:solidFill>
                <a:effectLst/>
                <a:latin typeface="Nunito" pitchFamily="2" charset="0"/>
              </a:rPr>
              <a:t>DML – Data Manipulation Language</a:t>
            </a:r>
          </a:p>
          <a:p>
            <a:pPr algn="just" fontAlgn="base">
              <a:buFont typeface="+mj-lt"/>
              <a:buAutoNum type="arabicPeriod"/>
            </a:pPr>
            <a:r>
              <a:rPr lang="en-IN" b="0" i="0" dirty="0">
                <a:solidFill>
                  <a:srgbClr val="273239"/>
                </a:solidFill>
                <a:effectLst/>
                <a:latin typeface="Nunito" pitchFamily="2" charset="0"/>
              </a:rPr>
              <a:t>DCL – Data Control Language</a:t>
            </a:r>
          </a:p>
          <a:p>
            <a:pPr algn="just" fontAlgn="base">
              <a:buFont typeface="+mj-lt"/>
              <a:buAutoNum type="arabicPeriod"/>
            </a:pPr>
            <a:r>
              <a:rPr lang="en-IN" b="0" i="0" dirty="0">
                <a:solidFill>
                  <a:srgbClr val="273239"/>
                </a:solidFill>
                <a:effectLst/>
                <a:latin typeface="Nunito" pitchFamily="2" charset="0"/>
              </a:rPr>
              <a:t>TCL – Transaction Control Language</a:t>
            </a:r>
          </a:p>
          <a:p>
            <a:endParaRPr lang="en-IN" dirty="0"/>
          </a:p>
        </p:txBody>
      </p:sp>
    </p:spTree>
    <p:extLst>
      <p:ext uri="{BB962C8B-B14F-4D97-AF65-F5344CB8AC3E}">
        <p14:creationId xmlns:p14="http://schemas.microsoft.com/office/powerpoint/2010/main" val="35176852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xmlns="" id="{55C4359D-41CA-A1D7-E70E-C788F4B6F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372" y="242888"/>
            <a:ext cx="10199914" cy="637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1544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098936-C507-B3A9-6D6E-8B3B4C29C114}"/>
              </a:ext>
            </a:extLst>
          </p:cNvPr>
          <p:cNvSpPr>
            <a:spLocks noGrp="1"/>
          </p:cNvSpPr>
          <p:nvPr>
            <p:ph type="title"/>
          </p:nvPr>
        </p:nvSpPr>
        <p:spPr/>
        <p:txBody>
          <a:bodyPr/>
          <a:lstStyle/>
          <a:p>
            <a:r>
              <a:rPr lang="en-US" b="1" i="0" dirty="0">
                <a:solidFill>
                  <a:srgbClr val="273239"/>
                </a:solidFill>
                <a:effectLst/>
                <a:latin typeface="Nunito" pitchFamily="2" charset="0"/>
              </a:rPr>
              <a:t>DDL (Data Definition Language)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18DB11B7-2169-000C-8A50-9EF371E84CFA}"/>
              </a:ext>
            </a:extLst>
          </p:cNvPr>
          <p:cNvSpPr>
            <a:spLocks noGrp="1"/>
          </p:cNvSpPr>
          <p:nvPr>
            <p:ph idx="1"/>
          </p:nvPr>
        </p:nvSpPr>
        <p:spPr/>
        <p:txBody>
          <a:bodyPr/>
          <a:lstStyle/>
          <a:p>
            <a:pPr algn="just" fontAlgn="base"/>
            <a:r>
              <a:rPr lang="en-US" b="0" i="0" dirty="0">
                <a:effectLst/>
                <a:latin typeface="Nunito" pitchFamily="2" charset="0"/>
              </a:rPr>
              <a:t>It </a:t>
            </a:r>
            <a:r>
              <a:rPr lang="en-US" b="0" i="0" dirty="0">
                <a:solidFill>
                  <a:srgbClr val="273239"/>
                </a:solidFill>
                <a:effectLst/>
                <a:latin typeface="Nunito" pitchFamily="2" charset="0"/>
              </a:rPr>
              <a:t>actually consists of the SQL commands that can be used to define the database schema. It simply deals with descriptions of the database schema and is used to create and modify the structure of database objects in the database. </a:t>
            </a:r>
          </a:p>
          <a:p>
            <a:endParaRPr lang="en-IN" dirty="0"/>
          </a:p>
        </p:txBody>
      </p:sp>
      <p:sp>
        <p:nvSpPr>
          <p:cNvPr id="5" name="TextBox 4">
            <a:extLst>
              <a:ext uri="{FF2B5EF4-FFF2-40B4-BE49-F238E27FC236}">
                <a16:creationId xmlns:a16="http://schemas.microsoft.com/office/drawing/2014/main" xmlns="" id="{097CBA79-D2E3-6D77-87E7-9092FE6EE539}"/>
              </a:ext>
            </a:extLst>
          </p:cNvPr>
          <p:cNvSpPr txBox="1"/>
          <p:nvPr/>
        </p:nvSpPr>
        <p:spPr>
          <a:xfrm>
            <a:off x="1280334" y="3321788"/>
            <a:ext cx="9945764" cy="2862322"/>
          </a:xfrm>
          <a:prstGeom prst="rect">
            <a:avLst/>
          </a:prstGeom>
          <a:noFill/>
        </p:spPr>
        <p:txBody>
          <a:bodyPr wrap="square">
            <a:spAutoFit/>
          </a:bodyPr>
          <a:lstStyle/>
          <a:p>
            <a:pPr algn="just" fontAlgn="base"/>
            <a:r>
              <a:rPr lang="en-US" b="1" i="0" dirty="0">
                <a:solidFill>
                  <a:srgbClr val="273239"/>
                </a:solidFill>
                <a:effectLst/>
                <a:latin typeface="Nunito" pitchFamily="2" charset="0"/>
              </a:rPr>
              <a:t>List of DDL commands: </a:t>
            </a:r>
          </a:p>
          <a:p>
            <a:pPr algn="just" fontAlgn="base"/>
            <a:endParaRPr lang="en-US" b="1" i="0" dirty="0">
              <a:solidFill>
                <a:srgbClr val="273239"/>
              </a:solidFill>
              <a:effectLst/>
              <a:latin typeface="Nunito" pitchFamily="2" charset="0"/>
            </a:endParaRPr>
          </a:p>
          <a:p>
            <a:pPr algn="just" fontAlgn="base">
              <a:buFont typeface="Arial" panose="020B0604020202020204" pitchFamily="34" charset="0"/>
              <a:buChar char="•"/>
            </a:pPr>
            <a:r>
              <a:rPr lang="en-US" b="1" i="0" u="sng" dirty="0">
                <a:solidFill>
                  <a:srgbClr val="273239"/>
                </a:solidFill>
                <a:effectLst/>
                <a:latin typeface="Nunito" pitchFamily="2" charset="0"/>
                <a:hlinkClick r:id="rId2"/>
              </a:rPr>
              <a:t>CREATE</a:t>
            </a:r>
            <a:r>
              <a:rPr lang="en-US" b="0" i="0" dirty="0">
                <a:solidFill>
                  <a:srgbClr val="273239"/>
                </a:solidFill>
                <a:effectLst/>
                <a:latin typeface="Nunito" pitchFamily="2" charset="0"/>
              </a:rPr>
              <a:t>: This command is used to create the database or its objects (like table, index, function, views, store procedure, and triggers).</a:t>
            </a:r>
          </a:p>
          <a:p>
            <a:pPr algn="just" fontAlgn="base">
              <a:buFont typeface="Arial" panose="020B0604020202020204" pitchFamily="34" charset="0"/>
              <a:buChar char="•"/>
            </a:pPr>
            <a:r>
              <a:rPr lang="en-US" b="1" i="0" u="sng" dirty="0">
                <a:solidFill>
                  <a:srgbClr val="273239"/>
                </a:solidFill>
                <a:effectLst/>
                <a:latin typeface="Nunito" pitchFamily="2" charset="0"/>
                <a:hlinkClick r:id="rId3"/>
              </a:rPr>
              <a:t>DROP</a:t>
            </a:r>
            <a:r>
              <a:rPr lang="en-US" b="0" i="0" dirty="0">
                <a:solidFill>
                  <a:srgbClr val="273239"/>
                </a:solidFill>
                <a:effectLst/>
                <a:latin typeface="Nunito" pitchFamily="2" charset="0"/>
              </a:rPr>
              <a:t>: This command is used to delete objects from the database.</a:t>
            </a:r>
          </a:p>
          <a:p>
            <a:pPr algn="just" fontAlgn="base">
              <a:buFont typeface="Arial" panose="020B0604020202020204" pitchFamily="34" charset="0"/>
              <a:buChar char="•"/>
            </a:pPr>
            <a:r>
              <a:rPr lang="en-US" b="1" i="0" u="sng" dirty="0">
                <a:solidFill>
                  <a:srgbClr val="273239"/>
                </a:solidFill>
                <a:effectLst/>
                <a:latin typeface="Nunito" pitchFamily="2" charset="0"/>
                <a:hlinkClick r:id="rId4"/>
              </a:rPr>
              <a:t>ALTER</a:t>
            </a:r>
            <a:r>
              <a:rPr lang="en-US" b="1" i="0" dirty="0">
                <a:solidFill>
                  <a:srgbClr val="273239"/>
                </a:solidFill>
                <a:effectLst/>
                <a:latin typeface="Nunito" pitchFamily="2" charset="0"/>
              </a:rPr>
              <a:t>: </a:t>
            </a:r>
            <a:r>
              <a:rPr lang="en-US" b="0" i="0" dirty="0">
                <a:solidFill>
                  <a:srgbClr val="273239"/>
                </a:solidFill>
                <a:effectLst/>
                <a:latin typeface="Nunito" pitchFamily="2" charset="0"/>
              </a:rPr>
              <a:t>This is used to alter the structure of the database.</a:t>
            </a:r>
          </a:p>
          <a:p>
            <a:pPr algn="just" fontAlgn="base">
              <a:buFont typeface="Arial" panose="020B0604020202020204" pitchFamily="34" charset="0"/>
              <a:buChar char="•"/>
            </a:pPr>
            <a:r>
              <a:rPr lang="en-US" b="1" i="0" u="sng" dirty="0">
                <a:solidFill>
                  <a:srgbClr val="273239"/>
                </a:solidFill>
                <a:effectLst/>
                <a:latin typeface="Nunito" pitchFamily="2" charset="0"/>
                <a:hlinkClick r:id="rId3"/>
              </a:rPr>
              <a:t>TRUNCATE</a:t>
            </a:r>
            <a:r>
              <a:rPr lang="en-US" b="1" i="0" dirty="0">
                <a:solidFill>
                  <a:srgbClr val="273239"/>
                </a:solidFill>
                <a:effectLst/>
                <a:latin typeface="Nunito" pitchFamily="2" charset="0"/>
              </a:rPr>
              <a:t>: </a:t>
            </a:r>
            <a:r>
              <a:rPr lang="en-US" b="0" i="0" dirty="0">
                <a:solidFill>
                  <a:srgbClr val="273239"/>
                </a:solidFill>
                <a:effectLst/>
                <a:latin typeface="Nunito" pitchFamily="2" charset="0"/>
              </a:rPr>
              <a:t>This is used to remove all records from a table, including all spaces allocated for the records are removed.</a:t>
            </a:r>
          </a:p>
          <a:p>
            <a:pPr algn="just" fontAlgn="base">
              <a:buFont typeface="Arial" panose="020B0604020202020204" pitchFamily="34" charset="0"/>
              <a:buChar char="•"/>
            </a:pPr>
            <a:r>
              <a:rPr lang="en-US" b="1" i="0" u="sng" dirty="0">
                <a:solidFill>
                  <a:srgbClr val="273239"/>
                </a:solidFill>
                <a:effectLst/>
                <a:latin typeface="Nunito" pitchFamily="2" charset="0"/>
                <a:hlinkClick r:id="rId5"/>
              </a:rPr>
              <a:t>COMMENT</a:t>
            </a:r>
            <a:r>
              <a:rPr lang="en-US" b="0" i="0" dirty="0">
                <a:solidFill>
                  <a:srgbClr val="273239"/>
                </a:solidFill>
                <a:effectLst/>
                <a:latin typeface="Nunito" pitchFamily="2" charset="0"/>
              </a:rPr>
              <a:t>: This is used to add comments to the data dictionary.</a:t>
            </a:r>
          </a:p>
          <a:p>
            <a:pPr algn="just" fontAlgn="base">
              <a:buFont typeface="Arial" panose="020B0604020202020204" pitchFamily="34" charset="0"/>
              <a:buChar char="•"/>
            </a:pPr>
            <a:r>
              <a:rPr lang="en-US" b="1" i="0" u="sng" dirty="0">
                <a:solidFill>
                  <a:srgbClr val="273239"/>
                </a:solidFill>
                <a:effectLst/>
                <a:latin typeface="Nunito" pitchFamily="2" charset="0"/>
                <a:hlinkClick r:id="rId6"/>
              </a:rPr>
              <a:t>RENAME</a:t>
            </a:r>
            <a:r>
              <a:rPr lang="en-US" b="1" i="0" dirty="0">
                <a:solidFill>
                  <a:srgbClr val="273239"/>
                </a:solidFill>
                <a:effectLst/>
                <a:latin typeface="Nunito" pitchFamily="2" charset="0"/>
              </a:rPr>
              <a:t>: </a:t>
            </a:r>
            <a:r>
              <a:rPr lang="en-US" b="0" i="0" dirty="0">
                <a:solidFill>
                  <a:srgbClr val="273239"/>
                </a:solidFill>
                <a:effectLst/>
                <a:latin typeface="Nunito" pitchFamily="2" charset="0"/>
              </a:rPr>
              <a:t>This is used to rename an object existing in the database.</a:t>
            </a:r>
          </a:p>
        </p:txBody>
      </p:sp>
    </p:spTree>
    <p:extLst>
      <p:ext uri="{BB962C8B-B14F-4D97-AF65-F5344CB8AC3E}">
        <p14:creationId xmlns:p14="http://schemas.microsoft.com/office/powerpoint/2010/main" val="14892842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53F4F4-75B7-F054-F6E0-5CB989373C1A}"/>
              </a:ext>
            </a:extLst>
          </p:cNvPr>
          <p:cNvSpPr>
            <a:spLocks noGrp="1"/>
          </p:cNvSpPr>
          <p:nvPr>
            <p:ph type="title"/>
          </p:nvPr>
        </p:nvSpPr>
        <p:spPr/>
        <p:txBody>
          <a:bodyPr/>
          <a:lstStyle/>
          <a:p>
            <a:r>
              <a:rPr lang="en-US" b="1" i="0" dirty="0">
                <a:solidFill>
                  <a:srgbClr val="273239"/>
                </a:solidFill>
                <a:effectLst/>
                <a:latin typeface="Nunito" pitchFamily="2" charset="0"/>
              </a:rPr>
              <a:t>DQL (Data Query Language)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F759615F-40E2-3B93-FB88-7EFAA1EE2E19}"/>
              </a:ext>
            </a:extLst>
          </p:cNvPr>
          <p:cNvSpPr>
            <a:spLocks noGrp="1"/>
          </p:cNvSpPr>
          <p:nvPr>
            <p:ph idx="1"/>
          </p:nvPr>
        </p:nvSpPr>
        <p:spPr/>
        <p:txBody>
          <a:bodyPr/>
          <a:lstStyle/>
          <a:p>
            <a:pPr algn="just" fontAlgn="base"/>
            <a:r>
              <a:rPr lang="en-US" b="1" i="0" dirty="0">
                <a:solidFill>
                  <a:srgbClr val="273239"/>
                </a:solidFill>
                <a:effectLst/>
                <a:latin typeface="Nunito" pitchFamily="2" charset="0"/>
              </a:rPr>
              <a:t>DQL </a:t>
            </a:r>
            <a:r>
              <a:rPr lang="en-US" b="0" i="0" dirty="0">
                <a:solidFill>
                  <a:srgbClr val="273239"/>
                </a:solidFill>
                <a:effectLst/>
                <a:latin typeface="Nunito" pitchFamily="2" charset="0"/>
              </a:rPr>
              <a:t>statements are used for performing queries on the data within schema objects. The purpose of the DQL Command is to get some schema relation based on the query passed to it.</a:t>
            </a:r>
          </a:p>
          <a:p>
            <a:endParaRPr lang="en-IN" dirty="0"/>
          </a:p>
        </p:txBody>
      </p:sp>
      <p:sp>
        <p:nvSpPr>
          <p:cNvPr id="7" name="TextBox 6">
            <a:extLst>
              <a:ext uri="{FF2B5EF4-FFF2-40B4-BE49-F238E27FC236}">
                <a16:creationId xmlns:a16="http://schemas.microsoft.com/office/drawing/2014/main" xmlns="" id="{87C52A6E-B9C4-1497-D37C-B9C2F00CEC44}"/>
              </a:ext>
            </a:extLst>
          </p:cNvPr>
          <p:cNvSpPr txBox="1"/>
          <p:nvPr/>
        </p:nvSpPr>
        <p:spPr>
          <a:xfrm>
            <a:off x="1613808" y="3644678"/>
            <a:ext cx="9441046" cy="923330"/>
          </a:xfrm>
          <a:prstGeom prst="rect">
            <a:avLst/>
          </a:prstGeom>
          <a:noFill/>
        </p:spPr>
        <p:txBody>
          <a:bodyPr wrap="square">
            <a:spAutoFit/>
          </a:bodyPr>
          <a:lstStyle/>
          <a:p>
            <a:pPr algn="l" fontAlgn="base"/>
            <a:r>
              <a:rPr lang="en-US" b="0" i="0" dirty="0">
                <a:solidFill>
                  <a:srgbClr val="273239"/>
                </a:solidFill>
                <a:effectLst/>
                <a:latin typeface="Nunito" pitchFamily="2" charset="0"/>
              </a:rPr>
              <a:t>List of DQL: </a:t>
            </a:r>
          </a:p>
          <a:p>
            <a:pPr algn="l" fontAlgn="base"/>
            <a:endParaRPr lang="en-US" b="0" i="0" dirty="0">
              <a:solidFill>
                <a:srgbClr val="273239"/>
              </a:solidFill>
              <a:effectLst/>
              <a:latin typeface="Nunito" pitchFamily="2" charset="0"/>
            </a:endParaRPr>
          </a:p>
          <a:p>
            <a:pPr algn="just" fontAlgn="base">
              <a:buFont typeface="Arial" panose="020B0604020202020204" pitchFamily="34" charset="0"/>
              <a:buChar char="•"/>
            </a:pPr>
            <a:r>
              <a:rPr lang="en-US" b="1" i="0" u="sng" dirty="0">
                <a:solidFill>
                  <a:srgbClr val="273239"/>
                </a:solidFill>
                <a:effectLst/>
                <a:latin typeface="Nunito" pitchFamily="2" charset="0"/>
                <a:hlinkClick r:id="rId2"/>
              </a:rPr>
              <a:t>SELECT</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It is used to retrieve data from the database.</a:t>
            </a:r>
          </a:p>
        </p:txBody>
      </p:sp>
    </p:spTree>
    <p:extLst>
      <p:ext uri="{BB962C8B-B14F-4D97-AF65-F5344CB8AC3E}">
        <p14:creationId xmlns:p14="http://schemas.microsoft.com/office/powerpoint/2010/main" val="34356633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286011-1994-B6AE-F902-1EC8F1C1B985}"/>
              </a:ext>
            </a:extLst>
          </p:cNvPr>
          <p:cNvSpPr>
            <a:spLocks noGrp="1"/>
          </p:cNvSpPr>
          <p:nvPr>
            <p:ph type="title"/>
          </p:nvPr>
        </p:nvSpPr>
        <p:spPr>
          <a:xfrm>
            <a:off x="1294362" y="1152863"/>
            <a:ext cx="9603275" cy="1049235"/>
          </a:xfrm>
        </p:spPr>
        <p:txBody>
          <a:bodyPr/>
          <a:lstStyle/>
          <a:p>
            <a:r>
              <a:rPr lang="en-US" b="1" i="0" dirty="0">
                <a:solidFill>
                  <a:srgbClr val="273239"/>
                </a:solidFill>
                <a:effectLst/>
                <a:latin typeface="Nunito" pitchFamily="2" charset="0"/>
              </a:rPr>
              <a:t>DML(Data Manipulation Language)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0DB0E25F-E5DF-FDE2-579E-9BF79FA4156C}"/>
              </a:ext>
            </a:extLst>
          </p:cNvPr>
          <p:cNvSpPr>
            <a:spLocks noGrp="1"/>
          </p:cNvSpPr>
          <p:nvPr>
            <p:ph idx="1"/>
          </p:nvPr>
        </p:nvSpPr>
        <p:spPr>
          <a:xfrm>
            <a:off x="1294362" y="1906875"/>
            <a:ext cx="9603275" cy="3450613"/>
          </a:xfrm>
        </p:spPr>
        <p:txBody>
          <a:bodyPr/>
          <a:lstStyle/>
          <a:p>
            <a:pPr algn="just" fontAlgn="base"/>
            <a:r>
              <a:rPr lang="en-US" b="0" i="0" dirty="0">
                <a:solidFill>
                  <a:srgbClr val="273239"/>
                </a:solidFill>
                <a:effectLst/>
                <a:latin typeface="Nunito" pitchFamily="2" charset="0"/>
              </a:rPr>
              <a:t>The SQL commands that deal with the manipulation of data present in the database belong to DML or Data Manipulation Language and this includes most of the SQL statements. It is the component of the SQL statement that controls access to data and to the database. Basically, DCL statements are grouped with DML statements.</a:t>
            </a:r>
          </a:p>
          <a:p>
            <a:endParaRPr lang="en-IN" dirty="0"/>
          </a:p>
        </p:txBody>
      </p:sp>
      <p:sp>
        <p:nvSpPr>
          <p:cNvPr id="7" name="TextBox 6">
            <a:extLst>
              <a:ext uri="{FF2B5EF4-FFF2-40B4-BE49-F238E27FC236}">
                <a16:creationId xmlns:a16="http://schemas.microsoft.com/office/drawing/2014/main" xmlns="" id="{A5BD7ECB-B411-A1C7-1BF8-A0DE2488235A}"/>
              </a:ext>
            </a:extLst>
          </p:cNvPr>
          <p:cNvSpPr txBox="1"/>
          <p:nvPr/>
        </p:nvSpPr>
        <p:spPr>
          <a:xfrm>
            <a:off x="1435876" y="3883496"/>
            <a:ext cx="10309810" cy="2308324"/>
          </a:xfrm>
          <a:prstGeom prst="rect">
            <a:avLst/>
          </a:prstGeom>
          <a:noFill/>
        </p:spPr>
        <p:txBody>
          <a:bodyPr wrap="square">
            <a:spAutoFit/>
          </a:bodyPr>
          <a:lstStyle/>
          <a:p>
            <a:pPr algn="l" fontAlgn="base"/>
            <a:r>
              <a:rPr lang="en-US" b="1" i="0" dirty="0">
                <a:solidFill>
                  <a:srgbClr val="273239"/>
                </a:solidFill>
                <a:effectLst/>
                <a:latin typeface="Nunito" pitchFamily="2" charset="0"/>
              </a:rPr>
              <a:t>List of DML commands: </a:t>
            </a:r>
          </a:p>
          <a:p>
            <a:pPr algn="l" fontAlgn="base"/>
            <a:endParaRPr lang="en-US" b="1" i="0" dirty="0">
              <a:solidFill>
                <a:srgbClr val="273239"/>
              </a:solidFill>
              <a:effectLst/>
              <a:latin typeface="Nunito" pitchFamily="2" charset="0"/>
            </a:endParaRPr>
          </a:p>
          <a:p>
            <a:pPr algn="just" fontAlgn="base">
              <a:buFont typeface="Arial" panose="020B0604020202020204" pitchFamily="34" charset="0"/>
              <a:buChar char="•"/>
            </a:pPr>
            <a:r>
              <a:rPr lang="en-US" b="1" i="0" u="sng" dirty="0">
                <a:effectLst/>
                <a:latin typeface="Nunito" pitchFamily="2" charset="0"/>
                <a:hlinkClick r:id="rId2">
                  <a:extLst>
                    <a:ext uri="{A12FA001-AC4F-418D-AE19-62706E023703}">
                      <ahyp:hlinkClr xmlns:ahyp="http://schemas.microsoft.com/office/drawing/2018/hyperlinkcolor" xmlns="" val="tx"/>
                    </a:ext>
                  </a:extLst>
                </a:hlinkClick>
              </a:rPr>
              <a:t>INSERT</a:t>
            </a:r>
            <a:r>
              <a:rPr lang="en-US" b="0" i="0" dirty="0">
                <a:effectLst/>
                <a:latin typeface="Nunito" pitchFamily="2" charset="0"/>
              </a:rPr>
              <a:t>: It is used to insert data into a table.</a:t>
            </a:r>
          </a:p>
          <a:p>
            <a:pPr algn="just" fontAlgn="base">
              <a:buFont typeface="Arial" panose="020B0604020202020204" pitchFamily="34" charset="0"/>
              <a:buChar char="•"/>
            </a:pPr>
            <a:r>
              <a:rPr lang="en-US" b="1" i="0" u="sng" dirty="0">
                <a:effectLst/>
                <a:latin typeface="Nunito" pitchFamily="2" charset="0"/>
                <a:hlinkClick r:id="rId3">
                  <a:extLst>
                    <a:ext uri="{A12FA001-AC4F-418D-AE19-62706E023703}">
                      <ahyp:hlinkClr xmlns:ahyp="http://schemas.microsoft.com/office/drawing/2018/hyperlinkcolor" xmlns="" val="tx"/>
                    </a:ext>
                  </a:extLst>
                </a:hlinkClick>
              </a:rPr>
              <a:t>UPDATE</a:t>
            </a:r>
            <a:r>
              <a:rPr lang="en-US" b="1" i="0" dirty="0">
                <a:effectLst/>
                <a:latin typeface="Nunito" pitchFamily="2" charset="0"/>
              </a:rPr>
              <a:t>:</a:t>
            </a:r>
            <a:r>
              <a:rPr lang="en-US" b="0" i="0" dirty="0">
                <a:effectLst/>
                <a:latin typeface="Nunito" pitchFamily="2" charset="0"/>
              </a:rPr>
              <a:t> It is used to update existing data within a table.</a:t>
            </a:r>
          </a:p>
          <a:p>
            <a:pPr algn="just" fontAlgn="base">
              <a:buFont typeface="Arial" panose="020B0604020202020204" pitchFamily="34" charset="0"/>
              <a:buChar char="•"/>
            </a:pPr>
            <a:r>
              <a:rPr lang="en-US" b="1" i="0" u="sng" dirty="0">
                <a:effectLst/>
                <a:latin typeface="Nunito" pitchFamily="2" charset="0"/>
                <a:hlinkClick r:id="rId4">
                  <a:extLst>
                    <a:ext uri="{A12FA001-AC4F-418D-AE19-62706E023703}">
                      <ahyp:hlinkClr xmlns:ahyp="http://schemas.microsoft.com/office/drawing/2018/hyperlinkcolor" xmlns="" val="tx"/>
                    </a:ext>
                  </a:extLst>
                </a:hlinkClick>
              </a:rPr>
              <a:t>DELETE</a:t>
            </a:r>
            <a:r>
              <a:rPr lang="en-US" b="0" i="0" dirty="0">
                <a:effectLst/>
                <a:latin typeface="Nunito" pitchFamily="2" charset="0"/>
              </a:rPr>
              <a:t>: It is used to delete records from a database table.</a:t>
            </a:r>
          </a:p>
          <a:p>
            <a:pPr algn="just" fontAlgn="base">
              <a:buFont typeface="Arial" panose="020B0604020202020204" pitchFamily="34" charset="0"/>
              <a:buChar char="•"/>
            </a:pPr>
            <a:r>
              <a:rPr lang="en-US" b="1" i="0" u="sng" dirty="0">
                <a:effectLst/>
                <a:latin typeface="Nunito" pitchFamily="2" charset="0"/>
                <a:hlinkClick r:id="rId5">
                  <a:extLst>
                    <a:ext uri="{A12FA001-AC4F-418D-AE19-62706E023703}">
                      <ahyp:hlinkClr xmlns:ahyp="http://schemas.microsoft.com/office/drawing/2018/hyperlinkcolor" xmlns="" val="tx"/>
                    </a:ext>
                  </a:extLst>
                </a:hlinkClick>
              </a:rPr>
              <a:t>LOCK:</a:t>
            </a:r>
            <a:r>
              <a:rPr lang="en-US" b="0" i="0" dirty="0">
                <a:effectLst/>
                <a:latin typeface="Nunito" pitchFamily="2" charset="0"/>
              </a:rPr>
              <a:t> Table control concurrency.</a:t>
            </a:r>
          </a:p>
          <a:p>
            <a:pPr algn="just" fontAlgn="base">
              <a:buFont typeface="Arial" panose="020B0604020202020204" pitchFamily="34" charset="0"/>
              <a:buChar char="•"/>
            </a:pPr>
            <a:r>
              <a:rPr lang="en-US" b="1" i="0" dirty="0">
                <a:effectLst/>
                <a:latin typeface="Nunito" pitchFamily="2" charset="0"/>
              </a:rPr>
              <a:t>CALL: </a:t>
            </a:r>
            <a:r>
              <a:rPr lang="en-US" b="0" i="0" dirty="0">
                <a:effectLst/>
                <a:latin typeface="Nunito" pitchFamily="2" charset="0"/>
              </a:rPr>
              <a:t>Call a PL/SQL or JAVA subprogram.</a:t>
            </a:r>
          </a:p>
          <a:p>
            <a:pPr algn="just" fontAlgn="base">
              <a:buFont typeface="Arial" panose="020B0604020202020204" pitchFamily="34" charset="0"/>
              <a:buChar char="•"/>
            </a:pPr>
            <a:r>
              <a:rPr lang="en-US" b="1" i="0" dirty="0">
                <a:effectLst/>
                <a:latin typeface="Nunito" pitchFamily="2" charset="0"/>
              </a:rPr>
              <a:t>EXPLAIN PLAN:</a:t>
            </a:r>
            <a:r>
              <a:rPr lang="en-US" b="0" i="0" dirty="0">
                <a:effectLst/>
                <a:latin typeface="Nunito" pitchFamily="2" charset="0"/>
              </a:rPr>
              <a:t> It describes the access path to data.</a:t>
            </a:r>
          </a:p>
        </p:txBody>
      </p:sp>
    </p:spTree>
    <p:extLst>
      <p:ext uri="{BB962C8B-B14F-4D97-AF65-F5344CB8AC3E}">
        <p14:creationId xmlns:p14="http://schemas.microsoft.com/office/powerpoint/2010/main" val="14143621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A18025-9BDF-8108-7D36-0E368175C294}"/>
              </a:ext>
            </a:extLst>
          </p:cNvPr>
          <p:cNvSpPr>
            <a:spLocks noGrp="1"/>
          </p:cNvSpPr>
          <p:nvPr>
            <p:ph type="title"/>
          </p:nvPr>
        </p:nvSpPr>
        <p:spPr/>
        <p:txBody>
          <a:bodyPr/>
          <a:lstStyle/>
          <a:p>
            <a:r>
              <a:rPr lang="en-US" b="1" i="0" dirty="0">
                <a:solidFill>
                  <a:srgbClr val="273239"/>
                </a:solidFill>
                <a:effectLst/>
                <a:latin typeface="Nunito" pitchFamily="2" charset="0"/>
              </a:rPr>
              <a:t>DCL (Data Control Language)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C6B1F4E6-BE85-01D8-344B-66F2890A9EE2}"/>
              </a:ext>
            </a:extLst>
          </p:cNvPr>
          <p:cNvSpPr>
            <a:spLocks noGrp="1"/>
          </p:cNvSpPr>
          <p:nvPr>
            <p:ph idx="1"/>
          </p:nvPr>
        </p:nvSpPr>
        <p:spPr/>
        <p:txBody>
          <a:bodyPr/>
          <a:lstStyle/>
          <a:p>
            <a:pPr algn="just" fontAlgn="base"/>
            <a:r>
              <a:rPr lang="en-US" b="0" i="0" dirty="0">
                <a:solidFill>
                  <a:srgbClr val="273239"/>
                </a:solidFill>
                <a:effectLst/>
                <a:latin typeface="Nunito" pitchFamily="2" charset="0"/>
              </a:rPr>
              <a:t>DCL includes commands such as GRANT and REVOKE which mainly deal with the rights, permissions, and other controls of the database system. </a:t>
            </a:r>
          </a:p>
          <a:p>
            <a:pPr algn="just" fontAlgn="base"/>
            <a:endParaRPr lang="en-US" b="0" i="0" dirty="0">
              <a:solidFill>
                <a:srgbClr val="273239"/>
              </a:solidFill>
              <a:effectLst/>
              <a:latin typeface="Nunito" pitchFamily="2" charset="0"/>
            </a:endParaRPr>
          </a:p>
          <a:p>
            <a:endParaRPr lang="en-IN" dirty="0"/>
          </a:p>
        </p:txBody>
      </p:sp>
      <p:sp>
        <p:nvSpPr>
          <p:cNvPr id="9" name="Rectangle 4">
            <a:extLst>
              <a:ext uri="{FF2B5EF4-FFF2-40B4-BE49-F238E27FC236}">
                <a16:creationId xmlns:a16="http://schemas.microsoft.com/office/drawing/2014/main" xmlns="" id="{C4F65D14-461F-E520-52AD-29933DD37710}"/>
              </a:ext>
            </a:extLst>
          </p:cNvPr>
          <p:cNvSpPr>
            <a:spLocks noChangeArrowheads="1"/>
          </p:cNvSpPr>
          <p:nvPr/>
        </p:nvSpPr>
        <p:spPr bwMode="auto">
          <a:xfrm>
            <a:off x="1632856" y="3052570"/>
            <a:ext cx="9603275"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List of  DCL commands: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rgbClr val="273239"/>
                </a:solidFill>
                <a:effectLst/>
                <a:latin typeface="Nunito" pitchFamily="2" charset="0"/>
                <a:hlinkClick r:id="rId2"/>
              </a:rPr>
              <a:t>GRANT: </a:t>
            </a:r>
            <a:r>
              <a:rPr kumimoji="0" lang="en-US" altLang="en-US" b="0" i="0" u="none" strike="noStrike" cap="none" normalizeH="0" baseline="0" dirty="0">
                <a:ln>
                  <a:noFill/>
                </a:ln>
                <a:solidFill>
                  <a:srgbClr val="273239"/>
                </a:solidFill>
                <a:effectLst/>
                <a:latin typeface="Nunito" pitchFamily="2" charset="0"/>
              </a:rPr>
              <a:t>This command</a:t>
            </a:r>
            <a:r>
              <a:rPr kumimoji="0" lang="en-US" altLang="en-US" b="1" i="0" u="none" strike="noStrike" cap="none" normalizeH="0" baseline="0" dirty="0">
                <a:ln>
                  <a:noFill/>
                </a:ln>
                <a:solidFill>
                  <a:srgbClr val="273239"/>
                </a:solidFill>
                <a:effectLst/>
                <a:latin typeface="Nunito" pitchFamily="2" charset="0"/>
              </a:rPr>
              <a:t> </a:t>
            </a:r>
            <a:r>
              <a:rPr kumimoji="0" lang="en-US" altLang="en-US" b="0" i="0" u="none" strike="noStrike" cap="none" normalizeH="0" baseline="0" dirty="0">
                <a:ln>
                  <a:noFill/>
                </a:ln>
                <a:solidFill>
                  <a:srgbClr val="273239"/>
                </a:solidFill>
                <a:effectLst/>
                <a:latin typeface="Nunito" pitchFamily="2" charset="0"/>
              </a:rPr>
              <a:t>gives users access privileges to the database.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Syntax:</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GRANT SELECT, UPDATE ON MY_TABLE TO SOME_USER, ANOTHER_USER;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rgbClr val="273239"/>
                </a:solidFill>
                <a:effectLst/>
                <a:latin typeface="Nunito" pitchFamily="2" charset="0"/>
                <a:hlinkClick r:id="rId3"/>
              </a:rPr>
              <a:t>REVOKE:</a:t>
            </a:r>
            <a:r>
              <a:rPr kumimoji="0" lang="en-US" altLang="en-US" b="1" i="0" u="none" strike="noStrike" cap="none" normalizeH="0" baseline="0" dirty="0">
                <a:ln>
                  <a:noFill/>
                </a:ln>
                <a:solidFill>
                  <a:srgbClr val="273239"/>
                </a:solidFill>
                <a:effectLst/>
                <a:latin typeface="Nunito" pitchFamily="2" charset="0"/>
              </a:rPr>
              <a:t> </a:t>
            </a:r>
            <a:r>
              <a:rPr kumimoji="0" lang="en-US" altLang="en-US" b="0" i="0" u="none" strike="noStrike" cap="none" normalizeH="0" baseline="0" dirty="0">
                <a:ln>
                  <a:noFill/>
                </a:ln>
                <a:solidFill>
                  <a:srgbClr val="273239"/>
                </a:solidFill>
                <a:effectLst/>
                <a:latin typeface="Nunito" pitchFamily="2" charset="0"/>
              </a:rPr>
              <a:t>This command withdraws the user’s access privileges given by using the GRANT command.</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Syntax:</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rPr>
              <a:t>REVOKE SELECT, UPDATE ON MY_TABLE FROM USER1, USER2;  </a:t>
            </a:r>
          </a:p>
        </p:txBody>
      </p:sp>
    </p:spTree>
    <p:extLst>
      <p:ext uri="{BB962C8B-B14F-4D97-AF65-F5344CB8AC3E}">
        <p14:creationId xmlns:p14="http://schemas.microsoft.com/office/powerpoint/2010/main" val="28738158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265F86-8D3C-E8D0-29DE-936748BF5E63}"/>
              </a:ext>
            </a:extLst>
          </p:cNvPr>
          <p:cNvSpPr>
            <a:spLocks noGrp="1"/>
          </p:cNvSpPr>
          <p:nvPr>
            <p:ph type="title"/>
          </p:nvPr>
        </p:nvSpPr>
        <p:spPr/>
        <p:txBody>
          <a:bodyPr/>
          <a:lstStyle/>
          <a:p>
            <a:r>
              <a:rPr lang="en-US" b="1" i="0" dirty="0">
                <a:solidFill>
                  <a:srgbClr val="273239"/>
                </a:solidFill>
                <a:effectLst/>
                <a:latin typeface="Nunito" pitchFamily="2" charset="0"/>
              </a:rPr>
              <a:t>TCL (Transaction Control Language)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xmlns="" id="{473D1D96-3A2D-BD8D-C6E5-42B1B26D57DD}"/>
              </a:ext>
            </a:extLst>
          </p:cNvPr>
          <p:cNvSpPr>
            <a:spLocks noGrp="1"/>
          </p:cNvSpPr>
          <p:nvPr>
            <p:ph idx="1"/>
          </p:nvPr>
        </p:nvSpPr>
        <p:spPr/>
        <p:txBody>
          <a:bodyPr/>
          <a:lstStyle/>
          <a:p>
            <a:pPr algn="just" fontAlgn="base"/>
            <a:r>
              <a:rPr lang="en-US" b="0" i="0" dirty="0">
                <a:solidFill>
                  <a:srgbClr val="273239"/>
                </a:solidFill>
                <a:effectLst/>
                <a:latin typeface="Nunito" pitchFamily="2" charset="0"/>
              </a:rPr>
              <a:t>Transactions group a set of tasks into a single execution unit. Each transaction begins with a specific task and ends when all the tasks in the group successfully complete.</a:t>
            </a:r>
          </a:p>
          <a:p>
            <a:endParaRPr lang="en-IN" dirty="0"/>
          </a:p>
        </p:txBody>
      </p:sp>
      <p:sp>
        <p:nvSpPr>
          <p:cNvPr id="6" name="Rectangle 1">
            <a:extLst>
              <a:ext uri="{FF2B5EF4-FFF2-40B4-BE49-F238E27FC236}">
                <a16:creationId xmlns:a16="http://schemas.microsoft.com/office/drawing/2014/main" xmlns="" id="{6E2F53B0-2B51-1A29-9572-FE35EC268BCE}"/>
              </a:ext>
            </a:extLst>
          </p:cNvPr>
          <p:cNvSpPr>
            <a:spLocks noChangeArrowheads="1"/>
          </p:cNvSpPr>
          <p:nvPr/>
        </p:nvSpPr>
        <p:spPr bwMode="auto">
          <a:xfrm>
            <a:off x="1661334" y="3211833"/>
            <a:ext cx="9183763" cy="32008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Nunito" pitchFamily="2" charset="0"/>
              </a:rPr>
              <a:t>BEGIN:</a:t>
            </a:r>
            <a:r>
              <a:rPr kumimoji="0" lang="en-US" altLang="en-US" sz="1600" b="0" i="0" u="none" strike="noStrike" cap="none" normalizeH="0" baseline="0" dirty="0">
                <a:ln>
                  <a:noFill/>
                </a:ln>
                <a:effectLst/>
                <a:latin typeface="Nunito" pitchFamily="2" charset="0"/>
              </a:rPr>
              <a:t> Opens a Transaction.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effectLst/>
                <a:latin typeface="Nunito" pitchFamily="2" charset="0"/>
                <a:hlinkClick r:id="rId2">
                  <a:extLst>
                    <a:ext uri="{A12FA001-AC4F-418D-AE19-62706E023703}">
                      <ahyp:hlinkClr xmlns:ahyp="http://schemas.microsoft.com/office/drawing/2018/hyperlinkcolor" xmlns="" val="tx"/>
                    </a:ext>
                  </a:extLst>
                </a:hlinkClick>
              </a:rPr>
              <a:t>COMMIT</a:t>
            </a:r>
            <a:r>
              <a:rPr kumimoji="0" lang="en-US" altLang="en-US" sz="1600" b="1" i="0" u="none" strike="noStrike" cap="none" normalizeH="0" baseline="0" dirty="0">
                <a:ln>
                  <a:noFill/>
                </a:ln>
                <a:effectLst/>
                <a:latin typeface="Nunito" pitchFamily="2" charset="0"/>
              </a:rPr>
              <a:t>: </a:t>
            </a:r>
            <a:r>
              <a:rPr kumimoji="0" lang="en-US" altLang="en-US" sz="1600" b="0" i="0" u="none" strike="noStrike" cap="none" normalizeH="0" baseline="0" dirty="0">
                <a:ln>
                  <a:noFill/>
                </a:ln>
                <a:effectLst/>
                <a:latin typeface="Nunito" pitchFamily="2" charset="0"/>
              </a:rPr>
              <a:t>Commits a Transaction.</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Nunito" pitchFamily="2" charset="0"/>
              </a:rPr>
              <a:t>Syntax:</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rPr>
              <a:t>COMMIT;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effectLst/>
                <a:latin typeface="Nunito" pitchFamily="2" charset="0"/>
                <a:hlinkClick r:id="rId2">
                  <a:extLst>
                    <a:ext uri="{A12FA001-AC4F-418D-AE19-62706E023703}">
                      <ahyp:hlinkClr xmlns:ahyp="http://schemas.microsoft.com/office/drawing/2018/hyperlinkcolor" xmlns="" val="tx"/>
                    </a:ext>
                  </a:extLst>
                </a:hlinkClick>
              </a:rPr>
              <a:t>ROLLBACK</a:t>
            </a:r>
            <a:r>
              <a:rPr kumimoji="0" lang="en-US" altLang="en-US" sz="1600" b="1" i="0" u="none" strike="noStrike" cap="none" normalizeH="0" baseline="0" dirty="0">
                <a:ln>
                  <a:noFill/>
                </a:ln>
                <a:effectLst/>
                <a:latin typeface="Nunito" pitchFamily="2" charset="0"/>
              </a:rPr>
              <a:t>: </a:t>
            </a:r>
            <a:r>
              <a:rPr kumimoji="0" lang="en-US" altLang="en-US" sz="1600" b="0" i="0" u="none" strike="noStrike" cap="none" normalizeH="0" baseline="0" dirty="0">
                <a:ln>
                  <a:noFill/>
                </a:ln>
                <a:effectLst/>
                <a:latin typeface="Nunito" pitchFamily="2" charset="0"/>
              </a:rPr>
              <a:t>Rollbacks a transaction in case of any error occurs.</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Nunito" pitchFamily="2" charset="0"/>
              </a:rPr>
              <a:t>Syntax:</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rPr>
              <a:t>ROLLBACK;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effectLst/>
                <a:latin typeface="Nunito" pitchFamily="2" charset="0"/>
                <a:hlinkClick r:id="rId2">
                  <a:extLst>
                    <a:ext uri="{A12FA001-AC4F-418D-AE19-62706E023703}">
                      <ahyp:hlinkClr xmlns:ahyp="http://schemas.microsoft.com/office/drawing/2018/hyperlinkcolor" xmlns="" val="tx"/>
                    </a:ext>
                  </a:extLst>
                </a:hlinkClick>
              </a:rPr>
              <a:t>SAVEPOINT</a:t>
            </a:r>
            <a:r>
              <a:rPr kumimoji="0" lang="en-US" altLang="en-US" sz="1600" b="1" i="0" u="none" strike="noStrike" cap="none" normalizeH="0" baseline="0" dirty="0">
                <a:ln>
                  <a:noFill/>
                </a:ln>
                <a:effectLst/>
                <a:latin typeface="Nunito" pitchFamily="2" charset="0"/>
              </a:rPr>
              <a:t>: </a:t>
            </a:r>
            <a:r>
              <a:rPr kumimoji="0" lang="en-US" altLang="en-US" sz="1600" b="0" i="0" u="none" strike="noStrike" cap="none" normalizeH="0" baseline="0" dirty="0">
                <a:ln>
                  <a:noFill/>
                </a:ln>
                <a:effectLst/>
                <a:latin typeface="Nunito" pitchFamily="2" charset="0"/>
              </a:rPr>
              <a:t>Sets a save point within a transaction.</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effectLst/>
                <a:latin typeface="Nunito" pitchFamily="2" charset="0"/>
              </a:rPr>
              <a:t>Syntax:</a:t>
            </a:r>
            <a:endParaRPr kumimoji="0" lang="en-US" altLang="en-US" sz="16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rPr>
              <a:t>SAVEPOINT SAVEPOINT_NAME</a:t>
            </a:r>
            <a:r>
              <a:rPr kumimoji="0" lang="en-US" altLang="en-US" sz="1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1386032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08EBB4-DCC9-019B-C226-10DBDA9A2039}"/>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MySQL Data Types</a:t>
            </a:r>
            <a:br>
              <a:rPr lang="en-IN" b="0" i="0" dirty="0">
                <a:solidFill>
                  <a:srgbClr val="000000"/>
                </a:solidFill>
                <a:effectLst/>
                <a:latin typeface="Segoe UI" panose="020B0502040204020203" pitchFamily="34" charset="0"/>
              </a:rPr>
            </a:br>
            <a:endParaRPr lang="en-IN" dirty="0"/>
          </a:p>
        </p:txBody>
      </p:sp>
      <p:sp>
        <p:nvSpPr>
          <p:cNvPr id="7" name="Content Placeholder 6">
            <a:extLst>
              <a:ext uri="{FF2B5EF4-FFF2-40B4-BE49-F238E27FC236}">
                <a16:creationId xmlns:a16="http://schemas.microsoft.com/office/drawing/2014/main" xmlns="" id="{AEA16BF8-5F74-4406-77A6-506DBF539BCA}"/>
              </a:ext>
            </a:extLst>
          </p:cNvPr>
          <p:cNvSpPr>
            <a:spLocks noGrp="1"/>
          </p:cNvSpPr>
          <p:nvPr>
            <p:ph idx="1"/>
          </p:nvPr>
        </p:nvSpPr>
        <p:spPr/>
        <p:txBody>
          <a:bodyPr/>
          <a:lstStyle/>
          <a:p>
            <a:r>
              <a:rPr lang="en-US" b="0" i="0" dirty="0">
                <a:solidFill>
                  <a:srgbClr val="000000"/>
                </a:solidFill>
                <a:effectLst/>
                <a:latin typeface="Verdana" panose="020B0604030504040204" pitchFamily="34" charset="0"/>
              </a:rPr>
              <a:t>In MySQL there are three main data types: </a:t>
            </a:r>
          </a:p>
          <a:p>
            <a:r>
              <a:rPr lang="en-US" b="1" i="0" dirty="0">
                <a:solidFill>
                  <a:srgbClr val="000000"/>
                </a:solidFill>
                <a:effectLst/>
                <a:latin typeface="Verdana" panose="020B0604030504040204" pitchFamily="34" charset="0"/>
              </a:rPr>
              <a:t>String, </a:t>
            </a:r>
          </a:p>
          <a:p>
            <a:r>
              <a:rPr lang="en-US" b="1" i="0" dirty="0">
                <a:solidFill>
                  <a:srgbClr val="000000"/>
                </a:solidFill>
                <a:effectLst/>
                <a:latin typeface="Verdana" panose="020B0604030504040204" pitchFamily="34" charset="0"/>
              </a:rPr>
              <a:t>Numeric, And</a:t>
            </a:r>
          </a:p>
          <a:p>
            <a:r>
              <a:rPr lang="en-US" b="1" i="0" dirty="0">
                <a:solidFill>
                  <a:srgbClr val="000000"/>
                </a:solidFill>
                <a:effectLst/>
                <a:latin typeface="Verdana" panose="020B0604030504040204" pitchFamily="34" charset="0"/>
              </a:rPr>
              <a:t>Date And Time.</a:t>
            </a:r>
            <a:endParaRPr lang="en-IN" b="1" dirty="0"/>
          </a:p>
        </p:txBody>
      </p:sp>
    </p:spTree>
    <p:extLst>
      <p:ext uri="{BB962C8B-B14F-4D97-AF65-F5344CB8AC3E}">
        <p14:creationId xmlns:p14="http://schemas.microsoft.com/office/powerpoint/2010/main" val="5473565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924C9-C3FF-1935-6D1D-02E3B49192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E1B19CB-5E6D-3D70-2598-1B7E9A47DACE}"/>
              </a:ext>
            </a:extLst>
          </p:cNvPr>
          <p:cNvSpPr>
            <a:spLocks noGrp="1"/>
          </p:cNvSpPr>
          <p:nvPr>
            <p:ph idx="1"/>
          </p:nvPr>
        </p:nvSpPr>
        <p:spPr/>
        <p:txBody>
          <a:bodyPr/>
          <a:lstStyle/>
          <a:p>
            <a:endParaRPr lang="en-IN"/>
          </a:p>
        </p:txBody>
      </p:sp>
      <p:graphicFrame>
        <p:nvGraphicFramePr>
          <p:cNvPr id="4" name="Content Placeholder 3">
            <a:extLst>
              <a:ext uri="{FF2B5EF4-FFF2-40B4-BE49-F238E27FC236}">
                <a16:creationId xmlns:a16="http://schemas.microsoft.com/office/drawing/2014/main" xmlns="" id="{34C88996-A8B3-505C-FDA9-3230CBE6EF67}"/>
              </a:ext>
            </a:extLst>
          </p:cNvPr>
          <p:cNvGraphicFramePr>
            <a:graphicFrameLocks/>
          </p:cNvGraphicFramePr>
          <p:nvPr>
            <p:extLst>
              <p:ext uri="{D42A27DB-BD31-4B8C-83A1-F6EECF244321}">
                <p14:modId xmlns:p14="http://schemas.microsoft.com/office/powerpoint/2010/main" val="3731188207"/>
              </p:ext>
            </p:extLst>
          </p:nvPr>
        </p:nvGraphicFramePr>
        <p:xfrm>
          <a:off x="97971" y="203845"/>
          <a:ext cx="12094029" cy="6450310"/>
        </p:xfrm>
        <a:graphic>
          <a:graphicData uri="http://schemas.openxmlformats.org/drawingml/2006/table">
            <a:tbl>
              <a:tblPr/>
              <a:tblGrid>
                <a:gridCol w="2536372">
                  <a:extLst>
                    <a:ext uri="{9D8B030D-6E8A-4147-A177-3AD203B41FA5}">
                      <a16:colId xmlns:a16="http://schemas.microsoft.com/office/drawing/2014/main" xmlns="" val="3207130250"/>
                    </a:ext>
                  </a:extLst>
                </a:gridCol>
                <a:gridCol w="9557657">
                  <a:extLst>
                    <a:ext uri="{9D8B030D-6E8A-4147-A177-3AD203B41FA5}">
                      <a16:colId xmlns:a16="http://schemas.microsoft.com/office/drawing/2014/main" xmlns="" val="3078133085"/>
                    </a:ext>
                  </a:extLst>
                </a:gridCol>
              </a:tblGrid>
              <a:tr h="282237">
                <a:tc>
                  <a:txBody>
                    <a:bodyPr/>
                    <a:lstStyle/>
                    <a:p>
                      <a:pPr algn="l" fontAlgn="t"/>
                      <a:r>
                        <a:rPr lang="en-IN" sz="1800">
                          <a:effectLst/>
                        </a:rPr>
                        <a:t>Data type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800" dirty="0">
                          <a:effectLst/>
                        </a:rPr>
                        <a:t>Description</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176555849"/>
                  </a:ext>
                </a:extLst>
              </a:tr>
              <a:tr h="532892">
                <a:tc>
                  <a:txBody>
                    <a:bodyPr/>
                    <a:lstStyle/>
                    <a:p>
                      <a:pPr algn="l" fontAlgn="t"/>
                      <a:r>
                        <a:rPr lang="en-IN" sz="1800" dirty="0">
                          <a:effectLst/>
                        </a:rPr>
                        <a:t>CHAR(size)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A FIXED length string (can contain letters, numbers, and special characters). The </a:t>
                      </a:r>
                      <a:r>
                        <a:rPr lang="en-US" sz="1800" i="1">
                          <a:effectLst/>
                        </a:rPr>
                        <a:t>size</a:t>
                      </a:r>
                      <a:r>
                        <a:rPr lang="en-US" sz="1800">
                          <a:effectLst/>
                        </a:rPr>
                        <a:t> parameter specifies the column length in characters - can be from 0 to 255. Default is 1</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1759510675"/>
                  </a:ext>
                </a:extLst>
              </a:tr>
              <a:tr h="576982">
                <a:tc>
                  <a:txBody>
                    <a:bodyPr/>
                    <a:lstStyle/>
                    <a:p>
                      <a:pPr algn="l" fontAlgn="t"/>
                      <a:r>
                        <a:rPr lang="en-IN" sz="1800">
                          <a:effectLst/>
                        </a:rPr>
                        <a:t>VARCHAR(size)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A VARIABLE length string (can contain letters, numbers, and special characters). The </a:t>
                      </a:r>
                      <a:r>
                        <a:rPr lang="en-US" sz="1800" i="1">
                          <a:effectLst/>
                        </a:rPr>
                        <a:t>size</a:t>
                      </a:r>
                      <a:r>
                        <a:rPr lang="en-US" sz="1800">
                          <a:effectLst/>
                        </a:rPr>
                        <a:t> parameter specifies the maximum column length in characters - can be from 0 to 65535</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490654703"/>
                  </a:ext>
                </a:extLst>
              </a:tr>
              <a:tr h="659360">
                <a:tc>
                  <a:txBody>
                    <a:bodyPr/>
                    <a:lstStyle/>
                    <a:p>
                      <a:pPr algn="l" fontAlgn="t"/>
                      <a:r>
                        <a:rPr lang="en-IN" sz="1800" dirty="0">
                          <a:effectLst/>
                        </a:rPr>
                        <a:t>BINARY(size)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Equal to CHAR(), but stores binary byte strings. The </a:t>
                      </a:r>
                      <a:r>
                        <a:rPr lang="en-US" sz="1800" i="1">
                          <a:effectLst/>
                        </a:rPr>
                        <a:t>size</a:t>
                      </a:r>
                      <a:r>
                        <a:rPr lang="en-US" sz="1800">
                          <a:effectLst/>
                        </a:rPr>
                        <a:t> parameter specifies the column length in bytes. Default is 1</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1151180208"/>
                  </a:ext>
                </a:extLst>
              </a:tr>
              <a:tr h="497444">
                <a:tc>
                  <a:txBody>
                    <a:bodyPr/>
                    <a:lstStyle/>
                    <a:p>
                      <a:pPr algn="l" fontAlgn="t"/>
                      <a:r>
                        <a:rPr lang="en-IN" sz="1800">
                          <a:effectLst/>
                        </a:rPr>
                        <a:t>VARBINARY(size)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effectLst/>
                        </a:rPr>
                        <a:t>Equal to VARCHAR(), but stores binary byte strings. The </a:t>
                      </a:r>
                      <a:r>
                        <a:rPr lang="en-US" sz="1800" i="1" dirty="0">
                          <a:effectLst/>
                        </a:rPr>
                        <a:t>size</a:t>
                      </a:r>
                      <a:r>
                        <a:rPr lang="en-US" sz="1800" dirty="0">
                          <a:effectLst/>
                        </a:rPr>
                        <a:t> parameter specifies the maximum column length in bytes.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811622892"/>
                  </a:ext>
                </a:extLst>
              </a:tr>
              <a:tr h="269436">
                <a:tc>
                  <a:txBody>
                    <a:bodyPr/>
                    <a:lstStyle/>
                    <a:p>
                      <a:pPr algn="l" fontAlgn="t"/>
                      <a:r>
                        <a:rPr lang="en-IN" sz="1800">
                          <a:effectLst/>
                        </a:rPr>
                        <a:t>TINYBLOB</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For BLOBs (Binary Large OBjects). Max length: 255 bytes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897338534"/>
                  </a:ext>
                </a:extLst>
              </a:tr>
              <a:tr h="309304">
                <a:tc>
                  <a:txBody>
                    <a:bodyPr/>
                    <a:lstStyle/>
                    <a:p>
                      <a:pPr algn="l" fontAlgn="t"/>
                      <a:r>
                        <a:rPr lang="en-IN" sz="1800">
                          <a:effectLst/>
                        </a:rPr>
                        <a:t>TINYTEXT</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dirty="0">
                          <a:effectLst/>
                        </a:rPr>
                        <a:t>Holds a string with a maximum length of 255 characters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143847444"/>
                  </a:ext>
                </a:extLst>
              </a:tr>
              <a:tr h="293466">
                <a:tc>
                  <a:txBody>
                    <a:bodyPr/>
                    <a:lstStyle/>
                    <a:p>
                      <a:pPr algn="l" fontAlgn="t"/>
                      <a:r>
                        <a:rPr lang="en-IN" sz="1800">
                          <a:effectLst/>
                        </a:rPr>
                        <a:t>TEXT(size)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Holds a string with a maximum length of 65,535 bytes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332328635"/>
                  </a:ext>
                </a:extLst>
              </a:tr>
              <a:tr h="275580">
                <a:tc>
                  <a:txBody>
                    <a:bodyPr/>
                    <a:lstStyle/>
                    <a:p>
                      <a:pPr algn="l" fontAlgn="t"/>
                      <a:r>
                        <a:rPr lang="en-IN" sz="1800">
                          <a:effectLst/>
                        </a:rPr>
                        <a:t>BLOB(size)</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For BLOBs (Binary Large OBjects). Holds up to 65,535 bytes of data</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667116161"/>
                  </a:ext>
                </a:extLst>
              </a:tr>
              <a:tr h="288504">
                <a:tc>
                  <a:txBody>
                    <a:bodyPr/>
                    <a:lstStyle/>
                    <a:p>
                      <a:pPr algn="l" fontAlgn="t"/>
                      <a:r>
                        <a:rPr lang="en-IN" sz="1800">
                          <a:effectLst/>
                        </a:rPr>
                        <a:t>MEDIUMTEXT</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Holds a string with a maximum length of 16,777,215 characters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405623594"/>
                  </a:ext>
                </a:extLst>
              </a:tr>
              <a:tr h="262923">
                <a:tc>
                  <a:txBody>
                    <a:bodyPr/>
                    <a:lstStyle/>
                    <a:p>
                      <a:pPr algn="l" fontAlgn="t"/>
                      <a:r>
                        <a:rPr lang="en-IN" sz="1800">
                          <a:effectLst/>
                        </a:rPr>
                        <a:t>MEDIUMBLOB</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For BLOBs (Binary Large OBjects). Holds up to 16,777,215 bytes of data</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263171158"/>
                  </a:ext>
                </a:extLst>
              </a:tr>
              <a:tr h="262416">
                <a:tc>
                  <a:txBody>
                    <a:bodyPr/>
                    <a:lstStyle/>
                    <a:p>
                      <a:pPr algn="l" fontAlgn="t"/>
                      <a:r>
                        <a:rPr lang="en-IN" sz="1800">
                          <a:effectLst/>
                        </a:rPr>
                        <a:t>LONGTEXT</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a:effectLst/>
                        </a:rPr>
                        <a:t>Holds a string with a maximum length of 4,294,967,295 characters</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732175614"/>
                  </a:ext>
                </a:extLst>
              </a:tr>
              <a:tr h="263344">
                <a:tc>
                  <a:txBody>
                    <a:bodyPr/>
                    <a:lstStyle/>
                    <a:p>
                      <a:pPr algn="l" fontAlgn="t"/>
                      <a:r>
                        <a:rPr lang="en-IN" sz="1800">
                          <a:effectLst/>
                        </a:rPr>
                        <a:t>LONGBLOB</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For BLOBs (Binary Large OBjects). Holds up to 4,294,967,295 bytes of data</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313542215"/>
                  </a:ext>
                </a:extLst>
              </a:tr>
              <a:tr h="796236">
                <a:tc>
                  <a:txBody>
                    <a:bodyPr/>
                    <a:lstStyle/>
                    <a:p>
                      <a:pPr algn="l" fontAlgn="t"/>
                      <a:r>
                        <a:rPr lang="en-IN" sz="1800">
                          <a:effectLst/>
                        </a:rPr>
                        <a:t>ENUM(val1, val2, val3, ...)</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dirty="0">
                          <a:effectLst/>
                        </a:rPr>
                        <a:t>A string object that can have only one value, chosen from a list of possible values. You can list up to 65535 values in an ENUM list. If a value is inserted that is not in the list, a blank value will be inserted. The values are sorted in the order you enter them</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167624708"/>
                  </a:ext>
                </a:extLst>
              </a:tr>
              <a:tr h="519231">
                <a:tc>
                  <a:txBody>
                    <a:bodyPr/>
                    <a:lstStyle/>
                    <a:p>
                      <a:pPr algn="l" fontAlgn="t"/>
                      <a:r>
                        <a:rPr lang="en-IN" sz="1800">
                          <a:effectLst/>
                        </a:rPr>
                        <a:t>SET(val1, val2, val3, ...)</a:t>
                      </a:r>
                    </a:p>
                  </a:txBody>
                  <a:tcPr marL="20103"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dirty="0">
                          <a:effectLst/>
                        </a:rPr>
                        <a:t>A string object that can have 0 or more values, chosen from a list of possible values. You can list up to 64 values in a SET list</a:t>
                      </a:r>
                    </a:p>
                  </a:txBody>
                  <a:tcPr marL="10051" marR="10051" marT="10051" marB="10051">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617156569"/>
                  </a:ext>
                </a:extLst>
              </a:tr>
            </a:tbl>
          </a:graphicData>
        </a:graphic>
      </p:graphicFrame>
      <p:sp>
        <p:nvSpPr>
          <p:cNvPr id="6" name="TextBox 5">
            <a:extLst>
              <a:ext uri="{FF2B5EF4-FFF2-40B4-BE49-F238E27FC236}">
                <a16:creationId xmlns:a16="http://schemas.microsoft.com/office/drawing/2014/main" xmlns="" id="{B7BCFFFA-0734-4BDB-6146-3740001FD401}"/>
              </a:ext>
            </a:extLst>
          </p:cNvPr>
          <p:cNvSpPr txBox="1"/>
          <p:nvPr/>
        </p:nvSpPr>
        <p:spPr>
          <a:xfrm>
            <a:off x="5772151" y="-49816"/>
            <a:ext cx="6101442"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String</a:t>
            </a:r>
          </a:p>
        </p:txBody>
      </p:sp>
    </p:spTree>
    <p:extLst>
      <p:ext uri="{BB962C8B-B14F-4D97-AF65-F5344CB8AC3E}">
        <p14:creationId xmlns:p14="http://schemas.microsoft.com/office/powerpoint/2010/main" val="13185792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5219B8-22E9-8DC7-E1E6-681E3FE40A7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xmlns="" id="{CB71F521-2558-FFED-0F61-A633D80A5814}"/>
              </a:ext>
            </a:extLst>
          </p:cNvPr>
          <p:cNvGraphicFramePr>
            <a:graphicFrameLocks noGrp="1"/>
          </p:cNvGraphicFramePr>
          <p:nvPr>
            <p:ph idx="1"/>
            <p:extLst>
              <p:ext uri="{D42A27DB-BD31-4B8C-83A1-F6EECF244321}">
                <p14:modId xmlns:p14="http://schemas.microsoft.com/office/powerpoint/2010/main" val="308808399"/>
              </p:ext>
            </p:extLst>
          </p:nvPr>
        </p:nvGraphicFramePr>
        <p:xfrm>
          <a:off x="239486" y="344295"/>
          <a:ext cx="11114315" cy="6425360"/>
        </p:xfrm>
        <a:graphic>
          <a:graphicData uri="http://schemas.openxmlformats.org/drawingml/2006/table">
            <a:tbl>
              <a:tblPr/>
              <a:tblGrid>
                <a:gridCol w="3331292">
                  <a:extLst>
                    <a:ext uri="{9D8B030D-6E8A-4147-A177-3AD203B41FA5}">
                      <a16:colId xmlns:a16="http://schemas.microsoft.com/office/drawing/2014/main" xmlns="" val="1691376180"/>
                    </a:ext>
                  </a:extLst>
                </a:gridCol>
                <a:gridCol w="7783023">
                  <a:extLst>
                    <a:ext uri="{9D8B030D-6E8A-4147-A177-3AD203B41FA5}">
                      <a16:colId xmlns:a16="http://schemas.microsoft.com/office/drawing/2014/main" xmlns="" val="2548156757"/>
                    </a:ext>
                  </a:extLst>
                </a:gridCol>
              </a:tblGrid>
              <a:tr h="55016">
                <a:tc>
                  <a:txBody>
                    <a:bodyPr/>
                    <a:lstStyle/>
                    <a:p>
                      <a:pPr algn="l" fontAlgn="t"/>
                      <a:r>
                        <a:rPr lang="en-IN" sz="1400">
                          <a:effectLst/>
                        </a:rPr>
                        <a:t>Data type</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400">
                          <a:effectLst/>
                        </a:rPr>
                        <a:t>Description</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4283788428"/>
                  </a:ext>
                </a:extLst>
              </a:tr>
              <a:tr h="215602">
                <a:tc>
                  <a:txBody>
                    <a:bodyPr/>
                    <a:lstStyle/>
                    <a:p>
                      <a:pPr algn="l" fontAlgn="t"/>
                      <a:r>
                        <a:rPr lang="en-IN" sz="1400">
                          <a:effectLst/>
                        </a:rPr>
                        <a:t>BIT(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A bit-value type. The number of bits per value is specified in </a:t>
                      </a:r>
                      <a:r>
                        <a:rPr lang="en-US" sz="1400" i="1">
                          <a:effectLst/>
                        </a:rPr>
                        <a:t>size</a:t>
                      </a:r>
                      <a:r>
                        <a:rPr lang="en-US" sz="1400">
                          <a:effectLst/>
                        </a:rPr>
                        <a:t>. The </a:t>
                      </a:r>
                      <a:r>
                        <a:rPr lang="en-US" sz="1400" i="1">
                          <a:effectLst/>
                        </a:rPr>
                        <a:t>size</a:t>
                      </a:r>
                      <a:r>
                        <a:rPr lang="en-US" sz="1400">
                          <a:effectLst/>
                        </a:rPr>
                        <a:t> parameter can hold a value from 1 to 64. The default value for </a:t>
                      </a:r>
                      <a:r>
                        <a:rPr lang="en-US" sz="1400" i="1">
                          <a:effectLst/>
                        </a:rPr>
                        <a:t>size</a:t>
                      </a:r>
                      <a:r>
                        <a:rPr lang="en-US" sz="1400">
                          <a:effectLst/>
                        </a:rPr>
                        <a:t> is 1.</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2365464634"/>
                  </a:ext>
                </a:extLst>
              </a:tr>
              <a:tr h="255749">
                <a:tc>
                  <a:txBody>
                    <a:bodyPr/>
                    <a:lstStyle/>
                    <a:p>
                      <a:pPr algn="l" fontAlgn="t"/>
                      <a:r>
                        <a:rPr lang="en-IN" sz="1400">
                          <a:effectLst/>
                        </a:rPr>
                        <a:t>TINYINT(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a:effectLst/>
                        </a:rPr>
                        <a:t>A very small integer. Signed range is from -128 to 127. Unsigned range is from 0 to 255. The </a:t>
                      </a:r>
                      <a:r>
                        <a:rPr lang="en-US" sz="1400" i="1">
                          <a:effectLst/>
                        </a:rPr>
                        <a:t>size</a:t>
                      </a:r>
                      <a:r>
                        <a:rPr lang="en-US" sz="1400">
                          <a:effectLst/>
                        </a:rPr>
                        <a:t> parameter specifies the maximum display width (which is 255)</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850120436"/>
                  </a:ext>
                </a:extLst>
              </a:tr>
              <a:tr h="135309">
                <a:tc>
                  <a:txBody>
                    <a:bodyPr/>
                    <a:lstStyle/>
                    <a:p>
                      <a:pPr algn="l" fontAlgn="t"/>
                      <a:r>
                        <a:rPr lang="en-IN" sz="1400">
                          <a:effectLst/>
                        </a:rPr>
                        <a:t>BOOL</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Zero is considered as false, nonzero values are considered as true.</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2361776973"/>
                  </a:ext>
                </a:extLst>
              </a:tr>
              <a:tr h="55016">
                <a:tc>
                  <a:txBody>
                    <a:bodyPr/>
                    <a:lstStyle/>
                    <a:p>
                      <a:pPr algn="l" fontAlgn="t"/>
                      <a:r>
                        <a:rPr lang="en-IN" sz="1400">
                          <a:effectLst/>
                        </a:rPr>
                        <a:t>BOOLEAN</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400">
                          <a:effectLst/>
                        </a:rPr>
                        <a:t>Equal to BOOL</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508249498"/>
                  </a:ext>
                </a:extLst>
              </a:tr>
              <a:tr h="255749">
                <a:tc>
                  <a:txBody>
                    <a:bodyPr/>
                    <a:lstStyle/>
                    <a:p>
                      <a:pPr algn="l" fontAlgn="t"/>
                      <a:r>
                        <a:rPr lang="en-IN" sz="1400">
                          <a:effectLst/>
                        </a:rPr>
                        <a:t>SMALLINT(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A small integer. Signed range is from -32768 to 32767. Unsigned range is from 0 to 65535. The </a:t>
                      </a:r>
                      <a:r>
                        <a:rPr lang="en-US" sz="1400" i="1">
                          <a:effectLst/>
                        </a:rPr>
                        <a:t>size</a:t>
                      </a:r>
                      <a:r>
                        <a:rPr lang="en-US" sz="1400">
                          <a:effectLst/>
                        </a:rPr>
                        <a:t> parameter specifies the maximum display width (which is 255)</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4223044672"/>
                  </a:ext>
                </a:extLst>
              </a:tr>
              <a:tr h="255749">
                <a:tc>
                  <a:txBody>
                    <a:bodyPr/>
                    <a:lstStyle/>
                    <a:p>
                      <a:pPr algn="l" fontAlgn="t"/>
                      <a:r>
                        <a:rPr lang="en-IN" sz="1400">
                          <a:effectLst/>
                        </a:rPr>
                        <a:t>MEDIUMINT(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a:effectLst/>
                        </a:rPr>
                        <a:t>A medium integer. Signed range is from -8388608 to 8388607. Unsigned range is from 0 to 16777215. The </a:t>
                      </a:r>
                      <a:r>
                        <a:rPr lang="en-US" sz="1400" i="1">
                          <a:effectLst/>
                        </a:rPr>
                        <a:t>size</a:t>
                      </a:r>
                      <a:r>
                        <a:rPr lang="en-US" sz="1400">
                          <a:effectLst/>
                        </a:rPr>
                        <a:t> parameter specifies the maximum display width (which is 255)</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09266017"/>
                  </a:ext>
                </a:extLst>
              </a:tr>
              <a:tr h="295896">
                <a:tc>
                  <a:txBody>
                    <a:bodyPr/>
                    <a:lstStyle/>
                    <a:p>
                      <a:pPr algn="l" fontAlgn="t"/>
                      <a:r>
                        <a:rPr lang="en-IN" sz="1400">
                          <a:effectLst/>
                        </a:rPr>
                        <a:t>INT(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A medium integer. Signed range is from -2147483648 to 2147483647. Unsigned range is from 0 to 4294967295. The </a:t>
                      </a:r>
                      <a:r>
                        <a:rPr lang="en-US" sz="1400" i="1">
                          <a:effectLst/>
                        </a:rPr>
                        <a:t>size</a:t>
                      </a:r>
                      <a:r>
                        <a:rPr lang="en-US" sz="1400">
                          <a:effectLst/>
                        </a:rPr>
                        <a:t> parameter specifies the maximum display width (which is 255)</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4226340600"/>
                  </a:ext>
                </a:extLst>
              </a:tr>
              <a:tr h="95162">
                <a:tc>
                  <a:txBody>
                    <a:bodyPr/>
                    <a:lstStyle/>
                    <a:p>
                      <a:pPr algn="l" fontAlgn="t"/>
                      <a:r>
                        <a:rPr lang="en-IN" sz="1400">
                          <a:effectLst/>
                        </a:rPr>
                        <a:t>INTEGER(</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400">
                          <a:effectLst/>
                        </a:rPr>
                        <a:t>Equal to INT(size)</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577901539"/>
                  </a:ext>
                </a:extLst>
              </a:tr>
              <a:tr h="336042">
                <a:tc>
                  <a:txBody>
                    <a:bodyPr/>
                    <a:lstStyle/>
                    <a:p>
                      <a:pPr algn="l" fontAlgn="t"/>
                      <a:r>
                        <a:rPr lang="en-IN" sz="1400">
                          <a:effectLst/>
                        </a:rPr>
                        <a:t>BIGINT(</a:t>
                      </a:r>
                      <a:r>
                        <a:rPr lang="en-IN" sz="1400" i="1">
                          <a:effectLst/>
                        </a:rPr>
                        <a:t>size</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A large integer. Signed range is from -9223372036854775808 to 9223372036854775807. Unsigned range is from 0 to 18446744073709551615. The </a:t>
                      </a:r>
                      <a:r>
                        <a:rPr lang="en-US" sz="1400" i="1">
                          <a:effectLst/>
                        </a:rPr>
                        <a:t>size</a:t>
                      </a:r>
                      <a:r>
                        <a:rPr lang="en-US" sz="1400">
                          <a:effectLst/>
                        </a:rPr>
                        <a:t> parameter specifies the maximum display width (which is 255)</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1143536338"/>
                  </a:ext>
                </a:extLst>
              </a:tr>
              <a:tr h="336042">
                <a:tc>
                  <a:txBody>
                    <a:bodyPr/>
                    <a:lstStyle/>
                    <a:p>
                      <a:pPr algn="l" fontAlgn="t"/>
                      <a:r>
                        <a:rPr lang="en-IN" sz="1400">
                          <a:effectLst/>
                        </a:rPr>
                        <a:t>FLOAT(</a:t>
                      </a:r>
                      <a:r>
                        <a:rPr lang="en-IN" sz="1400" i="1">
                          <a:effectLst/>
                        </a:rPr>
                        <a:t>size</a:t>
                      </a:r>
                      <a:r>
                        <a:rPr lang="en-IN" sz="1400">
                          <a:effectLst/>
                        </a:rPr>
                        <a:t>, </a:t>
                      </a:r>
                      <a:r>
                        <a:rPr lang="en-IN" sz="1400" i="1">
                          <a:effectLst/>
                        </a:rPr>
                        <a:t>d</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a:effectLst/>
                        </a:rPr>
                        <a:t>A floating point number. The total number of digits is specified in </a:t>
                      </a:r>
                      <a:r>
                        <a:rPr lang="en-US" sz="1400" i="1">
                          <a:effectLst/>
                        </a:rPr>
                        <a:t>size</a:t>
                      </a:r>
                      <a:r>
                        <a:rPr lang="en-US" sz="1400">
                          <a:effectLst/>
                        </a:rPr>
                        <a:t>. The number of digits after the decimal point is specified in the </a:t>
                      </a:r>
                      <a:r>
                        <a:rPr lang="en-US" sz="1400" i="1">
                          <a:effectLst/>
                        </a:rPr>
                        <a:t>d</a:t>
                      </a:r>
                      <a:r>
                        <a:rPr lang="en-US" sz="1400">
                          <a:effectLst/>
                        </a:rPr>
                        <a:t> parameter. This syntax is deprecated in MySQL 8.0.17, and it will be removed in future MySQL versions</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605010113"/>
                  </a:ext>
                </a:extLst>
              </a:tr>
              <a:tr h="336042">
                <a:tc>
                  <a:txBody>
                    <a:bodyPr/>
                    <a:lstStyle/>
                    <a:p>
                      <a:pPr algn="l" fontAlgn="t"/>
                      <a:r>
                        <a:rPr lang="en-IN" sz="1400">
                          <a:effectLst/>
                        </a:rPr>
                        <a:t>FLOAT(</a:t>
                      </a:r>
                      <a:r>
                        <a:rPr lang="en-IN" sz="1400" i="1">
                          <a:effectLst/>
                        </a:rPr>
                        <a:t>p</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a:effectLst/>
                        </a:rPr>
                        <a:t>A floating point number. MySQL uses the </a:t>
                      </a:r>
                      <a:r>
                        <a:rPr lang="en-US" sz="1400" i="1">
                          <a:effectLst/>
                        </a:rPr>
                        <a:t>p</a:t>
                      </a:r>
                      <a:r>
                        <a:rPr lang="en-US" sz="1400">
                          <a:effectLst/>
                        </a:rPr>
                        <a:t> value to determine whether to use FLOAT or DOUBLE for the resulting data type. If </a:t>
                      </a:r>
                      <a:r>
                        <a:rPr lang="en-US" sz="1400" i="1">
                          <a:effectLst/>
                        </a:rPr>
                        <a:t>p</a:t>
                      </a:r>
                      <a:r>
                        <a:rPr lang="en-US" sz="1400">
                          <a:effectLst/>
                        </a:rPr>
                        <a:t> is from 0 to 24, the data type becomes FLOAT(). If </a:t>
                      </a:r>
                      <a:r>
                        <a:rPr lang="en-US" sz="1400" i="1">
                          <a:effectLst/>
                        </a:rPr>
                        <a:t>p</a:t>
                      </a:r>
                      <a:r>
                        <a:rPr lang="en-US" sz="1400">
                          <a:effectLst/>
                        </a:rPr>
                        <a:t> is from 25 to 53, the data type becomes DOUBLE()</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1678870759"/>
                  </a:ext>
                </a:extLst>
              </a:tr>
              <a:tr h="255749">
                <a:tc>
                  <a:txBody>
                    <a:bodyPr/>
                    <a:lstStyle/>
                    <a:p>
                      <a:pPr algn="l" fontAlgn="t"/>
                      <a:r>
                        <a:rPr lang="en-IN" sz="1400">
                          <a:effectLst/>
                        </a:rPr>
                        <a:t>DOUBLE(</a:t>
                      </a:r>
                      <a:r>
                        <a:rPr lang="en-IN" sz="1400" i="1">
                          <a:effectLst/>
                        </a:rPr>
                        <a:t>size</a:t>
                      </a:r>
                      <a:r>
                        <a:rPr lang="en-IN" sz="1400">
                          <a:effectLst/>
                        </a:rPr>
                        <a:t>, </a:t>
                      </a:r>
                      <a:r>
                        <a:rPr lang="en-IN" sz="1400" i="1">
                          <a:effectLst/>
                        </a:rPr>
                        <a:t>d</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a:effectLst/>
                        </a:rPr>
                        <a:t>A normal-size floating point number. The total number of digits is specified in </a:t>
                      </a:r>
                      <a:r>
                        <a:rPr lang="en-US" sz="1400" i="1">
                          <a:effectLst/>
                        </a:rPr>
                        <a:t>size</a:t>
                      </a:r>
                      <a:r>
                        <a:rPr lang="en-US" sz="1400">
                          <a:effectLst/>
                        </a:rPr>
                        <a:t>. The number of digits after the decimal point is specified in the </a:t>
                      </a:r>
                      <a:r>
                        <a:rPr lang="en-US" sz="1400" i="1">
                          <a:effectLst/>
                        </a:rPr>
                        <a:t>d</a:t>
                      </a:r>
                      <a:r>
                        <a:rPr lang="en-US" sz="1400">
                          <a:effectLst/>
                        </a:rPr>
                        <a:t> parameter</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2624719131"/>
                  </a:ext>
                </a:extLst>
              </a:tr>
              <a:tr h="135309">
                <a:tc>
                  <a:txBody>
                    <a:bodyPr/>
                    <a:lstStyle/>
                    <a:p>
                      <a:pPr algn="l" fontAlgn="t"/>
                      <a:r>
                        <a:rPr lang="en-IN" sz="1400">
                          <a:effectLst/>
                        </a:rPr>
                        <a:t>DOUBLE PRECISION(</a:t>
                      </a:r>
                      <a:r>
                        <a:rPr lang="en-IN" sz="1400" i="1">
                          <a:effectLst/>
                        </a:rPr>
                        <a:t>size</a:t>
                      </a:r>
                      <a:r>
                        <a:rPr lang="en-IN" sz="1400">
                          <a:effectLst/>
                        </a:rPr>
                        <a:t>, </a:t>
                      </a:r>
                      <a:r>
                        <a:rPr lang="en-IN" sz="1400" i="1">
                          <a:effectLst/>
                        </a:rPr>
                        <a:t>d</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IN" sz="1400">
                          <a:effectLst/>
                        </a:rPr>
                        <a:t> </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3141458392"/>
                  </a:ext>
                </a:extLst>
              </a:tr>
              <a:tr h="376189">
                <a:tc>
                  <a:txBody>
                    <a:bodyPr/>
                    <a:lstStyle/>
                    <a:p>
                      <a:pPr algn="l" fontAlgn="t"/>
                      <a:r>
                        <a:rPr lang="en-IN" sz="1400">
                          <a:effectLst/>
                        </a:rPr>
                        <a:t>DECIMAL(</a:t>
                      </a:r>
                      <a:r>
                        <a:rPr lang="en-IN" sz="1400" i="1">
                          <a:effectLst/>
                        </a:rPr>
                        <a:t>size</a:t>
                      </a:r>
                      <a:r>
                        <a:rPr lang="en-IN" sz="1400">
                          <a:effectLst/>
                        </a:rPr>
                        <a:t>, </a:t>
                      </a:r>
                      <a:r>
                        <a:rPr lang="en-IN" sz="1400" i="1">
                          <a:effectLst/>
                        </a:rPr>
                        <a:t>d</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a:effectLst/>
                        </a:rPr>
                        <a:t>An exact fixed-point number. The total number of digits is specified in </a:t>
                      </a:r>
                      <a:r>
                        <a:rPr lang="en-US" sz="1400" i="1">
                          <a:effectLst/>
                        </a:rPr>
                        <a:t>size</a:t>
                      </a:r>
                      <a:r>
                        <a:rPr lang="en-US" sz="1400">
                          <a:effectLst/>
                        </a:rPr>
                        <a:t>. The number of digits after the decimal point is specified in the </a:t>
                      </a:r>
                      <a:r>
                        <a:rPr lang="en-US" sz="1400" i="1">
                          <a:effectLst/>
                        </a:rPr>
                        <a:t>d</a:t>
                      </a:r>
                      <a:r>
                        <a:rPr lang="en-US" sz="1400">
                          <a:effectLst/>
                        </a:rPr>
                        <a:t> parameter. The maximum number for </a:t>
                      </a:r>
                      <a:r>
                        <a:rPr lang="en-US" sz="1400" i="1">
                          <a:effectLst/>
                        </a:rPr>
                        <a:t>size</a:t>
                      </a:r>
                      <a:r>
                        <a:rPr lang="en-US" sz="1400">
                          <a:effectLst/>
                        </a:rPr>
                        <a:t> is 65. The maximum number for </a:t>
                      </a:r>
                      <a:r>
                        <a:rPr lang="en-US" sz="1400" i="1">
                          <a:effectLst/>
                        </a:rPr>
                        <a:t>d</a:t>
                      </a:r>
                      <a:r>
                        <a:rPr lang="en-US" sz="1400">
                          <a:effectLst/>
                        </a:rPr>
                        <a:t> is 30. The default value for </a:t>
                      </a:r>
                      <a:r>
                        <a:rPr lang="en-US" sz="1400" i="1">
                          <a:effectLst/>
                        </a:rPr>
                        <a:t>size</a:t>
                      </a:r>
                      <a:r>
                        <a:rPr lang="en-US" sz="1400">
                          <a:effectLst/>
                        </a:rPr>
                        <a:t> is 10. The default value for </a:t>
                      </a:r>
                      <a:r>
                        <a:rPr lang="en-US" sz="1400" i="1">
                          <a:effectLst/>
                        </a:rPr>
                        <a:t>d</a:t>
                      </a:r>
                      <a:r>
                        <a:rPr lang="en-US" sz="1400">
                          <a:effectLst/>
                        </a:rPr>
                        <a:t> is 0.</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508637772"/>
                  </a:ext>
                </a:extLst>
              </a:tr>
              <a:tr h="55016">
                <a:tc>
                  <a:txBody>
                    <a:bodyPr/>
                    <a:lstStyle/>
                    <a:p>
                      <a:pPr algn="l" fontAlgn="t"/>
                      <a:r>
                        <a:rPr lang="en-IN" sz="1400">
                          <a:effectLst/>
                        </a:rPr>
                        <a:t>DEC(</a:t>
                      </a:r>
                      <a:r>
                        <a:rPr lang="en-IN" sz="1400" i="1">
                          <a:effectLst/>
                        </a:rPr>
                        <a:t>size</a:t>
                      </a:r>
                      <a:r>
                        <a:rPr lang="en-IN" sz="1400">
                          <a:effectLst/>
                        </a:rPr>
                        <a:t>, </a:t>
                      </a:r>
                      <a:r>
                        <a:rPr lang="en-IN" sz="1400" i="1">
                          <a:effectLst/>
                        </a:rPr>
                        <a:t>d</a:t>
                      </a:r>
                      <a:r>
                        <a:rPr lang="en-IN" sz="1400">
                          <a:effectLst/>
                        </a:rPr>
                        <a:t>)</a:t>
                      </a:r>
                    </a:p>
                  </a:txBody>
                  <a:tcPr marL="14869"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400" dirty="0">
                          <a:effectLst/>
                        </a:rPr>
                        <a:t>Equal to DECIMAL(</a:t>
                      </a:r>
                      <a:r>
                        <a:rPr lang="en-US" sz="1400" dirty="0" err="1">
                          <a:effectLst/>
                        </a:rPr>
                        <a:t>size,d</a:t>
                      </a:r>
                      <a:r>
                        <a:rPr lang="en-US" sz="1400" dirty="0">
                          <a:effectLst/>
                        </a:rPr>
                        <a:t>)</a:t>
                      </a:r>
                    </a:p>
                  </a:txBody>
                  <a:tcPr marL="7435" marR="7435" marT="7435" marB="743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xmlns="" val="3781768092"/>
                  </a:ext>
                </a:extLst>
              </a:tr>
            </a:tbl>
          </a:graphicData>
        </a:graphic>
      </p:graphicFrame>
      <p:sp>
        <p:nvSpPr>
          <p:cNvPr id="6" name="TextBox 5">
            <a:extLst>
              <a:ext uri="{FF2B5EF4-FFF2-40B4-BE49-F238E27FC236}">
                <a16:creationId xmlns:a16="http://schemas.microsoft.com/office/drawing/2014/main" xmlns="" id="{E97A06ED-90A7-6767-05CE-431E8E80A7DA}"/>
              </a:ext>
            </a:extLst>
          </p:cNvPr>
          <p:cNvSpPr txBox="1"/>
          <p:nvPr/>
        </p:nvSpPr>
        <p:spPr>
          <a:xfrm>
            <a:off x="4953412" y="20409"/>
            <a:ext cx="6101442"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Numeric</a:t>
            </a:r>
            <a:endParaRPr lang="en-IN" dirty="0"/>
          </a:p>
        </p:txBody>
      </p:sp>
    </p:spTree>
    <p:extLst>
      <p:ext uri="{BB962C8B-B14F-4D97-AF65-F5344CB8AC3E}">
        <p14:creationId xmlns:p14="http://schemas.microsoft.com/office/powerpoint/2010/main" val="15003041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A4EC2B-4A51-EFC6-72AB-A99F405C6350}"/>
              </a:ext>
            </a:extLst>
          </p:cNvPr>
          <p:cNvSpPr>
            <a:spLocks noGrp="1"/>
          </p:cNvSpPr>
          <p:nvPr>
            <p:ph type="title"/>
          </p:nvPr>
        </p:nvSpPr>
        <p:spPr/>
        <p:txBody>
          <a:bodyPr/>
          <a:lstStyle/>
          <a:p>
            <a:endParaRPr lang="en-IN"/>
          </a:p>
        </p:txBody>
      </p:sp>
      <p:graphicFrame>
        <p:nvGraphicFramePr>
          <p:cNvPr id="6" name="Content Placeholder 5">
            <a:extLst>
              <a:ext uri="{FF2B5EF4-FFF2-40B4-BE49-F238E27FC236}">
                <a16:creationId xmlns:a16="http://schemas.microsoft.com/office/drawing/2014/main" xmlns="" id="{A7367A8B-5426-E70B-FC5D-ECDB8457E3A6}"/>
              </a:ext>
            </a:extLst>
          </p:cNvPr>
          <p:cNvGraphicFramePr>
            <a:graphicFrameLocks noGrp="1"/>
          </p:cNvGraphicFramePr>
          <p:nvPr>
            <p:ph idx="1"/>
            <p:extLst>
              <p:ext uri="{D42A27DB-BD31-4B8C-83A1-F6EECF244321}">
                <p14:modId xmlns:p14="http://schemas.microsoft.com/office/powerpoint/2010/main" val="756708019"/>
              </p:ext>
            </p:extLst>
          </p:nvPr>
        </p:nvGraphicFramePr>
        <p:xfrm>
          <a:off x="544286" y="642258"/>
          <a:ext cx="10510568" cy="4958247"/>
        </p:xfrm>
        <a:graphic>
          <a:graphicData uri="http://schemas.openxmlformats.org/drawingml/2006/table">
            <a:tbl>
              <a:tblPr/>
              <a:tblGrid>
                <a:gridCol w="3150334">
                  <a:extLst>
                    <a:ext uri="{9D8B030D-6E8A-4147-A177-3AD203B41FA5}">
                      <a16:colId xmlns:a16="http://schemas.microsoft.com/office/drawing/2014/main" xmlns="" val="2593363181"/>
                    </a:ext>
                  </a:extLst>
                </a:gridCol>
                <a:gridCol w="7360234">
                  <a:extLst>
                    <a:ext uri="{9D8B030D-6E8A-4147-A177-3AD203B41FA5}">
                      <a16:colId xmlns:a16="http://schemas.microsoft.com/office/drawing/2014/main" xmlns="" val="318430485"/>
                    </a:ext>
                  </a:extLst>
                </a:gridCol>
              </a:tblGrid>
              <a:tr h="352640">
                <a:tc>
                  <a:txBody>
                    <a:bodyPr/>
                    <a:lstStyle/>
                    <a:p>
                      <a:pPr algn="l" fontAlgn="t"/>
                      <a:r>
                        <a:rPr lang="en-IN" sz="1600">
                          <a:effectLst/>
                        </a:rPr>
                        <a:t>Data type</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600">
                          <a:effectLst/>
                        </a:rPr>
                        <a:t>Description</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499044447"/>
                  </a:ext>
                </a:extLst>
              </a:tr>
              <a:tr h="369855">
                <a:tc>
                  <a:txBody>
                    <a:bodyPr/>
                    <a:lstStyle/>
                    <a:p>
                      <a:pPr algn="l" fontAlgn="t"/>
                      <a:r>
                        <a:rPr lang="en-IN" sz="1600">
                          <a:effectLst/>
                        </a:rPr>
                        <a:t>DATE</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rPr>
                        <a:t>A date. Format: YYYY-MM-DD. The supported range is from '1000-01-01' to '9999-12-31'</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2687036793"/>
                  </a:ext>
                </a:extLst>
              </a:tr>
              <a:tr h="1288632">
                <a:tc>
                  <a:txBody>
                    <a:bodyPr/>
                    <a:lstStyle/>
                    <a:p>
                      <a:pPr algn="l" fontAlgn="t"/>
                      <a:r>
                        <a:rPr lang="en-IN" sz="1600">
                          <a:effectLst/>
                        </a:rPr>
                        <a:t>DATETIME(</a:t>
                      </a:r>
                      <a:r>
                        <a:rPr lang="en-IN" sz="1600" i="1">
                          <a:effectLst/>
                        </a:rPr>
                        <a:t>fsp</a:t>
                      </a:r>
                      <a:r>
                        <a:rPr lang="en-IN" sz="1600">
                          <a:effectLst/>
                        </a:rPr>
                        <a:t>)</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date and time combination. Format: YYYY-MM-DD hh:mm:ss. The supported range is from '1000-01-01 00:00:00' to '9999-12-31 23:59:59'. Adding DEFAULT and ON UPDATE in the column definition to get automatic initialization and updating to the current date and time</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860412933"/>
                  </a:ext>
                </a:extLst>
              </a:tr>
              <a:tr h="1912627">
                <a:tc>
                  <a:txBody>
                    <a:bodyPr/>
                    <a:lstStyle/>
                    <a:p>
                      <a:pPr algn="l" fontAlgn="t"/>
                      <a:r>
                        <a:rPr lang="en-IN" sz="1600">
                          <a:effectLst/>
                        </a:rPr>
                        <a:t>TIMESTAMP(</a:t>
                      </a:r>
                      <a:r>
                        <a:rPr lang="en-IN" sz="1600" i="1">
                          <a:effectLst/>
                        </a:rPr>
                        <a:t>fsp</a:t>
                      </a:r>
                      <a:r>
                        <a:rPr lang="en-IN" sz="1600">
                          <a:effectLst/>
                        </a:rPr>
                        <a:t>)</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rPr>
                        <a:t>A timestamp. TIMESTAMP values are stored as the number of seconds since the Unix epoch ('1970-01-01 00:00:00' UTC). Format: YYYY-MM-DD hh:mm:ss. The supported range is from '1970-01-01 00:00:01' UTC to '2038-01-09 03:14:07' UTC. Automatic initialization and updating to the current date and time can be specified using DEFAULT CURRENT_TIMESTAMP and ON UPDATE CURRENT_TIMESTAMP in the column definition</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xmlns="" val="770477011"/>
                  </a:ext>
                </a:extLst>
              </a:tr>
              <a:tr h="369855">
                <a:tc>
                  <a:txBody>
                    <a:bodyPr/>
                    <a:lstStyle/>
                    <a:p>
                      <a:pPr algn="l" fontAlgn="t"/>
                      <a:r>
                        <a:rPr lang="en-IN" sz="1600">
                          <a:effectLst/>
                        </a:rPr>
                        <a:t>TIME(</a:t>
                      </a:r>
                      <a:r>
                        <a:rPr lang="en-IN" sz="1600" i="1">
                          <a:effectLst/>
                        </a:rPr>
                        <a:t>fsp</a:t>
                      </a:r>
                      <a:r>
                        <a:rPr lang="en-IN" sz="1600">
                          <a:effectLst/>
                        </a:rPr>
                        <a:t>)</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A time. Format: hh:mm:ss. The supported range is from '-838:59:59' to '838:59:59'</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3825596500"/>
                  </a:ext>
                </a:extLst>
              </a:tr>
              <a:tr h="664638">
                <a:tc>
                  <a:txBody>
                    <a:bodyPr/>
                    <a:lstStyle/>
                    <a:p>
                      <a:pPr algn="l" fontAlgn="t"/>
                      <a:r>
                        <a:rPr lang="en-IN" sz="1600">
                          <a:effectLst/>
                        </a:rPr>
                        <a:t>YEAR</a:t>
                      </a:r>
                    </a:p>
                  </a:txBody>
                  <a:tcPr marL="31765"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600" dirty="0">
                          <a:effectLst/>
                        </a:rPr>
                        <a:t>A year in four-digit format. Values allowed in four-digit format: 1901 to 2155, and 0000.</a:t>
                      </a:r>
                      <a:br>
                        <a:rPr lang="en-US" sz="1600" dirty="0">
                          <a:effectLst/>
                        </a:rPr>
                      </a:br>
                      <a:r>
                        <a:rPr lang="en-US" sz="1600" dirty="0">
                          <a:effectLst/>
                        </a:rPr>
                        <a:t>MySQL 8.0 does not support year in two-digit format.</a:t>
                      </a:r>
                    </a:p>
                  </a:txBody>
                  <a:tcPr marL="15882" marR="15882" marT="15882" marB="1588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xmlns="" val="1662822826"/>
                  </a:ext>
                </a:extLst>
              </a:tr>
            </a:tbl>
          </a:graphicData>
        </a:graphic>
      </p:graphicFrame>
      <p:sp>
        <p:nvSpPr>
          <p:cNvPr id="8" name="TextBox 7">
            <a:extLst>
              <a:ext uri="{FF2B5EF4-FFF2-40B4-BE49-F238E27FC236}">
                <a16:creationId xmlns:a16="http://schemas.microsoft.com/office/drawing/2014/main" xmlns="" id="{1D21D530-446F-1988-5026-C28F86B48DE2}"/>
              </a:ext>
            </a:extLst>
          </p:cNvPr>
          <p:cNvSpPr txBox="1"/>
          <p:nvPr/>
        </p:nvSpPr>
        <p:spPr>
          <a:xfrm>
            <a:off x="4204608" y="169391"/>
            <a:ext cx="6101442" cy="369332"/>
          </a:xfrm>
          <a:prstGeom prst="rect">
            <a:avLst/>
          </a:prstGeom>
          <a:noFill/>
        </p:spPr>
        <p:txBody>
          <a:bodyPr wrap="square">
            <a:spAutoFit/>
          </a:bodyPr>
          <a:lstStyle/>
          <a:p>
            <a:r>
              <a:rPr lang="en-US" b="1" i="0" dirty="0">
                <a:solidFill>
                  <a:srgbClr val="000000"/>
                </a:solidFill>
                <a:effectLst/>
                <a:latin typeface="Verdana" panose="020B0604030504040204" pitchFamily="34" charset="0"/>
              </a:rPr>
              <a:t>Date And Time</a:t>
            </a:r>
            <a:endParaRPr lang="en-IN" dirty="0"/>
          </a:p>
        </p:txBody>
      </p:sp>
    </p:spTree>
    <p:extLst>
      <p:ext uri="{BB962C8B-B14F-4D97-AF65-F5344CB8AC3E}">
        <p14:creationId xmlns:p14="http://schemas.microsoft.com/office/powerpoint/2010/main" val="8788577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D6128A-ED75-B871-4962-DB89E49A7C08}"/>
              </a:ext>
            </a:extLst>
          </p:cNvPr>
          <p:cNvSpPr>
            <a:spLocks noGrp="1"/>
          </p:cNvSpPr>
          <p:nvPr>
            <p:ph type="title"/>
          </p:nvPr>
        </p:nvSpPr>
        <p:spPr/>
        <p:txBody>
          <a:bodyPr/>
          <a:lstStyle/>
          <a:p>
            <a:r>
              <a:rPr lang="en-IN" dirty="0"/>
              <a:t>Relational Model</a:t>
            </a:r>
          </a:p>
        </p:txBody>
      </p:sp>
      <p:sp>
        <p:nvSpPr>
          <p:cNvPr id="3" name="Content Placeholder 2">
            <a:extLst>
              <a:ext uri="{FF2B5EF4-FFF2-40B4-BE49-F238E27FC236}">
                <a16:creationId xmlns:a16="http://schemas.microsoft.com/office/drawing/2014/main" xmlns="" id="{3F0A728B-F03C-9638-DCEE-8D50CF2509E6}"/>
              </a:ext>
            </a:extLst>
          </p:cNvPr>
          <p:cNvSpPr>
            <a:spLocks noGrp="1"/>
          </p:cNvSpPr>
          <p:nvPr>
            <p:ph idx="1"/>
          </p:nvPr>
        </p:nvSpPr>
        <p:spPr/>
        <p:txBody>
          <a:bodyPr/>
          <a:lstStyle/>
          <a:p>
            <a:r>
              <a:rPr lang="en-US" dirty="0"/>
              <a:t>A relational database consists of a collection of tables, each of which is assigned a unique name.</a:t>
            </a:r>
            <a:endParaRPr lang="en-IN" dirty="0"/>
          </a:p>
        </p:txBody>
      </p:sp>
      <p:pic>
        <p:nvPicPr>
          <p:cNvPr id="5" name="Picture 4">
            <a:extLst>
              <a:ext uri="{FF2B5EF4-FFF2-40B4-BE49-F238E27FC236}">
                <a16:creationId xmlns:a16="http://schemas.microsoft.com/office/drawing/2014/main" xmlns="" id="{C76396E2-7B10-2C9B-5513-91210475E867}"/>
              </a:ext>
            </a:extLst>
          </p:cNvPr>
          <p:cNvPicPr>
            <a:picLocks noChangeAspect="1"/>
          </p:cNvPicPr>
          <p:nvPr/>
        </p:nvPicPr>
        <p:blipFill>
          <a:blip r:embed="rId2"/>
          <a:stretch>
            <a:fillRect/>
          </a:stretch>
        </p:blipFill>
        <p:spPr>
          <a:xfrm>
            <a:off x="2055560" y="2940356"/>
            <a:ext cx="4040440" cy="3113125"/>
          </a:xfrm>
          <a:prstGeom prst="rect">
            <a:avLst/>
          </a:prstGeom>
        </p:spPr>
      </p:pic>
      <p:sp>
        <p:nvSpPr>
          <p:cNvPr id="7" name="TextBox 6">
            <a:extLst>
              <a:ext uri="{FF2B5EF4-FFF2-40B4-BE49-F238E27FC236}">
                <a16:creationId xmlns:a16="http://schemas.microsoft.com/office/drawing/2014/main" xmlns="" id="{98FD038B-D947-3248-54D0-47C1053BB2FE}"/>
              </a:ext>
            </a:extLst>
          </p:cNvPr>
          <p:cNvSpPr txBox="1"/>
          <p:nvPr/>
        </p:nvSpPr>
        <p:spPr>
          <a:xfrm>
            <a:off x="6392636" y="3573588"/>
            <a:ext cx="5385707" cy="1938992"/>
          </a:xfrm>
          <a:prstGeom prst="rect">
            <a:avLst/>
          </a:prstGeom>
          <a:noFill/>
        </p:spPr>
        <p:txBody>
          <a:bodyPr wrap="square">
            <a:spAutoFit/>
          </a:bodyPr>
          <a:lstStyle/>
          <a:p>
            <a:pPr algn="just"/>
            <a:r>
              <a:rPr lang="en-US" sz="2400" b="0" i="0" u="none" strike="noStrike" baseline="0" dirty="0">
                <a:latin typeface="Arial Narrow" panose="020B0606020202030204" pitchFamily="34" charset="0"/>
              </a:rPr>
              <a:t>In the relational model the term </a:t>
            </a:r>
            <a:r>
              <a:rPr lang="en-US" sz="2400" b="1" i="0" u="none" strike="noStrike" baseline="0" dirty="0">
                <a:latin typeface="Arial Narrow,Bold"/>
              </a:rPr>
              <a:t>relation </a:t>
            </a:r>
            <a:r>
              <a:rPr lang="en-US" sz="2400" b="0" i="0" u="none" strike="noStrike" baseline="0" dirty="0">
                <a:latin typeface="Arial Narrow" panose="020B0606020202030204" pitchFamily="34" charset="0"/>
              </a:rPr>
              <a:t>is used to refer to a table, while the term </a:t>
            </a:r>
            <a:r>
              <a:rPr lang="en-US" sz="2400" b="1" i="0" u="none" strike="noStrike" baseline="0" dirty="0">
                <a:latin typeface="Arial Narrow,Bold"/>
              </a:rPr>
              <a:t>tuple </a:t>
            </a:r>
            <a:r>
              <a:rPr lang="en-US" sz="2400" b="0" i="0" u="none" strike="noStrike" baseline="0" dirty="0">
                <a:latin typeface="Arial Narrow" panose="020B0606020202030204" pitchFamily="34" charset="0"/>
              </a:rPr>
              <a:t>is used to refer to</a:t>
            </a:r>
          </a:p>
          <a:p>
            <a:pPr algn="just"/>
            <a:r>
              <a:rPr lang="en-US" sz="2400" b="0" i="0" u="none" strike="noStrike" baseline="0" dirty="0">
                <a:latin typeface="Arial Narrow" panose="020B0606020202030204" pitchFamily="34" charset="0"/>
              </a:rPr>
              <a:t>a row. Similarly, the term </a:t>
            </a:r>
            <a:r>
              <a:rPr lang="en-US" sz="2400" b="1" i="0" u="none" strike="noStrike" baseline="0" dirty="0">
                <a:latin typeface="Arial Narrow,Bold"/>
              </a:rPr>
              <a:t>attribute </a:t>
            </a:r>
            <a:r>
              <a:rPr lang="en-US" sz="2400" b="0" i="0" u="none" strike="noStrike" baseline="0" dirty="0">
                <a:latin typeface="Arial Narrow" panose="020B0606020202030204" pitchFamily="34" charset="0"/>
              </a:rPr>
              <a:t>refers to a column of a table.</a:t>
            </a:r>
            <a:endParaRPr lang="en-IN" sz="2400" dirty="0"/>
          </a:p>
        </p:txBody>
      </p:sp>
    </p:spTree>
    <p:extLst>
      <p:ext uri="{BB962C8B-B14F-4D97-AF65-F5344CB8AC3E}">
        <p14:creationId xmlns:p14="http://schemas.microsoft.com/office/powerpoint/2010/main" val="24719444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xmlns="" id="{F41C0E7A-6C88-C1C9-BEA3-EEC753E5AF85}"/>
              </a:ext>
            </a:extLst>
          </p:cNvPr>
          <p:cNvSpPr>
            <a:spLocks noChangeArrowheads="1"/>
          </p:cNvSpPr>
          <p:nvPr/>
        </p:nvSpPr>
        <p:spPr bwMode="auto">
          <a:xfrm>
            <a:off x="1450975" y="786805"/>
            <a:ext cx="8378442"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latin typeface="Nunito" pitchFamily="2" charset="0"/>
              </a:rPr>
              <a:t>    Attribute:</a:t>
            </a:r>
            <a:r>
              <a:rPr kumimoji="0" lang="en-US" altLang="en-US" b="0" i="0" u="none" strike="noStrike" cap="none" normalizeH="0" baseline="0" dirty="0">
                <a:ln>
                  <a:noFill/>
                </a:ln>
                <a:solidFill>
                  <a:srgbClr val="273239"/>
                </a:solidFill>
                <a:effectLst/>
                <a:latin typeface="Nunito" pitchFamily="2" charset="0"/>
              </a:rPr>
              <a:t> Attributes are the properties that define an entity. e.g.; </a:t>
            </a:r>
            <a:r>
              <a:rPr kumimoji="0" lang="en-US" altLang="en-US" b="1" i="0" u="none" strike="noStrike" cap="none" normalizeH="0" baseline="0" dirty="0">
                <a:ln>
                  <a:noFill/>
                </a:ln>
                <a:solidFill>
                  <a:srgbClr val="273239"/>
                </a:solidFill>
                <a:effectLst/>
                <a:latin typeface="Nunito" pitchFamily="2" charset="0"/>
              </a:rPr>
              <a:t>ROLL_NO</a:t>
            </a:r>
            <a:r>
              <a:rPr kumimoji="0" lang="en-US" altLang="en-US" b="0" i="0" u="none" strike="noStrike" cap="none" normalizeH="0" baseline="0" dirty="0">
                <a:ln>
                  <a:noFill/>
                </a:ln>
                <a:solidFill>
                  <a:srgbClr val="273239"/>
                </a:solidFill>
                <a:effectLst/>
                <a:latin typeface="Nunito" pitchFamily="2" charset="0"/>
              </a:rPr>
              <a:t>, </a:t>
            </a:r>
            <a:r>
              <a:rPr kumimoji="0" lang="en-US" altLang="en-US" b="1" i="0" u="none" strike="noStrike" cap="none" normalizeH="0" baseline="0" dirty="0">
                <a:ln>
                  <a:noFill/>
                </a:ln>
                <a:solidFill>
                  <a:srgbClr val="273239"/>
                </a:solidFill>
                <a:effectLst/>
                <a:latin typeface="Nunito" pitchFamily="2" charset="0"/>
              </a:rPr>
              <a:t>NAME, ADDRESS</a:t>
            </a:r>
            <a:endParaRPr kumimoji="0" lang="en-US" altLang="en-US" b="0"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latin typeface="Nunito" pitchFamily="2" charset="0"/>
              </a:rPr>
              <a:t>    Relation Schema:</a:t>
            </a:r>
            <a:r>
              <a:rPr kumimoji="0" lang="en-US" altLang="en-US" b="0" i="0" u="none" strike="noStrike" cap="none" normalizeH="0" baseline="0" dirty="0">
                <a:ln>
                  <a:noFill/>
                </a:ln>
                <a:solidFill>
                  <a:srgbClr val="273239"/>
                </a:solidFill>
                <a:effectLst/>
                <a:latin typeface="Nunito" pitchFamily="2" charset="0"/>
              </a:rPr>
              <a:t> A relation schema defines the structure of the relation and represents the name of the relation with its attributes. e.g.; STUDENT (ROLL_NO, NAME, ADDRESS, PHONE, and AGE) is the relation schema for STUDENT. If a schema has more than 1 relation, it is called Relational Schema.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latin typeface="Nunito" pitchFamily="2" charset="0"/>
              </a:rPr>
              <a:t>    Tuple:</a:t>
            </a:r>
            <a:r>
              <a:rPr kumimoji="0" lang="en-US" altLang="en-US" b="0" i="0" u="none" strike="noStrike" cap="none" normalizeH="0" baseline="0" dirty="0">
                <a:ln>
                  <a:noFill/>
                </a:ln>
                <a:solidFill>
                  <a:srgbClr val="273239"/>
                </a:solidFill>
                <a:effectLst/>
                <a:latin typeface="Nunito" pitchFamily="2" charset="0"/>
              </a:rPr>
              <a:t> Each row in the relation is known as a tuple. The above relation contains 4 tuples, one of which is shown 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p>
        </p:txBody>
      </p:sp>
      <p:pic>
        <p:nvPicPr>
          <p:cNvPr id="10" name="Picture 9">
            <a:extLst>
              <a:ext uri="{FF2B5EF4-FFF2-40B4-BE49-F238E27FC236}">
                <a16:creationId xmlns:a16="http://schemas.microsoft.com/office/drawing/2014/main" xmlns="" id="{D0ADE5CD-075C-3C5A-8CB0-FB8C96931EEB}"/>
              </a:ext>
            </a:extLst>
          </p:cNvPr>
          <p:cNvPicPr>
            <a:picLocks noChangeAspect="1"/>
          </p:cNvPicPr>
          <p:nvPr/>
        </p:nvPicPr>
        <p:blipFill rotWithShape="1">
          <a:blip r:embed="rId2"/>
          <a:srcRect t="91925" b="1431"/>
          <a:stretch/>
        </p:blipFill>
        <p:spPr>
          <a:xfrm>
            <a:off x="2948188" y="3349965"/>
            <a:ext cx="4040440" cy="206829"/>
          </a:xfrm>
          <a:prstGeom prst="rect">
            <a:avLst/>
          </a:prstGeom>
        </p:spPr>
      </p:pic>
      <p:sp>
        <p:nvSpPr>
          <p:cNvPr id="12" name="TextBox 11">
            <a:extLst>
              <a:ext uri="{FF2B5EF4-FFF2-40B4-BE49-F238E27FC236}">
                <a16:creationId xmlns:a16="http://schemas.microsoft.com/office/drawing/2014/main" xmlns="" id="{85F4FF7A-6FA5-4542-1FB8-A073A51479F3}"/>
              </a:ext>
            </a:extLst>
          </p:cNvPr>
          <p:cNvSpPr txBox="1"/>
          <p:nvPr/>
        </p:nvSpPr>
        <p:spPr>
          <a:xfrm>
            <a:off x="1450974" y="3556794"/>
            <a:ext cx="8378442"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en-US"/>
            </a:defPPr>
            <a:lvl1pPr marR="0" lvl="0" indent="0" defTabSz="914400" eaLnBrk="0" fontAlgn="base" hangingPunct="0">
              <a:lnSpc>
                <a:spcPct val="100000"/>
              </a:lnSpc>
              <a:spcBef>
                <a:spcPct val="0"/>
              </a:spcBef>
              <a:spcAft>
                <a:spcPct val="0"/>
              </a:spcAft>
              <a:buClrTx/>
              <a:buSzTx/>
              <a:buFontTx/>
              <a:buNone/>
              <a:tabLst/>
              <a:defRPr kumimoji="0" b="0" i="0" u="none" strike="noStrike" cap="none" normalizeH="0" baseline="0">
                <a:ln>
                  <a:noFill/>
                </a:ln>
                <a:effectLst/>
                <a:latin typeface="Arial" panose="020B0604020202020204" pitchFamily="34" charset="0"/>
              </a:defRPr>
            </a:lvl1pPr>
          </a:lstStyle>
          <a:p>
            <a:pPr marL="285750" indent="-285750" algn="just">
              <a:buFont typeface="Arial" panose="020B0604020202020204" pitchFamily="34" charset="0"/>
              <a:buChar char="•"/>
            </a:pPr>
            <a:r>
              <a:rPr lang="en-US" b="1" dirty="0"/>
              <a:t>Relation Instance: </a:t>
            </a:r>
            <a:r>
              <a:rPr lang="en-US" dirty="0"/>
              <a:t>The set of tuples of a relation at a particular instance of time is called a relation instance. Table 1 shows the relation instance of STUDENT at a particular time. It can change whenever there is an insertion, deletion, or update in the database.</a:t>
            </a:r>
          </a:p>
          <a:p>
            <a:pPr marL="285750" indent="-285750" algn="just">
              <a:buFont typeface="Arial" panose="020B0604020202020204" pitchFamily="34" charset="0"/>
              <a:buChar char="•"/>
            </a:pPr>
            <a:r>
              <a:rPr lang="en-US" b="1" dirty="0"/>
              <a:t>Degree: </a:t>
            </a:r>
            <a:r>
              <a:rPr lang="en-US" dirty="0"/>
              <a:t>The number of attributes in the relation is known as the degree of the relation. The STUDENT relation defined above has degree 5.</a:t>
            </a:r>
          </a:p>
          <a:p>
            <a:pPr marL="285750" indent="-285750" algn="just">
              <a:buFont typeface="Arial" panose="020B0604020202020204" pitchFamily="34" charset="0"/>
              <a:buChar char="•"/>
            </a:pPr>
            <a:r>
              <a:rPr lang="en-US" b="1" dirty="0"/>
              <a:t>Cardinality:</a:t>
            </a:r>
            <a:r>
              <a:rPr lang="en-US" dirty="0"/>
              <a:t> The number of tuples in a relation is known as</a:t>
            </a:r>
            <a:r>
              <a:rPr lang="en-US" dirty="0">
                <a:hlinkClick r:id="rId3"/>
              </a:rPr>
              <a:t> cardinality</a:t>
            </a:r>
            <a:r>
              <a:rPr lang="en-US" dirty="0"/>
              <a:t>. The STUDENT relation defined above has cardinality 4.</a:t>
            </a:r>
          </a:p>
          <a:p>
            <a:pPr marL="285750" indent="-285750" algn="just">
              <a:buFont typeface="Arial" panose="020B0604020202020204" pitchFamily="34" charset="0"/>
              <a:buChar char="•"/>
            </a:pPr>
            <a:r>
              <a:rPr lang="en-US" b="1" dirty="0"/>
              <a:t>Column:</a:t>
            </a:r>
            <a:r>
              <a:rPr lang="en-US" dirty="0"/>
              <a:t> The column represents the set of values for a particular attribute. The column ROLL_NO is extracted from the relation STUDENT.</a:t>
            </a:r>
          </a:p>
        </p:txBody>
      </p:sp>
    </p:spTree>
    <p:extLst>
      <p:ext uri="{BB962C8B-B14F-4D97-AF65-F5344CB8AC3E}">
        <p14:creationId xmlns:p14="http://schemas.microsoft.com/office/powerpoint/2010/main" val="21905345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409FAB-6168-4E10-D888-ECF586916833}"/>
              </a:ext>
            </a:extLst>
          </p:cNvPr>
          <p:cNvSpPr>
            <a:spLocks noGrp="1"/>
          </p:cNvSpPr>
          <p:nvPr>
            <p:ph idx="1"/>
          </p:nvPr>
        </p:nvSpPr>
        <p:spPr/>
        <p:txBody>
          <a:bodyPr/>
          <a:lstStyle/>
          <a:p>
            <a:r>
              <a:rPr lang="en-US" b="1" i="0" dirty="0">
                <a:solidFill>
                  <a:srgbClr val="273239"/>
                </a:solidFill>
                <a:effectLst/>
                <a:latin typeface="Nunito" pitchFamily="2" charset="0"/>
              </a:rPr>
              <a:t>Relation Key: </a:t>
            </a:r>
            <a:r>
              <a:rPr lang="en-US" b="0" i="0" dirty="0">
                <a:solidFill>
                  <a:srgbClr val="273239"/>
                </a:solidFill>
                <a:effectLst/>
                <a:latin typeface="Nunito" pitchFamily="2" charset="0"/>
              </a:rPr>
              <a:t>These are basically the keys that are used to identify the rows uniquely or also help in identifying tables. These are of the following types.</a:t>
            </a:r>
            <a:endParaRPr lang="en-IN" dirty="0"/>
          </a:p>
        </p:txBody>
      </p:sp>
    </p:spTree>
    <p:extLst>
      <p:ext uri="{BB962C8B-B14F-4D97-AF65-F5344CB8AC3E}">
        <p14:creationId xmlns:p14="http://schemas.microsoft.com/office/powerpoint/2010/main" val="8664760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535DA1-7D90-59D0-0DB9-01C96EA51EA3}"/>
              </a:ext>
            </a:extLst>
          </p:cNvPr>
          <p:cNvSpPr>
            <a:spLocks noGrp="1"/>
          </p:cNvSpPr>
          <p:nvPr>
            <p:ph type="title"/>
          </p:nvPr>
        </p:nvSpPr>
        <p:spPr/>
        <p:txBody>
          <a:bodyPr/>
          <a:lstStyle/>
          <a:p>
            <a:r>
              <a:rPr lang="en-IN" dirty="0"/>
              <a:t>Integrity Constraints over relations</a:t>
            </a:r>
          </a:p>
        </p:txBody>
      </p:sp>
      <p:sp>
        <p:nvSpPr>
          <p:cNvPr id="3" name="Content Placeholder 2">
            <a:extLst>
              <a:ext uri="{FF2B5EF4-FFF2-40B4-BE49-F238E27FC236}">
                <a16:creationId xmlns:a16="http://schemas.microsoft.com/office/drawing/2014/main" xmlns="" id="{D3AFF1C4-AB88-348F-C8B8-A95A901D376C}"/>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Integrity constraints are a set of rules. It is used to maintain the quality of information.</a:t>
            </a:r>
          </a:p>
          <a:p>
            <a:pPr algn="just">
              <a:buFont typeface="Arial" panose="020B0604020202020204" pitchFamily="34" charset="0"/>
              <a:buChar char="•"/>
            </a:pPr>
            <a:r>
              <a:rPr lang="en-US" b="0" i="0" dirty="0">
                <a:solidFill>
                  <a:srgbClr val="000000"/>
                </a:solidFill>
                <a:effectLst/>
                <a:latin typeface="inter-regular"/>
              </a:rPr>
              <a:t>Integrity constraints ensure that the data insertion, updating, and other processes have to be performed in such a way that data integrity is not affected.</a:t>
            </a:r>
          </a:p>
          <a:p>
            <a:pPr algn="just">
              <a:buFont typeface="Arial" panose="020B0604020202020204" pitchFamily="34" charset="0"/>
              <a:buChar char="•"/>
            </a:pPr>
            <a:r>
              <a:rPr lang="en-US" b="0" i="0" dirty="0">
                <a:solidFill>
                  <a:srgbClr val="000000"/>
                </a:solidFill>
                <a:effectLst/>
                <a:latin typeface="inter-regular"/>
              </a:rPr>
              <a:t>Thus, integrity constraint is used to guard against accidental damage to the database.</a:t>
            </a:r>
          </a:p>
          <a:p>
            <a:endParaRPr lang="en-IN" dirty="0"/>
          </a:p>
        </p:txBody>
      </p:sp>
    </p:spTree>
    <p:extLst>
      <p:ext uri="{BB962C8B-B14F-4D97-AF65-F5344CB8AC3E}">
        <p14:creationId xmlns:p14="http://schemas.microsoft.com/office/powerpoint/2010/main" val="6002348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174B45-1B9A-5FDB-CF8E-E1D773E4D7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BDC75A1-2331-62F3-6B09-F8A042BC99F3}"/>
              </a:ext>
            </a:extLst>
          </p:cNvPr>
          <p:cNvSpPr>
            <a:spLocks noGrp="1"/>
          </p:cNvSpPr>
          <p:nvPr>
            <p:ph idx="1"/>
          </p:nvPr>
        </p:nvSpPr>
        <p:spPr/>
        <p:txBody>
          <a:bodyPr/>
          <a:lstStyle/>
          <a:p>
            <a:endParaRPr lang="en-IN"/>
          </a:p>
        </p:txBody>
      </p:sp>
      <p:pic>
        <p:nvPicPr>
          <p:cNvPr id="1026" name="Picture 2" descr="DBMS Integrity Constraints">
            <a:extLst>
              <a:ext uri="{FF2B5EF4-FFF2-40B4-BE49-F238E27FC236}">
                <a16:creationId xmlns:a16="http://schemas.microsoft.com/office/drawing/2014/main" xmlns="" id="{37DAC0D9-CFDB-ACF8-E83A-A93484E45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54" y="804519"/>
            <a:ext cx="10778846" cy="56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8364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0CEAF28-717C-D243-E209-BE78DC4E46B9}"/>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Domain constraints can be defined as the definition of a valid set of values for an attribute.</a:t>
            </a:r>
          </a:p>
          <a:p>
            <a:pPr algn="just">
              <a:buFont typeface="Arial" panose="020B0604020202020204" pitchFamily="34" charset="0"/>
              <a:buChar char="•"/>
            </a:pPr>
            <a:r>
              <a:rPr lang="en-US" b="0" i="0" dirty="0">
                <a:solidFill>
                  <a:srgbClr val="000000"/>
                </a:solidFill>
                <a:effectLst/>
                <a:latin typeface="inter-regular"/>
              </a:rPr>
              <a:t>The data type of domain includes string, character, integer, time, date, currency, etc. The value of the attribute must be available in the corresponding domain.</a:t>
            </a:r>
          </a:p>
          <a:p>
            <a:endParaRPr lang="en-IN" dirty="0"/>
          </a:p>
        </p:txBody>
      </p:sp>
      <p:sp>
        <p:nvSpPr>
          <p:cNvPr id="5" name="TextBox 4">
            <a:extLst>
              <a:ext uri="{FF2B5EF4-FFF2-40B4-BE49-F238E27FC236}">
                <a16:creationId xmlns:a16="http://schemas.microsoft.com/office/drawing/2014/main" xmlns="" id="{C9D4401F-CB64-6D06-930C-E781E62C5059}"/>
              </a:ext>
            </a:extLst>
          </p:cNvPr>
          <p:cNvSpPr txBox="1"/>
          <p:nvPr/>
        </p:nvSpPr>
        <p:spPr>
          <a:xfrm>
            <a:off x="1592037" y="1022323"/>
            <a:ext cx="6101442" cy="523220"/>
          </a:xfrm>
          <a:prstGeom prst="rect">
            <a:avLst/>
          </a:prstGeom>
          <a:noFill/>
        </p:spPr>
        <p:txBody>
          <a:bodyPr wrap="square">
            <a:spAutoFit/>
          </a:bodyPr>
          <a:lstStyle/>
          <a:p>
            <a:r>
              <a:rPr lang="en-US" sz="2800" b="1" i="0" dirty="0">
                <a:solidFill>
                  <a:srgbClr val="000000"/>
                </a:solidFill>
                <a:effectLst/>
                <a:latin typeface="inter-regular"/>
              </a:rPr>
              <a:t>Domain constraints </a:t>
            </a:r>
            <a:endParaRPr lang="en-IN" sz="2800" b="1" dirty="0"/>
          </a:p>
        </p:txBody>
      </p:sp>
      <p:pic>
        <p:nvPicPr>
          <p:cNvPr id="2050" name="Picture 2" descr="DBMS Integrity Constraints">
            <a:extLst>
              <a:ext uri="{FF2B5EF4-FFF2-40B4-BE49-F238E27FC236}">
                <a16:creationId xmlns:a16="http://schemas.microsoft.com/office/drawing/2014/main" xmlns="" id="{5E9136A5-E8CB-442C-DA7E-CD357953E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3899381"/>
            <a:ext cx="590550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6970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E00D682-7828-82A2-095E-979F4AFC981F}"/>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The entity integrity constraint states that primary key value can't be null.</a:t>
            </a:r>
          </a:p>
          <a:p>
            <a:pPr algn="just">
              <a:buFont typeface="Arial" panose="020B0604020202020204" pitchFamily="34" charset="0"/>
              <a:buChar char="•"/>
            </a:pPr>
            <a:r>
              <a:rPr lang="en-US" b="0" i="0" dirty="0">
                <a:solidFill>
                  <a:srgbClr val="000000"/>
                </a:solidFill>
                <a:effectLst/>
                <a:latin typeface="inter-regular"/>
              </a:rPr>
              <a:t>This is because the primary key value is used to identify individual rows in relation and if the primary key has a null value, then we can't identify those rows.</a:t>
            </a:r>
          </a:p>
          <a:p>
            <a:pPr algn="just">
              <a:buFont typeface="Arial" panose="020B0604020202020204" pitchFamily="34" charset="0"/>
              <a:buChar char="•"/>
            </a:pPr>
            <a:r>
              <a:rPr lang="en-US" b="0" i="0" dirty="0">
                <a:solidFill>
                  <a:srgbClr val="000000"/>
                </a:solidFill>
                <a:effectLst/>
                <a:latin typeface="inter-regular"/>
              </a:rPr>
              <a:t>A table can contain a null value other than the primary key field.</a:t>
            </a:r>
          </a:p>
          <a:p>
            <a:endParaRPr lang="en-IN" dirty="0"/>
          </a:p>
        </p:txBody>
      </p:sp>
      <p:sp>
        <p:nvSpPr>
          <p:cNvPr id="9" name="TextBox 8">
            <a:extLst>
              <a:ext uri="{FF2B5EF4-FFF2-40B4-BE49-F238E27FC236}">
                <a16:creationId xmlns:a16="http://schemas.microsoft.com/office/drawing/2014/main" xmlns="" id="{44967224-ED9D-2381-7FD9-02324CCD15C1}"/>
              </a:ext>
            </a:extLst>
          </p:cNvPr>
          <p:cNvSpPr txBox="1"/>
          <p:nvPr/>
        </p:nvSpPr>
        <p:spPr>
          <a:xfrm>
            <a:off x="1451579" y="920234"/>
            <a:ext cx="6101442" cy="461665"/>
          </a:xfrm>
          <a:prstGeom prst="rect">
            <a:avLst/>
          </a:prstGeom>
          <a:noFill/>
        </p:spPr>
        <p:txBody>
          <a:bodyPr wrap="square">
            <a:spAutoFit/>
          </a:bodyPr>
          <a:lstStyle/>
          <a:p>
            <a:r>
              <a:rPr lang="en-IN" sz="2400" b="1" dirty="0"/>
              <a:t>Entity integrity constraints</a:t>
            </a:r>
          </a:p>
        </p:txBody>
      </p:sp>
      <p:pic>
        <p:nvPicPr>
          <p:cNvPr id="3076" name="Picture 4" descr="DBMS Integrity Constraints">
            <a:extLst>
              <a:ext uri="{FF2B5EF4-FFF2-40B4-BE49-F238E27FC236}">
                <a16:creationId xmlns:a16="http://schemas.microsoft.com/office/drawing/2014/main" xmlns="" id="{772C2553-E898-4C81-BB03-7C719DE43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9617" y="4118052"/>
            <a:ext cx="4772025"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9049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AA956A4-00AF-AC60-9D2F-C017EA11C746}"/>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A referential integrity constraint is specified between two tables.</a:t>
            </a:r>
          </a:p>
          <a:p>
            <a:pPr algn="just">
              <a:buFont typeface="Arial" panose="020B0604020202020204" pitchFamily="34" charset="0"/>
              <a:buChar char="•"/>
            </a:pPr>
            <a:r>
              <a:rPr lang="en-US" b="0" i="0" dirty="0">
                <a:solidFill>
                  <a:srgbClr val="000000"/>
                </a:solidFill>
                <a:effectLst/>
                <a:latin typeface="inter-regular"/>
              </a:rPr>
              <a:t>In the Referential integrity constraints, if a foreign key in Table 1 refers to the Primary Key of Table 2, then every value of the Foreign Key in Table 1 must be null or be available in Table 2.</a:t>
            </a:r>
          </a:p>
          <a:p>
            <a:endParaRPr lang="en-IN" dirty="0"/>
          </a:p>
        </p:txBody>
      </p:sp>
      <p:sp>
        <p:nvSpPr>
          <p:cNvPr id="7" name="TextBox 6">
            <a:extLst>
              <a:ext uri="{FF2B5EF4-FFF2-40B4-BE49-F238E27FC236}">
                <a16:creationId xmlns:a16="http://schemas.microsoft.com/office/drawing/2014/main" xmlns="" id="{0EE0EFE6-3ABC-EEEB-E39A-F7CBB516B624}"/>
              </a:ext>
            </a:extLst>
          </p:cNvPr>
          <p:cNvSpPr txBox="1"/>
          <p:nvPr/>
        </p:nvSpPr>
        <p:spPr>
          <a:xfrm>
            <a:off x="1527779" y="1191600"/>
            <a:ext cx="6101442" cy="400110"/>
          </a:xfrm>
          <a:prstGeom prst="rect">
            <a:avLst/>
          </a:prstGeom>
          <a:noFill/>
        </p:spPr>
        <p:txBody>
          <a:bodyPr wrap="square">
            <a:spAutoFit/>
          </a:bodyPr>
          <a:lstStyle/>
          <a:p>
            <a:r>
              <a:rPr lang="en-IN" sz="2000" b="1" dirty="0"/>
              <a:t>Referential Integrity Constraints</a:t>
            </a:r>
          </a:p>
        </p:txBody>
      </p:sp>
      <p:pic>
        <p:nvPicPr>
          <p:cNvPr id="4098" name="Picture 2" descr="DBMS Integrity Constraints">
            <a:extLst>
              <a:ext uri="{FF2B5EF4-FFF2-40B4-BE49-F238E27FC236}">
                <a16:creationId xmlns:a16="http://schemas.microsoft.com/office/drawing/2014/main" xmlns="" id="{E75186EE-6035-0D2E-C7F6-52114F64E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032" y="3429000"/>
            <a:ext cx="4151539" cy="3166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3465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DF1D735-5479-9107-1685-998745FEE8BE}"/>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Keys are the entity set that is used to identify an entity within its entity set uniquely.</a:t>
            </a:r>
          </a:p>
          <a:p>
            <a:pPr algn="just">
              <a:buFont typeface="Arial" panose="020B0604020202020204" pitchFamily="34" charset="0"/>
              <a:buChar char="•"/>
            </a:pPr>
            <a:r>
              <a:rPr lang="en-US" b="0" i="0" dirty="0">
                <a:solidFill>
                  <a:srgbClr val="000000"/>
                </a:solidFill>
                <a:effectLst/>
                <a:latin typeface="inter-regular"/>
              </a:rPr>
              <a:t>An entity set can have multiple keys, but out of which one key will be the primary key. A primary key can contain a unique and null value in the relational table.</a:t>
            </a:r>
          </a:p>
          <a:p>
            <a:endParaRPr lang="en-IN" dirty="0"/>
          </a:p>
        </p:txBody>
      </p:sp>
      <p:sp>
        <p:nvSpPr>
          <p:cNvPr id="7" name="TextBox 6">
            <a:extLst>
              <a:ext uri="{FF2B5EF4-FFF2-40B4-BE49-F238E27FC236}">
                <a16:creationId xmlns:a16="http://schemas.microsoft.com/office/drawing/2014/main" xmlns="" id="{5AC48349-18C5-1033-2C47-8C29BF70E982}"/>
              </a:ext>
            </a:extLst>
          </p:cNvPr>
          <p:cNvSpPr txBox="1"/>
          <p:nvPr/>
        </p:nvSpPr>
        <p:spPr>
          <a:xfrm>
            <a:off x="1559380" y="929990"/>
            <a:ext cx="6101442" cy="461665"/>
          </a:xfrm>
          <a:prstGeom prst="rect">
            <a:avLst/>
          </a:prstGeom>
          <a:noFill/>
        </p:spPr>
        <p:txBody>
          <a:bodyPr wrap="square">
            <a:spAutoFit/>
          </a:bodyPr>
          <a:lstStyle/>
          <a:p>
            <a:r>
              <a:rPr lang="en-IN" sz="2400" b="1" dirty="0"/>
              <a:t>Key constraints</a:t>
            </a:r>
          </a:p>
        </p:txBody>
      </p:sp>
      <p:pic>
        <p:nvPicPr>
          <p:cNvPr id="5124" name="Picture 4" descr="DBMS Integrity Constraints">
            <a:extLst>
              <a:ext uri="{FF2B5EF4-FFF2-40B4-BE49-F238E27FC236}">
                <a16:creationId xmlns:a16="http://schemas.microsoft.com/office/drawing/2014/main" xmlns="" id="{CE0C3BBA-7DAC-B345-7BB3-94FD6EDC8A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2503" y="3839256"/>
            <a:ext cx="4438650"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3711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C91E14-3C32-1225-2050-844E2F2914A6}"/>
              </a:ext>
            </a:extLst>
          </p:cNvPr>
          <p:cNvSpPr>
            <a:spLocks noGrp="1"/>
          </p:cNvSpPr>
          <p:nvPr>
            <p:ph type="title"/>
          </p:nvPr>
        </p:nvSpPr>
        <p:spPr/>
        <p:txBody>
          <a:bodyPr/>
          <a:lstStyle/>
          <a:p>
            <a:r>
              <a:rPr lang="en-US" dirty="0"/>
              <a:t>Enforce Integrity Constraints</a:t>
            </a:r>
            <a:br>
              <a:rPr lang="en-US" dirty="0"/>
            </a:br>
            <a:endParaRPr lang="en-IN" dirty="0"/>
          </a:p>
        </p:txBody>
      </p:sp>
      <p:sp>
        <p:nvSpPr>
          <p:cNvPr id="3" name="Content Placeholder 2">
            <a:extLst>
              <a:ext uri="{FF2B5EF4-FFF2-40B4-BE49-F238E27FC236}">
                <a16:creationId xmlns:a16="http://schemas.microsoft.com/office/drawing/2014/main" xmlns="" id="{64A34C0F-7AF0-89E0-E666-0F5D20408EB1}"/>
              </a:ext>
            </a:extLst>
          </p:cNvPr>
          <p:cNvSpPr>
            <a:spLocks noGrp="1"/>
          </p:cNvSpPr>
          <p:nvPr>
            <p:ph idx="1"/>
          </p:nvPr>
        </p:nvSpPr>
        <p:spPr>
          <a:xfrm>
            <a:off x="424542" y="1959429"/>
            <a:ext cx="11342916" cy="3702859"/>
          </a:xfrm>
        </p:spPr>
        <p:txBody>
          <a:bodyPr>
            <a:noAutofit/>
          </a:bodyPr>
          <a:lstStyle/>
          <a:p>
            <a:pPr marL="0" indent="0" algn="just">
              <a:buNone/>
            </a:pPr>
            <a:r>
              <a:rPr lang="en-US" sz="1600" dirty="0"/>
              <a:t>There are several ways to enforce integrity constraints in a DBMS:</a:t>
            </a:r>
          </a:p>
          <a:p>
            <a:pPr marL="0" indent="0" algn="just">
              <a:buNone/>
            </a:pPr>
            <a:r>
              <a:rPr lang="en-US" sz="1600" b="1" dirty="0"/>
              <a:t>Declarative referential integrity:  </a:t>
            </a:r>
            <a:r>
              <a:rPr lang="en-US" sz="1600" dirty="0"/>
              <a:t>This method involves specifying the integrity constraints at the time of database design and allowing the DBMS to enforce them automatically.</a:t>
            </a:r>
          </a:p>
          <a:p>
            <a:pPr marL="0" indent="0" algn="just">
              <a:buNone/>
            </a:pPr>
            <a:r>
              <a:rPr lang="en-US" sz="1600" b="1" dirty="0"/>
              <a:t>Triggers:  </a:t>
            </a:r>
            <a:r>
              <a:rPr lang="en-US" sz="1600" dirty="0"/>
              <a:t>A trigger is a special type of stored procedure that is executed automatically by the DBMS when certain events occur (such as inserting, updating, or deleting data). Triggers can be used to enforce integrity constraints by checking for and rejecting invalid data.</a:t>
            </a:r>
          </a:p>
          <a:p>
            <a:pPr marL="0" indent="0" algn="just">
              <a:buNone/>
            </a:pPr>
            <a:r>
              <a:rPr lang="en-US" sz="1600" b="1" dirty="0"/>
              <a:t>Stored procedures: </a:t>
            </a:r>
            <a:r>
              <a:rPr lang="en-US" sz="1600" dirty="0"/>
              <a:t> A stored procedure is a pre-defined set of SQL statements that can be executed as a single unit. Stored procedures can be used to enforce integrity constraints by performing checks on the data before it is inserted, updated, or deleted.</a:t>
            </a:r>
          </a:p>
          <a:p>
            <a:pPr marL="0" indent="0" algn="just">
              <a:buNone/>
            </a:pPr>
            <a:r>
              <a:rPr lang="en-US" sz="1600" b="1" dirty="0"/>
              <a:t>Application-level code: </a:t>
            </a:r>
            <a:r>
              <a:rPr lang="en-US" sz="1600" dirty="0"/>
              <a:t>Integrity constraints can also be enforced at the application level by writing code to check for and reject invalid data before it is entered into the database.</a:t>
            </a:r>
          </a:p>
          <a:p>
            <a:pPr marL="0" indent="0" algn="just">
              <a:buNone/>
            </a:pPr>
            <a:r>
              <a:rPr lang="en-US" sz="1600" dirty="0"/>
              <a:t>It is important to carefully consider the appropriate method for enforcing integrity constraints in a DBMS in order to ensure the accuracy and consistency of the data.</a:t>
            </a:r>
            <a:endParaRPr lang="en-IN" sz="1600" dirty="0"/>
          </a:p>
        </p:txBody>
      </p:sp>
    </p:spTree>
    <p:extLst>
      <p:ext uri="{BB962C8B-B14F-4D97-AF65-F5344CB8AC3E}">
        <p14:creationId xmlns:p14="http://schemas.microsoft.com/office/powerpoint/2010/main" val="39772224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914A0-3428-1A79-92E5-410B748E9358}"/>
              </a:ext>
            </a:extLst>
          </p:cNvPr>
          <p:cNvSpPr>
            <a:spLocks noGrp="1"/>
          </p:cNvSpPr>
          <p:nvPr>
            <p:ph type="title"/>
          </p:nvPr>
        </p:nvSpPr>
        <p:spPr/>
        <p:txBody>
          <a:bodyPr/>
          <a:lstStyle/>
          <a:p>
            <a:r>
              <a:rPr lang="en-IN" dirty="0"/>
              <a:t>Logical Database</a:t>
            </a:r>
            <a:br>
              <a:rPr lang="en-IN" dirty="0"/>
            </a:br>
            <a:endParaRPr lang="en-IN" dirty="0"/>
          </a:p>
        </p:txBody>
      </p:sp>
      <p:sp>
        <p:nvSpPr>
          <p:cNvPr id="3" name="Content Placeholder 2">
            <a:extLst>
              <a:ext uri="{FF2B5EF4-FFF2-40B4-BE49-F238E27FC236}">
                <a16:creationId xmlns:a16="http://schemas.microsoft.com/office/drawing/2014/main" xmlns="" id="{77C1B4D0-EFC0-F369-A410-5329DFAE1024}"/>
              </a:ext>
            </a:extLst>
          </p:cNvPr>
          <p:cNvSpPr>
            <a:spLocks noGrp="1"/>
          </p:cNvSpPr>
          <p:nvPr>
            <p:ph idx="1"/>
          </p:nvPr>
        </p:nvSpPr>
        <p:spPr/>
        <p:txBody>
          <a:bodyPr/>
          <a:lstStyle/>
          <a:p>
            <a:pPr marL="0" indent="0" algn="just">
              <a:buNone/>
            </a:pPr>
            <a:r>
              <a:rPr lang="en-US" dirty="0"/>
              <a:t>A Logical Database is a special type of ABAP (Advance Business Application and Programming) that is used to retrieve data from various tables and the data is interrelated to each other. Also, a logical database provides a read-only view of Data.</a:t>
            </a:r>
            <a:endParaRPr lang="en-IN" dirty="0"/>
          </a:p>
        </p:txBody>
      </p:sp>
      <p:sp>
        <p:nvSpPr>
          <p:cNvPr id="9" name="TextBox 8">
            <a:extLst>
              <a:ext uri="{FF2B5EF4-FFF2-40B4-BE49-F238E27FC236}">
                <a16:creationId xmlns:a16="http://schemas.microsoft.com/office/drawing/2014/main" xmlns="" id="{F8624FD5-87D9-E659-AA26-29B7F16DA42A}"/>
              </a:ext>
            </a:extLst>
          </p:cNvPr>
          <p:cNvSpPr txBox="1"/>
          <p:nvPr/>
        </p:nvSpPr>
        <p:spPr>
          <a:xfrm>
            <a:off x="1451580" y="3234221"/>
            <a:ext cx="9603274" cy="2121030"/>
          </a:xfrm>
          <a:prstGeom prst="rect">
            <a:avLst/>
          </a:prstGeom>
          <a:noFill/>
        </p:spPr>
        <p:txBody>
          <a:bodyPr wrap="square">
            <a:spAutoFit/>
          </a:bodyPr>
          <a:lstStyle/>
          <a:p>
            <a:pPr algn="just">
              <a:lnSpc>
                <a:spcPct val="150000"/>
              </a:lnSpc>
            </a:pPr>
            <a:r>
              <a:rPr lang="en-US" dirty="0"/>
              <a:t>A Logical database uses only a hierarchical structure of tables i.e. Data is organized in a Tree-like Structure and the data is stored as records that are connected to each other through edges (Links). Logical Database contains Open SQL statements which are used to read data from the database. The logical database reads the program, stores them in the program if required, and passes them line by line to the application program. </a:t>
            </a:r>
            <a:endParaRPr lang="en-IN" dirty="0"/>
          </a:p>
        </p:txBody>
      </p:sp>
    </p:spTree>
    <p:extLst>
      <p:ext uri="{BB962C8B-B14F-4D97-AF65-F5344CB8AC3E}">
        <p14:creationId xmlns:p14="http://schemas.microsoft.com/office/powerpoint/2010/main" val="14856824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ogical Database">
            <a:extLst>
              <a:ext uri="{FF2B5EF4-FFF2-40B4-BE49-F238E27FC236}">
                <a16:creationId xmlns:a16="http://schemas.microsoft.com/office/drawing/2014/main" xmlns="" id="{31FE9600-2FE5-8FE0-2238-7E5E27180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828" y="493619"/>
            <a:ext cx="7671707" cy="5544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927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863EBD-DE6A-29BC-BD7C-19083EEAE690}"/>
              </a:ext>
            </a:extLst>
          </p:cNvPr>
          <p:cNvSpPr>
            <a:spLocks noGrp="1"/>
          </p:cNvSpPr>
          <p:nvPr>
            <p:ph type="title"/>
          </p:nvPr>
        </p:nvSpPr>
        <p:spPr/>
        <p:txBody>
          <a:bodyPr/>
          <a:lstStyle/>
          <a:p>
            <a:r>
              <a:rPr lang="en-US" dirty="0"/>
              <a:t>Features of Logical Database:</a:t>
            </a:r>
            <a:br>
              <a:rPr lang="en-US" dirty="0"/>
            </a:br>
            <a:endParaRPr lang="en-IN" dirty="0"/>
          </a:p>
        </p:txBody>
      </p:sp>
      <p:sp>
        <p:nvSpPr>
          <p:cNvPr id="3" name="Content Placeholder 2">
            <a:extLst>
              <a:ext uri="{FF2B5EF4-FFF2-40B4-BE49-F238E27FC236}">
                <a16:creationId xmlns:a16="http://schemas.microsoft.com/office/drawing/2014/main" xmlns="" id="{7B74E708-B621-A1B2-3EC7-3D03B67EE612}"/>
              </a:ext>
            </a:extLst>
          </p:cNvPr>
          <p:cNvSpPr>
            <a:spLocks noGrp="1"/>
          </p:cNvSpPr>
          <p:nvPr>
            <p:ph idx="1"/>
          </p:nvPr>
        </p:nvSpPr>
        <p:spPr/>
        <p:txBody>
          <a:bodyPr/>
          <a:lstStyle/>
          <a:p>
            <a:r>
              <a:rPr lang="en-US" dirty="0"/>
              <a:t>In this section, let us look at some features of a logical database:</a:t>
            </a:r>
          </a:p>
          <a:p>
            <a:endParaRPr lang="en-US" dirty="0"/>
          </a:p>
          <a:p>
            <a:r>
              <a:rPr lang="en-US" dirty="0"/>
              <a:t>We can select only that type of Data that we need.</a:t>
            </a:r>
          </a:p>
          <a:p>
            <a:r>
              <a:rPr lang="en-US" dirty="0"/>
              <a:t>Data Authentication is done in order to maintain security.</a:t>
            </a:r>
          </a:p>
          <a:p>
            <a:r>
              <a:rPr lang="en-US" dirty="0"/>
              <a:t>Logical Database uses hierarchical Structure due to this data integrity is maintained.</a:t>
            </a:r>
            <a:endParaRPr lang="en-IN" dirty="0"/>
          </a:p>
        </p:txBody>
      </p:sp>
    </p:spTree>
    <p:extLst>
      <p:ext uri="{BB962C8B-B14F-4D97-AF65-F5344CB8AC3E}">
        <p14:creationId xmlns:p14="http://schemas.microsoft.com/office/powerpoint/2010/main" val="16500681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C0AE105-D04C-18D5-FD95-3CF77BAEC194}"/>
              </a:ext>
            </a:extLst>
          </p:cNvPr>
          <p:cNvSpPr>
            <a:spLocks noGrp="1"/>
          </p:cNvSpPr>
          <p:nvPr>
            <p:ph idx="1"/>
          </p:nvPr>
        </p:nvSpPr>
        <p:spPr>
          <a:xfrm>
            <a:off x="1429807" y="1906874"/>
            <a:ext cx="9603275" cy="3450613"/>
          </a:xfrm>
        </p:spPr>
        <p:txBody>
          <a:bodyPr>
            <a:normAutofit fontScale="62500" lnSpcReduction="20000"/>
          </a:bodyPr>
          <a:lstStyle/>
          <a:p>
            <a:pPr marL="0" indent="0" algn="l" fontAlgn="base">
              <a:buNone/>
            </a:pPr>
            <a:r>
              <a:rPr lang="en-US" b="0" i="0" dirty="0">
                <a:solidFill>
                  <a:srgbClr val="273239"/>
                </a:solidFill>
                <a:effectLst/>
                <a:latin typeface="Nunito" pitchFamily="2" charset="0"/>
              </a:rPr>
              <a:t/>
            </a:r>
            <a:br>
              <a:rPr lang="en-US" b="0" i="0" dirty="0">
                <a:solidFill>
                  <a:srgbClr val="273239"/>
                </a:solidFill>
                <a:effectLst/>
                <a:latin typeface="Nunito" pitchFamily="2" charset="0"/>
              </a:rPr>
            </a:br>
            <a:r>
              <a:rPr lang="en-US" sz="2900" b="0" i="0" dirty="0">
                <a:solidFill>
                  <a:srgbClr val="273239"/>
                </a:solidFill>
                <a:effectLst/>
                <a:latin typeface="Nunito" pitchFamily="2" charset="0"/>
              </a:rPr>
              <a:t>Logical Database provides a particular view of Logical Database tables. A logical database is appropriately used when the structure of the Database is Large. It is convenient to use flow </a:t>
            </a:r>
            <a:r>
              <a:rPr lang="en-US" sz="2900" b="0" i="0" dirty="0" err="1">
                <a:solidFill>
                  <a:srgbClr val="273239"/>
                </a:solidFill>
                <a:effectLst/>
                <a:latin typeface="Nunito" pitchFamily="2" charset="0"/>
              </a:rPr>
              <a:t>i</a:t>
            </a:r>
            <a:r>
              <a:rPr lang="en-US" sz="2900" b="0" i="0" dirty="0">
                <a:solidFill>
                  <a:srgbClr val="273239"/>
                </a:solidFill>
                <a:effectLst/>
                <a:latin typeface="Nunito" pitchFamily="2" charset="0"/>
              </a:rPr>
              <a:t>. e.</a:t>
            </a:r>
          </a:p>
          <a:p>
            <a:pPr algn="l" fontAlgn="base">
              <a:buFont typeface="Arial" panose="020B0604020202020204" pitchFamily="34" charset="0"/>
              <a:buChar char="•"/>
            </a:pPr>
            <a:r>
              <a:rPr lang="en-US" sz="2900" b="0" i="0" dirty="0">
                <a:solidFill>
                  <a:srgbClr val="273239"/>
                </a:solidFill>
                <a:effectLst/>
                <a:latin typeface="Nunito" pitchFamily="2" charset="0"/>
              </a:rPr>
              <a:t>SELECT</a:t>
            </a:r>
          </a:p>
          <a:p>
            <a:pPr algn="l" fontAlgn="base">
              <a:buFont typeface="Arial" panose="020B0604020202020204" pitchFamily="34" charset="0"/>
              <a:buChar char="•"/>
            </a:pPr>
            <a:r>
              <a:rPr lang="en-US" sz="2900" b="0" i="0" dirty="0">
                <a:solidFill>
                  <a:srgbClr val="273239"/>
                </a:solidFill>
                <a:effectLst/>
                <a:latin typeface="Nunito" pitchFamily="2" charset="0"/>
              </a:rPr>
              <a:t>READ</a:t>
            </a:r>
          </a:p>
          <a:p>
            <a:pPr algn="l" fontAlgn="base">
              <a:buFont typeface="Arial" panose="020B0604020202020204" pitchFamily="34" charset="0"/>
              <a:buChar char="•"/>
            </a:pPr>
            <a:r>
              <a:rPr lang="en-US" sz="2900" b="0" i="0" dirty="0">
                <a:solidFill>
                  <a:srgbClr val="273239"/>
                </a:solidFill>
                <a:effectLst/>
                <a:latin typeface="Nunito" pitchFamily="2" charset="0"/>
              </a:rPr>
              <a:t>PROCESS</a:t>
            </a:r>
          </a:p>
          <a:p>
            <a:pPr algn="l" fontAlgn="base">
              <a:buFont typeface="Arial" panose="020B0604020202020204" pitchFamily="34" charset="0"/>
              <a:buChar char="•"/>
            </a:pPr>
            <a:r>
              <a:rPr lang="en-US" sz="2900" b="0" i="0" dirty="0">
                <a:solidFill>
                  <a:srgbClr val="273239"/>
                </a:solidFill>
                <a:effectLst/>
                <a:latin typeface="Nunito" pitchFamily="2" charset="0"/>
              </a:rPr>
              <a:t>DISPLAY</a:t>
            </a:r>
          </a:p>
          <a:p>
            <a:pPr marL="0" indent="0" algn="l" fontAlgn="base">
              <a:buNone/>
            </a:pPr>
            <a:r>
              <a:rPr lang="en-US" sz="2900" b="0" i="0" dirty="0">
                <a:solidFill>
                  <a:srgbClr val="273239"/>
                </a:solidFill>
                <a:effectLst/>
                <a:latin typeface="Nunito" pitchFamily="2" charset="0"/>
              </a:rPr>
              <a:t>In order to work with databases efficiently. The data of the Logical Database is hierarchical in nature. The tables are linked to each other in a Foreign Key relationship.</a:t>
            </a:r>
          </a:p>
          <a:p>
            <a:endParaRPr lang="en-IN" dirty="0"/>
          </a:p>
        </p:txBody>
      </p:sp>
      <p:sp>
        <p:nvSpPr>
          <p:cNvPr id="5" name="TextBox 4">
            <a:extLst>
              <a:ext uri="{FF2B5EF4-FFF2-40B4-BE49-F238E27FC236}">
                <a16:creationId xmlns:a16="http://schemas.microsoft.com/office/drawing/2014/main" xmlns="" id="{8FF8FF46-B654-4391-432B-FD2DDC368E77}"/>
              </a:ext>
            </a:extLst>
          </p:cNvPr>
          <p:cNvSpPr txBox="1"/>
          <p:nvPr/>
        </p:nvSpPr>
        <p:spPr>
          <a:xfrm>
            <a:off x="1429807" y="702519"/>
            <a:ext cx="6101442" cy="523220"/>
          </a:xfrm>
          <a:prstGeom prst="rect">
            <a:avLst/>
          </a:prstGeom>
          <a:noFill/>
        </p:spPr>
        <p:txBody>
          <a:bodyPr wrap="square">
            <a:spAutoFit/>
          </a:bodyPr>
          <a:lstStyle/>
          <a:p>
            <a:pPr marL="0" indent="0" algn="l" fontAlgn="base">
              <a:buNone/>
            </a:pPr>
            <a:r>
              <a:rPr lang="en-US" sz="2800" b="1" i="0" dirty="0">
                <a:solidFill>
                  <a:srgbClr val="273239"/>
                </a:solidFill>
                <a:effectLst/>
                <a:latin typeface="Nunito" pitchFamily="2" charset="0"/>
              </a:rPr>
              <a:t>Data View Of Logical Database:</a:t>
            </a:r>
          </a:p>
        </p:txBody>
      </p:sp>
    </p:spTree>
    <p:extLst>
      <p:ext uri="{BB962C8B-B14F-4D97-AF65-F5344CB8AC3E}">
        <p14:creationId xmlns:p14="http://schemas.microsoft.com/office/powerpoint/2010/main" val="14597066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ata View of logical database">
            <a:extLst>
              <a:ext uri="{FF2B5EF4-FFF2-40B4-BE49-F238E27FC236}">
                <a16:creationId xmlns:a16="http://schemas.microsoft.com/office/drawing/2014/main" xmlns="" id="{8C2805CF-1458-90E7-0EA2-5FD108EF3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426" y="653143"/>
            <a:ext cx="10168196" cy="4637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1322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44BD5B-E927-EDF2-FCBA-B21E011E9871}"/>
              </a:ext>
            </a:extLst>
          </p:cNvPr>
          <p:cNvSpPr>
            <a:spLocks noGrp="1"/>
          </p:cNvSpPr>
          <p:nvPr>
            <p:ph type="title"/>
          </p:nvPr>
        </p:nvSpPr>
        <p:spPr/>
        <p:txBody>
          <a:bodyPr/>
          <a:lstStyle/>
          <a:p>
            <a:r>
              <a:rPr lang="en-US" b="1" i="0" dirty="0">
                <a:solidFill>
                  <a:srgbClr val="273239"/>
                </a:solidFill>
                <a:effectLst/>
                <a:latin typeface="Nunito" pitchFamily="2" charset="0"/>
              </a:rPr>
              <a:t>Advantages Of Logical Database:</a:t>
            </a:r>
            <a:endParaRPr lang="en-IN" dirty="0"/>
          </a:p>
        </p:txBody>
      </p:sp>
      <p:sp>
        <p:nvSpPr>
          <p:cNvPr id="3" name="Content Placeholder 2">
            <a:extLst>
              <a:ext uri="{FF2B5EF4-FFF2-40B4-BE49-F238E27FC236}">
                <a16:creationId xmlns:a16="http://schemas.microsoft.com/office/drawing/2014/main" xmlns="" id="{9698C472-16EC-02BB-AAFC-9623E56E95CC}"/>
              </a:ext>
            </a:extLst>
          </p:cNvPr>
          <p:cNvSpPr>
            <a:spLocks noGrp="1"/>
          </p:cNvSpPr>
          <p:nvPr>
            <p:ph idx="1"/>
          </p:nvPr>
        </p:nvSpPr>
        <p:spPr>
          <a:xfrm>
            <a:off x="1294362" y="1553634"/>
            <a:ext cx="9603275" cy="3450613"/>
          </a:xfrm>
        </p:spPr>
        <p:txBody>
          <a:bodyPr>
            <a:noAutofit/>
          </a:bodyPr>
          <a:lstStyle/>
          <a:p>
            <a:pPr marL="0" indent="0" algn="l" fontAlgn="base">
              <a:buNone/>
            </a:pPr>
            <a:r>
              <a:rPr lang="en-US" sz="1600" b="0" i="0" dirty="0">
                <a:solidFill>
                  <a:srgbClr val="273239"/>
                </a:solidFill>
                <a:effectLst/>
                <a:latin typeface="Nunito" pitchFamily="2" charset="0"/>
              </a:rPr>
              <a:t/>
            </a:r>
            <a:br>
              <a:rPr lang="en-US" sz="1600" b="0" i="0" dirty="0">
                <a:solidFill>
                  <a:srgbClr val="273239"/>
                </a:solidFill>
                <a:effectLst/>
                <a:latin typeface="Nunito" pitchFamily="2" charset="0"/>
              </a:rPr>
            </a:br>
            <a:r>
              <a:rPr lang="en-US" sz="1600" b="0" i="0" dirty="0">
                <a:solidFill>
                  <a:srgbClr val="273239"/>
                </a:solidFill>
                <a:effectLst/>
                <a:latin typeface="Nunito" pitchFamily="2" charset="0"/>
              </a:rPr>
              <a:t>Let us look at some advantages of the logical database:</a:t>
            </a:r>
          </a:p>
          <a:p>
            <a:pPr marL="0" indent="0" algn="l" fontAlgn="base">
              <a:buNone/>
            </a:pPr>
            <a:endParaRPr lang="en-US" sz="1600" b="0" i="0" dirty="0">
              <a:solidFill>
                <a:srgbClr val="273239"/>
              </a:solidFill>
              <a:effectLst/>
              <a:latin typeface="Nunito" pitchFamily="2" charset="0"/>
            </a:endParaRPr>
          </a:p>
          <a:p>
            <a:pPr algn="l" fontAlgn="base">
              <a:buFont typeface="Arial" panose="020B0604020202020204" pitchFamily="34" charset="0"/>
              <a:buChar char="•"/>
            </a:pPr>
            <a:r>
              <a:rPr lang="en-US" sz="1600" b="0" i="0" dirty="0">
                <a:solidFill>
                  <a:srgbClr val="273239"/>
                </a:solidFill>
                <a:effectLst/>
                <a:latin typeface="Nunito" pitchFamily="2" charset="0"/>
              </a:rPr>
              <a:t>In a Logical database, we can select meaningful data from a large amount of data.</a:t>
            </a:r>
          </a:p>
          <a:p>
            <a:pPr algn="l" fontAlgn="base">
              <a:buFont typeface="Arial" panose="020B0604020202020204" pitchFamily="34" charset="0"/>
              <a:buChar char="•"/>
            </a:pPr>
            <a:r>
              <a:rPr lang="en-US" sz="1600" b="0" i="0" dirty="0">
                <a:solidFill>
                  <a:srgbClr val="273239"/>
                </a:solidFill>
                <a:effectLst/>
                <a:latin typeface="Nunito" pitchFamily="2" charset="0"/>
              </a:rPr>
              <a:t>Logical Database consists of Central Authorization which checks for Database Accesses is Authenticated or not.</a:t>
            </a:r>
          </a:p>
          <a:p>
            <a:pPr algn="l" fontAlgn="base">
              <a:buFont typeface="Arial" panose="020B0604020202020204" pitchFamily="34" charset="0"/>
              <a:buChar char="•"/>
            </a:pPr>
            <a:r>
              <a:rPr lang="en-US" sz="1600" b="0" i="0" dirty="0">
                <a:solidFill>
                  <a:srgbClr val="273239"/>
                </a:solidFill>
                <a:effectLst/>
                <a:latin typeface="Nunito" pitchFamily="2" charset="0"/>
              </a:rPr>
              <a:t>In this Coding, the part is less required to retrieve data from the database as compared to Other Databases.</a:t>
            </a:r>
          </a:p>
          <a:p>
            <a:pPr algn="l" fontAlgn="base">
              <a:buFont typeface="Arial" panose="020B0604020202020204" pitchFamily="34" charset="0"/>
              <a:buChar char="•"/>
            </a:pPr>
            <a:r>
              <a:rPr lang="en-US" sz="1600" b="0" i="0" dirty="0">
                <a:solidFill>
                  <a:srgbClr val="273239"/>
                </a:solidFill>
                <a:effectLst/>
                <a:latin typeface="Nunito" pitchFamily="2" charset="0"/>
              </a:rPr>
              <a:t>Access performance of reading data from the hierarchical structure of the Database is good.</a:t>
            </a:r>
          </a:p>
          <a:p>
            <a:pPr algn="l" fontAlgn="base">
              <a:buFont typeface="Arial" panose="020B0604020202020204" pitchFamily="34" charset="0"/>
              <a:buChar char="•"/>
            </a:pPr>
            <a:r>
              <a:rPr lang="en-US" sz="1600" b="0" i="0" dirty="0">
                <a:solidFill>
                  <a:srgbClr val="273239"/>
                </a:solidFill>
                <a:effectLst/>
                <a:latin typeface="Nunito" pitchFamily="2" charset="0"/>
              </a:rPr>
              <a:t>Easy to understand user interfaces.</a:t>
            </a:r>
          </a:p>
          <a:p>
            <a:pPr algn="l" fontAlgn="base">
              <a:buFont typeface="Arial" panose="020B0604020202020204" pitchFamily="34" charset="0"/>
              <a:buChar char="•"/>
            </a:pPr>
            <a:r>
              <a:rPr lang="en-US" sz="1600" b="0" i="0" dirty="0">
                <a:solidFill>
                  <a:srgbClr val="273239"/>
                </a:solidFill>
                <a:effectLst/>
                <a:latin typeface="Nunito" pitchFamily="2" charset="0"/>
              </a:rPr>
              <a:t>Logical Database firstly check functions which further check that user input is complete, correct, and plausible.</a:t>
            </a:r>
          </a:p>
          <a:p>
            <a:endParaRPr lang="en-IN" sz="1600" dirty="0"/>
          </a:p>
        </p:txBody>
      </p:sp>
    </p:spTree>
    <p:extLst>
      <p:ext uri="{BB962C8B-B14F-4D97-AF65-F5344CB8AC3E}">
        <p14:creationId xmlns:p14="http://schemas.microsoft.com/office/powerpoint/2010/main" val="31847067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F04C50-3725-607F-38E6-7F7966D22016}"/>
              </a:ext>
            </a:extLst>
          </p:cNvPr>
          <p:cNvSpPr>
            <a:spLocks noGrp="1"/>
          </p:cNvSpPr>
          <p:nvPr>
            <p:ph type="title"/>
          </p:nvPr>
        </p:nvSpPr>
        <p:spPr/>
        <p:txBody>
          <a:bodyPr/>
          <a:lstStyle/>
          <a:p>
            <a:r>
              <a:rPr lang="en-US" dirty="0"/>
              <a:t>views</a:t>
            </a:r>
            <a:endParaRPr lang="en-IN" dirty="0"/>
          </a:p>
        </p:txBody>
      </p:sp>
      <p:sp>
        <p:nvSpPr>
          <p:cNvPr id="3" name="Content Placeholder 2">
            <a:extLst>
              <a:ext uri="{FF2B5EF4-FFF2-40B4-BE49-F238E27FC236}">
                <a16:creationId xmlns:a16="http://schemas.microsoft.com/office/drawing/2014/main" xmlns="" id="{CE007E92-DD82-0E7D-BBC7-227CF50C1FA3}"/>
              </a:ext>
            </a:extLst>
          </p:cNvPr>
          <p:cNvSpPr>
            <a:spLocks noGrp="1"/>
          </p:cNvSpPr>
          <p:nvPr>
            <p:ph idx="1"/>
          </p:nvPr>
        </p:nvSpPr>
        <p:spPr/>
        <p:txBody>
          <a:bodyPr/>
          <a:lstStyle/>
          <a:p>
            <a:r>
              <a:rPr lang="en-US" b="0" i="0" dirty="0">
                <a:solidFill>
                  <a:srgbClr val="273239"/>
                </a:solidFill>
                <a:effectLst/>
                <a:latin typeface="Nunito" pitchFamily="2" charset="0"/>
              </a:rPr>
              <a:t>Views in SQL are kind of virtual tables. A view also has rows and columns as they are in a real table in the database. We can create a view by selecting fields from one or more tables present in the database. A View can either have all the rows of a table or specific rows based on certain condition.</a:t>
            </a:r>
            <a:endParaRPr lang="en-IN" dirty="0"/>
          </a:p>
        </p:txBody>
      </p:sp>
      <p:pic>
        <p:nvPicPr>
          <p:cNvPr id="4098" name="Picture 2" descr="Screenshot (57)">
            <a:extLst>
              <a:ext uri="{FF2B5EF4-FFF2-40B4-BE49-F238E27FC236}">
                <a16:creationId xmlns:a16="http://schemas.microsoft.com/office/drawing/2014/main" xmlns="" id="{2D731574-D081-4992-0F06-76BB8AB9C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3164" y="4256314"/>
            <a:ext cx="3675564" cy="15314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59DA9C69-9318-4241-28F7-E44F6F28A7AA}"/>
              </a:ext>
            </a:extLst>
          </p:cNvPr>
          <p:cNvSpPr txBox="1"/>
          <p:nvPr/>
        </p:nvSpPr>
        <p:spPr>
          <a:xfrm>
            <a:off x="700225" y="3794649"/>
            <a:ext cx="6101442" cy="923330"/>
          </a:xfrm>
          <a:prstGeom prst="rect">
            <a:avLst/>
          </a:prstGeom>
          <a:noFill/>
        </p:spPr>
        <p:txBody>
          <a:bodyPr wrap="square">
            <a:spAutoFit/>
          </a:bodyPr>
          <a:lstStyle/>
          <a:p>
            <a:pPr algn="ctr" fontAlgn="base"/>
            <a:r>
              <a:rPr lang="en-IN" b="0" i="0" dirty="0">
                <a:solidFill>
                  <a:srgbClr val="273239"/>
                </a:solidFill>
                <a:effectLst/>
                <a:latin typeface="Nunito" pitchFamily="2" charset="0"/>
              </a:rPr>
              <a:t>Student Details</a:t>
            </a:r>
          </a:p>
          <a:p>
            <a:r>
              <a:rPr lang="en-IN" b="0" i="0" u="sng" dirty="0">
                <a:solidFill>
                  <a:srgbClr val="273239"/>
                </a:solidFill>
                <a:effectLst/>
                <a:latin typeface="Nunito" pitchFamily="2" charset="0"/>
                <a:hlinkClick r:id="rId3"/>
              </a:rPr>
              <a:t/>
            </a:r>
            <a:br>
              <a:rPr lang="en-IN" b="0" i="0" u="sng" dirty="0">
                <a:solidFill>
                  <a:srgbClr val="273239"/>
                </a:solidFill>
                <a:effectLst/>
                <a:latin typeface="Nunito" pitchFamily="2" charset="0"/>
                <a:hlinkClick r:id="rId3"/>
              </a:rPr>
            </a:br>
            <a:endParaRPr lang="en-IN" dirty="0"/>
          </a:p>
        </p:txBody>
      </p:sp>
      <p:pic>
        <p:nvPicPr>
          <p:cNvPr id="4100" name="Picture 4" descr="Screenshot (58)">
            <a:extLst>
              <a:ext uri="{FF2B5EF4-FFF2-40B4-BE49-F238E27FC236}">
                <a16:creationId xmlns:a16="http://schemas.microsoft.com/office/drawing/2014/main" xmlns="" id="{2B250F61-21E4-D29B-85C9-C0E9D28A1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3869" y="4256314"/>
            <a:ext cx="3646393" cy="15314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C800FE29-1C4A-D50E-38C2-85547A070445}"/>
              </a:ext>
            </a:extLst>
          </p:cNvPr>
          <p:cNvSpPr txBox="1"/>
          <p:nvPr/>
        </p:nvSpPr>
        <p:spPr>
          <a:xfrm>
            <a:off x="5588728" y="3794649"/>
            <a:ext cx="6101442" cy="923330"/>
          </a:xfrm>
          <a:prstGeom prst="rect">
            <a:avLst/>
          </a:prstGeom>
          <a:noFill/>
        </p:spPr>
        <p:txBody>
          <a:bodyPr wrap="square">
            <a:spAutoFit/>
          </a:bodyPr>
          <a:lstStyle/>
          <a:p>
            <a:pPr algn="ctr" fontAlgn="base"/>
            <a:r>
              <a:rPr lang="en-IN" b="0" i="0" dirty="0">
                <a:solidFill>
                  <a:srgbClr val="273239"/>
                </a:solidFill>
                <a:effectLst/>
                <a:latin typeface="Nunito" pitchFamily="2" charset="0"/>
              </a:rPr>
              <a:t>Student </a:t>
            </a:r>
            <a:r>
              <a:rPr lang="en-IN" dirty="0">
                <a:solidFill>
                  <a:srgbClr val="273239"/>
                </a:solidFill>
                <a:latin typeface="Nunito" pitchFamily="2" charset="0"/>
              </a:rPr>
              <a:t>Mark</a:t>
            </a:r>
            <a:r>
              <a:rPr lang="en-IN" b="0" i="0" dirty="0">
                <a:solidFill>
                  <a:srgbClr val="273239"/>
                </a:solidFill>
                <a:effectLst/>
                <a:latin typeface="Nunito" pitchFamily="2" charset="0"/>
              </a:rPr>
              <a:t>s</a:t>
            </a:r>
          </a:p>
          <a:p>
            <a:r>
              <a:rPr lang="en-IN" b="0" i="0" u="sng" dirty="0">
                <a:solidFill>
                  <a:srgbClr val="273239"/>
                </a:solidFill>
                <a:effectLst/>
                <a:latin typeface="Nunito" pitchFamily="2" charset="0"/>
                <a:hlinkClick r:id="rId3"/>
              </a:rPr>
              <a:t/>
            </a:r>
            <a:br>
              <a:rPr lang="en-IN" b="0" i="0" u="sng" dirty="0">
                <a:solidFill>
                  <a:srgbClr val="273239"/>
                </a:solidFill>
                <a:effectLst/>
                <a:latin typeface="Nunito" pitchFamily="2" charset="0"/>
                <a:hlinkClick r:id="rId3"/>
              </a:rPr>
            </a:br>
            <a:endParaRPr lang="en-IN" dirty="0"/>
          </a:p>
        </p:txBody>
      </p:sp>
    </p:spTree>
    <p:extLst>
      <p:ext uri="{BB962C8B-B14F-4D97-AF65-F5344CB8AC3E}">
        <p14:creationId xmlns:p14="http://schemas.microsoft.com/office/powerpoint/2010/main" val="16996550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58E63BD-1190-F54F-41E7-37CE1630DA39}"/>
              </a:ext>
            </a:extLst>
          </p:cNvPr>
          <p:cNvSpPr>
            <a:spLocks noGrp="1"/>
          </p:cNvSpPr>
          <p:nvPr>
            <p:ph idx="1"/>
          </p:nvPr>
        </p:nvSpPr>
        <p:spPr>
          <a:xfrm>
            <a:off x="1429808" y="1525875"/>
            <a:ext cx="9603275" cy="3450613"/>
          </a:xfrm>
        </p:spPr>
        <p:txBody>
          <a:bodyPr>
            <a:normAutofit fontScale="92500" lnSpcReduction="10000"/>
          </a:bodyPr>
          <a:lstStyle/>
          <a:p>
            <a:endParaRPr lang="en-US" dirty="0"/>
          </a:p>
          <a:p>
            <a:pPr marL="0" indent="0">
              <a:buNone/>
            </a:pPr>
            <a:r>
              <a:rPr lang="en-US" dirty="0"/>
              <a:t>We can create View using </a:t>
            </a:r>
            <a:r>
              <a:rPr lang="en-US" b="1" dirty="0"/>
              <a:t>CREATE VIEW </a:t>
            </a:r>
            <a:r>
              <a:rPr lang="en-US" dirty="0"/>
              <a:t>statement. A View can be created from a single table or multiple tables. Syntax:</a:t>
            </a:r>
          </a:p>
          <a:p>
            <a:endParaRPr lang="en-US" dirty="0"/>
          </a:p>
          <a:p>
            <a:pPr marL="0" indent="0">
              <a:buNone/>
            </a:pPr>
            <a:r>
              <a:rPr lang="en-US" dirty="0"/>
              <a:t>CREATE VIEW </a:t>
            </a:r>
            <a:r>
              <a:rPr lang="en-US" dirty="0" err="1"/>
              <a:t>view_name</a:t>
            </a:r>
            <a:r>
              <a:rPr lang="en-US" dirty="0"/>
              <a:t> AS</a:t>
            </a:r>
          </a:p>
          <a:p>
            <a:pPr marL="0" indent="0">
              <a:buNone/>
            </a:pPr>
            <a:r>
              <a:rPr lang="en-US" dirty="0"/>
              <a:t>SELECT column1, column2.....</a:t>
            </a:r>
          </a:p>
          <a:p>
            <a:pPr marL="0" indent="0">
              <a:buNone/>
            </a:pPr>
            <a:r>
              <a:rPr lang="en-US" dirty="0"/>
              <a:t>FROM </a:t>
            </a:r>
            <a:r>
              <a:rPr lang="en-US" dirty="0" err="1"/>
              <a:t>table_name</a:t>
            </a:r>
            <a:endParaRPr lang="en-US" dirty="0"/>
          </a:p>
          <a:p>
            <a:pPr marL="0" indent="0">
              <a:buNone/>
            </a:pPr>
            <a:r>
              <a:rPr lang="en-US" dirty="0"/>
              <a:t>WHERE condition;</a:t>
            </a:r>
          </a:p>
          <a:p>
            <a:endParaRPr lang="en-IN" dirty="0"/>
          </a:p>
        </p:txBody>
      </p:sp>
    </p:spTree>
    <p:extLst>
      <p:ext uri="{BB962C8B-B14F-4D97-AF65-F5344CB8AC3E}">
        <p14:creationId xmlns:p14="http://schemas.microsoft.com/office/powerpoint/2010/main" val="23968571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4FECE2A-09E7-E633-CE73-074126548ED0}"/>
              </a:ext>
            </a:extLst>
          </p:cNvPr>
          <p:cNvSpPr>
            <a:spLocks noGrp="1"/>
          </p:cNvSpPr>
          <p:nvPr>
            <p:ph idx="1"/>
          </p:nvPr>
        </p:nvSpPr>
        <p:spPr/>
        <p:txBody>
          <a:bodyPr/>
          <a:lstStyle/>
          <a:p>
            <a:pPr marL="0" indent="0">
              <a:buNone/>
            </a:pPr>
            <a:r>
              <a:rPr lang="en-US" dirty="0"/>
              <a:t>we will create a View named </a:t>
            </a:r>
            <a:r>
              <a:rPr lang="en-US" dirty="0" err="1"/>
              <a:t>DetailsView</a:t>
            </a:r>
            <a:r>
              <a:rPr lang="en-US" dirty="0"/>
              <a:t> from the table </a:t>
            </a:r>
            <a:r>
              <a:rPr lang="en-US" dirty="0" err="1"/>
              <a:t>StudentDetails</a:t>
            </a:r>
            <a:r>
              <a:rPr lang="en-US" dirty="0"/>
              <a:t>. Query:</a:t>
            </a:r>
          </a:p>
          <a:p>
            <a:pPr marL="0" indent="0">
              <a:buNone/>
            </a:pPr>
            <a:r>
              <a:rPr lang="en-US" dirty="0"/>
              <a:t>CREATE VIEW </a:t>
            </a:r>
            <a:r>
              <a:rPr lang="en-US" dirty="0" err="1"/>
              <a:t>DetailsView</a:t>
            </a:r>
            <a:r>
              <a:rPr lang="en-US" dirty="0"/>
              <a:t> AS</a:t>
            </a:r>
          </a:p>
          <a:p>
            <a:pPr marL="0" indent="0">
              <a:buNone/>
            </a:pPr>
            <a:r>
              <a:rPr lang="en-US" dirty="0"/>
              <a:t>SELECT NAME, ADDRESS</a:t>
            </a:r>
          </a:p>
          <a:p>
            <a:pPr marL="0" indent="0">
              <a:buNone/>
            </a:pPr>
            <a:r>
              <a:rPr lang="en-US" dirty="0"/>
              <a:t>FROM </a:t>
            </a:r>
            <a:r>
              <a:rPr lang="en-US" dirty="0" err="1"/>
              <a:t>StudentDetails</a:t>
            </a:r>
            <a:endParaRPr lang="en-US" dirty="0"/>
          </a:p>
          <a:p>
            <a:pPr marL="0" indent="0">
              <a:buNone/>
            </a:pPr>
            <a:r>
              <a:rPr lang="en-US" dirty="0"/>
              <a:t>WHERE S_ID &lt; 5;</a:t>
            </a:r>
            <a:endParaRPr lang="en-IN" dirty="0"/>
          </a:p>
        </p:txBody>
      </p:sp>
      <p:sp>
        <p:nvSpPr>
          <p:cNvPr id="7" name="TextBox 6">
            <a:extLst>
              <a:ext uri="{FF2B5EF4-FFF2-40B4-BE49-F238E27FC236}">
                <a16:creationId xmlns:a16="http://schemas.microsoft.com/office/drawing/2014/main" xmlns="" id="{94E563B9-010F-61E7-3877-2418AC9DF712}"/>
              </a:ext>
            </a:extLst>
          </p:cNvPr>
          <p:cNvSpPr txBox="1"/>
          <p:nvPr/>
        </p:nvSpPr>
        <p:spPr>
          <a:xfrm>
            <a:off x="1451579" y="4704737"/>
            <a:ext cx="6204856" cy="461665"/>
          </a:xfrm>
          <a:prstGeom prst="rect">
            <a:avLst/>
          </a:prstGeom>
          <a:noFill/>
        </p:spPr>
        <p:txBody>
          <a:bodyPr wrap="square">
            <a:spAutoFit/>
          </a:bodyPr>
          <a:lstStyle/>
          <a:p>
            <a:r>
              <a:rPr lang="en-IN" sz="2400" dirty="0"/>
              <a:t>SELECT * FROM </a:t>
            </a:r>
            <a:r>
              <a:rPr lang="en-IN" sz="2400" dirty="0" err="1"/>
              <a:t>DetailsView</a:t>
            </a:r>
            <a:r>
              <a:rPr lang="en-IN" sz="2400" dirty="0"/>
              <a:t>;</a:t>
            </a:r>
          </a:p>
        </p:txBody>
      </p:sp>
    </p:spTree>
    <p:extLst>
      <p:ext uri="{BB962C8B-B14F-4D97-AF65-F5344CB8AC3E}">
        <p14:creationId xmlns:p14="http://schemas.microsoft.com/office/powerpoint/2010/main" val="19039171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152114A-4A16-B916-1975-82082CAE09FB}"/>
              </a:ext>
            </a:extLst>
          </p:cNvPr>
          <p:cNvSpPr>
            <a:spLocks noGrp="1"/>
          </p:cNvSpPr>
          <p:nvPr>
            <p:ph idx="1"/>
          </p:nvPr>
        </p:nvSpPr>
        <p:spPr/>
        <p:txBody>
          <a:bodyPr/>
          <a:lstStyle/>
          <a:p>
            <a:pPr marL="0" indent="0">
              <a:buNone/>
            </a:pPr>
            <a:r>
              <a:rPr lang="en-US" dirty="0"/>
              <a:t>We can delete or drop a View using the DROP statement. Syntax:</a:t>
            </a:r>
          </a:p>
          <a:p>
            <a:endParaRPr lang="en-US" dirty="0"/>
          </a:p>
          <a:p>
            <a:r>
              <a:rPr lang="en-US" dirty="0"/>
              <a:t>DROP VIEW </a:t>
            </a:r>
            <a:r>
              <a:rPr lang="en-US" dirty="0" err="1"/>
              <a:t>view_name</a:t>
            </a:r>
            <a:r>
              <a:rPr lang="en-US" dirty="0"/>
              <a:t>;</a:t>
            </a:r>
            <a:endParaRPr lang="en-IN" dirty="0"/>
          </a:p>
        </p:txBody>
      </p:sp>
    </p:spTree>
    <p:extLst>
      <p:ext uri="{BB962C8B-B14F-4D97-AF65-F5344CB8AC3E}">
        <p14:creationId xmlns:p14="http://schemas.microsoft.com/office/powerpoint/2010/main" val="16069323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1668</TotalTime>
  <Words>5304</Words>
  <Application>Microsoft Office PowerPoint</Application>
  <PresentationFormat>Custom</PresentationFormat>
  <Paragraphs>545</Paragraphs>
  <Slides>113</Slides>
  <Notes>0</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Gallery</vt:lpstr>
      <vt:lpstr>Database Management Systems</vt:lpstr>
      <vt:lpstr>PowerPoint Presentation</vt:lpstr>
      <vt:lpstr>PowerPoint Presentation</vt:lpstr>
      <vt:lpstr>PowerPoint Presentation</vt:lpstr>
      <vt:lpstr>Unit 1: introduction</vt:lpstr>
      <vt:lpstr>Database Management System (DBMS) and Its Applications:</vt:lpstr>
      <vt:lpstr>Purpose of Database Systems</vt:lpstr>
      <vt:lpstr>Advantages of Database Systems</vt:lpstr>
      <vt:lpstr>Disadvantages of DBMS </vt:lpstr>
      <vt:lpstr>PowerPoint Presentation</vt:lpstr>
      <vt:lpstr>PowerPoint Presentation</vt:lpstr>
      <vt:lpstr>View of Data</vt:lpstr>
      <vt:lpstr>PowerPoint Presentation</vt:lpstr>
      <vt:lpstr>Instances and Schemas </vt:lpstr>
      <vt:lpstr>Data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 * FROM student WHERE hallticket = 'YOUR NUMBER';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 Database Design - Entity Relationship(ER) Modeling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Degree of Relationship .  </vt:lpstr>
      <vt:lpstr>PowerPoint Presentation</vt:lpstr>
      <vt:lpstr>PowerPoint Presentation</vt:lpstr>
      <vt:lpstr>PowerPoint Presentation</vt:lpstr>
      <vt:lpstr>Draw an er-model for project management system.</vt:lpstr>
      <vt:lpstr>PowerPoint Presentation</vt:lpstr>
      <vt:lpstr>PowerPoint Presentation</vt:lpstr>
      <vt:lpstr>PowerPoint Presentation</vt:lpstr>
      <vt:lpstr>PowerPoint Presentation</vt:lpstr>
      <vt:lpstr>PowerPoint Presentation</vt:lpstr>
      <vt:lpstr>Add attributes</vt:lpstr>
      <vt:lpstr>Additional features of 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Associative entity (Bridge or intersection)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Storage and Querying,– data base Users and Administrator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system structure</vt:lpstr>
      <vt:lpstr>History of database systems</vt:lpstr>
      <vt:lpstr>DATABSE LANGUAGES:  SQL | DDL, DQL, DML, DCL and TCL Commands </vt:lpstr>
      <vt:lpstr>PowerPoint Presentation</vt:lpstr>
      <vt:lpstr>PowerPoint Presentation</vt:lpstr>
      <vt:lpstr>DDL (Data Definition Language) </vt:lpstr>
      <vt:lpstr>DQL (Data Query Language) </vt:lpstr>
      <vt:lpstr>DML(Data Manipulation Language) </vt:lpstr>
      <vt:lpstr>DCL (Data Control Language) </vt:lpstr>
      <vt:lpstr>TCL (Transaction Control Language) </vt:lpstr>
      <vt:lpstr>MySQL Data Types </vt:lpstr>
      <vt:lpstr>PowerPoint Presentation</vt:lpstr>
      <vt:lpstr>PowerPoint Presentation</vt:lpstr>
      <vt:lpstr>PowerPoint Presentation</vt:lpstr>
      <vt:lpstr>Relational Model</vt:lpstr>
      <vt:lpstr>PowerPoint Presentation</vt:lpstr>
      <vt:lpstr>PowerPoint Presentation</vt:lpstr>
      <vt:lpstr>Integrity Constraints over relations</vt:lpstr>
      <vt:lpstr>PowerPoint Presentation</vt:lpstr>
      <vt:lpstr>PowerPoint Presentation</vt:lpstr>
      <vt:lpstr>PowerPoint Presentation</vt:lpstr>
      <vt:lpstr>PowerPoint Presentation</vt:lpstr>
      <vt:lpstr>PowerPoint Presentation</vt:lpstr>
      <vt:lpstr>Enforce Integrity Constraints </vt:lpstr>
      <vt:lpstr>Logical Database </vt:lpstr>
      <vt:lpstr>PowerPoint Presentation</vt:lpstr>
      <vt:lpstr>Features of Logical Database: </vt:lpstr>
      <vt:lpstr>PowerPoint Presentation</vt:lpstr>
      <vt:lpstr>PowerPoint Presentation</vt:lpstr>
      <vt:lpstr>Advantages Of Logical Database:</vt:lpstr>
      <vt:lpstr>views</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MYPC</cp:lastModifiedBy>
  <cp:revision>155</cp:revision>
  <dcterms:created xsi:type="dcterms:W3CDTF">2023-09-09T04:22:22Z</dcterms:created>
  <dcterms:modified xsi:type="dcterms:W3CDTF">2026-07-14T09:53:35Z</dcterms:modified>
</cp:coreProperties>
</file>