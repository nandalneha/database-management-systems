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sldIdLst>
    <p:sldId id="256" r:id="rId2"/>
    <p:sldId id="257" r:id="rId3"/>
    <p:sldId id="258" r:id="rId4"/>
    <p:sldId id="318" r:id="rId5"/>
    <p:sldId id="423" r:id="rId6"/>
    <p:sldId id="424" r:id="rId7"/>
    <p:sldId id="425" r:id="rId8"/>
    <p:sldId id="426" r:id="rId9"/>
    <p:sldId id="427" r:id="rId10"/>
    <p:sldId id="428" r:id="rId11"/>
    <p:sldId id="429" r:id="rId12"/>
    <p:sldId id="430" r:id="rId13"/>
    <p:sldId id="431" r:id="rId14"/>
    <p:sldId id="432" r:id="rId15"/>
    <p:sldId id="433" r:id="rId16"/>
    <p:sldId id="434" r:id="rId17"/>
    <p:sldId id="435" r:id="rId18"/>
    <p:sldId id="436" r:id="rId19"/>
    <p:sldId id="437" r:id="rId20"/>
    <p:sldId id="438" r:id="rId21"/>
    <p:sldId id="439" r:id="rId22"/>
    <p:sldId id="440" r:id="rId23"/>
    <p:sldId id="441" r:id="rId24"/>
    <p:sldId id="442" r:id="rId25"/>
    <p:sldId id="443" r:id="rId26"/>
    <p:sldId id="444" r:id="rId27"/>
    <p:sldId id="445" r:id="rId28"/>
    <p:sldId id="446" r:id="rId29"/>
    <p:sldId id="447" r:id="rId30"/>
    <p:sldId id="448" r:id="rId31"/>
    <p:sldId id="449" r:id="rId32"/>
    <p:sldId id="450" r:id="rId33"/>
    <p:sldId id="451" r:id="rId34"/>
    <p:sldId id="452" r:id="rId35"/>
    <p:sldId id="453" r:id="rId36"/>
    <p:sldId id="454" r:id="rId37"/>
    <p:sldId id="455" r:id="rId38"/>
    <p:sldId id="456" r:id="rId39"/>
    <p:sldId id="457" r:id="rId40"/>
    <p:sldId id="458" r:id="rId41"/>
    <p:sldId id="459" r:id="rId42"/>
    <p:sldId id="460" r:id="rId43"/>
    <p:sldId id="461" r:id="rId44"/>
    <p:sldId id="462" r:id="rId45"/>
    <p:sldId id="463" r:id="rId46"/>
    <p:sldId id="464" r:id="rId47"/>
    <p:sldId id="465" r:id="rId48"/>
    <p:sldId id="466" r:id="rId49"/>
    <p:sldId id="467" r:id="rId50"/>
    <p:sldId id="468" r:id="rId51"/>
    <p:sldId id="469" r:id="rId52"/>
    <p:sldId id="470" r:id="rId53"/>
    <p:sldId id="471" r:id="rId54"/>
    <p:sldId id="472" r:id="rId55"/>
    <p:sldId id="473" r:id="rId56"/>
    <p:sldId id="474" r:id="rId57"/>
    <p:sldId id="475" r:id="rId58"/>
    <p:sldId id="476" r:id="rId59"/>
    <p:sldId id="477" r:id="rId60"/>
    <p:sldId id="478" r:id="rId61"/>
    <p:sldId id="479" r:id="rId62"/>
    <p:sldId id="480" r:id="rId63"/>
    <p:sldId id="481" r:id="rId64"/>
    <p:sldId id="482" r:id="rId65"/>
    <p:sldId id="483" r:id="rId66"/>
    <p:sldId id="484" r:id="rId67"/>
    <p:sldId id="485" r:id="rId68"/>
    <p:sldId id="486" r:id="rId69"/>
    <p:sldId id="487" r:id="rId70"/>
    <p:sldId id="488" r:id="rId71"/>
    <p:sldId id="489" r:id="rId72"/>
    <p:sldId id="358" r:id="rId7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681" autoAdjust="0"/>
  </p:normalViewPr>
  <p:slideViewPr>
    <p:cSldViewPr snapToGrid="0">
      <p:cViewPr>
        <p:scale>
          <a:sx n="89" d="100"/>
          <a:sy n="89" d="100"/>
        </p:scale>
        <p:origin x="-21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08-01-2024</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8039E184-7329-4088-8A28-AB52FED91289}"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16268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37443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FCE208-276C-46C2-9558-0228F90E07C8}"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7911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FCE208-276C-46C2-9558-0228F90E07C8}" type="datetimeFigureOut">
              <a:rPr lang="en-IN" smtClean="0"/>
              <a:t>08-01-2024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39E184-7329-4088-8A28-AB52FED91289}"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42043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FCE208-276C-46C2-9558-0228F90E07C8}" type="datetimeFigureOut">
              <a:rPr lang="en-IN" smtClean="0"/>
              <a:t>08-01-2024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039E184-7329-4088-8A28-AB52FED91289}"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8952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FCE208-276C-46C2-9558-0228F90E07C8}" type="datetimeFigureOut">
              <a:rPr lang="en-IN" smtClean="0"/>
              <a:t>08-01-2024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039E184-7329-4088-8A28-AB52FED91289}"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68164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FCE208-276C-46C2-9558-0228F90E07C8}" type="datetimeFigureOut">
              <a:rPr lang="en-IN" smtClean="0"/>
              <a:t>08-01-2024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039E184-7329-4088-8A28-AB52FED91289}" type="slidenum">
              <a:rPr lang="en-IN" smtClean="0"/>
              <a:t>‹#›</a:t>
            </a:fld>
            <a:endParaRPr lang="en-IN"/>
          </a:p>
        </p:txBody>
      </p:sp>
    </p:spTree>
    <p:extLst>
      <p:ext uri="{BB962C8B-B14F-4D97-AF65-F5344CB8AC3E}">
        <p14:creationId xmlns:p14="http://schemas.microsoft.com/office/powerpoint/2010/main" val="2551954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FCE208-276C-46C2-9558-0228F90E07C8}" type="datetimeFigureOut">
              <a:rPr lang="en-IN" smtClean="0"/>
              <a:t>08-01-2024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39E184-7329-4088-8A28-AB52FED91289}"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33686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9FCE208-276C-46C2-9558-0228F90E07C8}" type="datetimeFigureOut">
              <a:rPr lang="en-IN" smtClean="0"/>
              <a:t>08-01-2024</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8039E184-7329-4088-8A28-AB52FED91289}"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43510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87686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28685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9FCE208-276C-46C2-9558-0228F90E07C8}" type="datetimeFigureOut">
              <a:rPr lang="en-IN" smtClean="0"/>
              <a:t>08-01-2024</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039E184-7329-4088-8A28-AB52FED91289}"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8721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79EAE8-BC4E-E8B6-4764-0C333FBFBD72}"/>
              </a:ext>
            </a:extLst>
          </p:cNvPr>
          <p:cNvSpPr>
            <a:spLocks noGrp="1"/>
          </p:cNvSpPr>
          <p:nvPr>
            <p:ph type="ctrTitle"/>
          </p:nvPr>
        </p:nvSpPr>
        <p:spPr/>
        <p:txBody>
          <a:bodyPr>
            <a:normAutofit fontScale="90000"/>
          </a:bodyPr>
          <a:lstStyle/>
          <a:p>
            <a:r>
              <a:rPr lang="en-US" dirty="0"/>
              <a:t>Database Management Systems</a:t>
            </a:r>
            <a:endParaRPr lang="en-IN" dirty="0"/>
          </a:p>
        </p:txBody>
      </p:sp>
      <p:sp>
        <p:nvSpPr>
          <p:cNvPr id="3" name="Subtitle 2">
            <a:extLst>
              <a:ext uri="{FF2B5EF4-FFF2-40B4-BE49-F238E27FC236}">
                <a16:creationId xmlns:a16="http://schemas.microsoft.com/office/drawing/2014/main" xmlns="" id="{7CA40BDD-4EC8-4EAD-CC7A-C9BAA605582E}"/>
              </a:ext>
            </a:extLst>
          </p:cNvPr>
          <p:cNvSpPr>
            <a:spLocks noGrp="1"/>
          </p:cNvSpPr>
          <p:nvPr>
            <p:ph type="subTitle" idx="1"/>
          </p:nvPr>
        </p:nvSpPr>
        <p:spPr/>
        <p:txBody>
          <a:bodyPr>
            <a:normAutofit fontScale="62500" lnSpcReduction="20000"/>
          </a:bodyPr>
          <a:lstStyle/>
          <a:p>
            <a:r>
              <a:rPr lang="en-US" dirty="0"/>
              <a:t>By:</a:t>
            </a:r>
          </a:p>
          <a:p>
            <a:r>
              <a:rPr lang="en-US" dirty="0"/>
              <a:t>Dr. Neha </a:t>
            </a:r>
            <a:r>
              <a:rPr lang="en-US" dirty="0" err="1"/>
              <a:t>Nandal</a:t>
            </a:r>
            <a:r>
              <a:rPr lang="en-US" dirty="0"/>
              <a:t> </a:t>
            </a:r>
          </a:p>
          <a:p>
            <a:r>
              <a:rPr lang="en-US" dirty="0"/>
              <a:t>Computer Science and Engineering</a:t>
            </a:r>
            <a:endParaRPr lang="en-IN" dirty="0"/>
          </a:p>
        </p:txBody>
      </p:sp>
    </p:spTree>
    <p:extLst>
      <p:ext uri="{BB962C8B-B14F-4D97-AF65-F5344CB8AC3E}">
        <p14:creationId xmlns:p14="http://schemas.microsoft.com/office/powerpoint/2010/main" val="120168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A23FC7B4-2F7A-70B8-6FBE-52A6B161F24B}"/>
              </a:ext>
            </a:extLst>
          </p:cNvPr>
          <p:cNvSpPr txBox="1"/>
          <p:nvPr/>
        </p:nvSpPr>
        <p:spPr>
          <a:xfrm>
            <a:off x="3823608" y="245320"/>
            <a:ext cx="6101442" cy="369332"/>
          </a:xfrm>
          <a:prstGeom prst="rect">
            <a:avLst/>
          </a:prstGeom>
          <a:noFill/>
        </p:spPr>
        <p:txBody>
          <a:bodyPr wrap="square">
            <a:spAutoFit/>
          </a:bodyPr>
          <a:lstStyle/>
          <a:p>
            <a:r>
              <a:rPr lang="en-IN" sz="1800" b="1" i="0" u="none" strike="noStrike" baseline="0" dirty="0">
                <a:solidFill>
                  <a:srgbClr val="000000"/>
                </a:solidFill>
                <a:latin typeface="Times New Roman" panose="02020603050405020304" pitchFamily="18" charset="0"/>
              </a:rPr>
              <a:t>DATABASE MANAGEMENT SYSTEMS </a:t>
            </a:r>
            <a:endParaRPr lang="en-IN" dirty="0"/>
          </a:p>
        </p:txBody>
      </p:sp>
      <p:pic>
        <p:nvPicPr>
          <p:cNvPr id="9" name="Picture 8">
            <a:extLst>
              <a:ext uri="{FF2B5EF4-FFF2-40B4-BE49-F238E27FC236}">
                <a16:creationId xmlns:a16="http://schemas.microsoft.com/office/drawing/2014/main" xmlns="" id="{4AC9C2F3-3EF7-F5EC-C85A-C4858FDC4ADD}"/>
              </a:ext>
            </a:extLst>
          </p:cNvPr>
          <p:cNvPicPr>
            <a:picLocks noChangeAspect="1"/>
          </p:cNvPicPr>
          <p:nvPr/>
        </p:nvPicPr>
        <p:blipFill>
          <a:blip r:embed="rId2"/>
          <a:stretch>
            <a:fillRect/>
          </a:stretch>
        </p:blipFill>
        <p:spPr>
          <a:xfrm>
            <a:off x="695088" y="717505"/>
            <a:ext cx="10801824" cy="5422990"/>
          </a:xfrm>
          <a:prstGeom prst="rect">
            <a:avLst/>
          </a:prstGeom>
        </p:spPr>
      </p:pic>
    </p:spTree>
    <p:extLst>
      <p:ext uri="{BB962C8B-B14F-4D97-AF65-F5344CB8AC3E}">
        <p14:creationId xmlns:p14="http://schemas.microsoft.com/office/powerpoint/2010/main" val="631163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3E267957-2109-C267-879E-01CD91FED856}"/>
              </a:ext>
            </a:extLst>
          </p:cNvPr>
          <p:cNvPicPr>
            <a:picLocks noChangeAspect="1"/>
          </p:cNvPicPr>
          <p:nvPr/>
        </p:nvPicPr>
        <p:blipFill>
          <a:blip r:embed="rId2"/>
          <a:stretch>
            <a:fillRect/>
          </a:stretch>
        </p:blipFill>
        <p:spPr>
          <a:xfrm>
            <a:off x="1230085" y="0"/>
            <a:ext cx="10003971" cy="4385371"/>
          </a:xfrm>
          <a:prstGeom prst="rect">
            <a:avLst/>
          </a:prstGeom>
        </p:spPr>
      </p:pic>
      <p:pic>
        <p:nvPicPr>
          <p:cNvPr id="7" name="Picture 6">
            <a:extLst>
              <a:ext uri="{FF2B5EF4-FFF2-40B4-BE49-F238E27FC236}">
                <a16:creationId xmlns:a16="http://schemas.microsoft.com/office/drawing/2014/main" xmlns="" id="{168CB64E-1C84-237D-ED42-0ACC1DC7396A}"/>
              </a:ext>
            </a:extLst>
          </p:cNvPr>
          <p:cNvPicPr>
            <a:picLocks noChangeAspect="1"/>
          </p:cNvPicPr>
          <p:nvPr/>
        </p:nvPicPr>
        <p:blipFill>
          <a:blip r:embed="rId3"/>
          <a:stretch>
            <a:fillRect/>
          </a:stretch>
        </p:blipFill>
        <p:spPr>
          <a:xfrm>
            <a:off x="1230084" y="4385371"/>
            <a:ext cx="10003971" cy="2021992"/>
          </a:xfrm>
          <a:prstGeom prst="rect">
            <a:avLst/>
          </a:prstGeom>
        </p:spPr>
      </p:pic>
    </p:spTree>
    <p:extLst>
      <p:ext uri="{BB962C8B-B14F-4D97-AF65-F5344CB8AC3E}">
        <p14:creationId xmlns:p14="http://schemas.microsoft.com/office/powerpoint/2010/main" val="3323009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962E158D-44FB-5D8D-0AB3-D21CA5ED2642}"/>
              </a:ext>
            </a:extLst>
          </p:cNvPr>
          <p:cNvSpPr txBox="1"/>
          <p:nvPr/>
        </p:nvSpPr>
        <p:spPr>
          <a:xfrm>
            <a:off x="1426029" y="2046514"/>
            <a:ext cx="9914163" cy="1938992"/>
          </a:xfrm>
          <a:prstGeom prst="rect">
            <a:avLst/>
          </a:prstGeom>
          <a:noFill/>
        </p:spPr>
        <p:txBody>
          <a:bodyPr wrap="square">
            <a:spAutoFit/>
          </a:bodyPr>
          <a:lstStyle/>
          <a:p>
            <a:pPr algn="just"/>
            <a:r>
              <a:rPr lang="en-IN" sz="2400" b="1" i="0" u="none" strike="noStrike" baseline="0" dirty="0">
                <a:latin typeface="Times New Roman" panose="02020603050405020304" pitchFamily="18" charset="0"/>
              </a:rPr>
              <a:t>TEXT BOOKS:</a:t>
            </a:r>
          </a:p>
          <a:p>
            <a:pPr algn="just"/>
            <a:r>
              <a:rPr lang="en-US" sz="2400" b="0" i="0" u="none" strike="noStrike" baseline="0" dirty="0">
                <a:latin typeface="Times New Roman" panose="02020603050405020304" pitchFamily="18" charset="0"/>
              </a:rPr>
              <a:t>1. Data base System Concepts, </a:t>
            </a:r>
            <a:r>
              <a:rPr lang="en-US" sz="2400" b="0" i="0" u="none" strike="noStrike" baseline="0" dirty="0" err="1">
                <a:latin typeface="Times New Roman" panose="02020603050405020304" pitchFamily="18" charset="0"/>
              </a:rPr>
              <a:t>Silberschatz</a:t>
            </a:r>
            <a:r>
              <a:rPr lang="en-US" sz="2400" b="0" i="0" u="none" strike="noStrike" baseline="0" dirty="0">
                <a:latin typeface="Times New Roman" panose="02020603050405020304" pitchFamily="18" charset="0"/>
              </a:rPr>
              <a:t>, </a:t>
            </a:r>
            <a:r>
              <a:rPr lang="en-US" sz="2400" b="0" i="0" u="none" strike="noStrike" baseline="0" dirty="0" err="1">
                <a:latin typeface="Times New Roman" panose="02020603050405020304" pitchFamily="18" charset="0"/>
              </a:rPr>
              <a:t>Korth</a:t>
            </a:r>
            <a:r>
              <a:rPr lang="en-US" sz="2400" b="0" i="0" u="none" strike="noStrike" baseline="0" dirty="0">
                <a:latin typeface="Times New Roman" panose="02020603050405020304" pitchFamily="18" charset="0"/>
              </a:rPr>
              <a:t>, McGraw hill, Sixth Edition.(All UNITS </a:t>
            </a:r>
            <a:r>
              <a:rPr lang="en-IN" sz="2400" b="0" i="0" u="none" strike="noStrike" baseline="0" dirty="0">
                <a:latin typeface="Times New Roman" panose="02020603050405020304" pitchFamily="18" charset="0"/>
              </a:rPr>
              <a:t>except III </a:t>
            </a:r>
            <a:r>
              <a:rPr lang="en-IN" sz="2400" b="0" i="0" u="none" strike="noStrike" baseline="0" dirty="0" err="1">
                <a:latin typeface="Times New Roman" panose="02020603050405020304" pitchFamily="18" charset="0"/>
              </a:rPr>
              <a:t>th</a:t>
            </a:r>
            <a:r>
              <a:rPr lang="en-IN" sz="2400" b="0" i="0" u="none" strike="noStrike" baseline="0" dirty="0">
                <a:latin typeface="Times New Roman" panose="02020603050405020304" pitchFamily="18" charset="0"/>
              </a:rPr>
              <a:t>)</a:t>
            </a:r>
          </a:p>
          <a:p>
            <a:pPr algn="just"/>
            <a:r>
              <a:rPr lang="en-IN" sz="2400" b="0" i="0" u="none" strike="noStrike" baseline="0" dirty="0">
                <a:latin typeface="Times New Roman" panose="02020603050405020304" pitchFamily="18" charset="0"/>
              </a:rPr>
              <a:t>2. Data base Management Systems, </a:t>
            </a:r>
            <a:r>
              <a:rPr lang="en-IN" sz="2400" i="0" u="none" strike="noStrike" baseline="0" dirty="0" err="1">
                <a:latin typeface="Times New Roman" panose="02020603050405020304" pitchFamily="18" charset="0"/>
              </a:rPr>
              <a:t>Raghurama</a:t>
            </a:r>
            <a:r>
              <a:rPr lang="en-IN" sz="2400" i="0" u="none" strike="noStrike" baseline="0" dirty="0">
                <a:latin typeface="Times New Roman" panose="02020603050405020304" pitchFamily="18" charset="0"/>
              </a:rPr>
              <a:t> Krishnan</a:t>
            </a:r>
            <a:r>
              <a:rPr lang="en-IN" sz="2400" b="0" i="0" u="none" strike="noStrike" baseline="0" dirty="0">
                <a:latin typeface="Times New Roman" panose="02020603050405020304" pitchFamily="18" charset="0"/>
              </a:rPr>
              <a:t>, Johannes </a:t>
            </a:r>
            <a:r>
              <a:rPr lang="en-IN" sz="2400" b="0" i="0" u="none" strike="noStrike" baseline="0" dirty="0" err="1">
                <a:latin typeface="Times New Roman" panose="02020603050405020304" pitchFamily="18" charset="0"/>
              </a:rPr>
              <a:t>Gehrke</a:t>
            </a:r>
            <a:r>
              <a:rPr lang="en-IN" sz="2400" b="0" i="0" u="none" strike="noStrike" baseline="0" dirty="0">
                <a:latin typeface="Times New Roman" panose="02020603050405020304" pitchFamily="18" charset="0"/>
              </a:rPr>
              <a:t>, TATA </a:t>
            </a:r>
            <a:r>
              <a:rPr lang="en-IN" sz="2400" b="0" i="0" u="none" strike="noStrike" baseline="0" dirty="0" err="1">
                <a:latin typeface="Times New Roman" panose="02020603050405020304" pitchFamily="18" charset="0"/>
              </a:rPr>
              <a:t>McGrawHill</a:t>
            </a:r>
            <a:r>
              <a:rPr lang="en-IN" sz="2400" b="0" i="0" u="none" strike="noStrike" baseline="0" dirty="0">
                <a:latin typeface="Times New Roman" panose="02020603050405020304" pitchFamily="18" charset="0"/>
              </a:rPr>
              <a:t> 3rd Edition.</a:t>
            </a:r>
            <a:endParaRPr lang="en-IN" sz="2400" dirty="0"/>
          </a:p>
        </p:txBody>
      </p:sp>
    </p:spTree>
    <p:extLst>
      <p:ext uri="{BB962C8B-B14F-4D97-AF65-F5344CB8AC3E}">
        <p14:creationId xmlns:p14="http://schemas.microsoft.com/office/powerpoint/2010/main" val="2501966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6833" y="138505"/>
            <a:ext cx="8820150"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9049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873" y="172121"/>
            <a:ext cx="9352753" cy="5846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9325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3575" y="1204913"/>
            <a:ext cx="8324850" cy="444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626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3538" y="514350"/>
            <a:ext cx="8924925" cy="582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7515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38" y="414338"/>
            <a:ext cx="8620125" cy="602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8350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433388"/>
            <a:ext cx="8382000" cy="599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8096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7888" y="522472"/>
            <a:ext cx="8796226" cy="5273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50590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4988" y="409575"/>
            <a:ext cx="8582025" cy="603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6436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0213" y="323850"/>
            <a:ext cx="8791575" cy="621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0153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850" y="261938"/>
            <a:ext cx="8496300" cy="633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5472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900" y="704850"/>
            <a:ext cx="8458200" cy="544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77380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6913" y="1047750"/>
            <a:ext cx="8258175" cy="476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6468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100" y="652463"/>
            <a:ext cx="8305800" cy="555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2551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663" y="862013"/>
            <a:ext cx="8448675" cy="513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4098664" y="193638"/>
            <a:ext cx="5099124" cy="369332"/>
          </a:xfrm>
          <a:prstGeom prst="rect">
            <a:avLst/>
          </a:prstGeom>
          <a:noFill/>
        </p:spPr>
        <p:txBody>
          <a:bodyPr wrap="square" rtlCol="0">
            <a:spAutoFit/>
          </a:bodyPr>
          <a:lstStyle/>
          <a:p>
            <a:r>
              <a:rPr lang="en-US" dirty="0"/>
              <a:t>INDEXING AND HASHING</a:t>
            </a:r>
            <a:endParaRPr lang="en-IN" dirty="0"/>
          </a:p>
        </p:txBody>
      </p:sp>
    </p:spTree>
    <p:extLst>
      <p:ext uri="{BB962C8B-B14F-4D97-AF65-F5344CB8AC3E}">
        <p14:creationId xmlns:p14="http://schemas.microsoft.com/office/powerpoint/2010/main" val="3795106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3088" y="1247775"/>
            <a:ext cx="8505825"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073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7838" y="862013"/>
            <a:ext cx="8696325" cy="513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06073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113" y="371475"/>
            <a:ext cx="8867775" cy="611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1433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9738" y="542925"/>
            <a:ext cx="8772525" cy="577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19007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1650" y="381000"/>
            <a:ext cx="864870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12546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1650" y="466725"/>
            <a:ext cx="8648700" cy="592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60949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38" y="300038"/>
            <a:ext cx="8620125" cy="625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3848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2138" y="1033463"/>
            <a:ext cx="8467725" cy="479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35932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2138" y="1138238"/>
            <a:ext cx="8467725" cy="458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27970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1188" y="157163"/>
            <a:ext cx="8429625" cy="654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974530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09563"/>
            <a:ext cx="8839200" cy="623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4840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FDEC0299-22F7-C697-7EE8-9048BEEFA6FB}"/>
              </a:ext>
            </a:extLst>
          </p:cNvPr>
          <p:cNvSpPr txBox="1"/>
          <p:nvPr/>
        </p:nvSpPr>
        <p:spPr>
          <a:xfrm>
            <a:off x="4783757" y="142593"/>
            <a:ext cx="6102416" cy="369332"/>
          </a:xfrm>
          <a:prstGeom prst="rect">
            <a:avLst/>
          </a:prstGeom>
          <a:noFill/>
        </p:spPr>
        <p:txBody>
          <a:bodyPr wrap="square">
            <a:spAutoFit/>
          </a:bodyPr>
          <a:lstStyle/>
          <a:p>
            <a:pPr algn="just"/>
            <a:r>
              <a:rPr lang="en-IN" b="0" i="0" dirty="0">
                <a:solidFill>
                  <a:srgbClr val="610B38"/>
                </a:solidFill>
                <a:effectLst/>
                <a:latin typeface="erdana"/>
              </a:rPr>
              <a:t>Heap file organization</a:t>
            </a:r>
          </a:p>
        </p:txBody>
      </p:sp>
      <p:sp>
        <p:nvSpPr>
          <p:cNvPr id="5" name="TextBox 4">
            <a:extLst>
              <a:ext uri="{FF2B5EF4-FFF2-40B4-BE49-F238E27FC236}">
                <a16:creationId xmlns:a16="http://schemas.microsoft.com/office/drawing/2014/main" xmlns="" id="{6A178321-FD73-4EEA-5443-CF39E56CC8C9}"/>
              </a:ext>
            </a:extLst>
          </p:cNvPr>
          <p:cNvSpPr txBox="1"/>
          <p:nvPr/>
        </p:nvSpPr>
        <p:spPr>
          <a:xfrm>
            <a:off x="798896" y="654518"/>
            <a:ext cx="11194181" cy="2585323"/>
          </a:xfrm>
          <a:prstGeom prst="rect">
            <a:avLst/>
          </a:prstGeom>
          <a:noFill/>
        </p:spPr>
        <p:txBody>
          <a:bodyPr wrap="square">
            <a:spAutoFit/>
          </a:bodyPr>
          <a:lstStyle/>
          <a:p>
            <a:pPr algn="just">
              <a:buFont typeface="Arial" panose="020B0604020202020204" pitchFamily="34" charset="0"/>
              <a:buChar char="•"/>
            </a:pPr>
            <a:r>
              <a:rPr lang="en-US" b="0" i="0" dirty="0">
                <a:solidFill>
                  <a:srgbClr val="000000"/>
                </a:solidFill>
                <a:effectLst/>
                <a:latin typeface="inter-regular"/>
              </a:rPr>
              <a:t>It is the simplest and most basic type of organization. It works with data blocks. In heap file organization, the records are inserted at the file's end. When the records are inserted, it doesn't require the sorting and ordering of records.</a:t>
            </a:r>
          </a:p>
          <a:p>
            <a:pPr algn="just">
              <a:buFont typeface="Arial" panose="020B0604020202020204" pitchFamily="34" charset="0"/>
              <a:buChar char="•"/>
            </a:pP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When the data block is full, the new record is stored in some other block. This new data block need not to be the very next data block, but it can select any data block in the memory to store new records. The heap file is also known as an unordered file.</a:t>
            </a:r>
          </a:p>
          <a:p>
            <a:pPr algn="just">
              <a:buFont typeface="Arial" panose="020B0604020202020204" pitchFamily="34" charset="0"/>
              <a:buChar char="•"/>
            </a:pP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In the file, every record has a unique id, and every page in a file is of the same size. It is the DBMS responsibility to store and manage the new records.</a:t>
            </a:r>
          </a:p>
        </p:txBody>
      </p:sp>
      <p:pic>
        <p:nvPicPr>
          <p:cNvPr id="1026" name="Picture 2" descr="DBMS Heap file organization">
            <a:extLst>
              <a:ext uri="{FF2B5EF4-FFF2-40B4-BE49-F238E27FC236}">
                <a16:creationId xmlns:a16="http://schemas.microsoft.com/office/drawing/2014/main" xmlns="" id="{E6E0FEA3-8FCD-87C9-C2B5-C16DA6468C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5998" y="3238901"/>
            <a:ext cx="4932145" cy="3066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9429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99223882-5A95-FF0F-01E9-AD080E5C6D3C}"/>
              </a:ext>
            </a:extLst>
          </p:cNvPr>
          <p:cNvSpPr txBox="1"/>
          <p:nvPr/>
        </p:nvSpPr>
        <p:spPr>
          <a:xfrm>
            <a:off x="192506" y="262364"/>
            <a:ext cx="11463688" cy="1200329"/>
          </a:xfrm>
          <a:prstGeom prst="rect">
            <a:avLst/>
          </a:prstGeom>
          <a:noFill/>
        </p:spPr>
        <p:txBody>
          <a:bodyPr wrap="square">
            <a:spAutoFit/>
          </a:bodyPr>
          <a:lstStyle/>
          <a:p>
            <a:pPr algn="ctr"/>
            <a:r>
              <a:rPr lang="en-US" b="0" i="0" dirty="0">
                <a:solidFill>
                  <a:srgbClr val="610B38"/>
                </a:solidFill>
                <a:effectLst/>
                <a:latin typeface="erdana"/>
              </a:rPr>
              <a:t>Insertion of a new record</a:t>
            </a:r>
          </a:p>
          <a:p>
            <a:pPr algn="just"/>
            <a:endParaRPr lang="en-US" b="0" i="0" dirty="0">
              <a:solidFill>
                <a:srgbClr val="610B38"/>
              </a:solidFill>
              <a:effectLst/>
              <a:latin typeface="erdana"/>
            </a:endParaRPr>
          </a:p>
          <a:p>
            <a:pPr algn="just"/>
            <a:r>
              <a:rPr lang="en-US" b="0" i="0" dirty="0">
                <a:solidFill>
                  <a:srgbClr val="333333"/>
                </a:solidFill>
                <a:effectLst/>
                <a:latin typeface="inter-regular"/>
              </a:rPr>
              <a:t>Suppose we have five records R1, R3, R6, R4 and R5 in a heap and suppose we want to insert a new record R2 in a heap. If the data block 3 is full then it will be inserted in any of the database selected by the DBMS, let's say data block 1.</a:t>
            </a:r>
          </a:p>
        </p:txBody>
      </p:sp>
      <p:pic>
        <p:nvPicPr>
          <p:cNvPr id="2050" name="Picture 2" descr="DBMS Heap file organization">
            <a:extLst>
              <a:ext uri="{FF2B5EF4-FFF2-40B4-BE49-F238E27FC236}">
                <a16:creationId xmlns:a16="http://schemas.microsoft.com/office/drawing/2014/main" xmlns="" id="{446314B0-EAC8-46DC-FFD9-35F8C2EED8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4350" y="1643062"/>
            <a:ext cx="5943600" cy="35718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86611638-BE83-DA3A-0E6B-557132C25B03}"/>
              </a:ext>
            </a:extLst>
          </p:cNvPr>
          <p:cNvSpPr txBox="1"/>
          <p:nvPr/>
        </p:nvSpPr>
        <p:spPr>
          <a:xfrm>
            <a:off x="324050" y="2208801"/>
            <a:ext cx="5053263" cy="3139321"/>
          </a:xfrm>
          <a:prstGeom prst="rect">
            <a:avLst/>
          </a:prstGeom>
          <a:noFill/>
        </p:spPr>
        <p:txBody>
          <a:bodyPr wrap="square">
            <a:spAutoFit/>
          </a:bodyPr>
          <a:lstStyle/>
          <a:p>
            <a:pPr algn="just"/>
            <a:r>
              <a:rPr lang="en-US" b="0" i="0" dirty="0">
                <a:solidFill>
                  <a:srgbClr val="333333"/>
                </a:solidFill>
                <a:effectLst/>
                <a:latin typeface="inter-regular"/>
              </a:rPr>
              <a:t>If we want to search, update or delete the data in heap file organization, then we need to traverse the data from staring of the file till we get the requested record.</a:t>
            </a:r>
          </a:p>
          <a:p>
            <a:pPr algn="just"/>
            <a:endParaRPr lang="en-US" dirty="0">
              <a:solidFill>
                <a:srgbClr val="333333"/>
              </a:solidFill>
              <a:latin typeface="inter-regular"/>
            </a:endParaRP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If the database is very large then searching, updating or deleting of record will be time-consuming because there is no sorting or ordering of records. In the heap file organization, we need to check all the data until we get the requested record.</a:t>
            </a:r>
          </a:p>
        </p:txBody>
      </p:sp>
    </p:spTree>
    <p:extLst>
      <p:ext uri="{BB962C8B-B14F-4D97-AF65-F5344CB8AC3E}">
        <p14:creationId xmlns:p14="http://schemas.microsoft.com/office/powerpoint/2010/main" val="14957269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59BAFD6-A2B1-E1A3-BFEA-5305CBBE5FC7}"/>
              </a:ext>
            </a:extLst>
          </p:cNvPr>
          <p:cNvSpPr txBox="1"/>
          <p:nvPr/>
        </p:nvSpPr>
        <p:spPr>
          <a:xfrm>
            <a:off x="1020278" y="644893"/>
            <a:ext cx="8133347" cy="4247317"/>
          </a:xfrm>
          <a:prstGeom prst="rect">
            <a:avLst/>
          </a:prstGeom>
          <a:noFill/>
        </p:spPr>
        <p:txBody>
          <a:bodyPr wrap="square">
            <a:spAutoFit/>
          </a:bodyPr>
          <a:lstStyle/>
          <a:p>
            <a:pPr algn="just"/>
            <a:r>
              <a:rPr lang="en-US" b="0" i="0" dirty="0">
                <a:solidFill>
                  <a:srgbClr val="610B38"/>
                </a:solidFill>
                <a:effectLst/>
                <a:latin typeface="erdana"/>
              </a:rPr>
              <a:t>Pros of Heap file organization</a:t>
            </a:r>
          </a:p>
          <a:p>
            <a:pPr algn="just"/>
            <a:endParaRPr lang="en-US" b="0" i="0" dirty="0">
              <a:solidFill>
                <a:srgbClr val="610B38"/>
              </a:solidFill>
              <a:effectLst/>
              <a:latin typeface="erdana"/>
            </a:endParaRPr>
          </a:p>
          <a:p>
            <a:pPr algn="just">
              <a:buFont typeface="Arial" panose="020B0604020202020204" pitchFamily="34" charset="0"/>
              <a:buChar char="•"/>
            </a:pPr>
            <a:r>
              <a:rPr lang="en-US" b="0" i="0" dirty="0">
                <a:solidFill>
                  <a:srgbClr val="000000"/>
                </a:solidFill>
                <a:effectLst/>
                <a:latin typeface="inter-regular"/>
              </a:rPr>
              <a:t>It is a very good method of file organization for bulk insertion. If there is a large number of data which needs to load into the database at a time, then this method is best suited.</a:t>
            </a:r>
          </a:p>
          <a:p>
            <a:pPr algn="just">
              <a:buFont typeface="Arial" panose="020B0604020202020204" pitchFamily="34" charset="0"/>
              <a:buChar char="•"/>
            </a:pPr>
            <a:r>
              <a:rPr lang="en-US" b="0" i="0" dirty="0">
                <a:solidFill>
                  <a:srgbClr val="000000"/>
                </a:solidFill>
                <a:effectLst/>
                <a:latin typeface="inter-regular"/>
              </a:rPr>
              <a:t>In case of a small database, fetching and retrieving of records is faster than the sequential record.</a:t>
            </a:r>
          </a:p>
          <a:p>
            <a:pPr algn="just">
              <a:buFont typeface="Arial" panose="020B0604020202020204" pitchFamily="34" charset="0"/>
              <a:buChar char="•"/>
            </a:pPr>
            <a:endParaRPr lang="en-US" dirty="0">
              <a:solidFill>
                <a:srgbClr val="000000"/>
              </a:solidFill>
              <a:latin typeface="inter-regular"/>
            </a:endParaRPr>
          </a:p>
          <a:p>
            <a:pPr algn="just">
              <a:buFont typeface="Arial" panose="020B0604020202020204" pitchFamily="34" charset="0"/>
              <a:buChar char="•"/>
            </a:pPr>
            <a:endParaRPr lang="en-US" b="0" i="0" dirty="0">
              <a:solidFill>
                <a:srgbClr val="000000"/>
              </a:solidFill>
              <a:effectLst/>
              <a:latin typeface="inter-regular"/>
            </a:endParaRPr>
          </a:p>
          <a:p>
            <a:pPr algn="just"/>
            <a:r>
              <a:rPr lang="en-US" b="0" i="0" dirty="0">
                <a:solidFill>
                  <a:srgbClr val="610B38"/>
                </a:solidFill>
                <a:effectLst/>
                <a:latin typeface="erdana"/>
              </a:rPr>
              <a:t>Cons of Heap file organization</a:t>
            </a:r>
          </a:p>
          <a:p>
            <a:pPr algn="just">
              <a:buFont typeface="Arial" panose="020B0604020202020204" pitchFamily="34" charset="0"/>
              <a:buChar char="•"/>
            </a:pPr>
            <a:r>
              <a:rPr lang="en-US" b="0" i="0" dirty="0">
                <a:solidFill>
                  <a:srgbClr val="000000"/>
                </a:solidFill>
                <a:effectLst/>
                <a:latin typeface="inter-regular"/>
              </a:rPr>
              <a:t>This method is inefficient for the large database because it takes time to search or modify the record.</a:t>
            </a:r>
          </a:p>
          <a:p>
            <a:pPr algn="just">
              <a:buFont typeface="Arial" panose="020B0604020202020204" pitchFamily="34" charset="0"/>
              <a:buChar char="•"/>
            </a:pPr>
            <a:r>
              <a:rPr lang="en-US" b="0" i="0" dirty="0">
                <a:solidFill>
                  <a:srgbClr val="000000"/>
                </a:solidFill>
                <a:effectLst/>
                <a:latin typeface="inter-regular"/>
              </a:rPr>
              <a:t>This method is inefficient for large databases.</a:t>
            </a:r>
          </a:p>
          <a:p>
            <a:r>
              <a:rPr lang="en-US" dirty="0"/>
              <a:t/>
            </a:r>
            <a:br>
              <a:rPr lang="en-US" dirty="0"/>
            </a:br>
            <a:endParaRPr lang="en-IN" dirty="0"/>
          </a:p>
        </p:txBody>
      </p:sp>
    </p:spTree>
    <p:extLst>
      <p:ext uri="{BB962C8B-B14F-4D97-AF65-F5344CB8AC3E}">
        <p14:creationId xmlns:p14="http://schemas.microsoft.com/office/powerpoint/2010/main" val="14828003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C487232F-5723-1849-4EA1-4BD459504AF7}"/>
              </a:ext>
            </a:extLst>
          </p:cNvPr>
          <p:cNvSpPr txBox="1"/>
          <p:nvPr/>
        </p:nvSpPr>
        <p:spPr>
          <a:xfrm>
            <a:off x="981776" y="225997"/>
            <a:ext cx="9567511" cy="2031325"/>
          </a:xfrm>
          <a:prstGeom prst="rect">
            <a:avLst/>
          </a:prstGeom>
          <a:noFill/>
        </p:spPr>
        <p:txBody>
          <a:bodyPr wrap="square">
            <a:spAutoFit/>
          </a:bodyPr>
          <a:lstStyle/>
          <a:p>
            <a:pPr algn="ctr"/>
            <a:r>
              <a:rPr lang="en-US" b="0" i="0" dirty="0">
                <a:solidFill>
                  <a:srgbClr val="610B38"/>
                </a:solidFill>
                <a:effectLst/>
                <a:latin typeface="erdana"/>
              </a:rPr>
              <a:t>Hash File Organization</a:t>
            </a:r>
          </a:p>
          <a:p>
            <a:pPr algn="ctr"/>
            <a:endParaRPr lang="en-US" dirty="0">
              <a:solidFill>
                <a:srgbClr val="610B38"/>
              </a:solidFill>
              <a:latin typeface="erdana"/>
            </a:endParaRPr>
          </a:p>
          <a:p>
            <a:pPr algn="ctr"/>
            <a:endParaRPr lang="en-US" b="0" i="0" dirty="0">
              <a:solidFill>
                <a:srgbClr val="610B38"/>
              </a:solidFill>
              <a:effectLst/>
              <a:latin typeface="erdana"/>
            </a:endParaRPr>
          </a:p>
          <a:p>
            <a:pPr algn="just"/>
            <a:r>
              <a:rPr lang="en-US" b="0" i="0" dirty="0">
                <a:solidFill>
                  <a:srgbClr val="333333"/>
                </a:solidFill>
                <a:effectLst/>
                <a:latin typeface="inter-regular"/>
              </a:rPr>
              <a:t>Hash File Organization uses the computation of hash function on some fields of the records. The hash function's output determines the location of disk block where the records are to be placed.</a:t>
            </a:r>
          </a:p>
          <a:p>
            <a:r>
              <a:rPr lang="en-US" dirty="0"/>
              <a:t/>
            </a:r>
            <a:br>
              <a:rPr lang="en-US" dirty="0"/>
            </a:br>
            <a:endParaRPr lang="en-IN" dirty="0"/>
          </a:p>
        </p:txBody>
      </p:sp>
      <p:pic>
        <p:nvPicPr>
          <p:cNvPr id="3074" name="Picture 2" descr="DBMS Hash File Organization">
            <a:extLst>
              <a:ext uri="{FF2B5EF4-FFF2-40B4-BE49-F238E27FC236}">
                <a16:creationId xmlns:a16="http://schemas.microsoft.com/office/drawing/2014/main" xmlns="" id="{44A3EC9D-C66C-3C11-10A5-A232FAC3C5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7240" y="2257322"/>
            <a:ext cx="5219700" cy="32385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D9E32857-B507-168B-2B71-9B7DFB26F29C}"/>
              </a:ext>
            </a:extLst>
          </p:cNvPr>
          <p:cNvSpPr txBox="1"/>
          <p:nvPr/>
        </p:nvSpPr>
        <p:spPr>
          <a:xfrm>
            <a:off x="365761" y="2453700"/>
            <a:ext cx="6102416" cy="3416320"/>
          </a:xfrm>
          <a:prstGeom prst="rect">
            <a:avLst/>
          </a:prstGeom>
          <a:noFill/>
        </p:spPr>
        <p:txBody>
          <a:bodyPr wrap="square">
            <a:spAutoFit/>
          </a:bodyPr>
          <a:lstStyle/>
          <a:p>
            <a:pPr algn="just"/>
            <a:r>
              <a:rPr lang="en-US" b="0" i="0" dirty="0">
                <a:solidFill>
                  <a:srgbClr val="333333"/>
                </a:solidFill>
                <a:effectLst/>
                <a:latin typeface="inter-regular"/>
              </a:rPr>
              <a:t>When a record has to be received using the hash key columns, then the address is generated, and the whole record is retrieved using that address. In the same way, when a new record has to be inserted, then the address is generated using the hash key and record is directly inserted. The same process is applied in the case of delete and update.</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In this method, there is no effort for searching and sorting the entire file. In this method, each record will be stored randomly in the memory.</a:t>
            </a:r>
          </a:p>
          <a:p>
            <a:r>
              <a:rPr lang="en-US" dirty="0"/>
              <a:t/>
            </a:r>
            <a:br>
              <a:rPr lang="en-US" dirty="0"/>
            </a:br>
            <a:endParaRPr lang="en-IN" dirty="0"/>
          </a:p>
        </p:txBody>
      </p:sp>
    </p:spTree>
    <p:extLst>
      <p:ext uri="{BB962C8B-B14F-4D97-AF65-F5344CB8AC3E}">
        <p14:creationId xmlns:p14="http://schemas.microsoft.com/office/powerpoint/2010/main" val="34165809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DBMS Hash File Organization">
            <a:extLst>
              <a:ext uri="{FF2B5EF4-FFF2-40B4-BE49-F238E27FC236}">
                <a16:creationId xmlns:a16="http://schemas.microsoft.com/office/drawing/2014/main" xmlns="" id="{8E57CA29-5FD3-A96D-2EC4-550A03D870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6192" y="743852"/>
            <a:ext cx="5943600" cy="371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38399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57A19C70-48A3-E46E-B2EA-85ADA9D65795}"/>
              </a:ext>
            </a:extLst>
          </p:cNvPr>
          <p:cNvSpPr txBox="1"/>
          <p:nvPr/>
        </p:nvSpPr>
        <p:spPr>
          <a:xfrm>
            <a:off x="154005" y="268243"/>
            <a:ext cx="11569566" cy="1754326"/>
          </a:xfrm>
          <a:prstGeom prst="rect">
            <a:avLst/>
          </a:prstGeom>
          <a:noFill/>
        </p:spPr>
        <p:txBody>
          <a:bodyPr wrap="square">
            <a:spAutoFit/>
          </a:bodyPr>
          <a:lstStyle/>
          <a:p>
            <a:pPr algn="ctr"/>
            <a:r>
              <a:rPr lang="en-US" b="0" i="0" dirty="0">
                <a:solidFill>
                  <a:srgbClr val="610B38"/>
                </a:solidFill>
                <a:effectLst/>
                <a:latin typeface="erdana"/>
              </a:rPr>
              <a:t>Indexed sequential access method (ISAM)</a:t>
            </a:r>
          </a:p>
          <a:p>
            <a:pPr algn="ctr"/>
            <a:endParaRPr lang="en-US" dirty="0">
              <a:solidFill>
                <a:srgbClr val="610B38"/>
              </a:solidFill>
              <a:latin typeface="erdana"/>
            </a:endParaRPr>
          </a:p>
          <a:p>
            <a:pPr algn="ctr"/>
            <a:endParaRPr lang="en-US" b="0" i="0" dirty="0">
              <a:solidFill>
                <a:srgbClr val="610B38"/>
              </a:solidFill>
              <a:effectLst/>
              <a:latin typeface="erdana"/>
            </a:endParaRPr>
          </a:p>
          <a:p>
            <a:pPr algn="just"/>
            <a:r>
              <a:rPr lang="en-US" b="0" i="0" dirty="0">
                <a:solidFill>
                  <a:srgbClr val="333333"/>
                </a:solidFill>
                <a:effectLst/>
                <a:latin typeface="inter-regular"/>
              </a:rPr>
              <a:t>ISAM method is an advanced sequential file organization. In this method, records are stored in the file using the primary key. An index value is generated for each primary key and mapped with the record. This index contains the address of the record in the file.</a:t>
            </a:r>
          </a:p>
        </p:txBody>
      </p:sp>
      <p:pic>
        <p:nvPicPr>
          <p:cNvPr id="5122" name="Picture 2" descr="DBMS Indexed sequential access method">
            <a:extLst>
              <a:ext uri="{FF2B5EF4-FFF2-40B4-BE49-F238E27FC236}">
                <a16:creationId xmlns:a16="http://schemas.microsoft.com/office/drawing/2014/main" xmlns="" id="{620912B2-7866-7683-B1CB-A9B92E8D1B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2421" y="2191001"/>
            <a:ext cx="5391150" cy="34385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3C58F4B9-F873-E6C4-EE36-A06179BB547D}"/>
              </a:ext>
            </a:extLst>
          </p:cNvPr>
          <p:cNvSpPr txBox="1"/>
          <p:nvPr/>
        </p:nvSpPr>
        <p:spPr>
          <a:xfrm>
            <a:off x="154005" y="2618419"/>
            <a:ext cx="6102416" cy="923330"/>
          </a:xfrm>
          <a:prstGeom prst="rect">
            <a:avLst/>
          </a:prstGeom>
          <a:noFill/>
        </p:spPr>
        <p:txBody>
          <a:bodyPr wrap="square">
            <a:spAutoFit/>
          </a:bodyPr>
          <a:lstStyle/>
          <a:p>
            <a:r>
              <a:rPr lang="en-US" b="0" i="0" dirty="0">
                <a:solidFill>
                  <a:srgbClr val="333333"/>
                </a:solidFill>
                <a:effectLst/>
                <a:latin typeface="inter-regular"/>
              </a:rPr>
              <a:t>If any record has to be retrieved based on its index value, then the address of the data block is fetched and the record is retrieved from the memory.</a:t>
            </a:r>
            <a:endParaRPr lang="en-IN" dirty="0"/>
          </a:p>
        </p:txBody>
      </p:sp>
    </p:spTree>
    <p:extLst>
      <p:ext uri="{BB962C8B-B14F-4D97-AF65-F5344CB8AC3E}">
        <p14:creationId xmlns:p14="http://schemas.microsoft.com/office/powerpoint/2010/main" val="32121253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578C278-6B0A-B224-F099-A1F2735FF92A}"/>
              </a:ext>
            </a:extLst>
          </p:cNvPr>
          <p:cNvSpPr txBox="1"/>
          <p:nvPr/>
        </p:nvSpPr>
        <p:spPr>
          <a:xfrm>
            <a:off x="1289785" y="394636"/>
            <a:ext cx="9596388" cy="1754326"/>
          </a:xfrm>
          <a:prstGeom prst="rect">
            <a:avLst/>
          </a:prstGeom>
          <a:noFill/>
        </p:spPr>
        <p:txBody>
          <a:bodyPr wrap="square">
            <a:spAutoFit/>
          </a:bodyPr>
          <a:lstStyle/>
          <a:p>
            <a:pPr algn="just">
              <a:buFont typeface="Arial" panose="020B0604020202020204" pitchFamily="34" charset="0"/>
              <a:buChar char="•"/>
            </a:pPr>
            <a:r>
              <a:rPr lang="en-US" b="0" i="0" dirty="0">
                <a:solidFill>
                  <a:srgbClr val="000000"/>
                </a:solidFill>
                <a:effectLst/>
                <a:latin typeface="inter-regular"/>
              </a:rPr>
              <a:t>In this method, each record has the address of its data block, searching a record in a huge database is quick and easy.</a:t>
            </a:r>
          </a:p>
          <a:p>
            <a:pPr algn="just">
              <a:buFont typeface="Arial" panose="020B0604020202020204" pitchFamily="34" charset="0"/>
              <a:buChar char="•"/>
            </a:pP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This method supports range retrieval and partial retrieval of records. Since the index is based on the primary key values, we can retrieve the data for the given range of value. In the same way, the partial value can also be easily searched, i.e., the student name starting with 'JA' can be easily searched.</a:t>
            </a:r>
          </a:p>
        </p:txBody>
      </p:sp>
      <p:sp>
        <p:nvSpPr>
          <p:cNvPr id="5" name="TextBox 4">
            <a:extLst>
              <a:ext uri="{FF2B5EF4-FFF2-40B4-BE49-F238E27FC236}">
                <a16:creationId xmlns:a16="http://schemas.microsoft.com/office/drawing/2014/main" xmlns="" id="{84ECDAD4-D604-91BA-BC79-A6A9BF60C7C6}"/>
              </a:ext>
            </a:extLst>
          </p:cNvPr>
          <p:cNvSpPr txBox="1"/>
          <p:nvPr/>
        </p:nvSpPr>
        <p:spPr>
          <a:xfrm>
            <a:off x="1289785" y="2744070"/>
            <a:ext cx="9384631" cy="2585323"/>
          </a:xfrm>
          <a:prstGeom prst="rect">
            <a:avLst/>
          </a:prstGeom>
          <a:noFill/>
        </p:spPr>
        <p:txBody>
          <a:bodyPr wrap="square">
            <a:spAutoFit/>
          </a:bodyPr>
          <a:lstStyle/>
          <a:p>
            <a:pPr algn="just"/>
            <a:r>
              <a:rPr lang="en-US" b="0" i="0" dirty="0">
                <a:solidFill>
                  <a:srgbClr val="610B38"/>
                </a:solidFill>
                <a:effectLst/>
                <a:latin typeface="erdana"/>
              </a:rPr>
              <a:t>Cons of ISAM</a:t>
            </a:r>
          </a:p>
          <a:p>
            <a:pPr algn="just"/>
            <a:endParaRPr lang="en-US" b="0" i="0" dirty="0">
              <a:solidFill>
                <a:srgbClr val="610B38"/>
              </a:solidFill>
              <a:effectLst/>
              <a:latin typeface="erdana"/>
            </a:endParaRPr>
          </a:p>
          <a:p>
            <a:pPr algn="just">
              <a:buFont typeface="Arial" panose="020B0604020202020204" pitchFamily="34" charset="0"/>
              <a:buChar char="•"/>
            </a:pPr>
            <a:r>
              <a:rPr lang="en-US" b="0" i="0" dirty="0">
                <a:solidFill>
                  <a:srgbClr val="000000"/>
                </a:solidFill>
                <a:effectLst/>
                <a:latin typeface="inter-regular"/>
              </a:rPr>
              <a:t>This method requires extra space in the disk to store the index value.</a:t>
            </a:r>
          </a:p>
          <a:p>
            <a:pPr algn="just">
              <a:buFont typeface="Arial" panose="020B0604020202020204" pitchFamily="34" charset="0"/>
              <a:buChar char="•"/>
            </a:pP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When the new records are inserted, then these files have to be reconstructed to maintain the sequence.</a:t>
            </a:r>
          </a:p>
          <a:p>
            <a:pPr algn="just">
              <a:buFont typeface="Arial" panose="020B0604020202020204" pitchFamily="34" charset="0"/>
              <a:buChar char="•"/>
            </a:pP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When the record is deleted, then the space used by it needs to be released. Otherwise, the performance of the database will slow down.</a:t>
            </a:r>
          </a:p>
        </p:txBody>
      </p:sp>
    </p:spTree>
    <p:extLst>
      <p:ext uri="{BB962C8B-B14F-4D97-AF65-F5344CB8AC3E}">
        <p14:creationId xmlns:p14="http://schemas.microsoft.com/office/powerpoint/2010/main" val="3438525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F7A31C19-90C9-6000-AE4D-A009C3FB4018}"/>
              </a:ext>
            </a:extLst>
          </p:cNvPr>
          <p:cNvSpPr txBox="1"/>
          <p:nvPr/>
        </p:nvSpPr>
        <p:spPr>
          <a:xfrm>
            <a:off x="4735630" y="94466"/>
            <a:ext cx="6102416" cy="369332"/>
          </a:xfrm>
          <a:prstGeom prst="rect">
            <a:avLst/>
          </a:prstGeom>
          <a:noFill/>
        </p:spPr>
        <p:txBody>
          <a:bodyPr wrap="square">
            <a:spAutoFit/>
          </a:bodyPr>
          <a:lstStyle/>
          <a:p>
            <a:pPr algn="just"/>
            <a:r>
              <a:rPr lang="en-IN" b="0" i="0" dirty="0">
                <a:solidFill>
                  <a:srgbClr val="610B38"/>
                </a:solidFill>
                <a:effectLst/>
                <a:latin typeface="erdana"/>
              </a:rPr>
              <a:t>Indexing in DBMS</a:t>
            </a:r>
          </a:p>
        </p:txBody>
      </p:sp>
      <p:sp>
        <p:nvSpPr>
          <p:cNvPr id="5" name="TextBox 4">
            <a:extLst>
              <a:ext uri="{FF2B5EF4-FFF2-40B4-BE49-F238E27FC236}">
                <a16:creationId xmlns:a16="http://schemas.microsoft.com/office/drawing/2014/main" xmlns="" id="{414B0BF0-A9DB-0FA4-015D-53B2E3D5257E}"/>
              </a:ext>
            </a:extLst>
          </p:cNvPr>
          <p:cNvSpPr txBox="1"/>
          <p:nvPr/>
        </p:nvSpPr>
        <p:spPr>
          <a:xfrm>
            <a:off x="577517" y="714751"/>
            <a:ext cx="11146054" cy="1200329"/>
          </a:xfrm>
          <a:prstGeom prst="rect">
            <a:avLst/>
          </a:prstGeom>
          <a:noFill/>
        </p:spPr>
        <p:txBody>
          <a:bodyPr wrap="square">
            <a:spAutoFit/>
          </a:bodyPr>
          <a:lstStyle/>
          <a:p>
            <a:pPr algn="just">
              <a:buFont typeface="Arial" panose="020B0604020202020204" pitchFamily="34" charset="0"/>
              <a:buChar char="•"/>
            </a:pPr>
            <a:r>
              <a:rPr lang="en-US" b="0" i="0" dirty="0">
                <a:solidFill>
                  <a:srgbClr val="000000"/>
                </a:solidFill>
                <a:effectLst/>
                <a:latin typeface="inter-regular"/>
              </a:rPr>
              <a:t>Indexing is used to optimize the performance of a database by minimizing the number of disk accesses required when a query is processed.</a:t>
            </a:r>
          </a:p>
          <a:p>
            <a:pPr algn="just">
              <a:buFont typeface="Arial" panose="020B0604020202020204" pitchFamily="34" charset="0"/>
              <a:buChar char="•"/>
            </a:pP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The index is a type of data structure. It is used to locate and access the data in a database table quickly.</a:t>
            </a:r>
          </a:p>
        </p:txBody>
      </p:sp>
      <p:sp>
        <p:nvSpPr>
          <p:cNvPr id="7" name="Rectangle 3">
            <a:extLst>
              <a:ext uri="{FF2B5EF4-FFF2-40B4-BE49-F238E27FC236}">
                <a16:creationId xmlns:a16="http://schemas.microsoft.com/office/drawing/2014/main" xmlns="" id="{6999F450-72DC-1ADE-ECBA-D4FACA541808}"/>
              </a:ext>
            </a:extLst>
          </p:cNvPr>
          <p:cNvSpPr>
            <a:spLocks noChangeArrowheads="1"/>
          </p:cNvSpPr>
          <p:nvPr/>
        </p:nvSpPr>
        <p:spPr bwMode="auto">
          <a:xfrm>
            <a:off x="367633" y="2639328"/>
            <a:ext cx="11146054" cy="357020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610B38"/>
                </a:solidFill>
                <a:effectLst/>
                <a:latin typeface="erdana"/>
              </a:rPr>
              <a:t>Index structure: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33333"/>
                </a:solidFill>
                <a:effectLst/>
                <a:latin typeface="inter-regular"/>
              </a:rPr>
              <a:t>Indexes can be created using some database columns.</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80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
            </a:r>
            <a:br>
              <a:rPr kumimoji="0" lang="en-US" altLang="en-US" sz="2400" b="0" i="0" u="none" strike="noStrike" cap="none" normalizeH="0" baseline="0" dirty="0">
                <a:ln>
                  <a:noFill/>
                </a:ln>
                <a:solidFill>
                  <a:schemeClr val="tx1"/>
                </a:solidFill>
                <a:effectLst/>
                <a:latin typeface="Arial" panose="020B0604020202020204" pitchFamily="34" charset="0"/>
              </a:rPr>
            </a:br>
            <a:endParaRPr lang="en-US" altLang="en-US" sz="2400" dirty="0"/>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inter-regular"/>
              </a:rPr>
              <a:t>The first column of the database is the search key that contains a copy of the primary key or candidate key of the table. The values of the primary key are stored in sorted order so that the corresponding data can be accessed easily.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inter-regular"/>
              </a:rPr>
              <a:t>The second column of the database is the data reference. It contains a set of pointers holding the address of the disk block where the value of the particular key can be found.</a:t>
            </a:r>
            <a:endParaRPr kumimoji="0" lang="en-US" altLang="en-US" sz="1600" b="0" i="0" u="none" strike="noStrike" cap="none" normalizeH="0" baseline="0" dirty="0">
              <a:ln>
                <a:noFill/>
              </a:ln>
              <a:solidFill>
                <a:srgbClr val="333333"/>
              </a:solidFill>
              <a:effectLst/>
              <a:latin typeface="inter-regula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148" name="Picture 4" descr="DBMS Indexing in DBMS">
            <a:extLst>
              <a:ext uri="{FF2B5EF4-FFF2-40B4-BE49-F238E27FC236}">
                <a16:creationId xmlns:a16="http://schemas.microsoft.com/office/drawing/2014/main" xmlns="" id="{A129C600-86F7-B29A-57F4-B9549279ED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633" y="3429000"/>
            <a:ext cx="2762250" cy="1095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02008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DBMS Indexing in DBMS">
            <a:extLst>
              <a:ext uri="{FF2B5EF4-FFF2-40B4-BE49-F238E27FC236}">
                <a16:creationId xmlns:a16="http://schemas.microsoft.com/office/drawing/2014/main" xmlns="" id="{AA76F196-B6C9-F4E2-5A97-15B19671CE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54" y="2036228"/>
            <a:ext cx="6143625" cy="29337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xmlns="" id="{A242C48A-FAFC-AA1A-C0DC-1FB37AF06170}"/>
              </a:ext>
            </a:extLst>
          </p:cNvPr>
          <p:cNvSpPr txBox="1"/>
          <p:nvPr/>
        </p:nvSpPr>
        <p:spPr>
          <a:xfrm>
            <a:off x="4985886" y="-490250"/>
            <a:ext cx="6102416" cy="1692771"/>
          </a:xfrm>
          <a:prstGeom prst="rect">
            <a:avLst/>
          </a:prstGeom>
          <a:noFill/>
        </p:spPr>
        <p:txBody>
          <a:bodyPr wrap="square">
            <a:spAutoFit/>
          </a:bodyPr>
          <a:lstStyle/>
          <a:p>
            <a:pPr defTabSz="914400" eaLnBrk="0" fontAlgn="base" hangingPunct="0">
              <a:spcBef>
                <a:spcPct val="0"/>
              </a:spcBef>
              <a:spcAft>
                <a:spcPct val="0"/>
              </a:spcAft>
            </a:pPr>
            <a:r>
              <a:rPr kumimoji="0" lang="en-US" altLang="en-US" sz="1800" b="0" i="0" u="none" strike="noStrike" cap="none" normalizeH="0" baseline="0" dirty="0">
                <a:ln>
                  <a:noFill/>
                </a:ln>
                <a:solidFill>
                  <a:srgbClr val="610B38"/>
                </a:solidFill>
                <a:effectLst/>
                <a:latin typeface="erdana"/>
              </a:rPr>
              <a:t>Indexing Methods</a:t>
            </a:r>
            <a:r>
              <a:rPr kumimoji="0" lang="en-US" altLang="en-US" sz="10400" b="0" i="0" u="none" strike="noStrike" cap="none" normalizeH="0" baseline="0" dirty="0">
                <a:ln>
                  <a:noFill/>
                </a:ln>
                <a:solidFill>
                  <a:schemeClr val="tx1"/>
                </a:solidFill>
                <a:effectLst/>
              </a:rPr>
              <a:t>    </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625221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32812CBC-E701-332B-310E-85C31886C8BE}"/>
              </a:ext>
            </a:extLst>
          </p:cNvPr>
          <p:cNvSpPr txBox="1"/>
          <p:nvPr/>
        </p:nvSpPr>
        <p:spPr>
          <a:xfrm>
            <a:off x="539015" y="299775"/>
            <a:ext cx="10077650" cy="3693319"/>
          </a:xfrm>
          <a:prstGeom prst="rect">
            <a:avLst/>
          </a:prstGeom>
          <a:noFill/>
        </p:spPr>
        <p:txBody>
          <a:bodyPr wrap="square">
            <a:spAutoFit/>
          </a:bodyPr>
          <a:lstStyle/>
          <a:p>
            <a:pPr algn="just"/>
            <a:r>
              <a:rPr lang="en-US" b="0" i="0" dirty="0">
                <a:solidFill>
                  <a:srgbClr val="610B4B"/>
                </a:solidFill>
                <a:effectLst/>
                <a:latin typeface="erdana"/>
              </a:rPr>
              <a:t>Ordered indices</a:t>
            </a:r>
          </a:p>
          <a:p>
            <a:pPr algn="just"/>
            <a:r>
              <a:rPr lang="en-US" b="0" i="0" dirty="0">
                <a:solidFill>
                  <a:srgbClr val="333333"/>
                </a:solidFill>
                <a:effectLst/>
                <a:latin typeface="inter-regular"/>
              </a:rPr>
              <a:t>The indices are usually sorted to make searching faster. The indices which are sorted are known as ordered indices.</a:t>
            </a:r>
          </a:p>
          <a:p>
            <a:pPr algn="just"/>
            <a:endParaRPr lang="en-US" dirty="0">
              <a:solidFill>
                <a:srgbClr val="333333"/>
              </a:solidFill>
              <a:latin typeface="inter-regular"/>
            </a:endParaRPr>
          </a:p>
          <a:p>
            <a:pPr algn="just"/>
            <a:endParaRPr lang="en-US" b="0" i="0" dirty="0">
              <a:solidFill>
                <a:srgbClr val="333333"/>
              </a:solidFill>
              <a:effectLst/>
              <a:latin typeface="inter-regular"/>
            </a:endParaRPr>
          </a:p>
          <a:p>
            <a:pPr algn="just"/>
            <a:r>
              <a:rPr lang="en-US" b="1" i="0" dirty="0">
                <a:solidFill>
                  <a:srgbClr val="333333"/>
                </a:solidFill>
                <a:effectLst/>
                <a:latin typeface="inter-bold"/>
              </a:rPr>
              <a:t>Example</a:t>
            </a:r>
            <a:r>
              <a:rPr lang="en-US" b="0" i="0" dirty="0">
                <a:solidFill>
                  <a:srgbClr val="333333"/>
                </a:solidFill>
                <a:effectLst/>
                <a:latin typeface="inter-regular"/>
              </a:rPr>
              <a:t>: Suppose we have an employee table with thousands of record and each of which is 10 bytes long. If their IDs start with 1, 2, 3....and so on and we have to search student with ID-543.</a:t>
            </a:r>
          </a:p>
          <a:p>
            <a:pPr algn="just"/>
            <a:endParaRPr lang="en-US" b="0" i="0" dirty="0">
              <a:solidFill>
                <a:srgbClr val="333333"/>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In the case of a database with no index, we have to search the disk block from starting till it reaches 543. The DBMS will read the record after reading 543*10=5430 bytes.</a:t>
            </a:r>
          </a:p>
          <a:p>
            <a:pPr algn="just">
              <a:buFont typeface="Arial" panose="020B0604020202020204" pitchFamily="34" charset="0"/>
              <a:buChar char="•"/>
            </a:pP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In the case of an index, we will search using indexes and the DBMS will read the record after reading 542*2= 1084 bytes which are very less compared to the previous case.</a:t>
            </a:r>
          </a:p>
        </p:txBody>
      </p:sp>
    </p:spTree>
    <p:extLst>
      <p:ext uri="{BB962C8B-B14F-4D97-AF65-F5344CB8AC3E}">
        <p14:creationId xmlns:p14="http://schemas.microsoft.com/office/powerpoint/2010/main" val="23048081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0FAFAFC1-7D72-0AC7-64CD-DA67BFDAF04C}"/>
              </a:ext>
            </a:extLst>
          </p:cNvPr>
          <p:cNvSpPr txBox="1"/>
          <p:nvPr/>
        </p:nvSpPr>
        <p:spPr>
          <a:xfrm>
            <a:off x="308008" y="336884"/>
            <a:ext cx="8884118" cy="2308324"/>
          </a:xfrm>
          <a:prstGeom prst="rect">
            <a:avLst/>
          </a:prstGeom>
          <a:noFill/>
        </p:spPr>
        <p:txBody>
          <a:bodyPr wrap="square">
            <a:spAutoFit/>
          </a:bodyPr>
          <a:lstStyle/>
          <a:p>
            <a:pPr algn="just"/>
            <a:r>
              <a:rPr lang="en-US" b="0" i="0" dirty="0">
                <a:solidFill>
                  <a:srgbClr val="610B4B"/>
                </a:solidFill>
                <a:effectLst/>
                <a:latin typeface="erdana"/>
              </a:rPr>
              <a:t>Primary Index</a:t>
            </a:r>
          </a:p>
          <a:p>
            <a:pPr algn="just">
              <a:buFont typeface="Arial" panose="020B0604020202020204" pitchFamily="34" charset="0"/>
              <a:buChar char="•"/>
            </a:pPr>
            <a:r>
              <a:rPr lang="en-US" b="0" i="0" dirty="0">
                <a:solidFill>
                  <a:srgbClr val="000000"/>
                </a:solidFill>
                <a:effectLst/>
                <a:latin typeface="inter-regular"/>
              </a:rPr>
              <a:t>If the index is created on the basis of the primary key of the table, then it is known as primary indexing. These primary keys are unique to each record and contain 1:1 relation between the records.</a:t>
            </a:r>
          </a:p>
          <a:p>
            <a:pPr algn="just">
              <a:buFont typeface="Arial" panose="020B0604020202020204" pitchFamily="34" charset="0"/>
              <a:buChar char="•"/>
            </a:pPr>
            <a:r>
              <a:rPr lang="en-US" b="0" i="0" dirty="0">
                <a:solidFill>
                  <a:srgbClr val="000000"/>
                </a:solidFill>
                <a:effectLst/>
                <a:latin typeface="inter-regular"/>
              </a:rPr>
              <a:t>As primary keys are stored in sorted order, the performance of the searching operation is quite efficient.</a:t>
            </a:r>
          </a:p>
          <a:p>
            <a:pPr algn="just">
              <a:buFont typeface="Arial" panose="020B0604020202020204" pitchFamily="34" charset="0"/>
              <a:buChar char="•"/>
            </a:pP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The primary index can be classified into two types: Dense index and Sparse index.</a:t>
            </a:r>
          </a:p>
        </p:txBody>
      </p:sp>
    </p:spTree>
    <p:extLst>
      <p:ext uri="{BB962C8B-B14F-4D97-AF65-F5344CB8AC3E}">
        <p14:creationId xmlns:p14="http://schemas.microsoft.com/office/powerpoint/2010/main" val="23929876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5A6464CE-5318-AB1A-1DAF-BCD198F17CA0}"/>
              </a:ext>
            </a:extLst>
          </p:cNvPr>
          <p:cNvSpPr txBox="1"/>
          <p:nvPr/>
        </p:nvSpPr>
        <p:spPr>
          <a:xfrm>
            <a:off x="529389" y="395506"/>
            <a:ext cx="11088303" cy="2031325"/>
          </a:xfrm>
          <a:prstGeom prst="rect">
            <a:avLst/>
          </a:prstGeom>
          <a:noFill/>
        </p:spPr>
        <p:txBody>
          <a:bodyPr wrap="square">
            <a:spAutoFit/>
          </a:bodyPr>
          <a:lstStyle/>
          <a:p>
            <a:pPr algn="just"/>
            <a:r>
              <a:rPr lang="en-US" b="0" i="0" dirty="0">
                <a:solidFill>
                  <a:srgbClr val="610B4B"/>
                </a:solidFill>
                <a:effectLst/>
                <a:latin typeface="erdana"/>
              </a:rPr>
              <a:t>Dense index</a:t>
            </a:r>
          </a:p>
          <a:p>
            <a:pPr algn="just">
              <a:buFont typeface="Arial" panose="020B0604020202020204" pitchFamily="34" charset="0"/>
              <a:buChar char="•"/>
            </a:pPr>
            <a:r>
              <a:rPr lang="en-US" b="0" i="0" dirty="0">
                <a:solidFill>
                  <a:srgbClr val="000000"/>
                </a:solidFill>
                <a:effectLst/>
                <a:latin typeface="inter-regular"/>
              </a:rPr>
              <a:t>The dense index contains an index record for every search key value in the data file. It makes searching faster.</a:t>
            </a:r>
          </a:p>
          <a:p>
            <a:pPr algn="just">
              <a:buFont typeface="Arial" panose="020B0604020202020204" pitchFamily="34" charset="0"/>
              <a:buChar char="•"/>
            </a:pP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In this, the number of records in the index table is same as the number of records in the main table.</a:t>
            </a:r>
          </a:p>
          <a:p>
            <a:pPr algn="just">
              <a:buFont typeface="Arial" panose="020B0604020202020204" pitchFamily="34" charset="0"/>
              <a:buChar char="•"/>
            </a:pP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It needs more space to store index record itself. The index records have the search key and a pointer to the actual record on the disk.</a:t>
            </a:r>
          </a:p>
        </p:txBody>
      </p:sp>
      <p:pic>
        <p:nvPicPr>
          <p:cNvPr id="8194" name="Picture 2" descr="DBMS Indexing in DBMS">
            <a:extLst>
              <a:ext uri="{FF2B5EF4-FFF2-40B4-BE49-F238E27FC236}">
                <a16:creationId xmlns:a16="http://schemas.microsoft.com/office/drawing/2014/main" xmlns="" id="{6A9DD992-1D06-2A29-BE4D-772DC50310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2690813"/>
            <a:ext cx="5943600" cy="1476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97191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39ECDD42-5C50-F7A1-F826-098C721BFA15}"/>
              </a:ext>
            </a:extLst>
          </p:cNvPr>
          <p:cNvSpPr txBox="1"/>
          <p:nvPr/>
        </p:nvSpPr>
        <p:spPr>
          <a:xfrm>
            <a:off x="539015" y="233488"/>
            <a:ext cx="10789920" cy="1477328"/>
          </a:xfrm>
          <a:prstGeom prst="rect">
            <a:avLst/>
          </a:prstGeom>
          <a:noFill/>
        </p:spPr>
        <p:txBody>
          <a:bodyPr wrap="square">
            <a:spAutoFit/>
          </a:bodyPr>
          <a:lstStyle/>
          <a:p>
            <a:pPr algn="just"/>
            <a:r>
              <a:rPr lang="en-US" b="0" i="0" dirty="0">
                <a:solidFill>
                  <a:srgbClr val="610B4B"/>
                </a:solidFill>
                <a:effectLst/>
                <a:latin typeface="erdana"/>
              </a:rPr>
              <a:t>Sparse index</a:t>
            </a:r>
          </a:p>
          <a:p>
            <a:pPr algn="just"/>
            <a:endParaRPr lang="en-US" b="0" i="0" dirty="0">
              <a:solidFill>
                <a:srgbClr val="610B4B"/>
              </a:solidFill>
              <a:effectLst/>
              <a:latin typeface="erdana"/>
            </a:endParaRPr>
          </a:p>
          <a:p>
            <a:pPr algn="just">
              <a:buFont typeface="Arial" panose="020B0604020202020204" pitchFamily="34" charset="0"/>
              <a:buChar char="•"/>
            </a:pPr>
            <a:r>
              <a:rPr lang="en-US" b="0" i="0" dirty="0">
                <a:solidFill>
                  <a:srgbClr val="000000"/>
                </a:solidFill>
                <a:effectLst/>
                <a:latin typeface="inter-regular"/>
              </a:rPr>
              <a:t>In the data file, index record appears only for a few items. Each item points to a block.</a:t>
            </a:r>
          </a:p>
          <a:p>
            <a:pPr algn="just">
              <a:buFont typeface="Arial" panose="020B0604020202020204" pitchFamily="34" charset="0"/>
              <a:buChar char="•"/>
            </a:pPr>
            <a:r>
              <a:rPr lang="en-US" b="0" i="0" dirty="0">
                <a:solidFill>
                  <a:srgbClr val="000000"/>
                </a:solidFill>
                <a:effectLst/>
                <a:latin typeface="inter-regular"/>
              </a:rPr>
              <a:t>In this, instead of pointing to each record in the main table, the index points to the records in the main table in a gap.</a:t>
            </a:r>
          </a:p>
        </p:txBody>
      </p:sp>
      <p:pic>
        <p:nvPicPr>
          <p:cNvPr id="9218" name="Picture 2" descr="DBMS Indexing in DBMS">
            <a:extLst>
              <a:ext uri="{FF2B5EF4-FFF2-40B4-BE49-F238E27FC236}">
                <a16:creationId xmlns:a16="http://schemas.microsoft.com/office/drawing/2014/main" xmlns="" id="{B2877ED1-C557-2278-AF52-9C34DF0743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2175" y="1905902"/>
            <a:ext cx="5943600" cy="1390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44051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016A03D1-2BF3-DBD5-557F-6EF545D4E460}"/>
              </a:ext>
            </a:extLst>
          </p:cNvPr>
          <p:cNvSpPr txBox="1"/>
          <p:nvPr/>
        </p:nvSpPr>
        <p:spPr>
          <a:xfrm>
            <a:off x="346509" y="327259"/>
            <a:ext cx="11136430" cy="2862322"/>
          </a:xfrm>
          <a:prstGeom prst="rect">
            <a:avLst/>
          </a:prstGeom>
          <a:noFill/>
        </p:spPr>
        <p:txBody>
          <a:bodyPr wrap="square">
            <a:spAutoFit/>
          </a:bodyPr>
          <a:lstStyle/>
          <a:p>
            <a:pPr algn="just"/>
            <a:r>
              <a:rPr lang="en-US" b="0" i="0" dirty="0">
                <a:solidFill>
                  <a:srgbClr val="610B4B"/>
                </a:solidFill>
                <a:effectLst/>
                <a:latin typeface="erdana"/>
              </a:rPr>
              <a:t>Clustering Index</a:t>
            </a:r>
          </a:p>
          <a:p>
            <a:pPr algn="just">
              <a:buFont typeface="Arial" panose="020B0604020202020204" pitchFamily="34" charset="0"/>
              <a:buChar char="•"/>
            </a:pPr>
            <a:r>
              <a:rPr lang="en-US" b="0" i="0" dirty="0">
                <a:solidFill>
                  <a:srgbClr val="000000"/>
                </a:solidFill>
                <a:effectLst/>
                <a:latin typeface="inter-regular"/>
              </a:rPr>
              <a:t>A clustered index can be defined as an ordered data file. Sometimes the index is created on non-primary key columns which may not be unique for each record.</a:t>
            </a:r>
          </a:p>
          <a:p>
            <a:pPr algn="just">
              <a:buFont typeface="Arial" panose="020B0604020202020204" pitchFamily="34" charset="0"/>
              <a:buChar char="•"/>
            </a:pPr>
            <a:r>
              <a:rPr lang="en-US" b="0" i="0" dirty="0">
                <a:solidFill>
                  <a:srgbClr val="000000"/>
                </a:solidFill>
                <a:effectLst/>
                <a:latin typeface="inter-regular"/>
              </a:rPr>
              <a:t>In this case, to identify the record faster, we will group two or more columns to get the unique value and create index out of them. This method is called a clustering index.</a:t>
            </a:r>
          </a:p>
          <a:p>
            <a:pPr algn="just">
              <a:buFont typeface="Arial" panose="020B0604020202020204" pitchFamily="34" charset="0"/>
              <a:buChar char="•"/>
            </a:pPr>
            <a:r>
              <a:rPr lang="en-US" b="0" i="0" dirty="0">
                <a:solidFill>
                  <a:srgbClr val="000000"/>
                </a:solidFill>
                <a:effectLst/>
                <a:latin typeface="inter-regular"/>
              </a:rPr>
              <a:t>The records which have similar characteristics are grouped, and indexes are created for these group.</a:t>
            </a:r>
          </a:p>
          <a:p>
            <a:pPr algn="just">
              <a:buFont typeface="Arial" panose="020B0604020202020204" pitchFamily="34" charset="0"/>
              <a:buChar char="•"/>
            </a:pPr>
            <a:endParaRPr lang="en-US" b="0" i="0" dirty="0">
              <a:solidFill>
                <a:srgbClr val="000000"/>
              </a:solidFill>
              <a:effectLst/>
              <a:latin typeface="inter-regular"/>
            </a:endParaRPr>
          </a:p>
          <a:p>
            <a:pPr algn="just"/>
            <a:r>
              <a:rPr lang="en-US" b="1" i="0" dirty="0">
                <a:solidFill>
                  <a:srgbClr val="333333"/>
                </a:solidFill>
                <a:effectLst/>
                <a:latin typeface="inter-bold"/>
              </a:rPr>
              <a:t>Example</a:t>
            </a:r>
            <a:r>
              <a:rPr lang="en-US" b="0" i="0" dirty="0">
                <a:solidFill>
                  <a:srgbClr val="333333"/>
                </a:solidFill>
                <a:effectLst/>
                <a:latin typeface="inter-regular"/>
              </a:rPr>
              <a:t>: suppose a company contains several employees in each department. Suppose we use a clustering index, where all employees which belong to the same </a:t>
            </a:r>
            <a:r>
              <a:rPr lang="en-US" b="0" i="0" dirty="0" err="1">
                <a:solidFill>
                  <a:srgbClr val="333333"/>
                </a:solidFill>
                <a:effectLst/>
                <a:latin typeface="inter-regular"/>
              </a:rPr>
              <a:t>Dept_ID</a:t>
            </a:r>
            <a:r>
              <a:rPr lang="en-US" b="0" i="0" dirty="0">
                <a:solidFill>
                  <a:srgbClr val="333333"/>
                </a:solidFill>
                <a:effectLst/>
                <a:latin typeface="inter-regular"/>
              </a:rPr>
              <a:t> are considered within a single cluster, and index pointers point to the cluster as a whole. Here </a:t>
            </a:r>
            <a:r>
              <a:rPr lang="en-US" b="0" i="0" dirty="0" err="1">
                <a:solidFill>
                  <a:srgbClr val="333333"/>
                </a:solidFill>
                <a:effectLst/>
                <a:latin typeface="inter-regular"/>
              </a:rPr>
              <a:t>Dept_Id</a:t>
            </a:r>
            <a:r>
              <a:rPr lang="en-US" b="0" i="0" dirty="0">
                <a:solidFill>
                  <a:srgbClr val="333333"/>
                </a:solidFill>
                <a:effectLst/>
                <a:latin typeface="inter-regular"/>
              </a:rPr>
              <a:t> is a non-unique key.</a:t>
            </a:r>
          </a:p>
        </p:txBody>
      </p:sp>
      <p:pic>
        <p:nvPicPr>
          <p:cNvPr id="10242" name="Picture 2" descr="DBMS Indexing in DBMS">
            <a:extLst>
              <a:ext uri="{FF2B5EF4-FFF2-40B4-BE49-F238E27FC236}">
                <a16:creationId xmlns:a16="http://schemas.microsoft.com/office/drawing/2014/main" xmlns="" id="{E4A3041B-B70C-1055-CA4B-DAAFB63E8A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0473" y="3092576"/>
            <a:ext cx="2795839" cy="324635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2845D2DC-A096-068D-3D4E-9B98C876603F}"/>
              </a:ext>
            </a:extLst>
          </p:cNvPr>
          <p:cNvSpPr txBox="1"/>
          <p:nvPr/>
        </p:nvSpPr>
        <p:spPr>
          <a:xfrm>
            <a:off x="1029904" y="4115587"/>
            <a:ext cx="6102416" cy="1200329"/>
          </a:xfrm>
          <a:prstGeom prst="rect">
            <a:avLst/>
          </a:prstGeom>
          <a:noFill/>
        </p:spPr>
        <p:txBody>
          <a:bodyPr wrap="square">
            <a:spAutoFit/>
          </a:bodyPr>
          <a:lstStyle/>
          <a:p>
            <a:r>
              <a:rPr lang="en-US" dirty="0">
                <a:solidFill>
                  <a:srgbClr val="333333"/>
                </a:solidFill>
                <a:latin typeface="inter-regular"/>
              </a:rPr>
              <a:t>This </a:t>
            </a:r>
            <a:r>
              <a:rPr lang="en-US" b="0" i="0" dirty="0">
                <a:solidFill>
                  <a:srgbClr val="333333"/>
                </a:solidFill>
                <a:effectLst/>
                <a:latin typeface="inter-regular"/>
              </a:rPr>
              <a:t>schema is little confusing because one disk block is shared by records which belong to the different cluster. If we use separate disk block for separate clusters, then it is called better technique.</a:t>
            </a:r>
            <a:endParaRPr lang="en-IN" dirty="0"/>
          </a:p>
        </p:txBody>
      </p:sp>
    </p:spTree>
    <p:extLst>
      <p:ext uri="{BB962C8B-B14F-4D97-AF65-F5344CB8AC3E}">
        <p14:creationId xmlns:p14="http://schemas.microsoft.com/office/powerpoint/2010/main" val="2142855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DBMS Indexing in DBMS">
            <a:extLst>
              <a:ext uri="{FF2B5EF4-FFF2-40B4-BE49-F238E27FC236}">
                <a16:creationId xmlns:a16="http://schemas.microsoft.com/office/drawing/2014/main" xmlns="" id="{10AB6BA1-C459-5EF1-243F-020129214A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283" y="310872"/>
            <a:ext cx="4775434" cy="5533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87756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0F974EC-E219-47FE-126B-6DC76CE2B1CF}"/>
              </a:ext>
            </a:extLst>
          </p:cNvPr>
          <p:cNvSpPr txBox="1"/>
          <p:nvPr/>
        </p:nvSpPr>
        <p:spPr>
          <a:xfrm>
            <a:off x="510138" y="394636"/>
            <a:ext cx="11059427" cy="3693319"/>
          </a:xfrm>
          <a:prstGeom prst="rect">
            <a:avLst/>
          </a:prstGeom>
          <a:noFill/>
        </p:spPr>
        <p:txBody>
          <a:bodyPr wrap="square">
            <a:spAutoFit/>
          </a:bodyPr>
          <a:lstStyle/>
          <a:p>
            <a:pPr algn="just"/>
            <a:r>
              <a:rPr lang="en-US" b="0" i="0" dirty="0">
                <a:solidFill>
                  <a:srgbClr val="610B4B"/>
                </a:solidFill>
                <a:effectLst/>
                <a:latin typeface="erdana"/>
              </a:rPr>
              <a:t>Secondary Index</a:t>
            </a:r>
          </a:p>
          <a:p>
            <a:pPr algn="just"/>
            <a:endParaRPr lang="en-US" b="0" i="0" dirty="0">
              <a:solidFill>
                <a:srgbClr val="610B4B"/>
              </a:solidFill>
              <a:effectLst/>
              <a:latin typeface="erdana"/>
            </a:endParaRPr>
          </a:p>
          <a:p>
            <a:pPr algn="just"/>
            <a:r>
              <a:rPr lang="en-US" b="0" i="0" dirty="0">
                <a:solidFill>
                  <a:srgbClr val="333333"/>
                </a:solidFill>
                <a:effectLst/>
                <a:latin typeface="inter-regular"/>
              </a:rPr>
              <a:t>In the sparse indexing, as the size of the table grows, the size of mapping also grows. These mappings are usually kept in the primary memory so that address fetch should be faster. Then the secondary memory searches the actual data based on the address got from mapping. If the mapping size grows then fetching the address itself becomes slower. In this case, the sparse index will not be efficient. To overcome this problem, secondary indexing is introduced.</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In secondary indexing, to reduce the size of mapping, another level of indexing is introduced. In this method, the huge range for the columns is selected initially so that the mapping size of the first level becomes small. Then each range is further divided into smaller ranges. The mapping of the first level is stored in the primary memory, so that address fetch is faster. The mapping of the second level and actual data are stored in the secondary memory (hard disk).</a:t>
            </a:r>
          </a:p>
        </p:txBody>
      </p:sp>
    </p:spTree>
    <p:extLst>
      <p:ext uri="{BB962C8B-B14F-4D97-AF65-F5344CB8AC3E}">
        <p14:creationId xmlns:p14="http://schemas.microsoft.com/office/powerpoint/2010/main" val="20788635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DBMS Indexing in DBMS">
            <a:extLst>
              <a:ext uri="{FF2B5EF4-FFF2-40B4-BE49-F238E27FC236}">
                <a16:creationId xmlns:a16="http://schemas.microsoft.com/office/drawing/2014/main" xmlns="" id="{65AFE069-8BB0-8AB7-CC9B-E0F6C6A15D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0042" y="114249"/>
            <a:ext cx="7527758" cy="5476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47816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33FAA8A-F3A8-8C96-941C-7225B0D74E82}"/>
              </a:ext>
            </a:extLst>
          </p:cNvPr>
          <p:cNvSpPr txBox="1"/>
          <p:nvPr/>
        </p:nvSpPr>
        <p:spPr>
          <a:xfrm>
            <a:off x="770021" y="635268"/>
            <a:ext cx="8383604" cy="3139321"/>
          </a:xfrm>
          <a:prstGeom prst="rect">
            <a:avLst/>
          </a:prstGeom>
          <a:noFill/>
        </p:spPr>
        <p:txBody>
          <a:bodyPr wrap="square">
            <a:spAutoFit/>
          </a:bodyPr>
          <a:lstStyle/>
          <a:p>
            <a:pPr algn="just"/>
            <a:r>
              <a:rPr lang="en-US" b="1" i="0" dirty="0">
                <a:solidFill>
                  <a:srgbClr val="333333"/>
                </a:solidFill>
                <a:effectLst/>
                <a:latin typeface="inter-bold"/>
              </a:rPr>
              <a:t>For example:</a:t>
            </a:r>
            <a:endParaRPr lang="en-US" b="0" i="0" dirty="0">
              <a:solidFill>
                <a:srgbClr val="333333"/>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If you want to find the record of roll 111 in the diagram, then it will search the highest entry which is smaller than or equal to 111 in the first level index. It will get 100 at this level.</a:t>
            </a:r>
          </a:p>
          <a:p>
            <a:pPr algn="just">
              <a:buFont typeface="Arial" panose="020B0604020202020204" pitchFamily="34" charset="0"/>
              <a:buChar char="•"/>
            </a:pP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Then in the second index level, again it does max (111) &lt;= 111 and gets 110. Now using the address 110, it goes to the data block and starts searching each record till it gets 111.</a:t>
            </a:r>
          </a:p>
          <a:p>
            <a:pPr algn="just">
              <a:buFont typeface="Arial" panose="020B0604020202020204" pitchFamily="34" charset="0"/>
              <a:buChar char="•"/>
            </a:pP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This is how a search is performed in this method. Inserting, updating or deleting is also done in the same manner.</a:t>
            </a:r>
          </a:p>
        </p:txBody>
      </p:sp>
    </p:spTree>
    <p:extLst>
      <p:ext uri="{BB962C8B-B14F-4D97-AF65-F5344CB8AC3E}">
        <p14:creationId xmlns:p14="http://schemas.microsoft.com/office/powerpoint/2010/main" val="40843141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358410FB-DC80-0887-9639-B4A317F1ADF0}"/>
              </a:ext>
            </a:extLst>
          </p:cNvPr>
          <p:cNvSpPr txBox="1"/>
          <p:nvPr/>
        </p:nvSpPr>
        <p:spPr>
          <a:xfrm>
            <a:off x="346509" y="798897"/>
            <a:ext cx="11184556" cy="1200329"/>
          </a:xfrm>
          <a:prstGeom prst="rect">
            <a:avLst/>
          </a:prstGeom>
          <a:noFill/>
        </p:spPr>
        <p:txBody>
          <a:bodyPr wrap="square">
            <a:spAutoFit/>
          </a:bodyPr>
          <a:lstStyle/>
          <a:p>
            <a:pPr algn="just">
              <a:buFont typeface="Arial" panose="020B0604020202020204" pitchFamily="34" charset="0"/>
              <a:buChar char="•"/>
            </a:pPr>
            <a:r>
              <a:rPr lang="en-US" b="0" i="0" dirty="0">
                <a:solidFill>
                  <a:srgbClr val="000000"/>
                </a:solidFill>
                <a:effectLst/>
                <a:latin typeface="inter-regular"/>
              </a:rPr>
              <a:t>The B+ tree is a balanced binary search tree. It follows a multi-level index format.</a:t>
            </a:r>
          </a:p>
          <a:p>
            <a:pPr algn="just">
              <a:buFont typeface="Arial" panose="020B0604020202020204" pitchFamily="34" charset="0"/>
              <a:buChar char="•"/>
            </a:pPr>
            <a:r>
              <a:rPr lang="en-US" b="0" i="0" dirty="0">
                <a:solidFill>
                  <a:srgbClr val="000000"/>
                </a:solidFill>
                <a:effectLst/>
                <a:latin typeface="inter-regular"/>
              </a:rPr>
              <a:t>In the B+ tree, leaf nodes denote actual data pointers. B+ tree ensures that all leaf nodes remain at the same height.</a:t>
            </a:r>
          </a:p>
          <a:p>
            <a:pPr algn="just">
              <a:buFont typeface="Arial" panose="020B0604020202020204" pitchFamily="34" charset="0"/>
              <a:buChar char="•"/>
            </a:pPr>
            <a:r>
              <a:rPr lang="en-US" b="0" i="0" dirty="0">
                <a:solidFill>
                  <a:srgbClr val="000000"/>
                </a:solidFill>
                <a:effectLst/>
                <a:latin typeface="inter-regular"/>
              </a:rPr>
              <a:t>In the B+ tree, the leaf nodes are linked using a link list. Therefore, a B+ tree can support random access as well as sequential access.</a:t>
            </a:r>
          </a:p>
        </p:txBody>
      </p:sp>
      <p:sp>
        <p:nvSpPr>
          <p:cNvPr id="5" name="TextBox 4">
            <a:extLst>
              <a:ext uri="{FF2B5EF4-FFF2-40B4-BE49-F238E27FC236}">
                <a16:creationId xmlns:a16="http://schemas.microsoft.com/office/drawing/2014/main" xmlns="" id="{6FE3D564-FCAD-D12F-1DB2-F197204C1E9A}"/>
              </a:ext>
            </a:extLst>
          </p:cNvPr>
          <p:cNvSpPr txBox="1"/>
          <p:nvPr/>
        </p:nvSpPr>
        <p:spPr>
          <a:xfrm>
            <a:off x="4985887" y="277346"/>
            <a:ext cx="6102416" cy="369332"/>
          </a:xfrm>
          <a:prstGeom prst="rect">
            <a:avLst/>
          </a:prstGeom>
          <a:noFill/>
        </p:spPr>
        <p:txBody>
          <a:bodyPr wrap="square">
            <a:spAutoFit/>
          </a:bodyPr>
          <a:lstStyle/>
          <a:p>
            <a:r>
              <a:rPr lang="en-US" b="0" i="0" dirty="0">
                <a:solidFill>
                  <a:srgbClr val="000000"/>
                </a:solidFill>
                <a:effectLst/>
                <a:latin typeface="inter-regular"/>
              </a:rPr>
              <a:t>B+ tree </a:t>
            </a:r>
            <a:endParaRPr lang="en-IN" dirty="0"/>
          </a:p>
        </p:txBody>
      </p:sp>
      <p:sp>
        <p:nvSpPr>
          <p:cNvPr id="7" name="TextBox 6">
            <a:extLst>
              <a:ext uri="{FF2B5EF4-FFF2-40B4-BE49-F238E27FC236}">
                <a16:creationId xmlns:a16="http://schemas.microsoft.com/office/drawing/2014/main" xmlns="" id="{BD13548C-CE11-015A-D913-2C751B374673}"/>
              </a:ext>
            </a:extLst>
          </p:cNvPr>
          <p:cNvSpPr txBox="1"/>
          <p:nvPr/>
        </p:nvSpPr>
        <p:spPr>
          <a:xfrm>
            <a:off x="346509" y="2151445"/>
            <a:ext cx="11444438" cy="1200329"/>
          </a:xfrm>
          <a:prstGeom prst="rect">
            <a:avLst/>
          </a:prstGeom>
          <a:noFill/>
        </p:spPr>
        <p:txBody>
          <a:bodyPr wrap="square">
            <a:spAutoFit/>
          </a:bodyPr>
          <a:lstStyle/>
          <a:p>
            <a:pPr algn="just"/>
            <a:r>
              <a:rPr lang="en-US" b="0" i="0" dirty="0">
                <a:solidFill>
                  <a:srgbClr val="610B38"/>
                </a:solidFill>
                <a:effectLst/>
                <a:latin typeface="erdana"/>
              </a:rPr>
              <a:t>Structure of B+ Tree</a:t>
            </a:r>
          </a:p>
          <a:p>
            <a:pPr algn="just">
              <a:buFont typeface="Arial" panose="020B0604020202020204" pitchFamily="34" charset="0"/>
              <a:buChar char="•"/>
            </a:pPr>
            <a:r>
              <a:rPr lang="en-US" b="0" i="0" dirty="0">
                <a:solidFill>
                  <a:srgbClr val="000000"/>
                </a:solidFill>
                <a:effectLst/>
                <a:latin typeface="inter-regular"/>
              </a:rPr>
              <a:t>In the B+ tree, every leaf node is at equal distance from the root node. The B+ tree is of the order n where n is fixed for every B+ tree.</a:t>
            </a:r>
          </a:p>
          <a:p>
            <a:pPr algn="just">
              <a:buFont typeface="Arial" panose="020B0604020202020204" pitchFamily="34" charset="0"/>
              <a:buChar char="•"/>
            </a:pPr>
            <a:r>
              <a:rPr lang="en-US" b="0" i="0" dirty="0">
                <a:solidFill>
                  <a:srgbClr val="000000"/>
                </a:solidFill>
                <a:effectLst/>
                <a:latin typeface="inter-regular"/>
              </a:rPr>
              <a:t>It contains an internal node and leaf node.</a:t>
            </a:r>
          </a:p>
        </p:txBody>
      </p:sp>
      <p:pic>
        <p:nvPicPr>
          <p:cNvPr id="13314" name="Picture 2" descr="DBMS B+ Tree">
            <a:extLst>
              <a:ext uri="{FF2B5EF4-FFF2-40B4-BE49-F238E27FC236}">
                <a16:creationId xmlns:a16="http://schemas.microsoft.com/office/drawing/2014/main" xmlns="" id="{244EDFE4-D0D4-FB50-0017-71331C48FF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3569" y="3860332"/>
            <a:ext cx="5943600" cy="148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32804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D81A15EA-FBA1-2992-64D4-C7500056EA80}"/>
              </a:ext>
            </a:extLst>
          </p:cNvPr>
          <p:cNvSpPr txBox="1"/>
          <p:nvPr/>
        </p:nvSpPr>
        <p:spPr>
          <a:xfrm>
            <a:off x="471637" y="477866"/>
            <a:ext cx="10154653" cy="923330"/>
          </a:xfrm>
          <a:prstGeom prst="rect">
            <a:avLst/>
          </a:prstGeom>
          <a:noFill/>
        </p:spPr>
        <p:txBody>
          <a:bodyPr wrap="square">
            <a:spAutoFit/>
          </a:bodyPr>
          <a:lstStyle/>
          <a:p>
            <a:pPr algn="just"/>
            <a:r>
              <a:rPr lang="en-US" b="0" i="0" dirty="0">
                <a:solidFill>
                  <a:srgbClr val="610B4B"/>
                </a:solidFill>
                <a:effectLst/>
                <a:latin typeface="erdana"/>
              </a:rPr>
              <a:t>Internal node</a:t>
            </a:r>
          </a:p>
          <a:p>
            <a:pPr algn="just">
              <a:buFont typeface="Arial" panose="020B0604020202020204" pitchFamily="34" charset="0"/>
              <a:buChar char="•"/>
            </a:pPr>
            <a:r>
              <a:rPr lang="en-US" b="0" i="0" dirty="0">
                <a:solidFill>
                  <a:srgbClr val="000000"/>
                </a:solidFill>
                <a:effectLst/>
                <a:latin typeface="inter-regular"/>
              </a:rPr>
              <a:t>An internal node of the B+ tree can contain at least n/2 record pointers except the root node.</a:t>
            </a:r>
          </a:p>
          <a:p>
            <a:pPr algn="just">
              <a:buFont typeface="Arial" panose="020B0604020202020204" pitchFamily="34" charset="0"/>
              <a:buChar char="•"/>
            </a:pPr>
            <a:r>
              <a:rPr lang="en-US" b="0" i="0" dirty="0">
                <a:solidFill>
                  <a:srgbClr val="000000"/>
                </a:solidFill>
                <a:effectLst/>
                <a:latin typeface="inter-regular"/>
              </a:rPr>
              <a:t>At most, an internal node of the tree contains n pointers.</a:t>
            </a:r>
          </a:p>
        </p:txBody>
      </p:sp>
      <p:sp>
        <p:nvSpPr>
          <p:cNvPr id="5" name="TextBox 4">
            <a:extLst>
              <a:ext uri="{FF2B5EF4-FFF2-40B4-BE49-F238E27FC236}">
                <a16:creationId xmlns:a16="http://schemas.microsoft.com/office/drawing/2014/main" xmlns="" id="{C3DD1FE5-B694-A3CC-E247-389547035FDD}"/>
              </a:ext>
            </a:extLst>
          </p:cNvPr>
          <p:cNvSpPr txBox="1"/>
          <p:nvPr/>
        </p:nvSpPr>
        <p:spPr>
          <a:xfrm>
            <a:off x="539014" y="1631285"/>
            <a:ext cx="10404909" cy="1200329"/>
          </a:xfrm>
          <a:prstGeom prst="rect">
            <a:avLst/>
          </a:prstGeom>
          <a:noFill/>
        </p:spPr>
        <p:txBody>
          <a:bodyPr wrap="square">
            <a:spAutoFit/>
          </a:bodyPr>
          <a:lstStyle/>
          <a:p>
            <a:pPr algn="just"/>
            <a:r>
              <a:rPr lang="en-US" b="0" i="0" dirty="0">
                <a:solidFill>
                  <a:srgbClr val="610B4B"/>
                </a:solidFill>
                <a:effectLst/>
                <a:latin typeface="erdana"/>
              </a:rPr>
              <a:t>Leaf node</a:t>
            </a:r>
          </a:p>
          <a:p>
            <a:pPr algn="just">
              <a:buFont typeface="Arial" panose="020B0604020202020204" pitchFamily="34" charset="0"/>
              <a:buChar char="•"/>
            </a:pPr>
            <a:r>
              <a:rPr lang="en-US" b="0" i="0" dirty="0">
                <a:solidFill>
                  <a:srgbClr val="000000"/>
                </a:solidFill>
                <a:effectLst/>
                <a:latin typeface="inter-regular"/>
              </a:rPr>
              <a:t>The leaf node of the B+ tree can contain at least n/2 record pointers and n/2 key values.</a:t>
            </a:r>
          </a:p>
          <a:p>
            <a:pPr algn="just">
              <a:buFont typeface="Arial" panose="020B0604020202020204" pitchFamily="34" charset="0"/>
              <a:buChar char="•"/>
            </a:pPr>
            <a:r>
              <a:rPr lang="en-US" b="0" i="0" dirty="0">
                <a:solidFill>
                  <a:srgbClr val="000000"/>
                </a:solidFill>
                <a:effectLst/>
                <a:latin typeface="inter-regular"/>
              </a:rPr>
              <a:t>At most, a leaf node contains n record pointer and n key values.</a:t>
            </a:r>
          </a:p>
          <a:p>
            <a:pPr algn="just">
              <a:buFont typeface="Arial" panose="020B0604020202020204" pitchFamily="34" charset="0"/>
              <a:buChar char="•"/>
            </a:pPr>
            <a:r>
              <a:rPr lang="en-US" b="0" i="0" dirty="0">
                <a:solidFill>
                  <a:srgbClr val="000000"/>
                </a:solidFill>
                <a:effectLst/>
                <a:latin typeface="inter-regular"/>
              </a:rPr>
              <a:t>Every leaf node of the B+ tree contains one block pointer P to point to next leaf node.</a:t>
            </a:r>
          </a:p>
        </p:txBody>
      </p:sp>
    </p:spTree>
    <p:extLst>
      <p:ext uri="{BB962C8B-B14F-4D97-AF65-F5344CB8AC3E}">
        <p14:creationId xmlns:p14="http://schemas.microsoft.com/office/powerpoint/2010/main" val="14553132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22367" y="339769"/>
            <a:ext cx="1271502" cy="369332"/>
          </a:xfrm>
          <a:prstGeom prst="rect">
            <a:avLst/>
          </a:prstGeom>
        </p:spPr>
        <p:txBody>
          <a:bodyPr wrap="none">
            <a:spAutoFit/>
          </a:bodyPr>
          <a:lstStyle/>
          <a:p>
            <a:r>
              <a:rPr lang="en-IN" dirty="0"/>
              <a:t>Checkpoint</a:t>
            </a:r>
          </a:p>
        </p:txBody>
      </p:sp>
      <p:sp>
        <p:nvSpPr>
          <p:cNvPr id="3" name="Rectangle 2"/>
          <p:cNvSpPr/>
          <p:nvPr/>
        </p:nvSpPr>
        <p:spPr>
          <a:xfrm>
            <a:off x="645459" y="860612"/>
            <a:ext cx="10015369" cy="3416320"/>
          </a:xfrm>
          <a:prstGeom prst="rect">
            <a:avLst/>
          </a:prstGeom>
        </p:spPr>
        <p:txBody>
          <a:bodyPr wrap="square">
            <a:spAutoFit/>
          </a:bodyPr>
          <a:lstStyle/>
          <a:p>
            <a:r>
              <a:rPr lang="en-US" dirty="0"/>
              <a:t>The checkpoint is a type of mechanism where all the previous logs are removed from the system and permanently stored in the storage disk</a:t>
            </a:r>
            <a:r>
              <a:rPr lang="en-US" dirty="0" smtClean="0"/>
              <a:t>.</a:t>
            </a:r>
          </a:p>
          <a:p>
            <a:endParaRPr lang="en-US" dirty="0"/>
          </a:p>
          <a:p>
            <a:r>
              <a:rPr lang="en-US" dirty="0"/>
              <a:t>The checkpoint is like a bookmark. While the execution of the transaction, such checkpoints are marked, and the transaction is executed then using the steps of the transaction, the log files will be created</a:t>
            </a:r>
            <a:r>
              <a:rPr lang="en-US" dirty="0" smtClean="0"/>
              <a:t>.</a:t>
            </a:r>
          </a:p>
          <a:p>
            <a:endParaRPr lang="en-US" dirty="0"/>
          </a:p>
          <a:p>
            <a:r>
              <a:rPr lang="en-US" dirty="0"/>
              <a:t>When it reaches to the checkpoint, then the transaction will be updated into the database, and till that point, the entire log file will be removed from the file. Then the log file is updated with the new step of transaction till next checkpoint and so on</a:t>
            </a:r>
            <a:r>
              <a:rPr lang="en-US" dirty="0" smtClean="0"/>
              <a:t>.</a:t>
            </a:r>
          </a:p>
          <a:p>
            <a:endParaRPr lang="en-US" dirty="0"/>
          </a:p>
          <a:p>
            <a:r>
              <a:rPr lang="en-US" dirty="0"/>
              <a:t>The checkpoint is used to declare a point before which the DBMS was in the consistent state, and all transactions were committed.</a:t>
            </a:r>
          </a:p>
        </p:txBody>
      </p:sp>
    </p:spTree>
    <p:extLst>
      <p:ext uri="{BB962C8B-B14F-4D97-AF65-F5344CB8AC3E}">
        <p14:creationId xmlns:p14="http://schemas.microsoft.com/office/powerpoint/2010/main" val="34086219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183802" y="106363"/>
            <a:ext cx="5793124" cy="39703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610B38"/>
                </a:solidFill>
                <a:effectLst/>
                <a:latin typeface="erdana"/>
                <a:cs typeface="Arial" pitchFamily="34" charset="0"/>
              </a:rPr>
              <a:t>Recovery using Checkpoint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rgbClr val="333333"/>
                </a:solidFill>
                <a:effectLst/>
                <a:latin typeface="inter-regular"/>
                <a:cs typeface="Arial" pitchFamily="34" charset="0"/>
              </a:rPr>
              <a:t>In the following manner, a recovery system recovers the database from this failure:</a:t>
            </a:r>
            <a:endParaRPr kumimoji="0" lang="en-US" sz="1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r>
              <a:rPr kumimoji="0" lang="en-US" sz="1800" b="0" i="0" u="none" strike="noStrike" cap="none" normalizeH="0" baseline="0" dirty="0" smtClean="0">
                <a:ln>
                  <a:noFill/>
                </a:ln>
                <a:solidFill>
                  <a:schemeClr val="tx1"/>
                </a:solidFill>
                <a:effectLst/>
                <a:latin typeface="Arial" pitchFamily="34" charset="0"/>
                <a:cs typeface="Arial" pitchFamily="34" charset="0"/>
              </a:rPr>
              <a:t>  </a:t>
            </a:r>
            <a:r>
              <a:rPr kumimoji="0" lang="en-US" sz="18600" b="0" i="0" u="none" strike="noStrike" cap="none" normalizeH="0" baseline="0" dirty="0" smtClean="0">
                <a:ln>
                  <a:noFill/>
                </a:ln>
                <a:solidFill>
                  <a:schemeClr val="tx1"/>
                </a:solidFill>
                <a:effectLst/>
                <a:latin typeface="Arial" pitchFamily="34" charset="0"/>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2050" name="Picture 2" descr="DBMS Check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3923" y="1117468"/>
            <a:ext cx="5019675" cy="29622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09195" y="4180293"/>
            <a:ext cx="11345731" cy="1754326"/>
          </a:xfrm>
          <a:prstGeom prst="rect">
            <a:avLst/>
          </a:prstGeom>
        </p:spPr>
        <p:txBody>
          <a:bodyPr wrap="square">
            <a:spAutoFit/>
          </a:bodyPr>
          <a:lstStyle/>
          <a:p>
            <a:r>
              <a:rPr lang="en-US" dirty="0"/>
              <a:t>The recovery system reads log files from the end to start. It reads log files from T4 to T1.</a:t>
            </a:r>
          </a:p>
          <a:p>
            <a:r>
              <a:rPr lang="en-US" dirty="0"/>
              <a:t>Recovery system maintains two lists, a redo-list, and an undo-list</a:t>
            </a:r>
            <a:r>
              <a:rPr lang="en-US" dirty="0" smtClean="0"/>
              <a:t>.</a:t>
            </a:r>
          </a:p>
          <a:p>
            <a:endParaRPr lang="en-US" dirty="0"/>
          </a:p>
          <a:p>
            <a:r>
              <a:rPr lang="en-US" dirty="0"/>
              <a:t>The transaction is put into redo state if the recovery system sees a log with &lt;</a:t>
            </a:r>
            <a:r>
              <a:rPr lang="en-US" dirty="0" err="1"/>
              <a:t>Tn</a:t>
            </a:r>
            <a:r>
              <a:rPr lang="en-US" dirty="0"/>
              <a:t>, Start&gt; and &lt;</a:t>
            </a:r>
            <a:r>
              <a:rPr lang="en-US" dirty="0" err="1"/>
              <a:t>Tn</a:t>
            </a:r>
            <a:r>
              <a:rPr lang="en-US" dirty="0"/>
              <a:t>, Commit&gt; or just &lt;</a:t>
            </a:r>
            <a:r>
              <a:rPr lang="en-US" dirty="0" err="1"/>
              <a:t>Tn</a:t>
            </a:r>
            <a:r>
              <a:rPr lang="en-US" dirty="0"/>
              <a:t>, Commit&gt;. In the redo-list and their previous list, all the transactions are removed and then redone before saving their logs.</a:t>
            </a:r>
          </a:p>
        </p:txBody>
      </p:sp>
    </p:spTree>
    <p:extLst>
      <p:ext uri="{BB962C8B-B14F-4D97-AF65-F5344CB8AC3E}">
        <p14:creationId xmlns:p14="http://schemas.microsoft.com/office/powerpoint/2010/main" val="34001745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0455" y="1011219"/>
            <a:ext cx="10585525" cy="2585323"/>
          </a:xfrm>
          <a:prstGeom prst="rect">
            <a:avLst/>
          </a:prstGeom>
        </p:spPr>
        <p:txBody>
          <a:bodyPr wrap="square">
            <a:spAutoFit/>
          </a:bodyPr>
          <a:lstStyle/>
          <a:p>
            <a:r>
              <a:rPr lang="en-US" b="1" dirty="0"/>
              <a:t>For example:</a:t>
            </a:r>
            <a:r>
              <a:rPr lang="en-US" dirty="0"/>
              <a:t> In the log file, transaction T2 and T3 will have &lt;</a:t>
            </a:r>
            <a:r>
              <a:rPr lang="en-US" dirty="0" err="1"/>
              <a:t>Tn</a:t>
            </a:r>
            <a:r>
              <a:rPr lang="en-US" dirty="0"/>
              <a:t>, Start&gt; and &lt;</a:t>
            </a:r>
            <a:r>
              <a:rPr lang="en-US" dirty="0" err="1"/>
              <a:t>Tn</a:t>
            </a:r>
            <a:r>
              <a:rPr lang="en-US" dirty="0"/>
              <a:t>, Commit&gt;. The T1 transaction will have only &lt;</a:t>
            </a:r>
            <a:r>
              <a:rPr lang="en-US" dirty="0" err="1"/>
              <a:t>Tn</a:t>
            </a:r>
            <a:r>
              <a:rPr lang="en-US" dirty="0"/>
              <a:t>, commit&gt; in the log file. That's why the transaction is committed after the checkpoint is crossed. Hence it puts T1, T2 and T3 transaction into redo list</a:t>
            </a:r>
            <a:r>
              <a:rPr lang="en-US" dirty="0" smtClean="0"/>
              <a:t>.</a:t>
            </a:r>
          </a:p>
          <a:p>
            <a:endParaRPr lang="en-US" dirty="0"/>
          </a:p>
          <a:p>
            <a:r>
              <a:rPr lang="en-US" dirty="0"/>
              <a:t>The transaction is put into undo state if the recovery system sees a log with &lt;</a:t>
            </a:r>
            <a:r>
              <a:rPr lang="en-US" dirty="0" err="1"/>
              <a:t>Tn</a:t>
            </a:r>
            <a:r>
              <a:rPr lang="en-US" dirty="0"/>
              <a:t>, Start&gt; but no commit or abort log found. In the undo-list, all the transactions are undone, and their logs are removed</a:t>
            </a:r>
            <a:r>
              <a:rPr lang="en-US" dirty="0" smtClean="0"/>
              <a:t>.</a:t>
            </a:r>
          </a:p>
          <a:p>
            <a:endParaRPr lang="en-US" dirty="0"/>
          </a:p>
          <a:p>
            <a:r>
              <a:rPr lang="en-US" b="1" dirty="0"/>
              <a:t>For example:</a:t>
            </a:r>
            <a:r>
              <a:rPr lang="en-US" dirty="0"/>
              <a:t> Transaction T4 will have &lt;</a:t>
            </a:r>
            <a:r>
              <a:rPr lang="en-US" dirty="0" err="1"/>
              <a:t>Tn</a:t>
            </a:r>
            <a:r>
              <a:rPr lang="en-US" dirty="0"/>
              <a:t>, Start&gt;. So T4 will be put into undo list since this transaction is not yet complete and failed amid.</a:t>
            </a:r>
          </a:p>
        </p:txBody>
      </p:sp>
    </p:spTree>
    <p:extLst>
      <p:ext uri="{BB962C8B-B14F-4D97-AF65-F5344CB8AC3E}">
        <p14:creationId xmlns:p14="http://schemas.microsoft.com/office/powerpoint/2010/main" val="23318839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451822" y="769372"/>
            <a:ext cx="11166437" cy="25545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333333"/>
                </a:solidFill>
                <a:effectLst/>
                <a:latin typeface="Arial" pitchFamily="34" charset="0"/>
                <a:cs typeface="Arial" pitchFamily="34" charset="0"/>
              </a:rPr>
              <a:t>The ARIES Recovery Algorithm</a:t>
            </a:r>
            <a:endParaRPr kumimoji="0" lang="en-US" sz="1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333333"/>
                </a:solidFill>
                <a:effectLst/>
                <a:latin typeface="Times New Roman" pitchFamily="18" charset="0"/>
                <a:cs typeface="Times New Roman" pitchFamily="18" charset="0"/>
              </a:rPr>
              <a:t> </a:t>
            </a: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We now describe the ARIES algorithm as an example of a recovery algorithm used in database systems. It is used in many relational database-related products of IBM. ARIES uses a steal/no-force approach for writing, and it is based on three concepts: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rgbClr val="333333"/>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write-ahead logging,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repeating history during redo, and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logging changes during undo.</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
        <p:nvSpPr>
          <p:cNvPr id="3" name="Rectangle 2"/>
          <p:cNvSpPr/>
          <p:nvPr/>
        </p:nvSpPr>
        <p:spPr>
          <a:xfrm>
            <a:off x="451821" y="3561705"/>
            <a:ext cx="11091133" cy="923330"/>
          </a:xfrm>
          <a:prstGeom prst="rect">
            <a:avLst/>
          </a:prstGeom>
        </p:spPr>
        <p:txBody>
          <a:bodyPr wrap="square">
            <a:spAutoFit/>
          </a:bodyPr>
          <a:lstStyle/>
          <a:p>
            <a:r>
              <a:rPr lang="en-US" dirty="0"/>
              <a:t>the recovery mechanism must ensure that the BFIM of the data item is recorded in the appropriate log entry and that the log entry is flushed to disk before the BFIM is overwritten with the AFIM in the database on disk. This process is generally known as </a:t>
            </a:r>
            <a:r>
              <a:rPr lang="en-US" b="1" dirty="0"/>
              <a:t>write-ahead logging</a:t>
            </a:r>
            <a:endParaRPr lang="en-IN" dirty="0"/>
          </a:p>
        </p:txBody>
      </p:sp>
      <p:sp>
        <p:nvSpPr>
          <p:cNvPr id="4" name="Rectangle 3"/>
          <p:cNvSpPr/>
          <p:nvPr/>
        </p:nvSpPr>
        <p:spPr>
          <a:xfrm>
            <a:off x="451821" y="4485035"/>
            <a:ext cx="10972799" cy="923330"/>
          </a:xfrm>
          <a:prstGeom prst="rect">
            <a:avLst/>
          </a:prstGeom>
        </p:spPr>
        <p:txBody>
          <a:bodyPr wrap="square">
            <a:spAutoFit/>
          </a:bodyPr>
          <a:lstStyle/>
          <a:p>
            <a:r>
              <a:rPr lang="en-US" dirty="0"/>
              <a:t>The second concept, </a:t>
            </a:r>
            <a:r>
              <a:rPr lang="en-US" b="1" dirty="0"/>
              <a:t>repeating history</a:t>
            </a:r>
            <a:r>
              <a:rPr lang="en-US" dirty="0"/>
              <a:t>, means that ARIES will retrace all actions of the database system</a:t>
            </a:r>
            <a:r>
              <a:rPr lang="en-US" b="1" dirty="0"/>
              <a:t> </a:t>
            </a:r>
            <a:r>
              <a:rPr lang="en-US" dirty="0"/>
              <a:t>prior to the crash to reconstruct the database state </a:t>
            </a:r>
            <a:r>
              <a:rPr lang="en-US" i="1" dirty="0"/>
              <a:t>when the crash occurred.</a:t>
            </a:r>
            <a:r>
              <a:rPr lang="en-US" dirty="0"/>
              <a:t> Transactions that were uncommitted at the time of the crash (active transactions) are undone.</a:t>
            </a:r>
            <a:endParaRPr lang="en-IN" dirty="0"/>
          </a:p>
        </p:txBody>
      </p:sp>
      <p:sp>
        <p:nvSpPr>
          <p:cNvPr id="5" name="Rectangle 4"/>
          <p:cNvSpPr/>
          <p:nvPr/>
        </p:nvSpPr>
        <p:spPr>
          <a:xfrm>
            <a:off x="502024" y="5414127"/>
            <a:ext cx="11040930" cy="646331"/>
          </a:xfrm>
          <a:prstGeom prst="rect">
            <a:avLst/>
          </a:prstGeom>
        </p:spPr>
        <p:txBody>
          <a:bodyPr wrap="square">
            <a:spAutoFit/>
          </a:bodyPr>
          <a:lstStyle/>
          <a:p>
            <a:r>
              <a:rPr lang="en-US" dirty="0"/>
              <a:t>The third concept, </a:t>
            </a:r>
            <a:r>
              <a:rPr lang="en-US" b="1" dirty="0"/>
              <a:t>logging during undo</a:t>
            </a:r>
            <a:r>
              <a:rPr lang="en-US" dirty="0"/>
              <a:t>, will prevent ARIES from repeating the completed undo operations if a failure occurs during recovery, which causes a restart of the recovery process.</a:t>
            </a:r>
            <a:endParaRPr lang="en-IN" dirty="0"/>
          </a:p>
        </p:txBody>
      </p:sp>
    </p:spTree>
    <p:extLst>
      <p:ext uri="{BB962C8B-B14F-4D97-AF65-F5344CB8AC3E}">
        <p14:creationId xmlns:p14="http://schemas.microsoft.com/office/powerpoint/2010/main" val="4574506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193637" y="209382"/>
            <a:ext cx="11241742" cy="28623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Standard DBMS recovery terminology includes the terms </a:t>
            </a:r>
            <a:r>
              <a:rPr kumimoji="0" lang="en-US" b="1" i="0" u="none" strike="noStrike" cap="none" normalizeH="0" baseline="0" dirty="0" smtClean="0">
                <a:ln>
                  <a:noFill/>
                </a:ln>
                <a:solidFill>
                  <a:srgbClr val="333333"/>
                </a:solidFill>
                <a:effectLst/>
                <a:latin typeface="Times New Roman" pitchFamily="18" charset="0"/>
                <a:cs typeface="Times New Roman" pitchFamily="18" charset="0"/>
              </a:rPr>
              <a:t>steal/no-steal</a:t>
            </a: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 and </a:t>
            </a:r>
            <a:r>
              <a:rPr kumimoji="0" lang="en-US" b="1" i="0" u="none" strike="noStrike" cap="none" normalizeH="0" baseline="0" dirty="0" smtClean="0">
                <a:ln>
                  <a:noFill/>
                </a:ln>
                <a:solidFill>
                  <a:srgbClr val="333333"/>
                </a:solidFill>
                <a:effectLst/>
                <a:latin typeface="Times New Roman" pitchFamily="18" charset="0"/>
                <a:cs typeface="Times New Roman" pitchFamily="18" charset="0"/>
              </a:rPr>
              <a:t>force/no-force</a:t>
            </a: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 which specify the rules that govern</a:t>
            </a:r>
            <a:r>
              <a:rPr kumimoji="0" lang="en-US" b="1" i="0" u="none" strike="noStrike" cap="none" normalizeH="0" baseline="0" dirty="0" smtClean="0">
                <a:ln>
                  <a:noFill/>
                </a:ln>
                <a:solidFill>
                  <a:srgbClr val="333333"/>
                </a:solidFill>
                <a:effectLst/>
                <a:latin typeface="Times New Roman" pitchFamily="18" charset="0"/>
                <a:cs typeface="Times New Roman" pitchFamily="18" charset="0"/>
              </a:rPr>
              <a:t> </a:t>
            </a:r>
            <a:r>
              <a:rPr kumimoji="0" lang="en-US" b="0" i="1" u="none" strike="noStrike" cap="none" normalizeH="0" baseline="0" dirty="0" smtClean="0">
                <a:ln>
                  <a:noFill/>
                </a:ln>
                <a:solidFill>
                  <a:srgbClr val="333333"/>
                </a:solidFill>
                <a:effectLst/>
                <a:latin typeface="Times New Roman" pitchFamily="18" charset="0"/>
                <a:cs typeface="Times New Roman" pitchFamily="18" charset="0"/>
              </a:rPr>
              <a:t>when </a:t>
            </a: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a page from the database</a:t>
            </a:r>
            <a:r>
              <a:rPr kumimoji="0" lang="en-US" b="1" i="0" u="none" strike="noStrike" cap="none" normalizeH="0" baseline="0" dirty="0" smtClean="0">
                <a:ln>
                  <a:noFill/>
                </a:ln>
                <a:solidFill>
                  <a:srgbClr val="333333"/>
                </a:solidFill>
                <a:effectLst/>
                <a:latin typeface="Times New Roman" pitchFamily="18" charset="0"/>
                <a:cs typeface="Times New Roman" pitchFamily="18" charset="0"/>
              </a:rPr>
              <a:t> </a:t>
            </a: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can be written to disk from the cache:</a:t>
            </a: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 </a:t>
            </a: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900" b="0" i="0" u="none" strike="noStrike" cap="none" normalizeH="0" baseline="0" dirty="0" smtClean="0">
                <a:ln>
                  <a:noFill/>
                </a:ln>
                <a:solidFill>
                  <a:srgbClr val="808080"/>
                </a:solidFill>
                <a:effectLst/>
                <a:latin typeface="Times New Roman" pitchFamily="18" charset="0"/>
                <a:cs typeface="Times New Roman" pitchFamily="18" charset="0"/>
              </a:rPr>
              <a:t>        </a:t>
            </a: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If a cache buffer page updated by a transaction </a:t>
            </a:r>
            <a:r>
              <a:rPr kumimoji="0" lang="en-US" b="0" i="1" u="none" strike="noStrike" cap="none" normalizeH="0" baseline="0" dirty="0" smtClean="0">
                <a:ln>
                  <a:noFill/>
                </a:ln>
                <a:solidFill>
                  <a:srgbClr val="333333"/>
                </a:solidFill>
                <a:effectLst/>
                <a:latin typeface="Times New Roman" pitchFamily="18" charset="0"/>
                <a:cs typeface="Times New Roman" pitchFamily="18" charset="0"/>
              </a:rPr>
              <a:t>cannot</a:t>
            </a: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 be written to disk before the transaction commits, the recovery method is called a </a:t>
            </a:r>
            <a:r>
              <a:rPr kumimoji="0" lang="en-US" b="1" i="0" u="none" strike="noStrike" cap="none" normalizeH="0" baseline="0" dirty="0" smtClean="0">
                <a:ln>
                  <a:noFill/>
                </a:ln>
                <a:solidFill>
                  <a:srgbClr val="333333"/>
                </a:solidFill>
                <a:effectLst/>
                <a:latin typeface="Times New Roman" pitchFamily="18" charset="0"/>
                <a:cs typeface="Times New Roman" pitchFamily="18" charset="0"/>
              </a:rPr>
              <a:t>no-steal</a:t>
            </a: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 </a:t>
            </a:r>
            <a:r>
              <a:rPr kumimoji="0" lang="en-US" b="1" i="0" u="none" strike="noStrike" cap="none" normalizeH="0" baseline="0" dirty="0" smtClean="0">
                <a:ln>
                  <a:noFill/>
                </a:ln>
                <a:solidFill>
                  <a:srgbClr val="333333"/>
                </a:solidFill>
                <a:effectLst/>
                <a:latin typeface="Times New Roman" pitchFamily="18" charset="0"/>
                <a:cs typeface="Times New Roman" pitchFamily="18" charset="0"/>
              </a:rPr>
              <a:t>approach</a:t>
            </a: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 The pin-unpin bit will be used to indicate if a page cannot be</a:t>
            </a:r>
            <a:r>
              <a:rPr kumimoji="0" lang="en-US" b="1" i="0" u="none" strike="noStrike" cap="none" normalizeH="0" baseline="0" dirty="0" smtClean="0">
                <a:ln>
                  <a:noFill/>
                </a:ln>
                <a:solidFill>
                  <a:srgbClr val="333333"/>
                </a:solidFill>
                <a:effectLst/>
                <a:latin typeface="Times New Roman" pitchFamily="18" charset="0"/>
                <a:cs typeface="Times New Roman" pitchFamily="18" charset="0"/>
              </a:rPr>
              <a:t> </a:t>
            </a: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written back to disk. On the other hand, if the recovery protocol allows writing an updated buffer </a:t>
            </a:r>
            <a:r>
              <a:rPr kumimoji="0" lang="en-US" b="0" i="1" u="none" strike="noStrike" cap="none" normalizeH="0" baseline="0" dirty="0" smtClean="0">
                <a:ln>
                  <a:noFill/>
                </a:ln>
                <a:solidFill>
                  <a:srgbClr val="333333"/>
                </a:solidFill>
                <a:effectLst/>
                <a:latin typeface="Times New Roman" pitchFamily="18" charset="0"/>
                <a:cs typeface="Times New Roman" pitchFamily="18" charset="0"/>
              </a:rPr>
              <a:t>before</a:t>
            </a: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 the transaction commits, it is called </a:t>
            </a:r>
            <a:r>
              <a:rPr kumimoji="0" lang="en-US" b="1" i="0" u="none" strike="noStrike" cap="none" normalizeH="0" baseline="0" dirty="0" smtClean="0">
                <a:ln>
                  <a:noFill/>
                </a:ln>
                <a:solidFill>
                  <a:srgbClr val="333333"/>
                </a:solidFill>
                <a:effectLst/>
                <a:latin typeface="Times New Roman" pitchFamily="18" charset="0"/>
                <a:cs typeface="Times New Roman" pitchFamily="18" charset="0"/>
              </a:rPr>
              <a:t>steal</a:t>
            </a: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 Steal is used when the DBMS cache (buffer) manager needs a buffer frame for another transaction and the buffer manager replaces an existing page that had been updated but whose transaction has not committed. The </a:t>
            </a:r>
            <a:r>
              <a:rPr kumimoji="0" lang="en-US" b="0" i="1" u="none" strike="noStrike" cap="none" normalizeH="0" baseline="0" dirty="0" smtClean="0">
                <a:ln>
                  <a:noFill/>
                </a:ln>
                <a:solidFill>
                  <a:srgbClr val="333333"/>
                </a:solidFill>
                <a:effectLst/>
                <a:latin typeface="Times New Roman" pitchFamily="18" charset="0"/>
                <a:cs typeface="Times New Roman" pitchFamily="18" charset="0"/>
              </a:rPr>
              <a:t>no-steal</a:t>
            </a: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 </a:t>
            </a:r>
            <a:r>
              <a:rPr kumimoji="0" lang="en-US" b="0" i="1" u="none" strike="noStrike" cap="none" normalizeH="0" baseline="0" dirty="0" smtClean="0">
                <a:ln>
                  <a:noFill/>
                </a:ln>
                <a:solidFill>
                  <a:srgbClr val="333333"/>
                </a:solidFill>
                <a:effectLst/>
                <a:latin typeface="Times New Roman" pitchFamily="18" charset="0"/>
                <a:cs typeface="Times New Roman" pitchFamily="18" charset="0"/>
              </a:rPr>
              <a:t>rule </a:t>
            </a: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means that</a:t>
            </a:r>
            <a:r>
              <a:rPr kumimoji="0" lang="en-US" b="0" i="1" u="none" strike="noStrike" cap="none" normalizeH="0" baseline="0" dirty="0" smtClean="0">
                <a:ln>
                  <a:noFill/>
                </a:ln>
                <a:solidFill>
                  <a:srgbClr val="333333"/>
                </a:solidFill>
                <a:effectLst/>
                <a:latin typeface="Times New Roman" pitchFamily="18" charset="0"/>
                <a:cs typeface="Times New Roman" pitchFamily="18" charset="0"/>
              </a:rPr>
              <a:t> </a:t>
            </a:r>
            <a:r>
              <a:rPr kumimoji="0" lang="en-US" sz="1400" b="0" i="0" u="none" strike="noStrike" cap="none" normalizeH="0" baseline="0" dirty="0" smtClean="0">
                <a:ln>
                  <a:noFill/>
                </a:ln>
                <a:solidFill>
                  <a:srgbClr val="333333"/>
                </a:solidFill>
                <a:effectLst/>
                <a:latin typeface="Arial" pitchFamily="34" charset="0"/>
                <a:cs typeface="Arial" pitchFamily="34" charset="0"/>
              </a:rPr>
              <a:t>UNDO</a:t>
            </a:r>
            <a:r>
              <a:rPr kumimoji="0" lang="en-US" b="0" i="1" u="none" strike="noStrike" cap="none" normalizeH="0" baseline="0" dirty="0" smtClean="0">
                <a:ln>
                  <a:noFill/>
                </a:ln>
                <a:solidFill>
                  <a:srgbClr val="333333"/>
                </a:solidFill>
                <a:effectLst/>
                <a:latin typeface="Times New Roman" pitchFamily="18" charset="0"/>
                <a:cs typeface="Times New Roman" pitchFamily="18" charset="0"/>
              </a:rPr>
              <a:t> </a:t>
            </a:r>
            <a:r>
              <a:rPr kumimoji="0" lang="en-US" b="0" i="0" u="none" strike="noStrike" cap="none" normalizeH="0" baseline="0" dirty="0" smtClean="0">
                <a:ln>
                  <a:noFill/>
                </a:ln>
                <a:solidFill>
                  <a:srgbClr val="333333"/>
                </a:solidFill>
                <a:effectLst/>
                <a:latin typeface="Times New Roman" pitchFamily="18" charset="0"/>
                <a:cs typeface="Times New Roman" pitchFamily="18" charset="0"/>
              </a:rPr>
              <a:t>will never be needed during recovery, since a committed transaction will not have any of its updates on disk before it commits.</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
        <p:nvSpPr>
          <p:cNvPr id="4" name="Rectangle 3"/>
          <p:cNvSpPr/>
          <p:nvPr/>
        </p:nvSpPr>
        <p:spPr>
          <a:xfrm>
            <a:off x="326315" y="3530783"/>
            <a:ext cx="11109064" cy="923330"/>
          </a:xfrm>
          <a:prstGeom prst="rect">
            <a:avLst/>
          </a:prstGeom>
        </p:spPr>
        <p:txBody>
          <a:bodyPr wrap="square">
            <a:spAutoFit/>
          </a:bodyPr>
          <a:lstStyle/>
          <a:p>
            <a:r>
              <a:rPr lang="en-US" dirty="0"/>
              <a:t>    If all pages updated by a transaction are immediately written to disk </a:t>
            </a:r>
            <a:r>
              <a:rPr lang="en-US" i="1" dirty="0"/>
              <a:t>before</a:t>
            </a:r>
            <a:r>
              <a:rPr lang="en-US" dirty="0"/>
              <a:t> the transaction commits, it is called a </a:t>
            </a:r>
            <a:r>
              <a:rPr lang="en-US" b="1" dirty="0"/>
              <a:t>force approach</a:t>
            </a:r>
            <a:r>
              <a:rPr lang="en-US" dirty="0"/>
              <a:t>. Otherwise, it is called </a:t>
            </a:r>
            <a:r>
              <a:rPr lang="en-US" b="1" dirty="0"/>
              <a:t>no-force</a:t>
            </a:r>
            <a:r>
              <a:rPr lang="en-US" dirty="0"/>
              <a:t>. The</a:t>
            </a:r>
            <a:r>
              <a:rPr lang="en-US" b="1" dirty="0"/>
              <a:t> </a:t>
            </a:r>
            <a:r>
              <a:rPr lang="en-US" i="1" dirty="0"/>
              <a:t>force rule</a:t>
            </a:r>
            <a:r>
              <a:rPr lang="en-US" b="1" dirty="0"/>
              <a:t> </a:t>
            </a:r>
            <a:r>
              <a:rPr lang="en-US" dirty="0"/>
              <a:t>means that</a:t>
            </a:r>
            <a:r>
              <a:rPr lang="en-US" b="1" dirty="0"/>
              <a:t> </a:t>
            </a:r>
            <a:r>
              <a:rPr lang="en-US" dirty="0"/>
              <a:t>REDO</a:t>
            </a:r>
            <a:r>
              <a:rPr lang="en-US" b="1" dirty="0"/>
              <a:t> </a:t>
            </a:r>
            <a:r>
              <a:rPr lang="en-US" dirty="0"/>
              <a:t>will never be needed during recovery, since any committed transaction will have all its updates on disk before it is committed.</a:t>
            </a:r>
            <a:endParaRPr lang="en-IN" dirty="0"/>
          </a:p>
        </p:txBody>
      </p:sp>
    </p:spTree>
    <p:extLst>
      <p:ext uri="{BB962C8B-B14F-4D97-AF65-F5344CB8AC3E}">
        <p14:creationId xmlns:p14="http://schemas.microsoft.com/office/powerpoint/2010/main" val="42697424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30767" y="534757"/>
            <a:ext cx="8993393" cy="1200329"/>
          </a:xfrm>
          <a:prstGeom prst="rect">
            <a:avLst/>
          </a:prstGeom>
        </p:spPr>
        <p:txBody>
          <a:bodyPr wrap="square">
            <a:spAutoFit/>
          </a:bodyPr>
          <a:lstStyle/>
          <a:p>
            <a:r>
              <a:rPr lang="en-US" dirty="0"/>
              <a:t>The ARIES recovery procedure consists of three main steps: </a:t>
            </a:r>
            <a:endParaRPr lang="en-US" dirty="0" smtClean="0"/>
          </a:p>
          <a:p>
            <a:r>
              <a:rPr lang="en-US" dirty="0" smtClean="0"/>
              <a:t>analysis</a:t>
            </a:r>
            <a:r>
              <a:rPr lang="en-US" dirty="0"/>
              <a:t>, </a:t>
            </a:r>
            <a:endParaRPr lang="en-US" dirty="0" smtClean="0"/>
          </a:p>
          <a:p>
            <a:r>
              <a:rPr lang="en-US" dirty="0" smtClean="0"/>
              <a:t>REDO</a:t>
            </a:r>
            <a:r>
              <a:rPr lang="en-US" dirty="0"/>
              <a:t>, and </a:t>
            </a:r>
            <a:endParaRPr lang="en-US" dirty="0" smtClean="0"/>
          </a:p>
          <a:p>
            <a:r>
              <a:rPr lang="en-US" dirty="0" smtClean="0"/>
              <a:t>UNDO</a:t>
            </a:r>
            <a:r>
              <a:rPr lang="en-US" dirty="0"/>
              <a:t>. </a:t>
            </a:r>
            <a:endParaRPr lang="en-IN" dirty="0"/>
          </a:p>
        </p:txBody>
      </p:sp>
      <p:sp>
        <p:nvSpPr>
          <p:cNvPr id="3" name="Rectangle 2"/>
          <p:cNvSpPr/>
          <p:nvPr/>
        </p:nvSpPr>
        <p:spPr>
          <a:xfrm>
            <a:off x="613186" y="1839558"/>
            <a:ext cx="11446136" cy="3970318"/>
          </a:xfrm>
          <a:prstGeom prst="rect">
            <a:avLst/>
          </a:prstGeom>
        </p:spPr>
        <p:txBody>
          <a:bodyPr wrap="square">
            <a:spAutoFit/>
          </a:bodyPr>
          <a:lstStyle/>
          <a:p>
            <a:r>
              <a:rPr lang="en-US" dirty="0"/>
              <a:t>The </a:t>
            </a:r>
            <a:r>
              <a:rPr lang="en-US" b="1" dirty="0"/>
              <a:t>analysis step</a:t>
            </a:r>
            <a:r>
              <a:rPr lang="en-US" dirty="0"/>
              <a:t> identifies the dirty (updated) pages in the buffer and the set of transactions active at the time of the crash. The appropriate point in the log where the REDO operation should start is also determined. </a:t>
            </a:r>
            <a:endParaRPr lang="en-US" dirty="0" smtClean="0"/>
          </a:p>
          <a:p>
            <a:endParaRPr lang="en-US" dirty="0"/>
          </a:p>
          <a:p>
            <a:r>
              <a:rPr lang="en-US" dirty="0" smtClean="0"/>
              <a:t>The</a:t>
            </a:r>
            <a:r>
              <a:rPr lang="en-US" dirty="0"/>
              <a:t> REDO </a:t>
            </a:r>
            <a:r>
              <a:rPr lang="en-US" b="1" dirty="0"/>
              <a:t>phase</a:t>
            </a:r>
            <a:r>
              <a:rPr lang="en-US" dirty="0"/>
              <a:t> actually reapplies updates from the log to the database. Generally, the REDO operation is applied only to committed transactions. However, this is not the case in ARIES. Certain information in the ARIES log will provide the start point for REDO, from which REDO operations are applied until the end of the log is reached. Additionally, information stored by ARIES and in the data pages will allow ARIES to determine whether the operation to be redone has actually been applied to the database and therefore does not need to be reapplied. Thus, </a:t>
            </a:r>
            <a:r>
              <a:rPr lang="en-US" i="1" dirty="0"/>
              <a:t>only the necessary REDO operations</a:t>
            </a:r>
            <a:r>
              <a:rPr lang="en-US" dirty="0"/>
              <a:t> are applied during recovery. </a:t>
            </a:r>
            <a:endParaRPr lang="en-US" dirty="0" smtClean="0"/>
          </a:p>
          <a:p>
            <a:endParaRPr lang="en-US" dirty="0"/>
          </a:p>
          <a:p>
            <a:r>
              <a:rPr lang="en-US" dirty="0" smtClean="0"/>
              <a:t>Finally</a:t>
            </a:r>
            <a:r>
              <a:rPr lang="en-US" dirty="0"/>
              <a:t>, during the UNDO </a:t>
            </a:r>
            <a:r>
              <a:rPr lang="en-US" b="1" dirty="0"/>
              <a:t>phase</a:t>
            </a:r>
            <a:r>
              <a:rPr lang="en-US" dirty="0"/>
              <a:t>, the log is scanned backward and the operations of transactions that were active at the time of the crash are undone in reverse order. The information needed for ARIES to accomplish its recovery procedure includes the log, the Transaction Table, and the Dirty Page Table. Additionally, </a:t>
            </a:r>
            <a:r>
              <a:rPr lang="en-US" dirty="0" err="1"/>
              <a:t>checkpointing</a:t>
            </a:r>
            <a:r>
              <a:rPr lang="en-US" dirty="0"/>
              <a:t> is used. These tables are maintained by the </a:t>
            </a:r>
            <a:r>
              <a:rPr lang="en-US" dirty="0" smtClean="0"/>
              <a:t>transaction </a:t>
            </a:r>
            <a:r>
              <a:rPr lang="en-US" dirty="0"/>
              <a:t>manager and written to the log during </a:t>
            </a:r>
            <a:r>
              <a:rPr lang="en-US" dirty="0" err="1"/>
              <a:t>checkpointing</a:t>
            </a:r>
            <a:r>
              <a:rPr lang="en-US" dirty="0"/>
              <a:t>.</a:t>
            </a:r>
            <a:endParaRPr lang="en-IN" dirty="0"/>
          </a:p>
        </p:txBody>
      </p:sp>
    </p:spTree>
    <p:extLst>
      <p:ext uri="{BB962C8B-B14F-4D97-AF65-F5344CB8AC3E}">
        <p14:creationId xmlns:p14="http://schemas.microsoft.com/office/powerpoint/2010/main" val="28810830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29958" y="615461"/>
            <a:ext cx="10112188" cy="1200329"/>
          </a:xfrm>
          <a:prstGeom prst="rect">
            <a:avLst/>
          </a:prstGeom>
        </p:spPr>
        <p:txBody>
          <a:bodyPr wrap="square">
            <a:spAutoFit/>
          </a:bodyPr>
          <a:lstStyle/>
          <a:p>
            <a:r>
              <a:rPr lang="en-US" dirty="0"/>
              <a:t>In ARIES, every log record has an associated </a:t>
            </a:r>
            <a:r>
              <a:rPr lang="en-US" b="1" dirty="0"/>
              <a:t>log sequence number (LSN)</a:t>
            </a:r>
            <a:r>
              <a:rPr lang="en-US" dirty="0"/>
              <a:t> that is monotonically increasing and indicates the address of the log record on disk. Each LSN corresponds to a </a:t>
            </a:r>
            <a:r>
              <a:rPr lang="en-US" i="1" dirty="0"/>
              <a:t>specific change</a:t>
            </a:r>
            <a:r>
              <a:rPr lang="en-US" dirty="0"/>
              <a:t> (action) of some transaction. Also, each data page will store the LSN of the </a:t>
            </a:r>
            <a:r>
              <a:rPr lang="en-US" i="1" dirty="0"/>
              <a:t>latest log record corresponding to a change for that page.</a:t>
            </a:r>
            <a:endParaRPr lang="en-IN" dirty="0"/>
          </a:p>
        </p:txBody>
      </p:sp>
    </p:spTree>
    <p:extLst>
      <p:ext uri="{BB962C8B-B14F-4D97-AF65-F5344CB8AC3E}">
        <p14:creationId xmlns:p14="http://schemas.microsoft.com/office/powerpoint/2010/main" val="19316537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6922" y="557622"/>
            <a:ext cx="11715078" cy="646331"/>
          </a:xfrm>
          <a:prstGeom prst="rect">
            <a:avLst/>
          </a:prstGeom>
        </p:spPr>
        <p:txBody>
          <a:bodyPr wrap="square">
            <a:spAutoFit/>
          </a:bodyPr>
          <a:lstStyle/>
          <a:p>
            <a:r>
              <a:rPr lang="en-US" dirty="0"/>
              <a:t>Consider the recovery example shown in </a:t>
            </a:r>
            <a:r>
              <a:rPr lang="en-US" dirty="0" smtClean="0"/>
              <a:t>Figure</a:t>
            </a:r>
          </a:p>
          <a:p>
            <a:r>
              <a:rPr lang="en-US" dirty="0" smtClean="0"/>
              <a:t> </a:t>
            </a:r>
            <a:r>
              <a:rPr lang="en-US" dirty="0"/>
              <a:t>There are three transactions: </a:t>
            </a:r>
            <a:r>
              <a:rPr lang="en-US" i="1" dirty="0"/>
              <a:t>T</a:t>
            </a:r>
            <a:r>
              <a:rPr lang="en-US" baseline="-25000" dirty="0"/>
              <a:t>1</a:t>
            </a:r>
            <a:r>
              <a:rPr lang="en-US" dirty="0"/>
              <a:t>,</a:t>
            </a:r>
            <a:r>
              <a:rPr lang="en-US" i="1" dirty="0"/>
              <a:t> T</a:t>
            </a:r>
            <a:r>
              <a:rPr lang="en-US" baseline="-25000" dirty="0"/>
              <a:t>2</a:t>
            </a:r>
            <a:r>
              <a:rPr lang="en-US" dirty="0"/>
              <a:t>, and</a:t>
            </a:r>
            <a:r>
              <a:rPr lang="en-US" i="1" dirty="0"/>
              <a:t> T</a:t>
            </a:r>
            <a:r>
              <a:rPr lang="en-US" baseline="-25000" dirty="0"/>
              <a:t>3</a:t>
            </a:r>
            <a:r>
              <a:rPr lang="en-US" dirty="0"/>
              <a:t>.</a:t>
            </a:r>
            <a:r>
              <a:rPr lang="en-US" i="1" dirty="0"/>
              <a:t> T</a:t>
            </a:r>
            <a:r>
              <a:rPr lang="en-US" baseline="-25000" dirty="0"/>
              <a:t>1</a:t>
            </a:r>
            <a:r>
              <a:rPr lang="en-US" i="1" dirty="0"/>
              <a:t> </a:t>
            </a:r>
            <a:r>
              <a:rPr lang="en-US" dirty="0"/>
              <a:t>updates page</a:t>
            </a:r>
            <a:r>
              <a:rPr lang="en-US" i="1" dirty="0"/>
              <a:t> C</a:t>
            </a:r>
            <a:r>
              <a:rPr lang="en-US" dirty="0"/>
              <a:t>,</a:t>
            </a:r>
            <a:r>
              <a:rPr lang="en-US" i="1" dirty="0"/>
              <a:t> T</a:t>
            </a:r>
            <a:r>
              <a:rPr lang="en-US" baseline="-25000" dirty="0"/>
              <a:t>2</a:t>
            </a:r>
            <a:r>
              <a:rPr lang="en-US" i="1" dirty="0"/>
              <a:t> </a:t>
            </a:r>
            <a:r>
              <a:rPr lang="en-US" dirty="0"/>
              <a:t>updates pages</a:t>
            </a:r>
            <a:r>
              <a:rPr lang="en-US" i="1" dirty="0"/>
              <a:t> B </a:t>
            </a:r>
            <a:r>
              <a:rPr lang="en-US" dirty="0"/>
              <a:t>and</a:t>
            </a:r>
            <a:r>
              <a:rPr lang="en-US" i="1" dirty="0"/>
              <a:t> C</a:t>
            </a:r>
            <a:r>
              <a:rPr lang="en-US" dirty="0"/>
              <a:t>, and</a:t>
            </a:r>
            <a:r>
              <a:rPr lang="en-US" i="1" dirty="0"/>
              <a:t> T</a:t>
            </a:r>
            <a:r>
              <a:rPr lang="en-US" baseline="-25000" dirty="0"/>
              <a:t>3</a:t>
            </a:r>
            <a:r>
              <a:rPr lang="en-US" i="1" dirty="0"/>
              <a:t> </a:t>
            </a:r>
            <a:r>
              <a:rPr lang="en-US" dirty="0"/>
              <a:t>updates page A.</a:t>
            </a:r>
            <a:endParaRPr lang="en-IN" dirty="0"/>
          </a:p>
        </p:txBody>
      </p:sp>
      <p:pic>
        <p:nvPicPr>
          <p:cNvPr id="5122" name="Picture 2" descr="https://img.brainkart.com/imagebk12/U5svkm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886" y="1507864"/>
            <a:ext cx="6124575" cy="349567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s://img.brainkart.com/imagebk12/5ed8V3T.jpg"/>
          <p:cNvPicPr>
            <a:picLocks noChangeAspect="1" noChangeArrowheads="1"/>
          </p:cNvPicPr>
          <p:nvPr/>
        </p:nvPicPr>
        <p:blipFill rotWithShape="1">
          <a:blip r:embed="rId3">
            <a:extLst>
              <a:ext uri="{28A0092B-C50C-407E-A947-70E740481C1C}">
                <a14:useLocalDpi xmlns:a14="http://schemas.microsoft.com/office/drawing/2010/main" val="0"/>
              </a:ext>
            </a:extLst>
          </a:blip>
          <a:srcRect t="35990"/>
          <a:stretch/>
        </p:blipFill>
        <p:spPr bwMode="auto">
          <a:xfrm>
            <a:off x="6528098" y="1957890"/>
            <a:ext cx="5434405" cy="215222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95256" y="5328809"/>
            <a:ext cx="9828903" cy="646331"/>
          </a:xfrm>
          <a:prstGeom prst="rect">
            <a:avLst/>
          </a:prstGeom>
        </p:spPr>
        <p:txBody>
          <a:bodyPr wrap="square">
            <a:spAutoFit/>
          </a:bodyPr>
          <a:lstStyle/>
          <a:p>
            <a:r>
              <a:rPr lang="en-US" dirty="0"/>
              <a:t>(a) shows the partial contents of the log, and </a:t>
            </a:r>
            <a:r>
              <a:rPr lang="en-US" dirty="0" smtClean="0"/>
              <a:t>Figure (b</a:t>
            </a:r>
            <a:r>
              <a:rPr lang="en-US" dirty="0"/>
              <a:t>) shows the contents of the Transaction Table and Dirty Page Table.</a:t>
            </a:r>
            <a:endParaRPr lang="en-IN" dirty="0"/>
          </a:p>
        </p:txBody>
      </p:sp>
    </p:spTree>
    <p:extLst>
      <p:ext uri="{BB962C8B-B14F-4D97-AF65-F5344CB8AC3E}">
        <p14:creationId xmlns:p14="http://schemas.microsoft.com/office/powerpoint/2010/main" val="13511790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7835" y="515941"/>
            <a:ext cx="9947238" cy="646331"/>
          </a:xfrm>
          <a:prstGeom prst="rect">
            <a:avLst/>
          </a:prstGeom>
        </p:spPr>
        <p:txBody>
          <a:bodyPr wrap="square">
            <a:spAutoFit/>
          </a:bodyPr>
          <a:lstStyle/>
          <a:p>
            <a:r>
              <a:rPr lang="en-US" dirty="0"/>
              <a:t>suppose that a crash occurs at this point. Since a checkpoint has occurred, the address of the associated </a:t>
            </a:r>
            <a:r>
              <a:rPr lang="en-US" dirty="0" err="1"/>
              <a:t>begin_checkpoint</a:t>
            </a:r>
            <a:r>
              <a:rPr lang="en-US" dirty="0"/>
              <a:t> record is retrieved, which is location 4</a:t>
            </a:r>
            <a:endParaRPr lang="en-IN" dirty="0"/>
          </a:p>
        </p:txBody>
      </p:sp>
      <p:sp>
        <p:nvSpPr>
          <p:cNvPr id="3" name="Rectangle 2"/>
          <p:cNvSpPr/>
          <p:nvPr/>
        </p:nvSpPr>
        <p:spPr>
          <a:xfrm>
            <a:off x="1219200" y="1451857"/>
            <a:ext cx="10291482" cy="923330"/>
          </a:xfrm>
          <a:prstGeom prst="rect">
            <a:avLst/>
          </a:prstGeom>
        </p:spPr>
        <p:txBody>
          <a:bodyPr wrap="square">
            <a:spAutoFit/>
          </a:bodyPr>
          <a:lstStyle/>
          <a:p>
            <a:r>
              <a:rPr lang="en-US" dirty="0"/>
              <a:t>The analysis phase starts from location 4 until it reaches the end. The </a:t>
            </a:r>
            <a:r>
              <a:rPr lang="en-US" dirty="0" err="1"/>
              <a:t>end_checkpoint</a:t>
            </a:r>
            <a:r>
              <a:rPr lang="en-US" dirty="0"/>
              <a:t> record would contain the Transaction Table and Dirty Page Table in Figure </a:t>
            </a:r>
            <a:r>
              <a:rPr lang="en-US" dirty="0" smtClean="0"/>
              <a:t>(b</a:t>
            </a:r>
            <a:r>
              <a:rPr lang="en-US" dirty="0"/>
              <a:t>), and the analysis phase will further reconstruct these tables.</a:t>
            </a:r>
            <a:endParaRPr lang="en-IN" dirty="0"/>
          </a:p>
        </p:txBody>
      </p:sp>
      <p:sp>
        <p:nvSpPr>
          <p:cNvPr id="4" name="Rectangle 3"/>
          <p:cNvSpPr/>
          <p:nvPr/>
        </p:nvSpPr>
        <p:spPr>
          <a:xfrm>
            <a:off x="1057835" y="2713202"/>
            <a:ext cx="10259210" cy="1200329"/>
          </a:xfrm>
          <a:prstGeom prst="rect">
            <a:avLst/>
          </a:prstGeom>
        </p:spPr>
        <p:txBody>
          <a:bodyPr wrap="square">
            <a:spAutoFit/>
          </a:bodyPr>
          <a:lstStyle/>
          <a:p>
            <a:r>
              <a:rPr lang="en-US" dirty="0"/>
              <a:t>When the analysis phase encounters log record 6, a new entry for transaction </a:t>
            </a:r>
            <a:r>
              <a:rPr lang="en-US" i="1" dirty="0"/>
              <a:t>T</a:t>
            </a:r>
            <a:r>
              <a:rPr lang="en-US" baseline="-25000" dirty="0"/>
              <a:t>3</a:t>
            </a:r>
            <a:r>
              <a:rPr lang="en-US" dirty="0"/>
              <a:t> is made in the Transaction Table and a new entry for page A is made in the Dirty Page Table. After log record 8 is analyzed, the status of transaction </a:t>
            </a:r>
            <a:r>
              <a:rPr lang="en-US" i="1" dirty="0"/>
              <a:t>T</a:t>
            </a:r>
            <a:r>
              <a:rPr lang="en-US" baseline="-25000" dirty="0"/>
              <a:t>2</a:t>
            </a:r>
            <a:r>
              <a:rPr lang="en-US" dirty="0"/>
              <a:t> is changed to committed in the Transaction Table. Figure </a:t>
            </a:r>
            <a:r>
              <a:rPr lang="en-US" dirty="0" smtClean="0"/>
              <a:t>(c</a:t>
            </a:r>
            <a:r>
              <a:rPr lang="en-US" dirty="0"/>
              <a:t>) shows the two tables after the analysis phase.</a:t>
            </a:r>
            <a:endParaRPr lang="en-IN" dirty="0"/>
          </a:p>
        </p:txBody>
      </p:sp>
    </p:spTree>
    <p:extLst>
      <p:ext uri="{BB962C8B-B14F-4D97-AF65-F5344CB8AC3E}">
        <p14:creationId xmlns:p14="http://schemas.microsoft.com/office/powerpoint/2010/main" val="29342683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7280" y="623944"/>
            <a:ext cx="10736132" cy="2308324"/>
          </a:xfrm>
          <a:prstGeom prst="rect">
            <a:avLst/>
          </a:prstGeom>
        </p:spPr>
        <p:txBody>
          <a:bodyPr wrap="square">
            <a:spAutoFit/>
          </a:bodyPr>
          <a:lstStyle/>
          <a:p>
            <a:r>
              <a:rPr lang="en-US" dirty="0"/>
              <a:t>For the REDO phase, the smallest LSN in the Dirty Page Table is 1. Hence the REDO will start at log record 1 and proceed with the REDO of updates. The LSNs {1, 2, 6, 7} corresponding to the updates for pages C, B, A, and C, respectively, are not less than the LSNs of those pages (as shown in the Dirty Page Table). So those data pages will be read again and the updates reapplied from the log (assuming the actual LSNs stored on those data pages are less then the corresponding log entry). At this point, the REDO phase is finished and the UNDO phase starts. From the Transaction Table (Figure </a:t>
            </a:r>
            <a:r>
              <a:rPr lang="en-US" dirty="0" smtClean="0"/>
              <a:t>(c</a:t>
            </a:r>
            <a:r>
              <a:rPr lang="en-US" dirty="0"/>
              <a:t>)), UNDO is applied only to the active transaction </a:t>
            </a:r>
            <a:r>
              <a:rPr lang="en-US" i="1" dirty="0"/>
              <a:t>T</a:t>
            </a:r>
            <a:r>
              <a:rPr lang="en-US" baseline="-25000" dirty="0"/>
              <a:t>3</a:t>
            </a:r>
            <a:r>
              <a:rPr lang="en-US" dirty="0"/>
              <a:t>. The UNDO phase starts at log entry 6 (the last update for </a:t>
            </a:r>
            <a:r>
              <a:rPr lang="en-US" i="1" dirty="0"/>
              <a:t>T</a:t>
            </a:r>
            <a:r>
              <a:rPr lang="en-US" baseline="-25000" dirty="0"/>
              <a:t>3</a:t>
            </a:r>
            <a:r>
              <a:rPr lang="en-US" dirty="0"/>
              <a:t>) and proceeds backward in the log. The backward chain of updates for transaction </a:t>
            </a:r>
            <a:r>
              <a:rPr lang="en-US" i="1" dirty="0"/>
              <a:t>T</a:t>
            </a:r>
            <a:r>
              <a:rPr lang="en-US" baseline="-25000" dirty="0"/>
              <a:t>3</a:t>
            </a:r>
            <a:r>
              <a:rPr lang="en-US" dirty="0"/>
              <a:t> (only log record 6 in this example) is followed and undone.</a:t>
            </a:r>
            <a:endParaRPr lang="en-IN" dirty="0"/>
          </a:p>
        </p:txBody>
      </p:sp>
    </p:spTree>
    <p:extLst>
      <p:ext uri="{BB962C8B-B14F-4D97-AF65-F5344CB8AC3E}">
        <p14:creationId xmlns:p14="http://schemas.microsoft.com/office/powerpoint/2010/main" val="25295859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5609" y="516367"/>
            <a:ext cx="10843709" cy="4524315"/>
          </a:xfrm>
          <a:prstGeom prst="rect">
            <a:avLst/>
          </a:prstGeom>
        </p:spPr>
        <p:txBody>
          <a:bodyPr wrap="square">
            <a:spAutoFit/>
          </a:bodyPr>
          <a:lstStyle/>
          <a:p>
            <a:pPr algn="ctr"/>
            <a:r>
              <a:rPr lang="en-US" b="1" dirty="0"/>
              <a:t>Hashing in </a:t>
            </a:r>
            <a:r>
              <a:rPr lang="en-US" b="1" dirty="0" smtClean="0"/>
              <a:t>DBMS</a:t>
            </a:r>
          </a:p>
          <a:p>
            <a:pPr algn="ctr"/>
            <a:endParaRPr lang="en-US" b="1" dirty="0"/>
          </a:p>
          <a:p>
            <a:r>
              <a:rPr lang="en-US" dirty="0"/>
              <a:t>In a huge database structure, it is very inefficient to search all the index values and reach the desired data. </a:t>
            </a:r>
            <a:endParaRPr lang="en-US" dirty="0" smtClean="0"/>
          </a:p>
          <a:p>
            <a:endParaRPr lang="en-US" dirty="0"/>
          </a:p>
          <a:p>
            <a:r>
              <a:rPr lang="en-US" dirty="0" smtClean="0"/>
              <a:t>Hashing </a:t>
            </a:r>
            <a:r>
              <a:rPr lang="en-US" dirty="0"/>
              <a:t>technique is used to calculate the direct location of a data record on the disk without using index structure</a:t>
            </a:r>
            <a:r>
              <a:rPr lang="en-US" dirty="0" smtClean="0"/>
              <a:t>.</a:t>
            </a:r>
          </a:p>
          <a:p>
            <a:endParaRPr lang="en-US" dirty="0"/>
          </a:p>
          <a:p>
            <a:r>
              <a:rPr lang="en-US" dirty="0"/>
              <a:t>In this technique, data is stored at the data blocks whose address is generated by using the hashing function. The memory location where these records are stored is known as data bucket or data blocks</a:t>
            </a:r>
            <a:r>
              <a:rPr lang="en-US" dirty="0" smtClean="0"/>
              <a:t>.</a:t>
            </a:r>
          </a:p>
          <a:p>
            <a:endParaRPr lang="en-US" dirty="0"/>
          </a:p>
          <a:p>
            <a:r>
              <a:rPr lang="en-US" dirty="0"/>
              <a:t>In this, a hash function can choose any of the column value to generate the address. Most of the time, the hash function uses the primary key to generate the address of the data block. </a:t>
            </a:r>
            <a:endParaRPr lang="en-US" dirty="0" smtClean="0"/>
          </a:p>
          <a:p>
            <a:endParaRPr lang="en-US" dirty="0"/>
          </a:p>
          <a:p>
            <a:r>
              <a:rPr lang="en-US" dirty="0" smtClean="0"/>
              <a:t>A </a:t>
            </a:r>
            <a:r>
              <a:rPr lang="en-US" dirty="0"/>
              <a:t>hash function is a simple mathematical function to any complex mathematical function. We can even consider the primary key itself as the address of the data block. That means each row whose address will be the same as a primary key stored in the data block.</a:t>
            </a:r>
          </a:p>
        </p:txBody>
      </p:sp>
    </p:spTree>
    <p:extLst>
      <p:ext uri="{BB962C8B-B14F-4D97-AF65-F5344CB8AC3E}">
        <p14:creationId xmlns:p14="http://schemas.microsoft.com/office/powerpoint/2010/main" val="40556317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DBMS Hash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9175" y="310178"/>
            <a:ext cx="5943600" cy="413385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33481" y="590862"/>
            <a:ext cx="5665694" cy="2308324"/>
          </a:xfrm>
          <a:prstGeom prst="rect">
            <a:avLst/>
          </a:prstGeom>
        </p:spPr>
        <p:txBody>
          <a:bodyPr wrap="square">
            <a:spAutoFit/>
          </a:bodyPr>
          <a:lstStyle/>
          <a:p>
            <a:r>
              <a:rPr lang="en-US" dirty="0"/>
              <a:t>The above diagram shows data block addresses same as primary key value. This hash function can also be a simple mathematical function like exponential, mod, </a:t>
            </a:r>
            <a:r>
              <a:rPr lang="en-US" dirty="0" err="1"/>
              <a:t>cos</a:t>
            </a:r>
            <a:r>
              <a:rPr lang="en-US" dirty="0"/>
              <a:t>, sin, etc. Suppose we have mod (5) hash function to determine the address of the data block. In this case, it applies mod (5) hash function on the primary keys and generates 3, 3, 1, 4 and 2 respectively, and records are stored in those data block addresses.</a:t>
            </a:r>
            <a:endParaRPr lang="en-IN" dirty="0"/>
          </a:p>
        </p:txBody>
      </p:sp>
    </p:spTree>
    <p:extLst>
      <p:ext uri="{BB962C8B-B14F-4D97-AF65-F5344CB8AC3E}">
        <p14:creationId xmlns:p14="http://schemas.microsoft.com/office/powerpoint/2010/main" val="36008535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DBMS Hash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5513" y="698108"/>
            <a:ext cx="5943600" cy="2695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5627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DBMS Hash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8425" y="450215"/>
            <a:ext cx="3752850" cy="211455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817581" y="3035548"/>
            <a:ext cx="10424160" cy="2308324"/>
          </a:xfrm>
          <a:prstGeom prst="rect">
            <a:avLst/>
          </a:prstGeom>
        </p:spPr>
        <p:txBody>
          <a:bodyPr wrap="square">
            <a:spAutoFit/>
          </a:bodyPr>
          <a:lstStyle/>
          <a:p>
            <a:pPr algn="ctr"/>
            <a:r>
              <a:rPr lang="en-US" b="1" dirty="0"/>
              <a:t>Static </a:t>
            </a:r>
            <a:r>
              <a:rPr lang="en-US" b="1" dirty="0" smtClean="0"/>
              <a:t>Hashing</a:t>
            </a:r>
          </a:p>
          <a:p>
            <a:pPr algn="ctr"/>
            <a:endParaRPr lang="en-US" dirty="0"/>
          </a:p>
          <a:p>
            <a:r>
              <a:rPr lang="en-US" dirty="0"/>
              <a:t>In static hashing, the resultant data bucket address will always be the same. That means if we generate an address for EMP_ID =103 using the hash function mod (5) then it will always result in same bucket address 3. Here, there will be no change in the bucket address</a:t>
            </a:r>
            <a:r>
              <a:rPr lang="en-US" dirty="0" smtClean="0"/>
              <a:t>.</a:t>
            </a:r>
          </a:p>
          <a:p>
            <a:endParaRPr lang="en-US" dirty="0"/>
          </a:p>
          <a:p>
            <a:r>
              <a:rPr lang="en-US" dirty="0"/>
              <a:t>Hence in this static hashing, the number of data buckets in memory remains constant throughout. In this example, we will have five data buckets in the memory used to store the data.</a:t>
            </a:r>
          </a:p>
        </p:txBody>
      </p:sp>
    </p:spTree>
    <p:extLst>
      <p:ext uri="{BB962C8B-B14F-4D97-AF65-F5344CB8AC3E}">
        <p14:creationId xmlns:p14="http://schemas.microsoft.com/office/powerpoint/2010/main" val="40371544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DBMS Static Hash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9227" y="573032"/>
            <a:ext cx="5686425" cy="3228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33781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14479" y="275223"/>
            <a:ext cx="2869696" cy="369332"/>
          </a:xfrm>
          <a:prstGeom prst="rect">
            <a:avLst/>
          </a:prstGeom>
        </p:spPr>
        <p:txBody>
          <a:bodyPr wrap="none">
            <a:spAutoFit/>
          </a:bodyPr>
          <a:lstStyle/>
          <a:p>
            <a:r>
              <a:rPr lang="en-IN" dirty="0"/>
              <a:t>Operations of Static Hashing</a:t>
            </a:r>
          </a:p>
        </p:txBody>
      </p:sp>
      <p:sp>
        <p:nvSpPr>
          <p:cNvPr id="3" name="Rectangle 2"/>
          <p:cNvSpPr/>
          <p:nvPr/>
        </p:nvSpPr>
        <p:spPr>
          <a:xfrm>
            <a:off x="347831" y="887101"/>
            <a:ext cx="11496338" cy="1754326"/>
          </a:xfrm>
          <a:prstGeom prst="rect">
            <a:avLst/>
          </a:prstGeom>
        </p:spPr>
        <p:txBody>
          <a:bodyPr wrap="square">
            <a:spAutoFit/>
          </a:bodyPr>
          <a:lstStyle/>
          <a:p>
            <a:r>
              <a:rPr lang="en-US" b="1" dirty="0" smtClean="0"/>
              <a:t>Searching a record</a:t>
            </a:r>
            <a:endParaRPr lang="en-US" dirty="0" smtClean="0"/>
          </a:p>
          <a:p>
            <a:r>
              <a:rPr lang="en-US" dirty="0" smtClean="0"/>
              <a:t>When a record needs to be searched, then the same hash function retrieves the address of the bucket where the data is stored.</a:t>
            </a:r>
          </a:p>
          <a:p>
            <a:r>
              <a:rPr lang="en-US" b="1" dirty="0" smtClean="0"/>
              <a:t>Insert a Record</a:t>
            </a:r>
            <a:endParaRPr lang="en-US" dirty="0" smtClean="0"/>
          </a:p>
          <a:p>
            <a:r>
              <a:rPr lang="en-US" dirty="0" smtClean="0"/>
              <a:t>When a new record is inserted into the table, then we will generate an address for a new record based on the hash key and record is stored in that location.</a:t>
            </a:r>
            <a:endParaRPr lang="en-US" dirty="0"/>
          </a:p>
        </p:txBody>
      </p:sp>
      <p:sp>
        <p:nvSpPr>
          <p:cNvPr id="4" name="Rectangle 3"/>
          <p:cNvSpPr/>
          <p:nvPr/>
        </p:nvSpPr>
        <p:spPr>
          <a:xfrm>
            <a:off x="347831" y="2875917"/>
            <a:ext cx="11141336" cy="1477328"/>
          </a:xfrm>
          <a:prstGeom prst="rect">
            <a:avLst/>
          </a:prstGeom>
        </p:spPr>
        <p:txBody>
          <a:bodyPr wrap="square">
            <a:spAutoFit/>
          </a:bodyPr>
          <a:lstStyle/>
          <a:p>
            <a:r>
              <a:rPr lang="en-US" b="1" dirty="0"/>
              <a:t>Delete a Record</a:t>
            </a:r>
            <a:endParaRPr lang="en-US" dirty="0"/>
          </a:p>
          <a:p>
            <a:r>
              <a:rPr lang="en-US" dirty="0"/>
              <a:t>To delete a record, we will first fetch the record which is supposed to be deleted. Then we will delete the records for that address in memory.</a:t>
            </a:r>
          </a:p>
          <a:p>
            <a:r>
              <a:rPr lang="en-US" b="1" dirty="0"/>
              <a:t>Update a Record</a:t>
            </a:r>
            <a:endParaRPr lang="en-US" dirty="0"/>
          </a:p>
          <a:p>
            <a:r>
              <a:rPr lang="en-US" dirty="0"/>
              <a:t>To update a record, we will first search it using a hash function, and then the data record is updated.</a:t>
            </a:r>
          </a:p>
        </p:txBody>
      </p:sp>
    </p:spTree>
    <p:extLst>
      <p:ext uri="{BB962C8B-B14F-4D97-AF65-F5344CB8AC3E}">
        <p14:creationId xmlns:p14="http://schemas.microsoft.com/office/powerpoint/2010/main" val="41322319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1622" y="466203"/>
            <a:ext cx="9979511" cy="1477328"/>
          </a:xfrm>
          <a:prstGeom prst="rect">
            <a:avLst/>
          </a:prstGeom>
        </p:spPr>
        <p:txBody>
          <a:bodyPr wrap="square">
            <a:spAutoFit/>
          </a:bodyPr>
          <a:lstStyle/>
          <a:p>
            <a:r>
              <a:rPr lang="en-US" dirty="0"/>
              <a:t>If we want to insert some new record into the file but the address of a data bucket generated by the hash function is not empty, or data already exists in that address. This situation in the static hashing is known as </a:t>
            </a:r>
            <a:r>
              <a:rPr lang="en-US" b="1" dirty="0"/>
              <a:t>bucket overflow</a:t>
            </a:r>
            <a:r>
              <a:rPr lang="en-US" dirty="0"/>
              <a:t>. This is a critical situation in this method</a:t>
            </a:r>
            <a:r>
              <a:rPr lang="en-US" dirty="0" smtClean="0"/>
              <a:t>.</a:t>
            </a:r>
          </a:p>
          <a:p>
            <a:endParaRPr lang="en-US" dirty="0"/>
          </a:p>
          <a:p>
            <a:r>
              <a:rPr lang="en-US" dirty="0"/>
              <a:t>To overcome this situation, there are various methods. Some commonly used methods are as follows:</a:t>
            </a:r>
          </a:p>
        </p:txBody>
      </p:sp>
      <p:sp>
        <p:nvSpPr>
          <p:cNvPr id="3" name="Rectangle 2"/>
          <p:cNvSpPr/>
          <p:nvPr/>
        </p:nvSpPr>
        <p:spPr>
          <a:xfrm>
            <a:off x="573741" y="3178480"/>
            <a:ext cx="5665695" cy="2585323"/>
          </a:xfrm>
          <a:prstGeom prst="rect">
            <a:avLst/>
          </a:prstGeom>
        </p:spPr>
        <p:txBody>
          <a:bodyPr wrap="square">
            <a:spAutoFit/>
          </a:bodyPr>
          <a:lstStyle/>
          <a:p>
            <a:r>
              <a:rPr lang="en-US" dirty="0"/>
              <a:t>1. Open Hashing</a:t>
            </a:r>
          </a:p>
          <a:p>
            <a:r>
              <a:rPr lang="en-US" dirty="0"/>
              <a:t>When a hash function generates an address at which data is already stored, then the next bucket will be allocated to it. This mechanism is called as </a:t>
            </a:r>
            <a:r>
              <a:rPr lang="en-US" b="1" dirty="0"/>
              <a:t>Linear Probing</a:t>
            </a:r>
            <a:r>
              <a:rPr lang="en-US" dirty="0"/>
              <a:t>.</a:t>
            </a:r>
          </a:p>
          <a:p>
            <a:r>
              <a:rPr lang="en-US" b="1" dirty="0"/>
              <a:t>For example:</a:t>
            </a:r>
            <a:r>
              <a:rPr lang="en-US" dirty="0"/>
              <a:t> suppose R3 is a new address which needs to be inserted, the hash function generates address as </a:t>
            </a:r>
            <a:r>
              <a:rPr lang="en-US" dirty="0" smtClean="0"/>
              <a:t>110 </a:t>
            </a:r>
            <a:r>
              <a:rPr lang="en-US" dirty="0"/>
              <a:t>for R3. But the generated address is already full. So the system searches next available data bucket, 113 and assigns R3 to it.</a:t>
            </a:r>
          </a:p>
        </p:txBody>
      </p:sp>
      <p:pic>
        <p:nvPicPr>
          <p:cNvPr id="10242" name="Picture 2" descr="DBMS Static Hash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8229" y="3027254"/>
            <a:ext cx="3732904" cy="28877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93932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0711" y="843677"/>
            <a:ext cx="5504329" cy="2862322"/>
          </a:xfrm>
          <a:prstGeom prst="rect">
            <a:avLst/>
          </a:prstGeom>
        </p:spPr>
        <p:txBody>
          <a:bodyPr wrap="square">
            <a:spAutoFit/>
          </a:bodyPr>
          <a:lstStyle/>
          <a:p>
            <a:r>
              <a:rPr lang="en-US" dirty="0"/>
              <a:t>2. Close Hashing</a:t>
            </a:r>
          </a:p>
          <a:p>
            <a:r>
              <a:rPr lang="en-US" dirty="0"/>
              <a:t>When buckets are full, then a new data bucket is allocated for the same hash result and is linked after the previous one. This mechanism is known as </a:t>
            </a:r>
            <a:r>
              <a:rPr lang="en-US" b="1" dirty="0"/>
              <a:t>Overflow chaining</a:t>
            </a:r>
            <a:r>
              <a:rPr lang="en-US" dirty="0"/>
              <a:t>.</a:t>
            </a:r>
          </a:p>
          <a:p>
            <a:r>
              <a:rPr lang="en-US" b="1" dirty="0"/>
              <a:t>For example:</a:t>
            </a:r>
            <a:r>
              <a:rPr lang="en-US" dirty="0"/>
              <a:t> Suppose R3 is a new address which needs to be inserted into the table, the hash function generates address as 110 for it. But this bucket is full to store the new data. In this case, a new bucket is inserted at the end of 110 buckets and is linked to it.</a:t>
            </a:r>
          </a:p>
        </p:txBody>
      </p:sp>
      <p:pic>
        <p:nvPicPr>
          <p:cNvPr id="11266" name="Picture 2" descr="DBMS Static Hash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9175" y="1235075"/>
            <a:ext cx="5943600"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63549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39537" y="350527"/>
            <a:ext cx="1800493" cy="369332"/>
          </a:xfrm>
          <a:prstGeom prst="rect">
            <a:avLst/>
          </a:prstGeom>
        </p:spPr>
        <p:txBody>
          <a:bodyPr wrap="none">
            <a:spAutoFit/>
          </a:bodyPr>
          <a:lstStyle/>
          <a:p>
            <a:r>
              <a:rPr lang="en-IN" dirty="0"/>
              <a:t>Dynamic Hashing</a:t>
            </a:r>
          </a:p>
        </p:txBody>
      </p:sp>
      <p:sp>
        <p:nvSpPr>
          <p:cNvPr id="3" name="Rectangle 2"/>
          <p:cNvSpPr/>
          <p:nvPr/>
        </p:nvSpPr>
        <p:spPr>
          <a:xfrm>
            <a:off x="871369" y="831964"/>
            <a:ext cx="9681883" cy="1754326"/>
          </a:xfrm>
          <a:prstGeom prst="rect">
            <a:avLst/>
          </a:prstGeom>
        </p:spPr>
        <p:txBody>
          <a:bodyPr wrap="square">
            <a:spAutoFit/>
          </a:bodyPr>
          <a:lstStyle/>
          <a:p>
            <a:r>
              <a:rPr lang="en-US" dirty="0"/>
              <a:t>The dynamic hashing method is used to overcome the problems of static hashing like bucket overflow</a:t>
            </a:r>
            <a:r>
              <a:rPr lang="en-US" dirty="0" smtClean="0"/>
              <a:t>.</a:t>
            </a:r>
          </a:p>
          <a:p>
            <a:endParaRPr lang="en-US" dirty="0"/>
          </a:p>
          <a:p>
            <a:r>
              <a:rPr lang="en-US" dirty="0"/>
              <a:t>In this method, data buckets grow or shrink as the records increases or decreases. This method is also known as Extendable hashing method.</a:t>
            </a:r>
          </a:p>
          <a:p>
            <a:r>
              <a:rPr lang="en-US" dirty="0"/>
              <a:t>This method makes hashing dynamic, i.e., it allows insertion or deletion without resulting in poor performance.</a:t>
            </a:r>
          </a:p>
        </p:txBody>
      </p:sp>
      <p:sp>
        <p:nvSpPr>
          <p:cNvPr id="4" name="Rectangle 3"/>
          <p:cNvSpPr/>
          <p:nvPr/>
        </p:nvSpPr>
        <p:spPr>
          <a:xfrm>
            <a:off x="1025561" y="2879241"/>
            <a:ext cx="10087087" cy="2862322"/>
          </a:xfrm>
          <a:prstGeom prst="rect">
            <a:avLst/>
          </a:prstGeom>
        </p:spPr>
        <p:txBody>
          <a:bodyPr wrap="square">
            <a:spAutoFit/>
          </a:bodyPr>
          <a:lstStyle/>
          <a:p>
            <a:r>
              <a:rPr lang="en-US" b="1" dirty="0"/>
              <a:t>How to search a key</a:t>
            </a:r>
          </a:p>
          <a:p>
            <a:r>
              <a:rPr lang="en-US" dirty="0"/>
              <a:t>First, calculate the hash address of the key.</a:t>
            </a:r>
          </a:p>
          <a:p>
            <a:r>
              <a:rPr lang="en-US" dirty="0"/>
              <a:t>Check how many bits are used in the directory, and these bits are called as </a:t>
            </a:r>
            <a:r>
              <a:rPr lang="en-US" dirty="0" err="1"/>
              <a:t>i</a:t>
            </a:r>
            <a:r>
              <a:rPr lang="en-US" dirty="0"/>
              <a:t>.</a:t>
            </a:r>
          </a:p>
          <a:p>
            <a:r>
              <a:rPr lang="en-US" dirty="0"/>
              <a:t>Take the least significant </a:t>
            </a:r>
            <a:r>
              <a:rPr lang="en-US" dirty="0" err="1"/>
              <a:t>i</a:t>
            </a:r>
            <a:r>
              <a:rPr lang="en-US" dirty="0"/>
              <a:t> bits of the hash address. This gives an index of the directory.</a:t>
            </a:r>
          </a:p>
          <a:p>
            <a:r>
              <a:rPr lang="en-US" dirty="0"/>
              <a:t>Now using the index, go to the directory and find bucket address where the record might be</a:t>
            </a:r>
            <a:r>
              <a:rPr lang="en-US" dirty="0" smtClean="0"/>
              <a:t>.</a:t>
            </a:r>
          </a:p>
          <a:p>
            <a:endParaRPr lang="en-US" dirty="0"/>
          </a:p>
          <a:p>
            <a:r>
              <a:rPr lang="en-US" b="1" dirty="0"/>
              <a:t>How to insert a new record</a:t>
            </a:r>
          </a:p>
          <a:p>
            <a:r>
              <a:rPr lang="en-US" dirty="0"/>
              <a:t>Firstly, you have to follow the same procedure for retrieval, ending up in some bucket.</a:t>
            </a:r>
          </a:p>
          <a:p>
            <a:r>
              <a:rPr lang="en-US" dirty="0"/>
              <a:t>If there is still space in that bucket, then place the record in it.</a:t>
            </a:r>
          </a:p>
          <a:p>
            <a:r>
              <a:rPr lang="en-US" dirty="0"/>
              <a:t>If the bucket is full, then we will split the bucket and redistribute the records.</a:t>
            </a:r>
          </a:p>
        </p:txBody>
      </p:sp>
    </p:spTree>
    <p:extLst>
      <p:ext uri="{BB962C8B-B14F-4D97-AF65-F5344CB8AC3E}">
        <p14:creationId xmlns:p14="http://schemas.microsoft.com/office/powerpoint/2010/main" val="4932673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45863" y="181104"/>
            <a:ext cx="10797092" cy="646331"/>
          </a:xfrm>
          <a:prstGeom prst="rect">
            <a:avLst/>
          </a:prstGeom>
        </p:spPr>
        <p:txBody>
          <a:bodyPr wrap="square">
            <a:spAutoFit/>
          </a:bodyPr>
          <a:lstStyle/>
          <a:p>
            <a:r>
              <a:rPr lang="en-US" dirty="0"/>
              <a:t>For example:</a:t>
            </a:r>
          </a:p>
          <a:p>
            <a:r>
              <a:rPr lang="en-US" dirty="0"/>
              <a:t>Consider the following grouping of keys into buckets, depending on the prefix of their hash address:</a:t>
            </a:r>
          </a:p>
        </p:txBody>
      </p:sp>
      <p:pic>
        <p:nvPicPr>
          <p:cNvPr id="12292" name="Picture 4" descr="DBMS Dynamic Hash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3498" y="847610"/>
            <a:ext cx="2505075" cy="18764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59398" y="2828836"/>
            <a:ext cx="11252498" cy="923330"/>
          </a:xfrm>
          <a:prstGeom prst="rect">
            <a:avLst/>
          </a:prstGeom>
        </p:spPr>
        <p:txBody>
          <a:bodyPr wrap="square">
            <a:spAutoFit/>
          </a:bodyPr>
          <a:lstStyle/>
          <a:p>
            <a:r>
              <a:rPr lang="en-US" dirty="0"/>
              <a:t>The last two bits of 2 and 4 are 00. So it will go into bucket B0. The last two bits of 5 and 6 are 01, so it will go into bucket B1. The last two bits of 1 and 3 are 10, so it will go into bucket B2. The last two bits of 7 are 11, so it will go into B3.</a:t>
            </a:r>
            <a:endParaRPr lang="en-IN" dirty="0"/>
          </a:p>
        </p:txBody>
      </p:sp>
      <p:pic>
        <p:nvPicPr>
          <p:cNvPr id="12294" name="Picture 6" descr="DBMS Dynamic Hash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5293" y="3585041"/>
            <a:ext cx="4581525" cy="2733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04671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2983" y="365376"/>
            <a:ext cx="9839662" cy="3139321"/>
          </a:xfrm>
          <a:prstGeom prst="rect">
            <a:avLst/>
          </a:prstGeom>
        </p:spPr>
        <p:txBody>
          <a:bodyPr wrap="square">
            <a:spAutoFit/>
          </a:bodyPr>
          <a:lstStyle/>
          <a:p>
            <a:r>
              <a:rPr lang="en-US" dirty="0"/>
              <a:t>Insert key 9 with hash address 10001 into the above structure:</a:t>
            </a:r>
          </a:p>
          <a:p>
            <a:r>
              <a:rPr lang="en-US" dirty="0"/>
              <a:t>Since key 9 has hash address 10001, it must go into the first bucket. But bucket B1 is full, so it will get split.</a:t>
            </a:r>
          </a:p>
          <a:p>
            <a:r>
              <a:rPr lang="en-US" dirty="0"/>
              <a:t>The splitting will separate 5, 9 from 6 since last three bits of 5, 9 are 001, so it will go into bucket B1, and the last three bits of 6 are 101, so it will go into bucket B5.</a:t>
            </a:r>
          </a:p>
          <a:p>
            <a:r>
              <a:rPr lang="en-US" dirty="0"/>
              <a:t>Keys 2 and 4 are still in B0. The record in B0 pointed by the 000 and 100 entry because last two bits of both the entry are 00.</a:t>
            </a:r>
          </a:p>
          <a:p>
            <a:r>
              <a:rPr lang="en-US" dirty="0"/>
              <a:t>Keys 1 and 3 are still in B2. The record in B2 pointed by the 010 and 110 entry because last two bits of both the entry are 10.</a:t>
            </a:r>
          </a:p>
          <a:p>
            <a:r>
              <a:rPr lang="en-US" dirty="0"/>
              <a:t>Key 7 are still in B3. The record in B3 pointed by the 111 and 011 entry because last two bits of both the entry are 11.</a:t>
            </a:r>
          </a:p>
        </p:txBody>
      </p:sp>
      <p:pic>
        <p:nvPicPr>
          <p:cNvPr id="13314" name="Picture 2" descr="DBMS Dynamic Hash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1564" y="3329099"/>
            <a:ext cx="4762500" cy="3286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756945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71369" y="796067"/>
            <a:ext cx="10854466" cy="4247317"/>
          </a:xfrm>
          <a:prstGeom prst="rect">
            <a:avLst/>
          </a:prstGeom>
        </p:spPr>
        <p:txBody>
          <a:bodyPr wrap="square">
            <a:spAutoFit/>
          </a:bodyPr>
          <a:lstStyle/>
          <a:p>
            <a:r>
              <a:rPr lang="en-US" b="1" dirty="0"/>
              <a:t>Advantages of dynamic </a:t>
            </a:r>
            <a:r>
              <a:rPr lang="en-US" b="1" dirty="0" smtClean="0"/>
              <a:t>hashing</a:t>
            </a:r>
          </a:p>
          <a:p>
            <a:endParaRPr lang="en-US" b="1" dirty="0"/>
          </a:p>
          <a:p>
            <a:r>
              <a:rPr lang="en-US" dirty="0"/>
              <a:t>In this method, the performance does not decrease as the data grows in the system. It simply increases the size of memory to accommodate the data.</a:t>
            </a:r>
          </a:p>
          <a:p>
            <a:r>
              <a:rPr lang="en-US" dirty="0"/>
              <a:t>In this method, memory is well utilized as it grows and shrinks with the data. There will not be any unused memory lying.</a:t>
            </a:r>
          </a:p>
          <a:p>
            <a:r>
              <a:rPr lang="en-US" dirty="0"/>
              <a:t>This method is good for the dynamic database where data grows and shrinks frequently</a:t>
            </a:r>
            <a:r>
              <a:rPr lang="en-US" dirty="0" smtClean="0"/>
              <a:t>.</a:t>
            </a:r>
          </a:p>
          <a:p>
            <a:endParaRPr lang="en-US" dirty="0"/>
          </a:p>
          <a:p>
            <a:r>
              <a:rPr lang="en-US" b="1" dirty="0"/>
              <a:t>Disadvantages of dynamic </a:t>
            </a:r>
            <a:r>
              <a:rPr lang="en-US" b="1" dirty="0" smtClean="0"/>
              <a:t>hashing</a:t>
            </a:r>
          </a:p>
          <a:p>
            <a:endParaRPr lang="en-US" b="1" dirty="0"/>
          </a:p>
          <a:p>
            <a:r>
              <a:rPr lang="en-US" dirty="0"/>
              <a:t>In this method, if the data size increases then the bucket size is also increased. These addresses of data will be maintained in the bucket address table. This is because the data address will keep changing as buckets grow and shrink. If there is a huge increase in data, maintaining the bucket address table becomes tedious.</a:t>
            </a:r>
          </a:p>
          <a:p>
            <a:r>
              <a:rPr lang="en-US" dirty="0"/>
              <a:t>In this case, the bucket overflow situation will also occur. But it might take little time to reach this situation than static hashing.</a:t>
            </a:r>
          </a:p>
        </p:txBody>
      </p:sp>
    </p:spTree>
    <p:extLst>
      <p:ext uri="{BB962C8B-B14F-4D97-AF65-F5344CB8AC3E}">
        <p14:creationId xmlns:p14="http://schemas.microsoft.com/office/powerpoint/2010/main" val="40364702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0F9A1C-6ABD-2596-1124-89C7277CC6E9}"/>
              </a:ext>
            </a:extLst>
          </p:cNvPr>
          <p:cNvSpPr>
            <a:spLocks noGrp="1"/>
          </p:cNvSpPr>
          <p:nvPr>
            <p:ph type="title"/>
          </p:nvPr>
        </p:nvSpPr>
        <p:spPr>
          <a:xfrm>
            <a:off x="1157664" y="2612571"/>
            <a:ext cx="9603275" cy="1049235"/>
          </a:xfrm>
        </p:spPr>
        <p:txBody>
          <a:bodyPr/>
          <a:lstStyle/>
          <a:p>
            <a:pPr algn="ctr"/>
            <a:r>
              <a:rPr lang="en-US" dirty="0"/>
              <a:t>THANK YOU </a:t>
            </a:r>
            <a:endParaRPr lang="en-IN" dirty="0"/>
          </a:p>
        </p:txBody>
      </p:sp>
    </p:spTree>
    <p:extLst>
      <p:ext uri="{BB962C8B-B14F-4D97-AF65-F5344CB8AC3E}">
        <p14:creationId xmlns:p14="http://schemas.microsoft.com/office/powerpoint/2010/main" val="30929063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xmlns=""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2959</TotalTime>
  <Words>3573</Words>
  <Application>Microsoft Office PowerPoint</Application>
  <PresentationFormat>Custom</PresentationFormat>
  <Paragraphs>243</Paragraphs>
  <Slides>72</Slides>
  <Notes>0</Notes>
  <HiddenSlides>0</HiddenSlides>
  <MMClips>0</MMClips>
  <ScaleCrop>false</ScaleCrop>
  <HeadingPairs>
    <vt:vector size="4" baseType="variant">
      <vt:variant>
        <vt:lpstr>Theme</vt:lpstr>
      </vt:variant>
      <vt:variant>
        <vt:i4>1</vt:i4>
      </vt:variant>
      <vt:variant>
        <vt:lpstr>Slide Titles</vt:lpstr>
      </vt:variant>
      <vt:variant>
        <vt:i4>72</vt:i4>
      </vt:variant>
    </vt:vector>
  </HeadingPairs>
  <TitlesOfParts>
    <vt:vector size="73" baseType="lpstr">
      <vt:lpstr>Gallery</vt:lpstr>
      <vt:lpstr>Database Management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Systems</dc:title>
  <dc:creator>neha28nandal@outlook.com</dc:creator>
  <cp:lastModifiedBy>staff</cp:lastModifiedBy>
  <cp:revision>462</cp:revision>
  <dcterms:created xsi:type="dcterms:W3CDTF">2023-09-09T04:22:22Z</dcterms:created>
  <dcterms:modified xsi:type="dcterms:W3CDTF">2024-01-08T06:12:35Z</dcterms:modified>
</cp:coreProperties>
</file>