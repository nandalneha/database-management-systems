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5156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1  •  LECTURE 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MODEL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Relationships &amp; Relationship Sets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ER diagram comes alive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457200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5720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SYLLABUS 2025–26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6035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Neha Nandal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949440" y="4754880"/>
            <a:ext cx="1554480" cy="68580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4754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241280" y="4754880"/>
            <a:ext cx="1554480" cy="68580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0" y="4754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03920" y="5097780"/>
            <a:ext cx="411480" cy="914"/>
          </a:xfrm>
          <a:prstGeom prst="line">
            <a:avLst/>
          </a:prstGeom>
          <a:noFill/>
          <a:ln w="25400">
            <a:solidFill>
              <a:srgbClr val="FFD5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29800" y="5097780"/>
            <a:ext cx="411480" cy="914"/>
          </a:xfrm>
          <a:prstGeom prst="line">
            <a:avLst/>
          </a:prstGeom>
          <a:noFill/>
          <a:ln w="25400">
            <a:solidFill>
              <a:srgbClr val="FFD5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0" y="4686300"/>
            <a:ext cx="1188720" cy="822960"/>
          </a:xfrm>
          <a:prstGeom prst="diamond">
            <a:avLst/>
          </a:prstGeom>
          <a:solidFill>
            <a:srgbClr val="FDF3E0"/>
          </a:solidFill>
          <a:ln w="25400">
            <a:solidFill>
              <a:srgbClr val="B676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0" y="46863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Lecture’s Question — Answered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61188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connects two entity sets?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 TAKES a course. A professor TEACHES a course.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answer: a RELATIONSHIP — drawn as a DIAMOND.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828800" y="3474720"/>
            <a:ext cx="2011680" cy="86868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34747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21040" y="3474720"/>
            <a:ext cx="2011680" cy="86868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0" y="34747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40480" y="3909060"/>
            <a:ext cx="105156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3909060"/>
            <a:ext cx="105156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3131820"/>
            <a:ext cx="2377440" cy="1554480"/>
          </a:xfrm>
          <a:prstGeom prst="diamond">
            <a:avLst/>
          </a:prstGeom>
          <a:solidFill>
            <a:srgbClr val="FDF3E0"/>
          </a:solidFill>
          <a:ln w="25400">
            <a:solidFill>
              <a:srgbClr val="B676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31318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54864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also named the diamond in the comments — you’re ahead of the syllabus. 🎯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7 — Dr. Neha Nandal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Perfect Rectangles… Two Useless Islands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717036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3717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systems run on CONNECTIONS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463040" y="2377440"/>
            <a:ext cx="2194560" cy="96012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23774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95360" y="2377440"/>
            <a:ext cx="2194560" cy="96012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0" y="23774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32120" y="2240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1097280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Who ENROLLED in what?  — college portal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3616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Who ORDERED which food?  — Swiggy/Zomato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92861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Who BOOKED which seat?  — IRCTC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549554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Who FOLLOWS whom?  — Instagram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app you use is 90% relationships. Draw them wrong → the design collapses.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7 — Dr. Neha Nandal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 vs Relationship Set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61188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logic as Ravi vs STUDENT!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1005840"/>
          </a:xfrm>
          <a:prstGeom prst="roundRect">
            <a:avLst>
              <a:gd name="adj" fmla="val 10909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Relationship: an association among two or more entities.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51206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383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9776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“Ravi takes DBMS”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4617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specific association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3200400"/>
            <a:ext cx="5120640" cy="2377440"/>
          </a:xfrm>
          <a:prstGeom prst="roundRect">
            <a:avLst>
              <a:gd name="adj" fmla="val 4615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3383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 SET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09360" y="39776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09360" y="4617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student–course pairs — drawn as ONE diamond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5897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 vs STUDENT last week. “Ravi takes DBMS” vs TAKES this week. One member vs the collection.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7 — Dr. Neha Nandal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Diamond — New Shape, New Rule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34797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3479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Rectangle–line–diamond–line–rectangle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645920" y="3108960"/>
            <a:ext cx="2194560" cy="100584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3108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412480" y="3108960"/>
            <a:ext cx="2194560" cy="100584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0" y="3108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840480" y="3611880"/>
            <a:ext cx="1005840" cy="914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3611880"/>
            <a:ext cx="1097280" cy="914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2788920"/>
            <a:ext cx="2468880" cy="1645920"/>
          </a:xfrm>
          <a:prstGeom prst="diamond">
            <a:avLst/>
          </a:prstGeom>
          <a:solidFill>
            <a:srgbClr val="FDF3E0"/>
          </a:solidFill>
          <a:ln w="25400">
            <a:solidFill>
              <a:srgbClr val="B676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78892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48920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The diamond ALWAYS sits between rectangles — never floats alone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5367528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Lines connect each participating entity set to the diamond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5843016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Name it with a VERB: takes, teaches, borrows, manages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7 — Dr. Neha Nandal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Viva Trap: Where Does MARKS Live?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87375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 STUDENT. Not in COURSE. Then where?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645920" y="2834640"/>
            <a:ext cx="2194560" cy="100584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28346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412480" y="2834640"/>
            <a:ext cx="2194560" cy="100584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0" y="28346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840480" y="3337560"/>
            <a:ext cx="1005840" cy="914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3337560"/>
            <a:ext cx="1097280" cy="914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2514600"/>
            <a:ext cx="2468880" cy="1645920"/>
          </a:xfrm>
          <a:prstGeom prst="diamond">
            <a:avLst/>
          </a:prstGeom>
          <a:solidFill>
            <a:srgbClr val="FDF3E0"/>
          </a:solidFill>
          <a:ln w="25400">
            <a:solidFill>
              <a:srgbClr val="B676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51460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80760" y="4160520"/>
            <a:ext cx="914" cy="731520"/>
          </a:xfrm>
          <a:prstGeom prst="line">
            <a:avLst/>
          </a:prstGeom>
          <a:noFill/>
          <a:ln w="25400">
            <a:solidFill>
              <a:srgbClr val="6D5B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0" y="4901184"/>
            <a:ext cx="1554480" cy="530352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4901184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5029200"/>
            <a:ext cx="4206240" cy="1234440"/>
          </a:xfrm>
          <a:prstGeom prst="roundRect">
            <a:avLst>
              <a:gd name="adj" fmla="val 8889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12064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STUDENT? ✗ Ravi has DIFFERENT marks in different courses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406640" y="5029200"/>
            <a:ext cx="4206240" cy="1234440"/>
          </a:xfrm>
          <a:prstGeom prst="roundRect">
            <a:avLst>
              <a:gd name="adj" fmla="val 8889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512064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COURSE? ✗ DBMS gives DIFFERENT marks to different students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1520" y="18288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marks belongs to the PAIR → a descriptive attribute on the RELATIONSHIP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7 — Dr. Neha Nandal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 of a Relationship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92734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3927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entity sets participate?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317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UNARY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manages EMPLOYEE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44805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set, both sides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80560" y="210312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3317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480560" y="28803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356616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takes COURSE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7720" y="44805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of real relationships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321040" y="210312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23317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TERNARY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21040" y="28803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 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58200" y="356616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• MEDICINE • PATIENT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58200" y="44805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sets, one diamond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draw each one 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7 — Dr. Neha Nandal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Unary (Recursive) — The Set That Talks To Itself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5609844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56098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class monitor is a student managing students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983480" y="2194560"/>
            <a:ext cx="2286000" cy="100584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83480" y="21945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937760" y="3794760"/>
            <a:ext cx="2377440" cy="1554480"/>
          </a:xfrm>
          <a:prstGeom prst="diamond">
            <a:avLst/>
          </a:prstGeom>
          <a:solidFill>
            <a:srgbClr val="FDF3E0"/>
          </a:solidFill>
          <a:ln w="25400">
            <a:solidFill>
              <a:srgbClr val="B676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379476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303520" y="3200400"/>
            <a:ext cx="91440" cy="10058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6766560" y="3200400"/>
            <a:ext cx="91440" cy="10058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7640" y="3566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78040" y="3566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8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778240" y="2103120"/>
            <a:ext cx="2834640" cy="3017520"/>
          </a:xfrm>
          <a:prstGeom prst="roundRect">
            <a:avLst>
              <a:gd name="adj" fmla="val 3871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0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examples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961120" y="274320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manages employee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married to person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is prerequisite of course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rectangle, TWO lines to the same diamond — with ROLE labels to tell the sides apart.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7 — Dr. Neha Nandal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— The Workhorse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539953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53995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entity sets — 95% of everything you’ll draw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645920" y="3017520"/>
            <a:ext cx="2194560" cy="100584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30175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412480" y="3017520"/>
            <a:ext cx="2194560" cy="100584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0" y="30175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840480" y="3520440"/>
            <a:ext cx="1005840" cy="914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3520440"/>
            <a:ext cx="1097280" cy="914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2697480"/>
            <a:ext cx="2468880" cy="1645920"/>
          </a:xfrm>
          <a:prstGeom prst="diamond">
            <a:avLst/>
          </a:prstGeom>
          <a:solidFill>
            <a:srgbClr val="FDF3E0"/>
          </a:solidFill>
          <a:ln w="25400">
            <a:solidFill>
              <a:srgbClr val="B676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69748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8920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CUSTOMER places ORDER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9360" y="48920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AUTHOR writes BOOK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545896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PROFESSOR teaches COURSE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9360" y="545896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PASSENGER books TICKET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7 — Dr. Neha Nandal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Ternary — Three Sets, ONE Diamond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558284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558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prescription needs all three together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463040" y="2286000"/>
            <a:ext cx="2194560" cy="91440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2286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595360" y="2286000"/>
            <a:ext cx="2194560" cy="91440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0" y="2286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029200" y="5212080"/>
            <a:ext cx="2194560" cy="91440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5212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MEDICINE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800600" y="2560320"/>
            <a:ext cx="2651760" cy="1645920"/>
          </a:xfrm>
          <a:prstGeom prst="diamond">
            <a:avLst/>
          </a:prstGeom>
          <a:solidFill>
            <a:srgbClr val="FDF3E0"/>
          </a:solidFill>
          <a:ln w="25400">
            <a:solidFill>
              <a:srgbClr val="B676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256032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PRESCRIBES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0" y="2834640"/>
            <a:ext cx="1280160" cy="3657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7315200" y="2834640"/>
            <a:ext cx="1280160" cy="3657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4206240"/>
            <a:ext cx="914" cy="10058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69680" y="4206240"/>
            <a:ext cx="2743200" cy="1737360"/>
          </a:xfrm>
          <a:prstGeom prst="roundRect">
            <a:avLst>
              <a:gd name="adj" fmla="val 6316"/>
            </a:avLst>
          </a:prstGeom>
          <a:solidFill>
            <a:srgbClr val="FDECEC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0" y="43434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the same as 3 binary relationships!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52560" y="50749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prescribed WHAT to WHOM — meaning exists only as a trio.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7 — Dr. Neha Nandal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Cardinality — The Heart of ER Design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277063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on each side?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Knowing that STUDENT and COURSE are connected isn’t enough. The real design question: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463040" y="2651760"/>
            <a:ext cx="9235440" cy="1737360"/>
          </a:xfrm>
          <a:prstGeom prst="roundRect">
            <a:avLst>
              <a:gd name="adj" fmla="val 6316"/>
            </a:avLst>
          </a:prstGeom>
          <a:solidFill>
            <a:srgbClr val="FFD54A"/>
          </a:solidFill>
          <a:ln/>
        </p:spPr>
      </p:sp>
      <p:sp>
        <p:nvSpPr>
          <p:cNvPr id="7" name="Text 5"/>
          <p:cNvSpPr/>
          <p:nvPr/>
        </p:nvSpPr>
        <p:spPr>
          <a:xfrm>
            <a:off x="1737360" y="2834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GOLDEN QUESTION — ask in BOTH directions: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37360" y="33832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many Ys for one X?   How many Xs for one Y?”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4754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answers → cardinality decided. This one sentence solves every cardinality question in your exam and every interview.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5440680"/>
            <a:ext cx="3383280" cy="685800"/>
          </a:xfrm>
          <a:prstGeom prst="roundRect">
            <a:avLst>
              <a:gd name="adj" fmla="val 16000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4406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ONE-TO-ONE (1:1)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480560" y="5440680"/>
            <a:ext cx="3383280" cy="685800"/>
          </a:xfrm>
          <a:prstGeom prst="roundRect">
            <a:avLst>
              <a:gd name="adj" fmla="val 16000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54406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ONE-TO-MANY (1:N)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38160" y="5440680"/>
            <a:ext cx="3383280" cy="685800"/>
          </a:xfrm>
          <a:prstGeom prst="roundRect">
            <a:avLst>
              <a:gd name="adj" fmla="val 16000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54406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MANY-TO-MANY (M:N)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7 — Dr. Neha Nandal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 — One-to-One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92734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3927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person ↔ one Aadhaar. Always.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926080"/>
            <a:ext cx="2011680" cy="91440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9260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94960" y="2926080"/>
            <a:ext cx="2011680" cy="91440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0" y="29260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AADHAAR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34640" y="3383280"/>
            <a:ext cx="54864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3383280"/>
            <a:ext cx="54864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2834640"/>
            <a:ext cx="1463040" cy="1097280"/>
          </a:xfrm>
          <a:prstGeom prst="diamond">
            <a:avLst/>
          </a:prstGeom>
          <a:solidFill>
            <a:srgbClr val="FDF3E0"/>
          </a:solidFill>
          <a:ln w="25400">
            <a:solidFill>
              <a:srgbClr val="B676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8346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0360" y="2971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4920" y="2971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03920" y="1965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 view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769096" y="2551176"/>
            <a:ext cx="201168" cy="20116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7" name="Shape 15"/>
          <p:cNvSpPr/>
          <p:nvPr/>
        </p:nvSpPr>
        <p:spPr>
          <a:xfrm>
            <a:off x="10872216" y="2551176"/>
            <a:ext cx="201168" cy="201168"/>
          </a:xfrm>
          <a:prstGeom prst="ellipse">
            <a:avLst/>
          </a:prstGeom>
          <a:solidFill>
            <a:srgbClr val="B67609"/>
          </a:solidFill>
          <a:ln/>
        </p:spPr>
      </p:sp>
      <p:sp>
        <p:nvSpPr>
          <p:cNvPr id="18" name="Shape 16"/>
          <p:cNvSpPr/>
          <p:nvPr/>
        </p:nvSpPr>
        <p:spPr>
          <a:xfrm>
            <a:off x="8979408" y="2651760"/>
            <a:ext cx="1883664" cy="914"/>
          </a:xfrm>
          <a:prstGeom prst="line">
            <a:avLst/>
          </a:prstGeom>
          <a:noFill/>
          <a:ln w="22225">
            <a:solidFill>
              <a:srgbClr val="6D5B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69096" y="3282696"/>
            <a:ext cx="201168" cy="20116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0" name="Shape 18"/>
          <p:cNvSpPr/>
          <p:nvPr/>
        </p:nvSpPr>
        <p:spPr>
          <a:xfrm>
            <a:off x="10872216" y="3282696"/>
            <a:ext cx="201168" cy="201168"/>
          </a:xfrm>
          <a:prstGeom prst="ellipse">
            <a:avLst/>
          </a:prstGeom>
          <a:solidFill>
            <a:srgbClr val="B67609"/>
          </a:solidFill>
          <a:ln/>
        </p:spPr>
      </p:sp>
      <p:sp>
        <p:nvSpPr>
          <p:cNvPr id="21" name="Shape 19"/>
          <p:cNvSpPr/>
          <p:nvPr/>
        </p:nvSpPr>
        <p:spPr>
          <a:xfrm>
            <a:off x="8979408" y="3383280"/>
            <a:ext cx="1883664" cy="914"/>
          </a:xfrm>
          <a:prstGeom prst="line">
            <a:avLst/>
          </a:prstGeom>
          <a:noFill/>
          <a:ln w="22225">
            <a:solidFill>
              <a:srgbClr val="6D5BC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69096" y="4014216"/>
            <a:ext cx="201168" cy="20116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3" name="Shape 21"/>
          <p:cNvSpPr/>
          <p:nvPr/>
        </p:nvSpPr>
        <p:spPr>
          <a:xfrm>
            <a:off x="10872216" y="4014216"/>
            <a:ext cx="201168" cy="201168"/>
          </a:xfrm>
          <a:prstGeom prst="ellipse">
            <a:avLst/>
          </a:prstGeom>
          <a:solidFill>
            <a:srgbClr val="B67609"/>
          </a:solidFill>
          <a:ln/>
        </p:spPr>
      </p:sp>
      <p:sp>
        <p:nvSpPr>
          <p:cNvPr id="24" name="Shape 22"/>
          <p:cNvSpPr/>
          <p:nvPr/>
        </p:nvSpPr>
        <p:spPr>
          <a:xfrm>
            <a:off x="8979408" y="4114800"/>
            <a:ext cx="1883664" cy="914"/>
          </a:xfrm>
          <a:prstGeom prst="line">
            <a:avLst/>
          </a:prstGeom>
          <a:noFill/>
          <a:ln w="22225">
            <a:solidFill>
              <a:srgbClr val="6D5B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4572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424160" y="4572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676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aadhaar nos.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53035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person cannot have two Aadhaars. One Aadhaar cannot belong to two people. Straight pairs — no branching.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1:1 examples: country ↔ capital, college ↔ principal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7 — Dr. Neha Nandal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1:N — One-to-Many (and M:1 read backwards)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506724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3506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department, many students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2377440" cy="91440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9260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0" y="2926080"/>
            <a:ext cx="2011680" cy="91440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0" y="29260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017520" y="3383280"/>
            <a:ext cx="50292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83480" y="3383280"/>
            <a:ext cx="50292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2834640"/>
            <a:ext cx="1463040" cy="1097280"/>
          </a:xfrm>
          <a:prstGeom prst="diamond">
            <a:avLst/>
          </a:prstGeom>
          <a:solidFill>
            <a:srgbClr val="FDF3E0"/>
          </a:solidFill>
          <a:ln w="25400">
            <a:solidFill>
              <a:srgbClr val="B676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28346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63240" y="2971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20640" y="2971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03920" y="1965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 view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769096" y="3008376"/>
            <a:ext cx="201168" cy="20116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7" name="Shape 15"/>
          <p:cNvSpPr/>
          <p:nvPr/>
        </p:nvSpPr>
        <p:spPr>
          <a:xfrm>
            <a:off x="10872216" y="2459736"/>
            <a:ext cx="201168" cy="201168"/>
          </a:xfrm>
          <a:prstGeom prst="ellipse">
            <a:avLst/>
          </a:prstGeom>
          <a:solidFill>
            <a:srgbClr val="B67609"/>
          </a:solidFill>
          <a:ln/>
        </p:spPr>
      </p:sp>
      <p:sp>
        <p:nvSpPr>
          <p:cNvPr id="18" name="Shape 16"/>
          <p:cNvSpPr/>
          <p:nvPr/>
        </p:nvSpPr>
        <p:spPr>
          <a:xfrm flipH="1">
            <a:off x="8979408" y="2560320"/>
            <a:ext cx="1883664" cy="548640"/>
          </a:xfrm>
          <a:prstGeom prst="line">
            <a:avLst/>
          </a:prstGeom>
          <a:noFill/>
          <a:ln w="22225">
            <a:solidFill>
              <a:srgbClr val="6D5B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72216" y="3008376"/>
            <a:ext cx="201168" cy="201168"/>
          </a:xfrm>
          <a:prstGeom prst="ellipse">
            <a:avLst/>
          </a:prstGeom>
          <a:solidFill>
            <a:srgbClr val="B67609"/>
          </a:solidFill>
          <a:ln/>
        </p:spPr>
      </p:sp>
      <p:sp>
        <p:nvSpPr>
          <p:cNvPr id="20" name="Shape 18"/>
          <p:cNvSpPr/>
          <p:nvPr/>
        </p:nvSpPr>
        <p:spPr>
          <a:xfrm>
            <a:off x="8979408" y="3108960"/>
            <a:ext cx="1883664" cy="914"/>
          </a:xfrm>
          <a:prstGeom prst="line">
            <a:avLst/>
          </a:prstGeom>
          <a:noFill/>
          <a:ln w="22225">
            <a:solidFill>
              <a:srgbClr val="6D5B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872216" y="3557016"/>
            <a:ext cx="201168" cy="201168"/>
          </a:xfrm>
          <a:prstGeom prst="ellipse">
            <a:avLst/>
          </a:prstGeom>
          <a:solidFill>
            <a:srgbClr val="B67609"/>
          </a:solidFill>
          <a:ln/>
        </p:spPr>
      </p:sp>
      <p:sp>
        <p:nvSpPr>
          <p:cNvPr id="22" name="Shape 20"/>
          <p:cNvSpPr/>
          <p:nvPr/>
        </p:nvSpPr>
        <p:spPr>
          <a:xfrm>
            <a:off x="8979408" y="3108960"/>
            <a:ext cx="1883664" cy="548640"/>
          </a:xfrm>
          <a:prstGeom prst="line">
            <a:avLst/>
          </a:prstGeom>
          <a:noFill/>
          <a:ln w="22225">
            <a:solidFill>
              <a:srgbClr val="6D5BC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872216" y="4105656"/>
            <a:ext cx="201168" cy="201168"/>
          </a:xfrm>
          <a:prstGeom prst="ellipse">
            <a:avLst/>
          </a:prstGeom>
          <a:solidFill>
            <a:srgbClr val="B67609"/>
          </a:solidFill>
          <a:ln/>
        </p:spPr>
      </p:sp>
      <p:sp>
        <p:nvSpPr>
          <p:cNvPr id="24" name="Shape 22"/>
          <p:cNvSpPr/>
          <p:nvPr/>
        </p:nvSpPr>
        <p:spPr>
          <a:xfrm>
            <a:off x="8979408" y="3108960"/>
            <a:ext cx="1883664" cy="1097280"/>
          </a:xfrm>
          <a:prstGeom prst="line">
            <a:avLst/>
          </a:prstGeom>
          <a:noFill/>
          <a:ln w="22225">
            <a:solidFill>
              <a:srgbClr val="6D5B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4617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 dept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0" y="4617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676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department → MANY students. But each student → exactly ONE department. A fan, not a mesh.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M:1 is the SAME relationship read in the opposite direction — read the arrow direction carefully in exams!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7 — Dr. Neha Nandal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M:N — Many-to-Many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550468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5504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 takes many courses. DBMS has many students.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926080"/>
            <a:ext cx="2011680" cy="91440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9260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94960" y="2926080"/>
            <a:ext cx="2011680" cy="91440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0" y="29260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34640" y="3383280"/>
            <a:ext cx="54864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3383280"/>
            <a:ext cx="54864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2811780"/>
            <a:ext cx="1554480" cy="1143000"/>
          </a:xfrm>
          <a:prstGeom prst="diamond">
            <a:avLst/>
          </a:prstGeom>
          <a:solidFill>
            <a:srgbClr val="FDF3E0"/>
          </a:solidFill>
          <a:ln w="25400">
            <a:solidFill>
              <a:srgbClr val="B676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81178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80360" y="2971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2971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03920" y="1965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 view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769096" y="2551176"/>
            <a:ext cx="201168" cy="20116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7" name="Shape 15"/>
          <p:cNvSpPr/>
          <p:nvPr/>
        </p:nvSpPr>
        <p:spPr>
          <a:xfrm>
            <a:off x="8769096" y="3282696"/>
            <a:ext cx="201168" cy="20116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8769096" y="4014216"/>
            <a:ext cx="201168" cy="20116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72216" y="2551176"/>
            <a:ext cx="201168" cy="201168"/>
          </a:xfrm>
          <a:prstGeom prst="ellipse">
            <a:avLst/>
          </a:prstGeom>
          <a:solidFill>
            <a:srgbClr val="B67609"/>
          </a:solidFill>
          <a:ln/>
        </p:spPr>
      </p:sp>
      <p:sp>
        <p:nvSpPr>
          <p:cNvPr id="20" name="Shape 18"/>
          <p:cNvSpPr/>
          <p:nvPr/>
        </p:nvSpPr>
        <p:spPr>
          <a:xfrm>
            <a:off x="10872216" y="3282696"/>
            <a:ext cx="201168" cy="201168"/>
          </a:xfrm>
          <a:prstGeom prst="ellipse">
            <a:avLst/>
          </a:prstGeom>
          <a:solidFill>
            <a:srgbClr val="B67609"/>
          </a:solidFill>
          <a:ln/>
        </p:spPr>
      </p:sp>
      <p:sp>
        <p:nvSpPr>
          <p:cNvPr id="21" name="Shape 19"/>
          <p:cNvSpPr/>
          <p:nvPr/>
        </p:nvSpPr>
        <p:spPr>
          <a:xfrm>
            <a:off x="10872216" y="4014216"/>
            <a:ext cx="201168" cy="201168"/>
          </a:xfrm>
          <a:prstGeom prst="ellipse">
            <a:avLst/>
          </a:prstGeom>
          <a:solidFill>
            <a:srgbClr val="B67609"/>
          </a:solidFill>
          <a:ln/>
        </p:spPr>
      </p:sp>
      <p:sp>
        <p:nvSpPr>
          <p:cNvPr id="22" name="Shape 20"/>
          <p:cNvSpPr/>
          <p:nvPr/>
        </p:nvSpPr>
        <p:spPr>
          <a:xfrm>
            <a:off x="8979408" y="2651760"/>
            <a:ext cx="1883664" cy="914"/>
          </a:xfrm>
          <a:prstGeom prst="line">
            <a:avLst/>
          </a:prstGeom>
          <a:noFill/>
          <a:ln w="19050">
            <a:solidFill>
              <a:srgbClr val="6D5BC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79408" y="2651760"/>
            <a:ext cx="1883664" cy="731520"/>
          </a:xfrm>
          <a:prstGeom prst="line">
            <a:avLst/>
          </a:prstGeom>
          <a:noFill/>
          <a:ln w="19050">
            <a:solidFill>
              <a:srgbClr val="6D5B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79408" y="3383280"/>
            <a:ext cx="1883664" cy="914"/>
          </a:xfrm>
          <a:prstGeom prst="line">
            <a:avLst/>
          </a:prstGeom>
          <a:noFill/>
          <a:ln w="19050">
            <a:solidFill>
              <a:srgbClr val="6D5B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79408" y="3383280"/>
            <a:ext cx="1883664" cy="731520"/>
          </a:xfrm>
          <a:prstGeom prst="line">
            <a:avLst/>
          </a:prstGeom>
          <a:noFill/>
          <a:ln w="19050">
            <a:solidFill>
              <a:srgbClr val="6D5BC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8979408" y="2651760"/>
            <a:ext cx="1883664" cy="1463040"/>
          </a:xfrm>
          <a:prstGeom prst="line">
            <a:avLst/>
          </a:prstGeom>
          <a:noFill/>
          <a:ln w="19050">
            <a:solidFill>
              <a:srgbClr val="6D5BC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79408" y="4114800"/>
            <a:ext cx="1883664" cy="914"/>
          </a:xfrm>
          <a:prstGeom prst="line">
            <a:avLst/>
          </a:prstGeom>
          <a:noFill/>
          <a:ln w="19050">
            <a:solidFill>
              <a:srgbClr val="6D5B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0" y="4572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0" y="4572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676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directions answer “many” → M:N. The criss-cross mesh is the visual signature.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MOST COMMON cardinality in exam ER-design questions.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7 — Dr. Neha Nandal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Assembling Everything We Know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571500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 + attributes + relationship + cardinality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554480" y="3200400"/>
            <a:ext cx="2194560" cy="100584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32004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503920" y="3200400"/>
            <a:ext cx="2194560" cy="100584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0" y="32004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749040" y="3703320"/>
            <a:ext cx="1051560" cy="914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60920" y="3703320"/>
            <a:ext cx="1143000" cy="914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2880360"/>
            <a:ext cx="2560320" cy="1645920"/>
          </a:xfrm>
          <a:prstGeom prst="diamond">
            <a:avLst/>
          </a:prstGeom>
          <a:solidFill>
            <a:srgbClr val="FDF3E0"/>
          </a:solidFill>
          <a:ln w="25400">
            <a:solidFill>
              <a:srgbClr val="B676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288036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40480" y="3291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452360" y="3291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54380" y="1837944"/>
            <a:ext cx="1417320" cy="530352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4380" y="1837944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roll_no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97480" y="1837944"/>
            <a:ext cx="1188720" cy="530352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97480" y="183794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35240" y="1837944"/>
            <a:ext cx="1554480" cy="530352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35240" y="1837944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course_id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738360" y="1837944"/>
            <a:ext cx="1188720" cy="530352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38360" y="183794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828800" y="2377440"/>
            <a:ext cx="457200" cy="8229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H="1">
            <a:off x="2926080" y="2377440"/>
            <a:ext cx="274320" cy="8229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0" y="2377440"/>
            <a:ext cx="457200" cy="8229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9966960" y="2377440"/>
            <a:ext cx="274320" cy="8229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80760" y="4526280"/>
            <a:ext cx="914" cy="594360"/>
          </a:xfrm>
          <a:prstGeom prst="line">
            <a:avLst/>
          </a:prstGeom>
          <a:noFill/>
          <a:ln w="25400">
            <a:solidFill>
              <a:srgbClr val="6D5B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49240" y="5129784"/>
            <a:ext cx="1463040" cy="530352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9240" y="5129784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58521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it aloud: “A student, identified by roll number, TAKES many courses; each course is taken by many students; each pair produces marks.” One sentence — whole diagram.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7 — Dr. Neha Nandal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⏸  PAUSE THE VIDEO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Turn: The Library System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MEMBER borrows a BOOK. Record the borrow_date for every borrowing.”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3566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Draw the ER diagram — which shapes?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413308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What is the DEGREE of this relationship?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470001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What is the CARDINALITY? (Golden question — both directions!)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5266944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Where does borrow_date go?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on the next slide. No peeking.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The Library System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34797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3479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the golden question give you M:N?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554480" y="3017520"/>
            <a:ext cx="2194560" cy="100584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30175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503920" y="3017520"/>
            <a:ext cx="2194560" cy="100584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0" y="30175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749040" y="3520440"/>
            <a:ext cx="1051560" cy="914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60920" y="3520440"/>
            <a:ext cx="1143000" cy="914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2697480"/>
            <a:ext cx="2651760" cy="1645920"/>
          </a:xfrm>
          <a:prstGeom prst="diamond">
            <a:avLst/>
          </a:prstGeom>
          <a:solidFill>
            <a:srgbClr val="FDF3E0"/>
          </a:solidFill>
          <a:ln w="25400">
            <a:solidFill>
              <a:srgbClr val="B676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69748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40480" y="3108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452360" y="3108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080760" y="4343400"/>
            <a:ext cx="914" cy="594360"/>
          </a:xfrm>
          <a:prstGeom prst="line">
            <a:avLst/>
          </a:prstGeom>
          <a:noFill/>
          <a:ln w="25400">
            <a:solidFill>
              <a:srgbClr val="6D5B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66360" y="4946904"/>
            <a:ext cx="1828800" cy="530352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494690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borrow_date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5532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Degree: BINARY — two entity sets participate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59161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One member borrows many books over time; one book gets borrowed by many members → M:N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6300216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borrow_date describes the borrowing EVENT → descriptive attribute on the diamond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7 — Dr. Neha Nandal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Corner — What This Lecture Is Worth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45312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453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Straight from previous question papers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029968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D23B3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299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MARKS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06040" y="1828800"/>
            <a:ext cx="8595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mapping cardinalities with suitable examples and diagrams.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852928"/>
            <a:ext cx="1069848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05409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D23B3B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05409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MARKS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2852928"/>
            <a:ext cx="8595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degree of a relationship? Explain unary, binary, ternary with examples.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877056"/>
            <a:ext cx="1069848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4078224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0F8A66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07822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MARKS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06040" y="3877056"/>
            <a:ext cx="8595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relationship set with an example.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4901184"/>
            <a:ext cx="1069848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5102352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0F8A66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10235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MARKS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06040" y="4901184"/>
            <a:ext cx="8595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descriptive attributes? (Viva: where does marks belong?)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tip: for cardinality questions, draw the instance-view dots — examiners reward the extra clarity.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7 — Dr. Neha Nandal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Question Before You Go…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department has many students — fine.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can a student exist WITHOUT a department?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 course run with ZERO students?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entities cannot survive alone…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484632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8463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IN THE COMMENTS 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lecture: PARTICIPATION &amp; WEAK ENTITIES — the entities that die without their parent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2026-07-17T14:00:33Z</dcterms:created>
  <dcterms:modified xsi:type="dcterms:W3CDTF">2026-07-17T14:00:33Z</dcterms:modified>
</cp:coreProperties>
</file>