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2  •  LECTURE 27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Closure, Armstrong’s axioms &amp; finding candidate keys — the theory behind normalization.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2976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97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GATE FAVOURITE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0" y="429768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4297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SYLLABUS 2025–26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Dependency — Recap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77063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→ Y : X determines 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1097280"/>
          </a:xfrm>
          <a:prstGeom prst="roundRect">
            <a:avLst>
              <a:gd name="adj" fmla="val 10000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→ Y means: any two rows with the same X value MUST have the same Y value.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‘If you know X, there is exactly one Y.’  X = determinant, Y = dependent.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on STUDENT(sid, name, dept, dept_head):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5212080" cy="502920"/>
          </a:xfrm>
          <a:prstGeom prst="roundRect">
            <a:avLst>
              <a:gd name="adj" fmla="val 21818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566160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16352" y="35661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3566160"/>
            <a:ext cx="25017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(one sid, one name)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566160"/>
            <a:ext cx="5212080" cy="502920"/>
          </a:xfrm>
          <a:prstGeom prst="roundRect">
            <a:avLst>
              <a:gd name="adj" fmla="val 21818"/>
            </a:avLst>
          </a:prstGeom>
          <a:solidFill>
            <a:srgbClr val="EAF7F2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566160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02752" y="35661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23960" y="3566160"/>
            <a:ext cx="25017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4160520"/>
            <a:ext cx="5212080" cy="502920"/>
          </a:xfrm>
          <a:prstGeom prst="roundRect">
            <a:avLst>
              <a:gd name="adj" fmla="val 21818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160520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676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816352" y="41605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337560" y="4160520"/>
            <a:ext cx="25017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dept_head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4160520"/>
            <a:ext cx="5212080" cy="502920"/>
          </a:xfrm>
          <a:prstGeom prst="roundRect">
            <a:avLst>
              <a:gd name="adj" fmla="val 21818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160520"/>
            <a:ext cx="19805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676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02752" y="41605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23960" y="4160520"/>
            <a:ext cx="25017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dept_head  (via dept)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1520" y="4892040"/>
            <a:ext cx="10698480" cy="868680"/>
          </a:xfrm>
          <a:prstGeom prst="roundRect">
            <a:avLst>
              <a:gd name="adj" fmla="val 12632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8920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FDs come from the MEANING of the data (business rules) — not from a particular set of rows.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27 — Dr. Neha Nandal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Functional Dependencies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19125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these names for exams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93392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933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Trivial FD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29000" y="18836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→ Y where Y is a subset of 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29000" y="22128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{sid, name} → sid  (always true)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670048"/>
            <a:ext cx="10698480" cy="713232"/>
          </a:xfrm>
          <a:prstGeom prst="roundRect">
            <a:avLst>
              <a:gd name="adj" fmla="val 15385"/>
            </a:avLst>
          </a:prstGeom>
          <a:solidFill>
            <a:srgbClr val="EEF1F4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283464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834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Non-trivial FD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27249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→ Y where Y is NOT in 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305409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sid → name  (the useful kind)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3511296"/>
            <a:ext cx="106984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675888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6758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functional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29000" y="3566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needs the WHOLE of X (composite)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389534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{sid, cid} → grade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" y="4352544"/>
            <a:ext cx="10698480" cy="713232"/>
          </a:xfrm>
          <a:prstGeom prst="roundRect">
            <a:avLst>
              <a:gd name="adj" fmla="val 15385"/>
            </a:avLst>
          </a:prstGeom>
          <a:solidFill>
            <a:srgbClr val="EEF1F4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517136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5171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4407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needs only PART of a composite 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47365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sid → name  (cid not needed)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5193792"/>
            <a:ext cx="106984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5358384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53583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29000" y="524865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→ Y → Z, so X → Z indirectly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29000" y="55778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sid → dept → dept_head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27 — Dr. Neha Nandal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Armstrong’s Axioms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71703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717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for inferring new FDs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rules (the 3 you must know):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231136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23113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Reflexivity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54680" y="2103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 ⊆ X, then X → 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0" y="21031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set determines its own subsets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852928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2980944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9809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28529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→ Y, then XZ → YZ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98080" y="28529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the same thing to both sides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602736"/>
            <a:ext cx="106984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730752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7307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Transitivity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54680" y="360273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→ Y and Y → Z, then X → Z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498080" y="360273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chains link up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480560"/>
            <a:ext cx="10698480" cy="1280160"/>
          </a:xfrm>
          <a:prstGeom prst="roundRect">
            <a:avLst>
              <a:gd name="adj" fmla="val 8571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55371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rules (from the primary three):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8920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Union: X→Y and X→Z  ⇒  X→YZ      • Decomposition: X→YZ  ⇒  X→Y and X→Z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Pseudo-transitivity: X→Y and WY→Z  ⇒  WX→Z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27 — Dr. Neha Nandal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 Closure  X⁺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19125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X can determine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1051560"/>
          </a:xfrm>
          <a:prstGeom prst="roundRect">
            <a:avLst>
              <a:gd name="adj" fmla="val 10435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X⁺ = the set of ALL attributes that X can determine (directly or through chains).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520440"/>
            <a:ext cx="106984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52044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 Start:  X⁺ = X  (the attributes you’re testing)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4087368"/>
            <a:ext cx="10698480" cy="457200"/>
          </a:xfrm>
          <a:prstGeom prst="roundRect">
            <a:avLst>
              <a:gd name="adj" fmla="val 24000"/>
            </a:avLst>
          </a:prstGeom>
          <a:solidFill>
            <a:srgbClr val="EEF1F4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08736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 For each FD  A → B :  if A is already inside X⁺, add B to X⁺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654296"/>
            <a:ext cx="1069848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654296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 Repeat step 2 until nothing new can be added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" y="5221224"/>
            <a:ext cx="10698480" cy="457200"/>
          </a:xfrm>
          <a:prstGeom prst="roundRect">
            <a:avLst>
              <a:gd name="adj" fmla="val 24000"/>
            </a:avLst>
          </a:prstGeom>
          <a:solidFill>
            <a:srgbClr val="EEF1F4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22122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 If X⁺ contains ALL attributes  →  X is a SUPERKEY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 is THE engine — it answers ‘is this a key?’ and ‘what are the candidate keys?’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27 — Dr. Neha Nandal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 — Worked Example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98094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R(A,B,C,D,E)  with 4 FDs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5212080" cy="1463040"/>
          </a:xfrm>
          <a:prstGeom prst="roundRect">
            <a:avLst>
              <a:gd name="adj" fmla="val 7500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105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FDs: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148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→ B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→ C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→ D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→ 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47088"/>
            <a:ext cx="484632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A⁺ 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Start:  A⁺ = {A}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A→B:  add B  → {A,B}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B→C:  add C  → {A,B,C}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C→D:  add D  → {A,B,C,D}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D→E:  add E  → {A,B,C,D,E}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4617720"/>
            <a:ext cx="10698480" cy="1143000"/>
          </a:xfrm>
          <a:prstGeom prst="roundRect">
            <a:avLst>
              <a:gd name="adj" fmla="val 96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7091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A⁺ = {A, B, C, D, E} = ALL attributes  →  A is a SUPERKEY 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1389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since A is a single attribute, it’s minimal — so A is a CANDIDATE KEY.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27 — Dr. Neha Nandal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Superkey vs Candidate Key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87578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8757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Uniqueness + minimality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385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SUPERKEY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attribute set whose closure = ALL attributes.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identifies a row, but may have extra columns.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{A}, {A,B}, {A,B,C} 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9385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KEY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superkey — remove any attribute and it stops being a key.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83680" y="30632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redundant attribute.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just {A}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10698480" cy="1463040"/>
          </a:xfrm>
          <a:prstGeom prst="roundRect">
            <a:avLst>
              <a:gd name="adj" fmla="val 7500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conditions for a candidate key: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UNIQUENESS — its closure gives all attributes.   ② MINIMALITY — no attribute can be dropped.</a:t>
            </a:r>
            <a:endParaRPr lang="en-US" sz="13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candidate key is a superkey; not every superkey is a candidate key.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27 — Dr. Neha Nandal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Candidate Keys — The Method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82219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Categorise every attribute first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002536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025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 the LEFT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 in no FD)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31920" y="198424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be in every candidate key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0" y="2377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nothing can produce 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054096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0540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 the RIGHT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931920" y="30358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in a candidate key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3192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always determined by something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105656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10565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BOTH sides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 neither)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31920" y="40873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MAYBE — test with closure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3192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add these as needed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 take the MUST-haves, find their closure, add MAYBEs until closure = all attributes.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27 — Dr. Neha Nandal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Example 1 — Composite Key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40156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R(A,B,C,D)  with  AB→C,  C→D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20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Categorise: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only LEFT → must be in key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B: only LEFT → must be in key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 both sides → maybe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D: only RIGHT → never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and B are forced — test {A,B}.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38528"/>
            <a:ext cx="484632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{A,B}⁺ 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Start:  {A,B}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AB→C:  add C  → {A,B,C}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C→D:   add D  → {A,B,C,D}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ALL attributes 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75488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7548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key = {A, B}   — minimal (A alone: {A}×,  B alone: {B}×)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27 — Dr. Neha Nandal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Example 2 — TWO Candidate Keys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19125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R(A,B,C)  with  AB→C,  C→B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562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Categorise: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only LEFT → must be in key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B: both sides → maybe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 both sides → maybe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92808"/>
            <a:ext cx="484632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alone: {A}⁺ = {A}  ✗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{A,B}: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{A,B} → AB→C → {A,B,C} ✓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{A,C}: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{A,C} → C→B → {A,B,C} 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10698480" cy="1280160"/>
          </a:xfrm>
          <a:prstGeom prst="roundRect">
            <a:avLst>
              <a:gd name="adj" fmla="val 8571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290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{A,B} and {A,C} give all attributes  →  TWO candidate keys!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85876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FD  C→B  lets C stand in for B — that’s why {A,C} works. A is in BOTH keys (it was forced).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800600"/>
            <a:ext cx="10698480" cy="960120"/>
          </a:xfrm>
          <a:prstGeom prst="roundRect">
            <a:avLst>
              <a:gd name="adj" fmla="val 11429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006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keys: {A, B} and {A, C}.   Pick one as PRIMARY; the other is an ALTERNATE key.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27 — Dr. Neha Nandal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vs Non-Prime Attributes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927348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927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vocabulary normalization uses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57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attribute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SOME candidate key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Example 2, keys are {A,B},{A,C}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A, B, C are ALL prime!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057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NON-PRIME attribute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09360" y="2514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part of any candidate key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926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Example 1 (keys={A,B})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 and D are non-prime.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10698480" cy="1554480"/>
          </a:xfrm>
          <a:prstGeom prst="roundRect">
            <a:avLst>
              <a:gd name="adj" fmla="val 7059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3159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681728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2NF &amp; 3NF are defined in terms of prime/non-prime attributes.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3NF’s loophole (that we saw in BCNF): it allows X→A if A is PRIME — that’s the exact word.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 finding candidate keys FIRST is essential before you can check any normal form.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27 — Dr. Neha Nandal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(Canonical) Cover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03250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032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simplest equivalent set of FDs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cover is the smallest set of FDs equivalent to the original — same closure, no waste.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conditions: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429000"/>
            <a:ext cx="106984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51129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3429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attribute on the right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0" y="34290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FD has the form X → A (one attribute)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4087368"/>
            <a:ext cx="10698480" cy="548640"/>
          </a:xfrm>
          <a:prstGeom prst="roundRect">
            <a:avLst>
              <a:gd name="adj" fmla="val 20000"/>
            </a:avLst>
          </a:prstGeom>
          <a:solidFill>
            <a:srgbClr val="EEF1F4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1696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40873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redundant attribute on the left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669280" y="408736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extra attribute in any determinant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4745736"/>
            <a:ext cx="106984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48280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2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08760" y="474573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redundant FD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669280" y="474573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FD can be removed without changing the closure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when you decompose to 3NF — you normalize based on the minimal cover.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27 — Dr. Neha Nandal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All Connects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24281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FDs → closure → keys → normalization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03120" y="1874520"/>
            <a:ext cx="79552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19476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5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Dependencies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229514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rules: X → 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52160" y="263347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03120" y="2834640"/>
            <a:ext cx="79552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290779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8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 Closure  X⁺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attribute set determines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852160" y="35935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103120" y="3794760"/>
            <a:ext cx="79552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386791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67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Keys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0" y="421538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sets whose closure = everything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852160" y="45537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103120" y="4754880"/>
            <a:ext cx="79552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482803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Forms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286000" y="5175504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2NF, 3NF, BCNF — defined using keys &amp; prime attributes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FDs and closure, and every normalization question becomes mechanical.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27 — Dr. Neha Nandal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Corner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87375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questions from this lecture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5681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56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06040" y="182880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all candidate keys of a given relation with its FDs (using closure).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77977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797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and explain Armstrong’s axioms.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6027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027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06040" y="347472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the attribute closure X⁺ for a given set of FDs.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42569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4256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6040" y="429768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between superkey and candidate key.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24865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2486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06040" y="512064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prime and non-prime attributes.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marks: attribute closure and finding candidate keys. GATE asks these almost every year.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2 • Lecture 27 — Dr. Neha Nandal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&amp; TRY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 — Find The Candidate Keys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423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FE3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R(A, B, C, D)   with FDs:   A → B,   B → C,   D → 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Categorise each attribute (left / right / both)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7280" y="36118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Which attributes are FORCED into the key?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0" y="41605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Compute the closure of your candidate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97280" y="47091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Is it a superkey? Is it minimal?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97280" y="52578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State the candidate key(s) and which attributes are prime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Hint: D appears only on the left of D→A — so D is FORCED. Start from {D}⁺. Post your answer!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You’ve Mastered FDs &amp; Keys 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E3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types • Armstrong’s axioms • attribute closure • candidate keys • prime attributes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theoretical foundation under everything in normalization. With closure and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mastered, every 2NF / 3NF / BCNF question becomes a mechanical procedure.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NoSQL &amp; MongoDB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— the final topic: stepping beyond tables into the NoSQL world.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Post your R(A,B,C,D) candidate keys in the comments — I’ll check them!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2026-09-16T05:23:02Z</dcterms:created>
  <dcterms:modified xsi:type="dcterms:W3CDTF">2026-09-16T05:23:02Z</dcterms:modified>
</cp:coreProperties>
</file>