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5156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1  •  LECTURE 10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IT LIVE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Management System — from paragraph to ER diagram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slides. No hints. A blank canvas and one paragraph.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45720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5720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ERDPLUS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63240" y="457200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11" name="Text 9"/>
          <p:cNvSpPr/>
          <p:nvPr/>
        </p:nvSpPr>
        <p:spPr>
          <a:xfrm>
            <a:off x="3063240" y="45720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SYLLABUS 2025–26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6035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Neha Nandal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Lectures. One Complete Toolbox.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40156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they all come together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12064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Entities &amp; entity sets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18288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120640" cy="594360"/>
          </a:xfrm>
          <a:prstGeom prst="roundRect">
            <a:avLst>
              <a:gd name="adj" fmla="val 18462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8288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4 attribute types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12680" y="18288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542032"/>
            <a:ext cx="512064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54203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Relationships &amp; the diamond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54203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2542032"/>
            <a:ext cx="5120640" cy="594360"/>
          </a:xfrm>
          <a:prstGeom prst="roundRect">
            <a:avLst>
              <a:gd name="adj" fmla="val 18462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54203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Degree &amp; cardinality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12680" y="254203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7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255264"/>
            <a:ext cx="512064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255264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Participation &amp; key constraints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3255264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8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3255264"/>
            <a:ext cx="5120640" cy="594360"/>
          </a:xfrm>
          <a:prstGeom prst="roundRect">
            <a:avLst>
              <a:gd name="adj" fmla="val 18462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255264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Weak entities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12680" y="3255264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8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968496"/>
            <a:ext cx="512064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96849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Generalization / specialization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3968496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9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3968496"/>
            <a:ext cx="5120640" cy="594360"/>
          </a:xfrm>
          <a:prstGeom prst="roundRect">
            <a:avLst>
              <a:gd name="adj" fmla="val 18462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396849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Aggregation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12680" y="3968496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9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489204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0292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the symbols is not the same as knowing how to DESIGN.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14400" y="55321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a plain-English paragraph goes in → a complete ER diagram comes out. Live, mistakes included.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10 — Dr. Neha Nandal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Brief — Read It Like A Client Gave It To You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242816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242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design starts as plain English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10698480" cy="3200400"/>
          </a:xfrm>
          <a:prstGeom prst="roundRect">
            <a:avLst>
              <a:gd name="adj" fmla="val 3429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65960"/>
            <a:ext cx="10149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hospital has many doctors and treats many patients.
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doctor has an ID, name, specialization and phone numbers. Each patient has an ID, name, date of birth and address.
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doctor treats many patients, and a patient may be treated by many doctors. Every treatment records a date and a diagnosis.
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patient is admitted to exactly one ward. A ward has a ward number and capacity.
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ward contains beds numbered 1, 2, 3 — bed numbers restart in every ward.
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Doctors, nurses and admin staff are all hospital employees with an employee ID, name and salary.”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51663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sentences. Hidden inside: 5 entities, a weak entity, an M:N relationship with descriptive attributes, a total participation, and an ISA hierarchy.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here and try it yourself before watching me do it.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10 — Dr. Neha Nandal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Method: Grammar → ER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has the diagram hidden inside it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10698480" cy="777240"/>
          </a:xfrm>
          <a:prstGeom prst="roundRect">
            <a:avLst>
              <a:gd name="adj" fmla="val 14118"/>
            </a:avLst>
          </a:prstGeom>
          <a:solidFill>
            <a:srgbClr val="EEF1F4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29384"/>
            <a:ext cx="2286000" cy="475488"/>
          </a:xfrm>
          <a:prstGeom prst="roundRect">
            <a:avLst>
              <a:gd name="adj" fmla="val 19231"/>
            </a:avLst>
          </a:prstGeom>
          <a:solidFill>
            <a:srgbClr val="1F3A5F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2938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520440" y="1783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ENTITY SETS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1783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doctor, patient, ward, bed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679192"/>
            <a:ext cx="10698480" cy="777240"/>
          </a:xfrm>
          <a:prstGeom prst="roundRect">
            <a:avLst>
              <a:gd name="adj" fmla="val 14118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825496"/>
            <a:ext cx="2286000" cy="475488"/>
          </a:xfrm>
          <a:prstGeom prst="roundRect">
            <a:avLst>
              <a:gd name="adj" fmla="val 19231"/>
            </a:avLst>
          </a:prstGeom>
          <a:solidFill>
            <a:srgbClr val="B67609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82549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20440" y="267919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RELATIONSHIPS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83680" y="267919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treats, admitted to, contains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575304"/>
            <a:ext cx="10698480" cy="777240"/>
          </a:xfrm>
          <a:prstGeom prst="roundRect">
            <a:avLst>
              <a:gd name="adj" fmla="val 14118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3721608"/>
            <a:ext cx="2286000" cy="475488"/>
          </a:xfrm>
          <a:prstGeom prst="roundRect">
            <a:avLst>
              <a:gd name="adj" fmla="val 19231"/>
            </a:avLst>
          </a:prstGeom>
          <a:solidFill>
            <a:srgbClr val="6D5BC7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72160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DESCRIPTORS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520440" y="3575304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ATTRIBUTES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0" y="357530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date of birth, capacity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4471416"/>
            <a:ext cx="10698480" cy="777240"/>
          </a:xfrm>
          <a:prstGeom prst="roundRect">
            <a:avLst>
              <a:gd name="adj" fmla="val 14118"/>
            </a:avLst>
          </a:prstGeom>
          <a:solidFill>
            <a:srgbClr val="FDECEC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4617720"/>
            <a:ext cx="2286000" cy="475488"/>
          </a:xfrm>
          <a:prstGeom prst="roundRect">
            <a:avLst>
              <a:gd name="adj" fmla="val 19231"/>
            </a:avLst>
          </a:prstGeom>
          <a:solidFill>
            <a:srgbClr val="D23B3B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6177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“many” / “exactly one”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520440" y="4471416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CARDINALITY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83680" y="447141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patients → M:N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" y="5367528"/>
            <a:ext cx="10698480" cy="777240"/>
          </a:xfrm>
          <a:prstGeom prst="roundRect">
            <a:avLst>
              <a:gd name="adj" fmla="val 14118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" y="5513832"/>
            <a:ext cx="2286000" cy="475488"/>
          </a:xfrm>
          <a:prstGeom prst="roundRect">
            <a:avLst>
              <a:gd name="adj" fmla="val 19231"/>
            </a:avLst>
          </a:prstGeom>
          <a:solidFill>
            <a:srgbClr val="0F8A66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" y="551383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“every” / “must”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520440" y="536752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TOTAL PARTICIPATION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583680" y="536752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patient is admitted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Underline the nouns. Circle the verbs. The diagram writes itself.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10 — Dr. Neha Nandal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188720"/>
            <a:ext cx="3657600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TO THE BROWSER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Build It.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erdplus.com  —  free, no installation, works in any browser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Open a new ER Diagram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217920" y="37947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Drop entities — the nouns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445312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Add attributes — the descriptors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217920" y="445312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Connect with relationships — the verbs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51114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Set cardinality and participation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217920" y="51114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Fix the mistakes we make on the way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along in a second tab — pause whenever you need to catch up.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Finished Design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571500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this — every symbol from Unit 1 is here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331720" y="2240280"/>
            <a:ext cx="1463040" cy="621792"/>
          </a:xfrm>
          <a:prstGeom prst="rect">
            <a:avLst/>
          </a:prstGeom>
          <a:solidFill>
            <a:srgbClr val="1F3A5F"/>
          </a:solidFill>
          <a:ln w="1778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31720" y="224028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412480" y="2240280"/>
            <a:ext cx="1463040" cy="621792"/>
          </a:xfrm>
          <a:prstGeom prst="rect">
            <a:avLst/>
          </a:prstGeom>
          <a:solidFill>
            <a:srgbClr val="1F3A5F"/>
          </a:solidFill>
          <a:ln w="17780">
            <a:solidFill>
              <a:srgbClr val="142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0" y="224028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40580" y="2048256"/>
            <a:ext cx="1600200" cy="1005840"/>
          </a:xfrm>
          <a:prstGeom prst="diamond">
            <a:avLst/>
          </a:prstGeom>
          <a:solidFill>
            <a:srgbClr val="FDF3E0"/>
          </a:solidFill>
          <a:ln w="22225">
            <a:solidFill>
              <a:srgbClr val="B676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0580" y="2048256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94760" y="2551176"/>
            <a:ext cx="850392" cy="914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45352" y="2551176"/>
            <a:ext cx="2167128" cy="914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22128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01000" y="22128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97680" y="1275588"/>
            <a:ext cx="1005840" cy="411480"/>
          </a:xfrm>
          <a:prstGeom prst="ellipse">
            <a:avLst/>
          </a:prstGeom>
          <a:solidFill>
            <a:srgbClr val="F5F2FC"/>
          </a:solidFill>
          <a:ln w="15240">
            <a:solidFill>
              <a:srgbClr val="6D5B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127558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1673352"/>
            <a:ext cx="246888" cy="411480"/>
          </a:xfrm>
          <a:prstGeom prst="line">
            <a:avLst/>
          </a:prstGeom>
          <a:noFill/>
          <a:ln w="12700">
            <a:solidFill>
              <a:srgbClr val="6D5B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09260" y="1275588"/>
            <a:ext cx="1325880" cy="411480"/>
          </a:xfrm>
          <a:prstGeom prst="ellipse">
            <a:avLst/>
          </a:prstGeom>
          <a:solidFill>
            <a:srgbClr val="F5F2FC"/>
          </a:solidFill>
          <a:ln w="15240">
            <a:solidFill>
              <a:srgbClr val="6D5B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09260" y="127558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 flipH="1">
            <a:off x="5669280" y="1673352"/>
            <a:ext cx="320040" cy="411480"/>
          </a:xfrm>
          <a:prstGeom prst="line">
            <a:avLst/>
          </a:prstGeom>
          <a:noFill/>
          <a:ln w="12700">
            <a:solidFill>
              <a:srgbClr val="6D5B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" y="1367028"/>
            <a:ext cx="1143000" cy="411480"/>
          </a:xfrm>
          <a:prstGeom prst="ellipse">
            <a:avLst/>
          </a:prstGeom>
          <a:solidFill>
            <a:srgbClr val="F5F2FC"/>
          </a:solidFill>
          <a:ln w="15240">
            <a:solidFill>
              <a:srgbClr val="6D5B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" y="136702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doc_id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371600" y="1755648"/>
            <a:ext cx="1143000" cy="484632"/>
          </a:xfrm>
          <a:prstGeom prst="line">
            <a:avLst/>
          </a:prstGeom>
          <a:noFill/>
          <a:ln w="12700">
            <a:solidFill>
              <a:srgbClr val="6D5B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23160" y="1275588"/>
            <a:ext cx="1554480" cy="411480"/>
          </a:xfrm>
          <a:prstGeom prst="ellipse">
            <a:avLst/>
          </a:prstGeom>
          <a:solidFill>
            <a:srgbClr val="F5F2FC"/>
          </a:solidFill>
          <a:ln w="15240">
            <a:solidFill>
              <a:srgbClr val="6D5B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23160" y="12755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 flipH="1">
            <a:off x="2926080" y="1673352"/>
            <a:ext cx="182880" cy="566928"/>
          </a:xfrm>
          <a:prstGeom prst="line">
            <a:avLst/>
          </a:prstGeom>
          <a:noFill/>
          <a:ln w="12700">
            <a:solidFill>
              <a:srgbClr val="6D5BC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989820" y="1367028"/>
            <a:ext cx="1143000" cy="411480"/>
          </a:xfrm>
          <a:prstGeom prst="ellipse">
            <a:avLst/>
          </a:prstGeom>
          <a:solidFill>
            <a:srgbClr val="F5F2FC"/>
          </a:solidFill>
          <a:ln w="15240">
            <a:solidFill>
              <a:srgbClr val="6D5B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89820" y="136702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pat_id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 flipH="1">
            <a:off x="9509760" y="1755648"/>
            <a:ext cx="731520" cy="484632"/>
          </a:xfrm>
          <a:prstGeom prst="line">
            <a:avLst/>
          </a:prstGeom>
          <a:noFill/>
          <a:ln w="12700">
            <a:solidFill>
              <a:srgbClr val="6D5BC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29900" y="2345436"/>
            <a:ext cx="960120" cy="411480"/>
          </a:xfrm>
          <a:prstGeom prst="ellipse">
            <a:avLst/>
          </a:prstGeom>
          <a:solidFill>
            <a:srgbClr val="F5F2FC"/>
          </a:solidFill>
          <a:ln w="15240">
            <a:solidFill>
              <a:srgbClr val="6D5B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29900" y="2345436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875520" y="2551176"/>
            <a:ext cx="777240" cy="914"/>
          </a:xfrm>
          <a:prstGeom prst="line">
            <a:avLst/>
          </a:prstGeom>
          <a:noFill/>
          <a:ln w="12700">
            <a:solidFill>
              <a:srgbClr val="6D5BC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401300" y="3104388"/>
            <a:ext cx="960120" cy="411480"/>
          </a:xfrm>
          <a:prstGeom prst="ellipse">
            <a:avLst/>
          </a:prstGeom>
          <a:solidFill>
            <a:srgbClr val="F5F2FC"/>
          </a:solidFill>
          <a:ln w="15240">
            <a:solidFill>
              <a:srgbClr val="6D5BC7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0401300" y="310438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646920" y="2862072"/>
            <a:ext cx="777240" cy="338328"/>
          </a:xfrm>
          <a:prstGeom prst="line">
            <a:avLst/>
          </a:prstGeom>
          <a:noFill/>
          <a:ln w="12700">
            <a:solidFill>
              <a:srgbClr val="6D5BC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97980" y="3429000"/>
            <a:ext cx="1508760" cy="914400"/>
          </a:xfrm>
          <a:prstGeom prst="diamond">
            <a:avLst/>
          </a:prstGeom>
          <a:solidFill>
            <a:srgbClr val="FDF3E0"/>
          </a:solidFill>
          <a:ln w="22225">
            <a:solidFill>
              <a:srgbClr val="B6760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97980" y="342900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ADMITTED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 flipH="1">
            <a:off x="7835787" y="2891992"/>
            <a:ext cx="960120" cy="566928"/>
          </a:xfrm>
          <a:prstGeom prst="line">
            <a:avLst/>
          </a:prstGeom>
          <a:noFill/>
          <a:ln w="19050">
            <a:solidFill>
              <a:srgbClr val="D23B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>
            <a:off x="7800453" y="2832152"/>
            <a:ext cx="960120" cy="566928"/>
          </a:xfrm>
          <a:prstGeom prst="line">
            <a:avLst/>
          </a:prstGeom>
          <a:noFill/>
          <a:ln w="19050">
            <a:solidFill>
              <a:srgbClr val="D23B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38160" y="31272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92040" y="3593592"/>
            <a:ext cx="1463040" cy="603504"/>
          </a:xfrm>
          <a:prstGeom prst="rect">
            <a:avLst/>
          </a:prstGeom>
          <a:solidFill>
            <a:srgbClr val="1F3A5F"/>
          </a:solidFill>
          <a:ln w="17780">
            <a:solidFill>
              <a:srgbClr val="1424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593592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355080" y="3822192"/>
            <a:ext cx="347472" cy="64008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94960" y="4384548"/>
            <a:ext cx="1280160" cy="411480"/>
          </a:xfrm>
          <a:prstGeom prst="ellipse">
            <a:avLst/>
          </a:prstGeom>
          <a:solidFill>
            <a:srgbClr val="F5F2FC"/>
          </a:solidFill>
          <a:ln w="15240">
            <a:solidFill>
              <a:srgbClr val="6D5BC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94960" y="43845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760720" y="4197096"/>
            <a:ext cx="91440" cy="210312"/>
          </a:xfrm>
          <a:prstGeom prst="line">
            <a:avLst/>
          </a:prstGeom>
          <a:noFill/>
          <a:ln w="12700">
            <a:solidFill>
              <a:srgbClr val="6D5BC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77540" y="2766060"/>
            <a:ext cx="1234440" cy="411480"/>
          </a:xfrm>
          <a:prstGeom prst="ellipse">
            <a:avLst/>
          </a:prstGeom>
          <a:solidFill>
            <a:srgbClr val="F5F2FC"/>
          </a:solidFill>
          <a:ln w="15240">
            <a:solidFill>
              <a:srgbClr val="6D5BC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77540" y="27660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ward_no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114800" y="3154680"/>
            <a:ext cx="914400" cy="438912"/>
          </a:xfrm>
          <a:prstGeom prst="line">
            <a:avLst/>
          </a:prstGeom>
          <a:noFill/>
          <a:ln w="12700">
            <a:solidFill>
              <a:srgbClr val="6D5BC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31720" y="3543300"/>
            <a:ext cx="1371600" cy="868680"/>
          </a:xfrm>
          <a:prstGeom prst="diamond">
            <a:avLst/>
          </a:prstGeom>
          <a:solidFill>
            <a:srgbClr val="FDF3E0"/>
          </a:solidFill>
          <a:ln w="22225">
            <a:solidFill>
              <a:srgbClr val="B6760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423160" y="3616452"/>
            <a:ext cx="1188720" cy="722376"/>
          </a:xfrm>
          <a:prstGeom prst="diamond">
            <a:avLst/>
          </a:prstGeom>
          <a:solidFill>
            <a:srgbClr val="FDF3E0"/>
          </a:solidFill>
          <a:ln w="19050">
            <a:solidFill>
              <a:srgbClr val="B6760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31720" y="35433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 flipH="1">
            <a:off x="3704122" y="3984946"/>
            <a:ext cx="1188720" cy="27432"/>
          </a:xfrm>
          <a:prstGeom prst="line">
            <a:avLst/>
          </a:prstGeom>
          <a:noFill/>
          <a:ln w="19050">
            <a:solidFill>
              <a:srgbClr val="D23B3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H="1">
            <a:off x="3702518" y="3915470"/>
            <a:ext cx="1188720" cy="27432"/>
          </a:xfrm>
          <a:prstGeom prst="line">
            <a:avLst/>
          </a:prstGeom>
          <a:noFill/>
          <a:ln w="19050">
            <a:solidFill>
              <a:srgbClr val="D23B3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60120" y="3703320"/>
            <a:ext cx="1463040" cy="603504"/>
          </a:xfrm>
          <a:prstGeom prst="rect">
            <a:avLst/>
          </a:prstGeom>
          <a:solidFill>
            <a:srgbClr val="1F3A5F"/>
          </a:solidFill>
          <a:ln w="17780">
            <a:solidFill>
              <a:srgbClr val="14243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24128" y="3758184"/>
            <a:ext cx="1335024" cy="493776"/>
          </a:xfrm>
          <a:prstGeom prst="rect">
            <a:avLst/>
          </a:prstGeom>
          <a:solidFill>
            <a:srgbClr val="1F3A5F"/>
          </a:solidFill>
          <a:ln w="19050">
            <a:solidFill>
              <a:srgbClr val="FFD5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0120" y="3703320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331720" y="4012387"/>
            <a:ext cx="91440" cy="914"/>
          </a:xfrm>
          <a:prstGeom prst="line">
            <a:avLst/>
          </a:prstGeom>
          <a:noFill/>
          <a:ln w="19050">
            <a:solidFill>
              <a:srgbClr val="D23B3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31720" y="3942893"/>
            <a:ext cx="91440" cy="914"/>
          </a:xfrm>
          <a:prstGeom prst="line">
            <a:avLst/>
          </a:prstGeom>
          <a:noFill/>
          <a:ln w="19050">
            <a:solidFill>
              <a:srgbClr val="D23B3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42900" y="4366260"/>
            <a:ext cx="1143000" cy="411480"/>
          </a:xfrm>
          <a:prstGeom prst="ellipse">
            <a:avLst/>
          </a:prstGeom>
          <a:solidFill>
            <a:srgbClr val="F5F2FC"/>
          </a:solidFill>
          <a:ln w="15240">
            <a:solidFill>
              <a:srgbClr val="6D5BC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2900" y="43662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bed_no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75488" y="4700016"/>
            <a:ext cx="868680" cy="914"/>
          </a:xfrm>
          <a:prstGeom prst="line">
            <a:avLst/>
          </a:prstGeom>
          <a:noFill/>
          <a:ln w="16510">
            <a:solidFill>
              <a:srgbClr val="D23B3B"/>
            </a:solidFill>
            <a:prstDash val="dash"/>
          </a:ln>
        </p:spPr>
      </p:sp>
      <p:sp>
        <p:nvSpPr>
          <p:cNvPr id="63" name="Shape 61"/>
          <p:cNvSpPr/>
          <p:nvPr/>
        </p:nvSpPr>
        <p:spPr>
          <a:xfrm flipH="1">
            <a:off x="1234440" y="4306824"/>
            <a:ext cx="228600" cy="109728"/>
          </a:xfrm>
          <a:prstGeom prst="line">
            <a:avLst/>
          </a:prstGeom>
          <a:noFill/>
          <a:ln w="12700">
            <a:solidFill>
              <a:srgbClr val="6D5BC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48640" y="5010912"/>
            <a:ext cx="10881360" cy="914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>
            <a:off x="5394960" y="5138928"/>
            <a:ext cx="1737360" cy="566928"/>
          </a:xfrm>
          <a:prstGeom prst="rect">
            <a:avLst/>
          </a:prstGeom>
          <a:solidFill>
            <a:srgbClr val="1F3A5F"/>
          </a:solidFill>
          <a:ln w="17780">
            <a:solidFill>
              <a:srgbClr val="14243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94960" y="51389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3406140" y="5216652"/>
            <a:ext cx="1143000" cy="411480"/>
          </a:xfrm>
          <a:prstGeom prst="ellipse">
            <a:avLst/>
          </a:prstGeom>
          <a:solidFill>
            <a:srgbClr val="F5F2FC"/>
          </a:solidFill>
          <a:ln w="15240">
            <a:solidFill>
              <a:srgbClr val="6D5BC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406140" y="521665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emp_id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434840" y="5422392"/>
            <a:ext cx="960120" cy="914"/>
          </a:xfrm>
          <a:prstGeom prst="line">
            <a:avLst/>
          </a:prstGeom>
          <a:noFill/>
          <a:ln w="12700">
            <a:solidFill>
              <a:srgbClr val="6D5BC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269480" y="5216652"/>
            <a:ext cx="1097280" cy="411480"/>
          </a:xfrm>
          <a:prstGeom prst="ellipse">
            <a:avLst/>
          </a:prstGeom>
          <a:solidFill>
            <a:srgbClr val="F5F2FC"/>
          </a:solidFill>
          <a:ln w="15240">
            <a:solidFill>
              <a:srgbClr val="6D5BC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69480" y="521665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7132320" y="5422392"/>
            <a:ext cx="137160" cy="914"/>
          </a:xfrm>
          <a:prstGeom prst="line">
            <a:avLst/>
          </a:prstGeom>
          <a:noFill/>
          <a:ln w="12700">
            <a:solidFill>
              <a:srgbClr val="6D5BC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783580" y="5550408"/>
            <a:ext cx="960120" cy="457200"/>
          </a:xfrm>
          <a:prstGeom prst="triangle">
            <a:avLst/>
          </a:prstGeom>
          <a:solidFill>
            <a:srgbClr val="EAF7F2"/>
          </a:solidFill>
          <a:ln w="22225">
            <a:solidFill>
              <a:srgbClr val="0F8A6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783580" y="579272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263640" y="5705856"/>
            <a:ext cx="914" cy="91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H="1">
            <a:off x="4892040" y="6007608"/>
            <a:ext cx="1371600" cy="192024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263640" y="6007608"/>
            <a:ext cx="914" cy="192024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263640" y="6007608"/>
            <a:ext cx="1371600" cy="192024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343400" y="6199632"/>
            <a:ext cx="1097280" cy="457200"/>
          </a:xfrm>
          <a:prstGeom prst="rect">
            <a:avLst/>
          </a:prstGeom>
          <a:solidFill>
            <a:srgbClr val="1F3A5F"/>
          </a:solidFill>
          <a:ln w="17780">
            <a:solidFill>
              <a:srgbClr val="14243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343400" y="61996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5760720" y="6199632"/>
            <a:ext cx="1005840" cy="457200"/>
          </a:xfrm>
          <a:prstGeom prst="rect">
            <a:avLst/>
          </a:prstGeom>
          <a:solidFill>
            <a:srgbClr val="1F3A5F"/>
          </a:solidFill>
          <a:ln w="17780">
            <a:solidFill>
              <a:srgbClr val="14243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760720" y="61996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7178040" y="6199632"/>
            <a:ext cx="1051560" cy="457200"/>
          </a:xfrm>
          <a:prstGeom prst="rect">
            <a:avLst/>
          </a:prstGeom>
          <a:solidFill>
            <a:srgbClr val="1F3A5F"/>
          </a:solidFill>
          <a:ln w="17780">
            <a:solidFill>
              <a:srgbClr val="14243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78040" y="619963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8138160" y="5989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appears in both bands — same entity set, drawn twice for clarity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10 — Dr. Neha Nandal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Notation ↔ Exam Notation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5609844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56098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ERDPlus asks for MIN and MAX — here’s the mapping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10698480" cy="1051560"/>
          </a:xfrm>
          <a:prstGeom prst="roundRect">
            <a:avLst>
              <a:gd name="adj" fmla="val 10435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cardinality = PARTICIPATION      •      MAX cardinality = the 1 / M / N you write on paper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10698480" cy="493776"/>
          </a:xfrm>
          <a:prstGeom prst="roundRect">
            <a:avLst>
              <a:gd name="adj" fmla="val 22222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017520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74720" y="3017520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ERDPlus setting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766560" y="3017520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draw in the exam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3584448"/>
            <a:ext cx="10698480" cy="493776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58444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474720" y="3584448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cardinality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66560" y="3584448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line (total participation)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4151376"/>
            <a:ext cx="1069848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151376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474720" y="4151376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cardinality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766560" y="4151376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line (partial participation)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4718304"/>
            <a:ext cx="10698480" cy="493776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718304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474720" y="4718304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cardinality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766560" y="4718304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 1  on that side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31520" y="5285232"/>
            <a:ext cx="1069848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285232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474720" y="5285232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cardinality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766560" y="5285232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 M  or  N  on that side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31520" y="5852160"/>
            <a:ext cx="10698480" cy="493776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5852160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67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✓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474720" y="5852160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checkbox on relationship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766560" y="5852160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diamond (weak entity)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— ADMITTED, patient side:  Mandatory + One  →  “every patient is admitted to exactly one ward”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10 — Dr. Neha Nandal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 Aggregation Has A Tool Name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6345936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Textbooks say aggregation. Tools say ASSOCIATIVE ENTITY.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LEARNED (Lecture 9)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a DASHED BOX around a relationship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another relationship can connect to 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TOOL CALLS 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3774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→ Type → ASSOCIATIVE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relationship becomes an entity you can connect to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60720" y="24231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2194560" y="4160520"/>
            <a:ext cx="1554480" cy="548640"/>
          </a:xfrm>
          <a:prstGeom prst="rect">
            <a:avLst/>
          </a:prstGeom>
          <a:solidFill>
            <a:srgbClr val="1F3A5F"/>
          </a:solidFill>
          <a:ln w="17780">
            <a:solidFill>
              <a:srgbClr val="1424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41605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4160520"/>
            <a:ext cx="1554480" cy="548640"/>
          </a:xfrm>
          <a:prstGeom prst="rect">
            <a:avLst/>
          </a:prstGeom>
          <a:solidFill>
            <a:srgbClr val="1F3A5F"/>
          </a:solidFill>
          <a:ln w="17780">
            <a:solidFill>
              <a:srgbClr val="1424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41605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77640" y="39776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FDF3E0"/>
          </a:solidFill>
          <a:ln w="25400">
            <a:solidFill>
              <a:srgbClr val="0F8A66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977640" y="3977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49040" y="4434840"/>
            <a:ext cx="228600" cy="914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4434840"/>
            <a:ext cx="502920" cy="914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3977640"/>
            <a:ext cx="1463040" cy="914400"/>
          </a:xfrm>
          <a:prstGeom prst="diamond">
            <a:avLst/>
          </a:prstGeom>
          <a:solidFill>
            <a:srgbClr val="FDF3E0"/>
          </a:solidFill>
          <a:ln w="22225">
            <a:solidFill>
              <a:srgbClr val="B676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39776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 flipH="1">
            <a:off x="6355080" y="4526280"/>
            <a:ext cx="2148840" cy="137160"/>
          </a:xfrm>
          <a:prstGeom prst="line">
            <a:avLst/>
          </a:prstGeom>
          <a:noFill/>
          <a:ln w="25400">
            <a:solidFill>
              <a:srgbClr val="0F8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66960" y="5532120"/>
            <a:ext cx="1554480" cy="548640"/>
          </a:xfrm>
          <a:prstGeom prst="rect">
            <a:avLst/>
          </a:prstGeom>
          <a:solidFill>
            <a:srgbClr val="1F3A5F"/>
          </a:solidFill>
          <a:ln w="17780">
            <a:solidFill>
              <a:srgbClr val="1424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66960" y="5532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509760" y="4892040"/>
            <a:ext cx="731520" cy="64008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5623560"/>
            <a:ext cx="7315200" cy="822960"/>
          </a:xfrm>
          <a:prstGeom prst="roundRect">
            <a:avLst>
              <a:gd name="adj" fmla="val 13333"/>
            </a:avLst>
          </a:prstGeom>
          <a:solidFill>
            <a:srgbClr val="FDECEC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6235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answer: say AGGREGATION.   Industry / tools: say ASSOCIATIVE ENTITY.   Same idea.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10 — Dr. Neha Nandal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 Decisions That Made This Design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717036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3717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what design actually IS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106984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202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2A623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18745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diagnosis go?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691640" y="228600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PATIENT (differs per doctor), NOT in DOCTOR → on the TREATS relationship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10698480" cy="1005840"/>
          </a:xfrm>
          <a:prstGeom prst="roundRect">
            <a:avLst>
              <a:gd name="adj" fmla="val 10909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30632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2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30175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BED weak or strong?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691640" y="342900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 1 exists in every ward → bed_no is a PARTIAL key → BED is WEAK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069080"/>
            <a:ext cx="106984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2062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2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91640" y="41605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ADMITTED total or partial?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691640" y="457200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“Every patient is admitted” → TOTAL on the PATIENT side (double line)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5212080"/>
            <a:ext cx="10698480" cy="1005840"/>
          </a:xfrm>
          <a:prstGeom prst="roundRect">
            <a:avLst>
              <a:gd name="adj" fmla="val 10909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53492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2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91640" y="53035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an ISA for staff?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691640" y="571500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Doctor, nurse, admin repeat emp_id, name, salary → generalize to EMPLOYEE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finished diagram is just the receipt. The DECISIONS are the design.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10 — Dr. Neha Nandal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Mistakes That Cost Marks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5820156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5820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made two of them on purpose — did you catch them?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10698480" cy="79552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83080"/>
            <a:ext cx="457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85623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a relationship with a noun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54480" y="2203704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TREATS ✓   not “TREATMENT” ✗   — relationships are VERBS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2697480"/>
            <a:ext cx="10698480" cy="79552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697480"/>
            <a:ext cx="457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77063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a shared attribute in an entity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554480" y="3118104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belongs to the relationship, not to PATIENT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3611880"/>
            <a:ext cx="10698480" cy="79552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611880"/>
            <a:ext cx="457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68503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Forgetting cardinality labels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554480" y="4032504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unlabelled line is an incomplete answer — always write M, N, 1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4526280"/>
            <a:ext cx="10698480" cy="79552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526280"/>
            <a:ext cx="457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59943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ellipse for a multivalued attribute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554480" y="4946904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numbers need the DOUBLE ellipse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1520" y="5440680"/>
            <a:ext cx="10698480" cy="79552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5440680"/>
            <a:ext cx="457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54480" y="551383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the double line on a weak entity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554480" y="5861304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entities are ALWAYS total participation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10 — Dr. Neha Nandal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Corner — How To Attack A Design Question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13766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137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6-step routine that never fails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Underline every NOUN → candidate entity sets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2350008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F3A5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50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23500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every VERB → candidate relationships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2916936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F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16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291693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descriptors under each noun → attributes; pick the KEY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22960" y="3483864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483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48386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relationship ask the GOLDEN QUESTION → 1:1, 1:N or M:N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22960" y="4050792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F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050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05079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for “every / must” → double lines; repeated numbering → weak entity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22960" y="461772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F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617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46177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for repeated attribute sets → ISA hierarchy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731520" y="5349240"/>
            <a:ext cx="106984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5404104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D23B3B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540410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MARKS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606040" y="53492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an ER diagram for a &lt;hospital / library / railway&gt; system.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31520" y="6007608"/>
            <a:ext cx="106984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0120" y="6062472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B67609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606247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MARKS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606040" y="600760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conceptual design with the ER model.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10 — Dr. Neha Nandal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1 COMPLETE ✅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now read a requirement in plain English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turn it into a complete database blueprint.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4015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ASSIGNMENT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the ER diagram for a RAILWAY RESERVATION system in ERDPlus.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your screenshot in the comments — I’ll review as many as I can.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4892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a diagram cannot be queried. It cannot store a single row.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UNIT 2 — turning this blueprint into REAL TABLES.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Relational Model begins.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2026-07-24T06:18:39Z</dcterms:created>
  <dcterms:modified xsi:type="dcterms:W3CDTF">2026-07-24T06:18:39Z</dcterms:modified>
</cp:coreProperties>
</file>