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PREP • LECTURE 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NPTEL DBMS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3 — Solved &amp; Explained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questions — algebra, ER mapping, TRC, triggers &amp; SQL.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CROSS-UNIT REVISION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42062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4206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MULTI-SELECT Qs INSIDE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Assignment 3 Tests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474720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tour across the whole course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733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733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6459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algebra: division + union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0" y="1645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Lectures 12–13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305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30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103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→ relational: M:N + multivalued attr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0" y="21031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mapping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5877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5877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25603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(ISA) → relations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25603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mapping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0175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0449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0449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0175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entity + participation + keys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30175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mapping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4747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5021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5021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34747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Relational Calculus (TRC)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0" y="34747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9319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39593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9593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74520" y="39319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hierarchy — inheritance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12480" y="3931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mapping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4165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416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74520" y="43891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→ relational algebra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12480" y="43891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48463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" y="48737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48737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874520" y="48463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(active databases)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SQL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" y="53035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53309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53309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874520" y="53035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SQL (host variables)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412480" y="53035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SQL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1520" y="5760720"/>
            <a:ext cx="10698480" cy="402336"/>
          </a:xfrm>
          <a:prstGeom prst="roundRect">
            <a:avLst>
              <a:gd name="adj" fmla="val 22727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0" y="57881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57881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74520" y="576072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Algebra: selection + intersection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412480" y="57607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this is ER-to-relational mapping — the bridge from diagrams to tables. Let’s go.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tuples returned?  (σ School='KidSys' ∨ Color='Blue' (Uniform)) ÷ π Color(σ Color='Blue') ∪ π School(σ Color='White')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874520"/>
            <a:ext cx="3291840" cy="292608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874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2167128"/>
            <a:ext cx="2011680" cy="27432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167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2167128"/>
            <a:ext cx="1280160" cy="27432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67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2441448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EduSys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2441448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441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06240" y="2715768"/>
            <a:ext cx="201168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715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2715768"/>
            <a:ext cx="128016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715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0" y="2990088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990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KidSys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17920" y="2990088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990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3264408"/>
            <a:ext cx="201168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3264408"/>
            <a:ext cx="128016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264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06240" y="3538728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LPInternational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3538728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538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06240" y="3813048"/>
            <a:ext cx="201168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3813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EduSys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3813048"/>
            <a:ext cx="128016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813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0" y="3977640"/>
            <a:ext cx="70408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0048" y="3977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3240" y="397764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2560320" y="4526280"/>
            <a:ext cx="70408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70048" y="4526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063240" y="45262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44000" y="4526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560320" y="5074920"/>
            <a:ext cx="70408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0048" y="5074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063240" y="507492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2560320" y="5623560"/>
            <a:ext cx="70408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0048" y="5623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63240" y="56235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066544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+ Union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 3 tuples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of ÷: rows where School=KidSys OR Color=Blue → (KidSys,Green), (GlobalEd,Blue), (LPInternational,Blue).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266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by {Blue}: which Schools pair with Blue? GlobalEd ✓, LPInternational ✓. KidSys pairs with Green ✗.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6301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division gives {GlobalEd, LPInternational}.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069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of ∪: π School(Color='White') = {EduSys}.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5537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5079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Union: {GlobalEd, LPInternational, EduSys} = 3 tuples.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division asks ‘which left-values pair with ALL right-values’. Here the right side is just {Blue}.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Lectures 12–13 — Division &amp; Set Operations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Handicraft made by many Artisans (M:N via Creates). Handicraft keyed by Tag, one Material, but MULTI-COLORED. Artisan has ID. Correct schema?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1874520"/>
            <a:ext cx="6675120" cy="1280160"/>
          </a:xfrm>
          <a:prstGeom prst="roundRect">
            <a:avLst>
              <a:gd name="adj" fmla="val 7143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9385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facts: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Handicraft ↔ Artisan is MANY-to-MANY → Creates needs BOTH keys (Tag, ID)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‘Multi-colored’ = MULTIVALUED attribute → needs its OWN table (Tag, Color)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06984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3832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3383280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Creates(Tag,ID) / Handicraft(Tag,Material,Color)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041648"/>
            <a:ext cx="106984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04164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4041648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Creates(ID) / Handicraft(Tag,Material) / Handicraft_color(Tag,Color)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700016"/>
            <a:ext cx="106984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7000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700016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Creates(Tag,ID,Color) / Handicraft(Tag,Material)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358384"/>
            <a:ext cx="10698480" cy="566928"/>
          </a:xfrm>
          <a:prstGeom prst="roundRect">
            <a:avLst>
              <a:gd name="adj" fmla="val 16129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35838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5358384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Creates(Tag,ID) / Handicraft(Tag,Material) / Handicraft_color(Tag,Color)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00" y="53583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882896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→ Relational: M:N + multivalued attribute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d)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M:N relationship → Creates table gets BOTH keys: Creates(Tag, ID).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9077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620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Handicraft has one Material → Handicraft(Tag, Material).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34670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009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‘Multi-colored’ = a multivalued attribute → it CANNOT sit in the Handicraft row.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5020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9044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Multivalued attributes always become a SEPARATE table: Handicraft_color(Tag, Color).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5537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5079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(d) has all three tables correct. (a) crams Color in wrongly; (b) drops ID from Creates.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a multivalued attribute ALWAYS becomes its own table, keyed by the owner’s key + the value.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ER Mapping — M:N &amp; Multivalued Attributes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63240" y="320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5" name="Text 3"/>
          <p:cNvSpPr/>
          <p:nvPr/>
        </p:nvSpPr>
        <p:spPr>
          <a:xfrm>
            <a:off x="3063240" y="320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MULTI-SELECT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Contact(Name, Number-key) specialized into Personal(Social_site) &amp; Professional(Email). Which can NOT be true?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26517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B2E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828800"/>
            <a:ext cx="2651760" cy="292608"/>
          </a:xfrm>
          <a:prstGeom prst="rect">
            <a:avLst/>
          </a:prstGeom>
          <a:solidFill>
            <a:srgbClr val="3B2E8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828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76272"/>
            <a:ext cx="2468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(key)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2697480"/>
            <a:ext cx="0" cy="411480"/>
          </a:xfrm>
          <a:prstGeom prst="line">
            <a:avLst/>
          </a:prstGeom>
          <a:noFill/>
          <a:ln w="19050">
            <a:solidFill>
              <a:srgbClr val="1424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00400" y="3200400"/>
            <a:ext cx="22860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8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200400"/>
            <a:ext cx="2286000" cy="292608"/>
          </a:xfrm>
          <a:prstGeom prst="rect">
            <a:avLst/>
          </a:prstGeom>
          <a:solidFill>
            <a:srgbClr val="0F8A66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547872"/>
            <a:ext cx="2103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Social_site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3200400"/>
            <a:ext cx="22860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676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200400"/>
            <a:ext cx="2286000" cy="292608"/>
          </a:xfrm>
          <a:prstGeom prst="rect">
            <a:avLst/>
          </a:prstGeom>
          <a:solidFill>
            <a:srgbClr val="B6760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3547872"/>
            <a:ext cx="2103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/ specialization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4160520"/>
            <a:ext cx="70408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0048" y="4160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63240" y="416052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n[Contact] = 2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560320" y="4709160"/>
            <a:ext cx="70408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0048" y="4709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63240" y="47091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n[Personal] = 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0" y="4709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560320" y="5257800"/>
            <a:ext cx="70408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5257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63240" y="525780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n[Professional] = 1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44000" y="5257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560320" y="5806440"/>
            <a:ext cx="70408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5806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63240" y="580644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n[Professional] = 3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675888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(ISA) → relations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and c)  — these can NOT be true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map a subclass to a table, it MUST keep the parent’s key to link back.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266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Personal = {Number (inherited key), Social_site} → at least 2 attributes.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6301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n[Personal]=1 is impossible. (b) canNOT be true. ✓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069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= {Number (inherited key), Email} → at least 2 attributes.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5537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5079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n[Professional]=1 is impossible. (c) canNOT be true. ✓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99262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94690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n[Contact]=2 (Name, Number) is correct. (d) 3 is possible in some mappings.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trap: forgetting the subclass inherits the parent’s PRIMARY KEY. That’s why 1 attribute is impossible.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ER Mapping — Specialization / ISA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63240" y="320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5" name="Text 3"/>
          <p:cNvSpPr/>
          <p:nvPr/>
        </p:nvSpPr>
        <p:spPr>
          <a:xfrm>
            <a:off x="3063240" y="320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MULTI-SELECT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(WEAK, partial key {Count,GlassType}) – Room_Win – Room(RNo). Occupant(OID) – Room_Occ – Room. Which is/are TRUE?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8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929384"/>
            <a:ext cx="1901952" cy="667512"/>
          </a:xfrm>
          <a:prstGeom prst="rect">
            <a:avLst/>
          </a:prstGeom>
          <a:ln w="12700">
            <a:solidFill>
              <a:srgbClr val="0F8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874520"/>
            <a:ext cx="2011680" cy="292608"/>
          </a:xfrm>
          <a:prstGeom prst="rect">
            <a:avLst/>
          </a:prstGeom>
          <a:solidFill>
            <a:srgbClr val="0F8A6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221992"/>
            <a:ext cx="1828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1874520"/>
            <a:ext cx="1463040" cy="731520"/>
          </a:xfrm>
          <a:prstGeom prst="diamond">
            <a:avLst/>
          </a:prstGeom>
          <a:solidFill>
            <a:srgbClr val="EEF1F4"/>
          </a:solidFill>
          <a:ln w="19050">
            <a:solidFill>
              <a:srgbClr val="0F8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36392" y="1929384"/>
            <a:ext cx="1316736" cy="621792"/>
          </a:xfrm>
          <a:prstGeom prst="diamond">
            <a:avLst/>
          </a:prstGeom>
          <a:ln w="12700">
            <a:solidFill>
              <a:srgbClr val="0F8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Room_Win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12080" y="1874520"/>
            <a:ext cx="2103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2E8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874520"/>
            <a:ext cx="2103120" cy="292608"/>
          </a:xfrm>
          <a:prstGeom prst="rect">
            <a:avLst/>
          </a:prstGeom>
          <a:solidFill>
            <a:srgbClr val="3B2E83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874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221992"/>
            <a:ext cx="1920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RNo (key)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BedCount…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320040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B676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3200400"/>
            <a:ext cx="2011680" cy="292608"/>
          </a:xfrm>
          <a:prstGeom prst="rect">
            <a:avLst/>
          </a:prstGeom>
          <a:solidFill>
            <a:srgbClr val="B67609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3200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 (key)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FamCount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3163824"/>
            <a:ext cx="1463040" cy="713232"/>
          </a:xfrm>
          <a:prstGeom prst="diamond">
            <a:avLst/>
          </a:prstGeom>
          <a:solidFill>
            <a:srgbClr val="EEF1F4"/>
          </a:solidFill>
          <a:ln w="19050">
            <a:solidFill>
              <a:srgbClr val="B676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16382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Room_Occ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258568"/>
            <a:ext cx="960120" cy="0"/>
          </a:xfrm>
          <a:prstGeom prst="line">
            <a:avLst/>
          </a:prstGeom>
          <a:noFill/>
          <a:ln w="25400">
            <a:solidFill>
              <a:srgbClr val="0F8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2258568"/>
            <a:ext cx="685800" cy="0"/>
          </a:xfrm>
          <a:prstGeom prst="line">
            <a:avLst/>
          </a:prstGeom>
          <a:noFill/>
          <a:ln w="25400">
            <a:solidFill>
              <a:srgbClr val="0F8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520440"/>
            <a:ext cx="1280160" cy="0"/>
          </a:xfrm>
          <a:prstGeom prst="line">
            <a:avLst/>
          </a:prstGeom>
          <a:noFill/>
          <a:ln w="19050">
            <a:solidFill>
              <a:srgbClr val="B6760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286000"/>
            <a:ext cx="0" cy="1234440"/>
          </a:xfrm>
          <a:prstGeom prst="line">
            <a:avLst/>
          </a:prstGeom>
          <a:noFill/>
          <a:ln w="19050">
            <a:solidFill>
              <a:srgbClr val="3B2E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520440"/>
            <a:ext cx="-365760" cy="0"/>
          </a:xfrm>
          <a:prstGeom prst="line">
            <a:avLst/>
          </a:prstGeom>
          <a:noFill/>
          <a:ln w="19050">
            <a:solidFill>
              <a:srgbClr val="3B2E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343400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34340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4343400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of Occupant in Room_Occ is total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4873752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87375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34440" y="4873752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of Windows schema = {Count, GlassType}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5404104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40410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34440" y="5404104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of Room_Occ = {RNo, OID}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972800" y="54041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" y="5934456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93445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34440" y="5934456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of Room in Room_Occ is partial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972800" y="593445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776472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776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entity, participation &amp; keys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c) and d)  — these are TRUE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Occupant–Room_Occ is a SINGLE line → partial participation, not total. FALSE.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266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Windows is WEAK → its full key = own partial key + owner’s key = {Count, GlassType, RNo}. Just {Count,GlassType} is incomplete. FALSE.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6301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Room_Occ is M:N between Room(RNo) &amp; Occupant(OID) → key = {RNo, OID}. TRUE. ✓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2793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2336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Room–Room_Occ is a single line → partial participation. TRUE. ✓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line = total participation. Single line = partial. A weak entity’s key ALWAYS includes its owner’s key.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ER Mapping — Weak Entities &amp; Participation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Singer(SID, Genres, Experience, discography). TRC for: ‘Select SIDs whose Experience is more than 20 years’.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945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9646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{&lt;t&gt; | ∃ p,t ∈ Singer (t[Genres]=p[Genres] ∨ p[Experience]=20)}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71800"/>
            <a:ext cx="9646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{&lt;t&gt; | ∃ p,t ∈ Singer (t[SID]=p[SID] ∨ p[Experience]&gt;20)}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7490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749040"/>
            <a:ext cx="9646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 | ∃p ∈ Singer (t[Experience]=p[Experience] ∧ p[Singer]&gt;20)}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526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526280"/>
            <a:ext cx="9646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 | ∃p ∈ Singer (t[SID]=p[SID] ∧ p[Experience]&gt;20)}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0" y="45262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575304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575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Relational Calculus (TRC)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d)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to OUTPUT the SID, and the CONDITION is Experience &gt; 20.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9077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620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(d): {t | ∃p ∈ Singer (t[SID]=p[SID] ∧ p[Experience]&gt;20)} — t takes the SID of any singer p with &gt;20 years.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511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46557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conditions are joined by ∧ (AND): same SID, AND experience over 20.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069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(a),(b) use ∨ (OR) wrongly and output the wrong attribute.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5537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5079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outputs Experience, not SID — wrong target.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TRC pattern: { output | ∃ tuple ( link the output ∧ apply the condition ) }.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Lecture 14 — Tuple Relational Calculus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ANIMALS(SCNAME, LOCATION) → OMNIVORES / CARNIVORES / HERBIVORES. DOGS is a subclass of CARNIVORES. Which is TRUE?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828800"/>
            <a:ext cx="24688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2E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828800"/>
            <a:ext cx="2468880" cy="292608"/>
          </a:xfrm>
          <a:prstGeom prst="rect">
            <a:avLst/>
          </a:prstGeom>
          <a:solidFill>
            <a:srgbClr val="3B2E8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176272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SCNAME, LOCATION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971800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8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971800"/>
            <a:ext cx="2011680" cy="292608"/>
          </a:xfrm>
          <a:prstGeom prst="rect">
            <a:avLst/>
          </a:prstGeom>
          <a:solidFill>
            <a:srgbClr val="0F8A66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2971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OMNIVORES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31927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971800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8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971800"/>
            <a:ext cx="2011680" cy="292608"/>
          </a:xfrm>
          <a:prstGeom prst="rect">
            <a:avLst/>
          </a:prstGeom>
          <a:solidFill>
            <a:srgbClr val="0F8A6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971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CARNIVORES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1927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FOODCHOICE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971800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8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971800"/>
            <a:ext cx="2011680" cy="292608"/>
          </a:xfrm>
          <a:prstGeom prst="rect">
            <a:avLst/>
          </a:prstGeom>
          <a:solidFill>
            <a:srgbClr val="0F8A66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971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HERBIVORES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331927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4114800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676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114800"/>
            <a:ext cx="2011680" cy="292608"/>
          </a:xfrm>
          <a:prstGeom prst="rect">
            <a:avLst/>
          </a:prstGeom>
          <a:solidFill>
            <a:srgbClr val="B67609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462272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2971800"/>
            <a:ext cx="0" cy="-365760"/>
          </a:xfrm>
          <a:prstGeom prst="line">
            <a:avLst/>
          </a:prstGeom>
          <a:noFill/>
          <a:ln w="15240">
            <a:solidFill>
              <a:srgbClr val="14243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52160" y="4114800"/>
            <a:ext cx="0" cy="-457200"/>
          </a:xfrm>
          <a:prstGeom prst="line">
            <a:avLst/>
          </a:prstGeom>
          <a:noFill/>
          <a:ln w="15240">
            <a:solidFill>
              <a:srgbClr val="14243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1520" y="4937760"/>
            <a:ext cx="10698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937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4937760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DOGS inherit from CARNIVORES but NOT ANIMALS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1520" y="5376672"/>
            <a:ext cx="10698480" cy="347472"/>
          </a:xfrm>
          <a:prstGeom prst="roundRect">
            <a:avLst>
              <a:gd name="adj" fmla="val 26316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3766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5376672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DOGS inherit from CARNIVORES and ANIMALS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972800" y="53766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" y="5815584"/>
            <a:ext cx="10698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8155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34440" y="5815584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CARNIVORES inherit from DOGS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31520" y="6254496"/>
            <a:ext cx="10698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62544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34440" y="6254496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 inherit from all subclasses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178808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hierarchy — inheritance direction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 DOGS inherit from CARNIVORES and ANIMALS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flows DOWN the hierarchy: a subclass inherits from ALL its ancestors.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266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DOGS → subclass of CARNIVORES → which is a subclass of ANIMALS.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511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46557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DOGS inherit FOODCHOICE (from CARNIVORES) AND SCNAME, LOCATION (from ANIMALS).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069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is wrong — inheritance doesn’t stop at the direct parent.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5537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5079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(c),(d) reverse the direction — parents never inherit from children.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 is transitive DOWNWARD: a grandchild gets everything from parent AND grandparent.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ER Mapping — Generalization / Specialization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R=(A,B). Convert this DRC to relational algebra:  {&lt;a&gt; | ∃b (&lt;a,b&gt; ∈ r ∧ b=15)}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7589520" cy="640080"/>
          </a:xfrm>
          <a:prstGeom prst="roundRect">
            <a:avLst>
              <a:gd name="adj" fmla="val 14286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728" y="22860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228600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A(σ B=15(r))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18320" y="22860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3017520"/>
            <a:ext cx="75895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30175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301752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B=15(r)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0" y="3749040"/>
            <a:ext cx="75895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37490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374904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B=15(r)  [no projection]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4480560"/>
            <a:ext cx="75895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44805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448056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A,B(σ A=15(r))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DRC: output only &lt;a&gt; (one column), condition b=15.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871216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→ Relational Algebra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a)  π A(σ B=15(r))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DRC outputs &lt;a&gt; — only column A → that’s a PROJECTION π 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9077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620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b=15 — filter rows where B=15 → that’s a SELECTION σ B=15.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511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46557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Combine: first select the rows (B=15), then project column A → π A(σ B=15(r)).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069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(b),(c) forget to project — they’d return both columns.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5537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5079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selects on A=15 (wrong column) and keeps both columns.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∃b in DRC = ‘B exists but isn’t output’ = the column you project AWAY.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Lecture 14 — Calculus to Algebra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AFTER DELETE ON Presentation … DELETE FROM Schedule WHERE Topic NOT IN (…). What does it do?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874520"/>
            <a:ext cx="9418320" cy="1371600"/>
          </a:xfrm>
          <a:prstGeom prst="roundRect">
            <a:avLst>
              <a:gd name="adj" fmla="val 6667"/>
            </a:avLst>
          </a:prstGeom>
          <a:solidFill>
            <a:srgbClr val="14243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96596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delete_trigger AFTER DELETE ON Presentation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REFERENCING OLD ROW AS old_row  FOR EACH ROW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 DELETE FROM Schedule WHERE Topic NOT IN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Topic FROM Schedule WHERE P_no &lt;&gt; old_row.P_no)  END;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474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474720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of a Presenter from Presentation → deletes records from Schedule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023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4023360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of a Topic from Schedule → deletes from Presentation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572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572000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of a Topic from Schedule only if P_no absent in Presentation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120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5120640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 of a Presenter from Presentation only if P_no absent in Schedule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172968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(active databases)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a)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‘AFTER DELETE ON Presentation’ → the trigger fires when a row is deleted from Presentation.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266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‘FOR EACH ROW’ → it runs once per deleted Presentation row (a Presenter).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6301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 then runs a DELETE FROM Schedule → so it removes records from Schedule.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2793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2336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 deleting a Presenter from Presentation causes deletions in Schedule. That’s (a).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8828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83717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(b),(c) get the trigger table backwards; (d) targets the wrong table for deletion.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triggers in 2 steps: (1) WHEN does it fire? (the event)  (2) WHAT does the body do?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Unit 3 — Triggers &amp; Active Databases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SQL: find ITEMs whose PRICE &gt; monthly_budget in MONTH = target_month. (both are HOST variables). Correct?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06984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94560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WHERE PRICE &gt; monthly_budget AND MONTH = target_month   (no colons)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889504"/>
            <a:ext cx="106984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889504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88950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WHERE PRICE &gt; monthly_budget AND MONTH = :target_month   (one colon)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584448"/>
            <a:ext cx="1069848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584448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584448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WHERE PRICE &gt; :monthly_budget   (missing MONTH condition)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279392"/>
            <a:ext cx="10698480" cy="603504"/>
          </a:xfrm>
          <a:prstGeom prst="roundRect">
            <a:avLst>
              <a:gd name="adj" fmla="val 15152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279392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279392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WHERE PRICE &gt; :monthly_budget AND MONTH = :target_month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0" y="427939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374136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374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SQL (host variables)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d)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embedded SQL, a HOST-language variable must be prefixed with a colon (:).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266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monthly_budget and target_month are host variables → both need the colon.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6301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query needs BOTH conditions: PRICE &gt; :monthly_budget AND MONTH = :target_month.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2793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2336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has no colons — SQL would read them as column names.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71830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6725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colons only one; (c) drops the MONTH condition. Only (d) is complete and correct.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colon (:) is how SQL knows ‘this is a variable from the host program, not a column’.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Unit 3 — Embedded SQL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/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63240" y="320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5" name="Text 3"/>
          <p:cNvSpPr/>
          <p:nvPr/>
        </p:nvSpPr>
        <p:spPr>
          <a:xfrm>
            <a:off x="3063240" y="320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MULTI-SELECT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CName(σ HallNo&gt;2 ∧ Genres='Folk'(Concerts)) ∩ π CName(σ Event='Recorded'(Concerts)). Which CNames appear?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1783080"/>
            <a:ext cx="6309360" cy="292608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7830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075688"/>
            <a:ext cx="1554480" cy="27432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2075688"/>
            <a:ext cx="1188720" cy="27432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075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HallNo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075688"/>
            <a:ext cx="1005840" cy="27432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075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2075688"/>
            <a:ext cx="1280160" cy="27432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2075688"/>
            <a:ext cx="1280160" cy="27432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ShowDay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2350008"/>
            <a:ext cx="1554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350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Dylan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83280" y="2350008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350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35000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350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77840" y="2350008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3500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0" y="2350008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3500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28800" y="2624328"/>
            <a:ext cx="155448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2624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Miliputs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2624328"/>
            <a:ext cx="118872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624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2624328"/>
            <a:ext cx="100584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624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77840" y="2624328"/>
            <a:ext cx="128016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624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0" y="2624328"/>
            <a:ext cx="128016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2624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28800" y="2898648"/>
            <a:ext cx="1554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2898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Bitkel asor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83280" y="2898648"/>
            <a:ext cx="11887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2898648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2898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77840" y="2898648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2898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858000" y="2898648"/>
            <a:ext cx="12801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2898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828800" y="3172968"/>
            <a:ext cx="155448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0" y="3172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Pancham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383280" y="3172968"/>
            <a:ext cx="118872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3172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0" y="3172968"/>
            <a:ext cx="100584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3172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577840" y="3172968"/>
            <a:ext cx="128016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3172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Bollywood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58000" y="3172968"/>
            <a:ext cx="1280160" cy="27432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0" y="3172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828800" y="3447288"/>
            <a:ext cx="155448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0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Pancham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383280" y="3447288"/>
            <a:ext cx="118872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83280" y="3447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572000" y="3447288"/>
            <a:ext cx="100584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0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577840" y="3447288"/>
            <a:ext cx="128016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77840" y="3447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Folk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858000" y="3447288"/>
            <a:ext cx="1280160" cy="27432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58000" y="3447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560320" y="3977640"/>
            <a:ext cx="70408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70048" y="39776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063240" y="397764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Dylan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2560320" y="4453128"/>
            <a:ext cx="7040880" cy="384048"/>
          </a:xfrm>
          <a:prstGeom prst="roundRect">
            <a:avLst>
              <a:gd name="adj" fmla="val 2381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70048" y="44531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3063240" y="445312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Miliputs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9144000" y="445312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2560320" y="4928616"/>
            <a:ext cx="70408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70048" y="49286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063240" y="492861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Bitkel asor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2560320" y="5404104"/>
            <a:ext cx="7040880" cy="384048"/>
          </a:xfrm>
          <a:prstGeom prst="roundRect">
            <a:avLst>
              <a:gd name="adj" fmla="val 2381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670048" y="54041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3063240" y="5404104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Pancham</a:t>
            </a:r>
            <a:endParaRPr lang="en-US" sz="1250" dirty="0"/>
          </a:p>
        </p:txBody>
      </p:sp>
      <p:sp>
        <p:nvSpPr>
          <p:cNvPr id="84" name="Text 82"/>
          <p:cNvSpPr/>
          <p:nvPr/>
        </p:nvSpPr>
        <p:spPr>
          <a:xfrm>
            <a:off x="9144000" y="54041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 — Answer &amp;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871216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871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+ Intersection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The Miliputs  and  d) Pancham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set: HallNo&gt;2 AND Genres='Folk' → The Miliputs(4,Folk) ✓, Pancham(3,Folk) ✓ = {Miliputs, Pancham}.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07238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266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set: Event='Recorded' → Bob Dylan, The Miliputs, Pancham = {Bob Dylan, Miliputs, Pancham}.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6301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 ∩ = names in BOTH sets.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069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Miliputs is in both ✓.  Pancham is in both ✓.  Bob Dylan is only in the right set ✗.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71830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67258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answer is The Miliputs and Pancham.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each side separately, THEN intersect. Don’t try to do it all in your head at once.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Lecture 12 — Selection &amp; Set Operations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3 • Lecture 20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3: Fully Solved 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this assignment was ER → relational mapping — the trickiest bridge in the course.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rules: subclasses inherit the parent’s KEY • weak entity key = own + owner’s • multivalued attr = own table • double line = total participation.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49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DID YOU GET WRONG? COMMENT 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Full DBMS course — ER modelling, algebra, SQL — all on this channel.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 educational explanation to help you learn the concepts. Solve your own submission.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2026-08-11T16:35:58Z</dcterms:created>
  <dcterms:modified xsi:type="dcterms:W3CDTF">2026-08-11T16:35:58Z</dcterms:modified>
</cp:coreProperties>
</file>