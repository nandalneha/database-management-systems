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18" r:id="rId5"/>
    <p:sldId id="259" r:id="rId6"/>
    <p:sldId id="432" r:id="rId7"/>
    <p:sldId id="433" r:id="rId8"/>
    <p:sldId id="434" r:id="rId9"/>
    <p:sldId id="435" r:id="rId10"/>
    <p:sldId id="436" r:id="rId11"/>
    <p:sldId id="437" r:id="rId12"/>
    <p:sldId id="438" r:id="rId13"/>
    <p:sldId id="439" r:id="rId14"/>
    <p:sldId id="440" r:id="rId15"/>
    <p:sldId id="441" r:id="rId16"/>
    <p:sldId id="442" r:id="rId17"/>
    <p:sldId id="443" r:id="rId18"/>
    <p:sldId id="444" r:id="rId19"/>
    <p:sldId id="445" r:id="rId20"/>
    <p:sldId id="446" r:id="rId21"/>
    <p:sldId id="447" r:id="rId22"/>
    <p:sldId id="448" r:id="rId23"/>
    <p:sldId id="449" r:id="rId24"/>
    <p:sldId id="450" r:id="rId25"/>
    <p:sldId id="451" r:id="rId26"/>
    <p:sldId id="452" r:id="rId27"/>
    <p:sldId id="453" r:id="rId28"/>
    <p:sldId id="454" r:id="rId29"/>
    <p:sldId id="455" r:id="rId30"/>
    <p:sldId id="456" r:id="rId31"/>
    <p:sldId id="457" r:id="rId32"/>
    <p:sldId id="458" r:id="rId33"/>
    <p:sldId id="459" r:id="rId34"/>
    <p:sldId id="460" r:id="rId35"/>
    <p:sldId id="461" r:id="rId36"/>
    <p:sldId id="462" r:id="rId37"/>
    <p:sldId id="463" r:id="rId38"/>
    <p:sldId id="464" r:id="rId39"/>
    <p:sldId id="465" r:id="rId40"/>
    <p:sldId id="466" r:id="rId41"/>
    <p:sldId id="470" r:id="rId42"/>
    <p:sldId id="469" r:id="rId43"/>
    <p:sldId id="467" r:id="rId44"/>
    <p:sldId id="468" r:id="rId45"/>
    <p:sldId id="471" r:id="rId46"/>
    <p:sldId id="472" r:id="rId47"/>
    <p:sldId id="473" r:id="rId48"/>
    <p:sldId id="474" r:id="rId49"/>
    <p:sldId id="475" r:id="rId50"/>
    <p:sldId id="476" r:id="rId51"/>
    <p:sldId id="477" r:id="rId52"/>
    <p:sldId id="478" r:id="rId53"/>
    <p:sldId id="479" r:id="rId54"/>
    <p:sldId id="480" r:id="rId55"/>
    <p:sldId id="481" r:id="rId56"/>
    <p:sldId id="482" r:id="rId57"/>
    <p:sldId id="485" r:id="rId58"/>
    <p:sldId id="486" r:id="rId59"/>
    <p:sldId id="487" r:id="rId60"/>
    <p:sldId id="488" r:id="rId61"/>
    <p:sldId id="489" r:id="rId62"/>
    <p:sldId id="483" r:id="rId63"/>
    <p:sldId id="484" r:id="rId64"/>
    <p:sldId id="490" r:id="rId65"/>
    <p:sldId id="358"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681" autoAdjust="0"/>
  </p:normalViewPr>
  <p:slideViewPr>
    <p:cSldViewPr snapToGrid="0">
      <p:cViewPr varScale="1">
        <p:scale>
          <a:sx n="99" d="100"/>
          <a:sy n="99" d="100"/>
        </p:scale>
        <p:origin x="103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05-12-2023</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039E184-7329-4088-8A28-AB52FED9128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626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05-12-2023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7443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FCE208-276C-46C2-9558-0228F90E07C8}" type="datetimeFigureOut">
              <a:rPr lang="en-IN" smtClean="0"/>
              <a:t>05-12-2023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79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FCE208-276C-46C2-9558-0228F90E07C8}" type="datetimeFigureOut">
              <a:rPr lang="en-IN" smtClean="0"/>
              <a:t>05-12-2023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204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FCE208-276C-46C2-9558-0228F90E07C8}" type="datetimeFigureOut">
              <a:rPr lang="en-IN" smtClean="0"/>
              <a:t>05-12-2023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39E184-7329-4088-8A28-AB52FED91289}"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895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FCE208-276C-46C2-9558-0228F90E07C8}" type="datetimeFigureOut">
              <a:rPr lang="en-IN" smtClean="0"/>
              <a:t>05-12-2023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39E184-7329-4088-8A28-AB52FED91289}"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816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CE208-276C-46C2-9558-0228F90E07C8}" type="datetimeFigureOut">
              <a:rPr lang="en-IN" smtClean="0"/>
              <a:t>05-12-2023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39E184-7329-4088-8A28-AB52FED91289}" type="slidenum">
              <a:rPr lang="en-IN" smtClean="0"/>
              <a:t>‹#›</a:t>
            </a:fld>
            <a:endParaRPr lang="en-IN"/>
          </a:p>
        </p:txBody>
      </p:sp>
    </p:spTree>
    <p:extLst>
      <p:ext uri="{BB962C8B-B14F-4D97-AF65-F5344CB8AC3E}">
        <p14:creationId xmlns:p14="http://schemas.microsoft.com/office/powerpoint/2010/main" val="255195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FCE208-276C-46C2-9558-0228F90E07C8}" type="datetimeFigureOut">
              <a:rPr lang="en-IN" smtClean="0"/>
              <a:t>05-12-2023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368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9FCE208-276C-46C2-9558-0228F90E07C8}" type="datetimeFigureOut">
              <a:rPr lang="en-IN" smtClean="0"/>
              <a:t>05-12-2023</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039E184-7329-4088-8A28-AB52FED91289}"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351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05-12-2023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768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FCE208-276C-46C2-9558-0228F90E07C8}" type="datetimeFigureOut">
              <a:rPr lang="en-IN" smtClean="0"/>
              <a:t>05-12-2023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39E184-7329-4088-8A28-AB52FED91289}"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8685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9FCE208-276C-46C2-9558-0228F90E07C8}" type="datetimeFigureOut">
              <a:rPr lang="en-IN" smtClean="0"/>
              <a:t>05-12-2023</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039E184-7329-4088-8A28-AB52FED9128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721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javatpoint.com/dbms-second-normal-form" TargetMode="External"/><Relationship Id="rId2" Type="http://schemas.openxmlformats.org/officeDocument/2006/relationships/hyperlink" Target="https://www.javatpoint.com/dbms-first-normal-form" TargetMode="External"/><Relationship Id="rId1" Type="http://schemas.openxmlformats.org/officeDocument/2006/relationships/slideLayout" Target="../slideLayouts/slideLayout7.xml"/><Relationship Id="rId6" Type="http://schemas.openxmlformats.org/officeDocument/2006/relationships/hyperlink" Target="https://www.javatpoint.com/dbms-fifth-normal-form" TargetMode="External"/><Relationship Id="rId5" Type="http://schemas.openxmlformats.org/officeDocument/2006/relationships/hyperlink" Target="https://www.javatpoint.com/dbms-forth-normal-form" TargetMode="External"/><Relationship Id="rId4" Type="http://schemas.openxmlformats.org/officeDocument/2006/relationships/hyperlink" Target="https://www.javatpoint.com/dbms-third-normal-for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https://www.javatpoint.com/dbms-third-normal-form"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9EAE8-BC4E-E8B6-4764-0C333FBFBD72}"/>
              </a:ext>
            </a:extLst>
          </p:cNvPr>
          <p:cNvSpPr>
            <a:spLocks noGrp="1"/>
          </p:cNvSpPr>
          <p:nvPr>
            <p:ph type="ctrTitle"/>
          </p:nvPr>
        </p:nvSpPr>
        <p:spPr/>
        <p:txBody>
          <a:bodyPr>
            <a:normAutofit fontScale="90000"/>
          </a:bodyPr>
          <a:lstStyle/>
          <a:p>
            <a:r>
              <a:rPr lang="en-US" dirty="0"/>
              <a:t>Database Management Systems</a:t>
            </a:r>
            <a:endParaRPr lang="en-IN" dirty="0"/>
          </a:p>
        </p:txBody>
      </p:sp>
      <p:sp>
        <p:nvSpPr>
          <p:cNvPr id="3" name="Subtitle 2">
            <a:extLst>
              <a:ext uri="{FF2B5EF4-FFF2-40B4-BE49-F238E27FC236}">
                <a16:creationId xmlns:a16="http://schemas.microsoft.com/office/drawing/2014/main" id="{7CA40BDD-4EC8-4EAD-CC7A-C9BAA605582E}"/>
              </a:ext>
            </a:extLst>
          </p:cNvPr>
          <p:cNvSpPr>
            <a:spLocks noGrp="1"/>
          </p:cNvSpPr>
          <p:nvPr>
            <p:ph type="subTitle" idx="1"/>
          </p:nvPr>
        </p:nvSpPr>
        <p:spPr/>
        <p:txBody>
          <a:bodyPr>
            <a:normAutofit fontScale="62500" lnSpcReduction="20000"/>
          </a:bodyPr>
          <a:lstStyle/>
          <a:p>
            <a:r>
              <a:rPr lang="en-US" dirty="0"/>
              <a:t>By:</a:t>
            </a:r>
          </a:p>
          <a:p>
            <a:r>
              <a:rPr lang="en-US" dirty="0"/>
              <a:t>Dr. Neha </a:t>
            </a:r>
            <a:r>
              <a:rPr lang="en-US" dirty="0" err="1"/>
              <a:t>Nandal</a:t>
            </a:r>
            <a:r>
              <a:rPr lang="en-US" dirty="0"/>
              <a:t> </a:t>
            </a:r>
          </a:p>
          <a:p>
            <a:r>
              <a:rPr lang="en-US" dirty="0"/>
              <a:t>Computer Science and Engineering</a:t>
            </a:r>
            <a:endParaRPr lang="en-IN" dirty="0"/>
          </a:p>
        </p:txBody>
      </p:sp>
    </p:spTree>
    <p:extLst>
      <p:ext uri="{BB962C8B-B14F-4D97-AF65-F5344CB8AC3E}">
        <p14:creationId xmlns:p14="http://schemas.microsoft.com/office/powerpoint/2010/main" val="120168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23FC7B4-2F7A-70B8-6FBE-52A6B161F24B}"/>
              </a:ext>
            </a:extLst>
          </p:cNvPr>
          <p:cNvSpPr txBox="1"/>
          <p:nvPr/>
        </p:nvSpPr>
        <p:spPr>
          <a:xfrm>
            <a:off x="3823608" y="245320"/>
            <a:ext cx="6101442" cy="369332"/>
          </a:xfrm>
          <a:prstGeom prst="rect">
            <a:avLst/>
          </a:prstGeom>
          <a:noFill/>
        </p:spPr>
        <p:txBody>
          <a:bodyPr wrap="square">
            <a:spAutoFit/>
          </a:bodyPr>
          <a:lstStyle/>
          <a:p>
            <a:r>
              <a:rPr lang="en-IN" sz="1800" b="1" i="0" u="none" strike="noStrike" baseline="0" dirty="0">
                <a:solidFill>
                  <a:srgbClr val="000000"/>
                </a:solidFill>
                <a:latin typeface="Times New Roman" panose="02020603050405020304" pitchFamily="18" charset="0"/>
              </a:rPr>
              <a:t>DATABASE MANAGEMENT SYSTEMS </a:t>
            </a:r>
            <a:endParaRPr lang="en-IN" dirty="0"/>
          </a:p>
        </p:txBody>
      </p:sp>
      <p:pic>
        <p:nvPicPr>
          <p:cNvPr id="9" name="Picture 8">
            <a:extLst>
              <a:ext uri="{FF2B5EF4-FFF2-40B4-BE49-F238E27FC236}">
                <a16:creationId xmlns:a16="http://schemas.microsoft.com/office/drawing/2014/main" id="{4AC9C2F3-3EF7-F5EC-C85A-C4858FDC4ADD}"/>
              </a:ext>
            </a:extLst>
          </p:cNvPr>
          <p:cNvPicPr>
            <a:picLocks noChangeAspect="1"/>
          </p:cNvPicPr>
          <p:nvPr/>
        </p:nvPicPr>
        <p:blipFill>
          <a:blip r:embed="rId2"/>
          <a:stretch>
            <a:fillRect/>
          </a:stretch>
        </p:blipFill>
        <p:spPr>
          <a:xfrm>
            <a:off x="695088" y="717505"/>
            <a:ext cx="10801824" cy="5422990"/>
          </a:xfrm>
          <a:prstGeom prst="rect">
            <a:avLst/>
          </a:prstGeom>
        </p:spPr>
      </p:pic>
    </p:spTree>
    <p:extLst>
      <p:ext uri="{BB962C8B-B14F-4D97-AF65-F5344CB8AC3E}">
        <p14:creationId xmlns:p14="http://schemas.microsoft.com/office/powerpoint/2010/main" val="631163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267957-2109-C267-879E-01CD91FED856}"/>
              </a:ext>
            </a:extLst>
          </p:cNvPr>
          <p:cNvPicPr>
            <a:picLocks noChangeAspect="1"/>
          </p:cNvPicPr>
          <p:nvPr/>
        </p:nvPicPr>
        <p:blipFill>
          <a:blip r:embed="rId2"/>
          <a:stretch>
            <a:fillRect/>
          </a:stretch>
        </p:blipFill>
        <p:spPr>
          <a:xfrm>
            <a:off x="1230085" y="0"/>
            <a:ext cx="10003971" cy="4385371"/>
          </a:xfrm>
          <a:prstGeom prst="rect">
            <a:avLst/>
          </a:prstGeom>
        </p:spPr>
      </p:pic>
      <p:pic>
        <p:nvPicPr>
          <p:cNvPr id="7" name="Picture 6">
            <a:extLst>
              <a:ext uri="{FF2B5EF4-FFF2-40B4-BE49-F238E27FC236}">
                <a16:creationId xmlns:a16="http://schemas.microsoft.com/office/drawing/2014/main" id="{168CB64E-1C84-237D-ED42-0ACC1DC7396A}"/>
              </a:ext>
            </a:extLst>
          </p:cNvPr>
          <p:cNvPicPr>
            <a:picLocks noChangeAspect="1"/>
          </p:cNvPicPr>
          <p:nvPr/>
        </p:nvPicPr>
        <p:blipFill>
          <a:blip r:embed="rId3"/>
          <a:stretch>
            <a:fillRect/>
          </a:stretch>
        </p:blipFill>
        <p:spPr>
          <a:xfrm>
            <a:off x="1230084" y="4385371"/>
            <a:ext cx="10003971" cy="2021992"/>
          </a:xfrm>
          <a:prstGeom prst="rect">
            <a:avLst/>
          </a:prstGeom>
        </p:spPr>
      </p:pic>
    </p:spTree>
    <p:extLst>
      <p:ext uri="{BB962C8B-B14F-4D97-AF65-F5344CB8AC3E}">
        <p14:creationId xmlns:p14="http://schemas.microsoft.com/office/powerpoint/2010/main" val="3323009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2E158D-44FB-5D8D-0AB3-D21CA5ED2642}"/>
              </a:ext>
            </a:extLst>
          </p:cNvPr>
          <p:cNvSpPr txBox="1"/>
          <p:nvPr/>
        </p:nvSpPr>
        <p:spPr>
          <a:xfrm>
            <a:off x="1426029" y="2046514"/>
            <a:ext cx="9914163" cy="1938992"/>
          </a:xfrm>
          <a:prstGeom prst="rect">
            <a:avLst/>
          </a:prstGeom>
          <a:noFill/>
        </p:spPr>
        <p:txBody>
          <a:bodyPr wrap="square">
            <a:spAutoFit/>
          </a:bodyPr>
          <a:lstStyle/>
          <a:p>
            <a:pPr algn="just"/>
            <a:r>
              <a:rPr lang="en-IN" sz="2400" b="1" i="0" u="none" strike="noStrike" baseline="0" dirty="0">
                <a:latin typeface="Times New Roman" panose="02020603050405020304" pitchFamily="18" charset="0"/>
              </a:rPr>
              <a:t>TEXT BOOKS:</a:t>
            </a:r>
          </a:p>
          <a:p>
            <a:pPr algn="just"/>
            <a:r>
              <a:rPr lang="en-US" sz="2400" b="0" i="0" u="none" strike="noStrike" baseline="0" dirty="0">
                <a:latin typeface="Times New Roman" panose="02020603050405020304" pitchFamily="18" charset="0"/>
              </a:rPr>
              <a:t>1. Data base System Concepts, </a:t>
            </a:r>
            <a:r>
              <a:rPr lang="en-US" sz="2400" b="0" i="0" u="none" strike="noStrike" baseline="0" dirty="0" err="1">
                <a:latin typeface="Times New Roman" panose="02020603050405020304" pitchFamily="18" charset="0"/>
              </a:rPr>
              <a:t>Silberschatz</a:t>
            </a:r>
            <a:r>
              <a:rPr lang="en-US" sz="2400" b="0" i="0" u="none" strike="noStrike" baseline="0" dirty="0">
                <a:latin typeface="Times New Roman" panose="02020603050405020304" pitchFamily="18" charset="0"/>
              </a:rPr>
              <a:t>, </a:t>
            </a:r>
            <a:r>
              <a:rPr lang="en-US" sz="2400" b="0" i="0" u="none" strike="noStrike" baseline="0" dirty="0" err="1">
                <a:latin typeface="Times New Roman" panose="02020603050405020304" pitchFamily="18" charset="0"/>
              </a:rPr>
              <a:t>Korth</a:t>
            </a:r>
            <a:r>
              <a:rPr lang="en-US" sz="2400" b="0" i="0" u="none" strike="noStrike" baseline="0" dirty="0">
                <a:latin typeface="Times New Roman" panose="02020603050405020304" pitchFamily="18" charset="0"/>
              </a:rPr>
              <a:t>, McGraw hill, Sixth Edition.(All UNITS </a:t>
            </a:r>
            <a:r>
              <a:rPr lang="en-IN" sz="2400" b="0" i="0" u="none" strike="noStrike" baseline="0" dirty="0">
                <a:latin typeface="Times New Roman" panose="02020603050405020304" pitchFamily="18" charset="0"/>
              </a:rPr>
              <a:t>except III </a:t>
            </a:r>
            <a:r>
              <a:rPr lang="en-IN" sz="2400" b="0" i="0" u="none" strike="noStrike" baseline="0" dirty="0" err="1">
                <a:latin typeface="Times New Roman" panose="02020603050405020304" pitchFamily="18" charset="0"/>
              </a:rPr>
              <a:t>th</a:t>
            </a:r>
            <a:r>
              <a:rPr lang="en-IN" sz="2400" b="0" i="0" u="none" strike="noStrike" baseline="0" dirty="0">
                <a:latin typeface="Times New Roman" panose="02020603050405020304" pitchFamily="18" charset="0"/>
              </a:rPr>
              <a:t>)</a:t>
            </a:r>
          </a:p>
          <a:p>
            <a:pPr algn="just"/>
            <a:r>
              <a:rPr lang="en-IN" sz="2400" b="0" i="0" u="none" strike="noStrike" baseline="0" dirty="0">
                <a:latin typeface="Times New Roman" panose="02020603050405020304" pitchFamily="18" charset="0"/>
              </a:rPr>
              <a:t>2. Data base Management Systems, </a:t>
            </a:r>
            <a:r>
              <a:rPr lang="en-IN" sz="2400" i="0" u="none" strike="noStrike" baseline="0" dirty="0" err="1">
                <a:latin typeface="Times New Roman" panose="02020603050405020304" pitchFamily="18" charset="0"/>
              </a:rPr>
              <a:t>Raghurama</a:t>
            </a:r>
            <a:r>
              <a:rPr lang="en-IN" sz="2400" i="0" u="none" strike="noStrike" baseline="0" dirty="0">
                <a:latin typeface="Times New Roman" panose="02020603050405020304" pitchFamily="18" charset="0"/>
              </a:rPr>
              <a:t> Krishnan</a:t>
            </a:r>
            <a:r>
              <a:rPr lang="en-IN" sz="2400" b="0" i="0" u="none" strike="noStrike" baseline="0" dirty="0">
                <a:latin typeface="Times New Roman" panose="02020603050405020304" pitchFamily="18" charset="0"/>
              </a:rPr>
              <a:t>, Johannes </a:t>
            </a:r>
            <a:r>
              <a:rPr lang="en-IN" sz="2400" b="0" i="0" u="none" strike="noStrike" baseline="0" dirty="0" err="1">
                <a:latin typeface="Times New Roman" panose="02020603050405020304" pitchFamily="18" charset="0"/>
              </a:rPr>
              <a:t>Gehrke</a:t>
            </a:r>
            <a:r>
              <a:rPr lang="en-IN" sz="2400" b="0" i="0" u="none" strike="noStrike" baseline="0" dirty="0">
                <a:latin typeface="Times New Roman" panose="02020603050405020304" pitchFamily="18" charset="0"/>
              </a:rPr>
              <a:t>, TATA </a:t>
            </a:r>
            <a:r>
              <a:rPr lang="en-IN" sz="2400" b="0" i="0" u="none" strike="noStrike" baseline="0" dirty="0" err="1">
                <a:latin typeface="Times New Roman" panose="02020603050405020304" pitchFamily="18" charset="0"/>
              </a:rPr>
              <a:t>McGrawHill</a:t>
            </a:r>
            <a:r>
              <a:rPr lang="en-IN" sz="2400" b="0" i="0" u="none" strike="noStrike" baseline="0" dirty="0">
                <a:latin typeface="Times New Roman" panose="02020603050405020304" pitchFamily="18" charset="0"/>
              </a:rPr>
              <a:t> 3rd Edition.</a:t>
            </a:r>
            <a:endParaRPr lang="en-IN" sz="2400" dirty="0"/>
          </a:p>
        </p:txBody>
      </p:sp>
    </p:spTree>
    <p:extLst>
      <p:ext uri="{BB962C8B-B14F-4D97-AF65-F5344CB8AC3E}">
        <p14:creationId xmlns:p14="http://schemas.microsoft.com/office/powerpoint/2010/main" val="2501966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56D3E-FF7B-DB81-23EB-CE632A2BC57C}"/>
              </a:ext>
            </a:extLst>
          </p:cNvPr>
          <p:cNvSpPr>
            <a:spLocks noGrp="1"/>
          </p:cNvSpPr>
          <p:nvPr>
            <p:ph type="title"/>
          </p:nvPr>
        </p:nvSpPr>
        <p:spPr/>
        <p:txBody>
          <a:bodyPr/>
          <a:lstStyle/>
          <a:p>
            <a:r>
              <a:rPr lang="en-US" dirty="0"/>
              <a:t>Unit 3:</a:t>
            </a:r>
            <a:endParaRPr lang="en-IN" dirty="0"/>
          </a:p>
        </p:txBody>
      </p:sp>
      <p:sp>
        <p:nvSpPr>
          <p:cNvPr id="7" name="TextBox 6">
            <a:extLst>
              <a:ext uri="{FF2B5EF4-FFF2-40B4-BE49-F238E27FC236}">
                <a16:creationId xmlns:a16="http://schemas.microsoft.com/office/drawing/2014/main" id="{1DF2880D-03A3-4D2B-82C7-F42CFA59373D}"/>
              </a:ext>
            </a:extLst>
          </p:cNvPr>
          <p:cNvSpPr txBox="1"/>
          <p:nvPr/>
        </p:nvSpPr>
        <p:spPr>
          <a:xfrm>
            <a:off x="2881993" y="867471"/>
            <a:ext cx="6101442" cy="461665"/>
          </a:xfrm>
          <a:prstGeom prst="rect">
            <a:avLst/>
          </a:prstGeom>
          <a:noFill/>
        </p:spPr>
        <p:txBody>
          <a:bodyPr wrap="square">
            <a:spAutoFit/>
          </a:bodyPr>
          <a:lstStyle/>
          <a:p>
            <a:r>
              <a:rPr lang="en-IN" sz="2400" b="1" i="0" u="none" strike="noStrike" baseline="0" dirty="0">
                <a:latin typeface="Times New Roman" panose="02020603050405020304" pitchFamily="18" charset="0"/>
              </a:rPr>
              <a:t>SCHEMA</a:t>
            </a:r>
            <a:r>
              <a:rPr lang="en-IN" sz="1800" b="1" i="0" u="none" strike="noStrike" baseline="0" dirty="0">
                <a:latin typeface="Times New Roman" panose="02020603050405020304" pitchFamily="18" charset="0"/>
              </a:rPr>
              <a:t> </a:t>
            </a:r>
            <a:r>
              <a:rPr lang="en-IN" sz="2400" b="1" i="0" u="none" strike="noStrike" baseline="0" dirty="0">
                <a:latin typeface="Times New Roman" panose="02020603050405020304" pitchFamily="18" charset="0"/>
              </a:rPr>
              <a:t>REFINEMENT</a:t>
            </a:r>
            <a:endParaRPr lang="en-IN" dirty="0"/>
          </a:p>
        </p:txBody>
      </p:sp>
      <p:sp>
        <p:nvSpPr>
          <p:cNvPr id="14" name="TextBox 13">
            <a:extLst>
              <a:ext uri="{FF2B5EF4-FFF2-40B4-BE49-F238E27FC236}">
                <a16:creationId xmlns:a16="http://schemas.microsoft.com/office/drawing/2014/main" id="{5B02B6F9-6ADA-A0E7-8800-3F67D218CDCD}"/>
              </a:ext>
            </a:extLst>
          </p:cNvPr>
          <p:cNvSpPr txBox="1"/>
          <p:nvPr/>
        </p:nvSpPr>
        <p:spPr>
          <a:xfrm>
            <a:off x="1352551" y="1916706"/>
            <a:ext cx="9702303" cy="3847207"/>
          </a:xfrm>
          <a:prstGeom prst="rect">
            <a:avLst/>
          </a:prstGeom>
          <a:noFill/>
        </p:spPr>
        <p:txBody>
          <a:bodyPr wrap="square">
            <a:spAutoFit/>
          </a:bodyPr>
          <a:lstStyle/>
          <a:p>
            <a:pPr algn="just"/>
            <a:r>
              <a:rPr lang="en-US" sz="2000" b="0" i="0" u="none" strike="noStrike" baseline="0" dirty="0">
                <a:solidFill>
                  <a:srgbClr val="000000"/>
                </a:solidFill>
                <a:latin typeface="Cambria" panose="02040503050406030204" pitchFamily="18" charset="0"/>
              </a:rPr>
              <a:t>The Schema Refinement refers to refine the schema by using some technique. The best technique of schema refinement is </a:t>
            </a:r>
            <a:r>
              <a:rPr lang="en-US" sz="2000" b="1" i="0" u="none" strike="noStrike" baseline="0" dirty="0">
                <a:solidFill>
                  <a:srgbClr val="000000"/>
                </a:solidFill>
                <a:latin typeface="Cambria" panose="02040503050406030204" pitchFamily="18" charset="0"/>
              </a:rPr>
              <a:t>decomposition. </a:t>
            </a:r>
          </a:p>
          <a:p>
            <a:pPr algn="just"/>
            <a:endParaRPr lang="en-US" sz="20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Normalization means “split the tables into small tables which will contain less number of attributes in such a way that table design must not contain any problem of inserting, deleting, updating anomalies and guarantees no redundancy”. </a:t>
            </a:r>
          </a:p>
          <a:p>
            <a:pPr algn="just"/>
            <a:endParaRPr lang="en-US" sz="24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Normalization or Schema Refinement is a technique of organizing the data in the database. It is a systematic approach of decomposing tables to eliminate data </a:t>
            </a:r>
            <a:r>
              <a:rPr lang="en-US" sz="2000" b="1" i="1" u="none" strike="noStrike" baseline="0" dirty="0">
                <a:solidFill>
                  <a:srgbClr val="000000"/>
                </a:solidFill>
                <a:latin typeface="Palatino Linotype" panose="02040502050505030304" pitchFamily="18" charset="0"/>
              </a:rPr>
              <a:t>redundancy </a:t>
            </a:r>
            <a:r>
              <a:rPr lang="en-US" sz="2000" b="0" i="0" u="none" strike="noStrike" baseline="0" dirty="0">
                <a:solidFill>
                  <a:srgbClr val="000000"/>
                </a:solidFill>
                <a:latin typeface="Cambria" panose="02040503050406030204" pitchFamily="18" charset="0"/>
              </a:rPr>
              <a:t>and undesirable characteristics like Insertion, Update and Deletion Anomalies. </a:t>
            </a:r>
            <a:endParaRPr lang="en-IN" sz="2000" dirty="0"/>
          </a:p>
        </p:txBody>
      </p:sp>
    </p:spTree>
    <p:extLst>
      <p:ext uri="{BB962C8B-B14F-4D97-AF65-F5344CB8AC3E}">
        <p14:creationId xmlns:p14="http://schemas.microsoft.com/office/powerpoint/2010/main" val="2504054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74C2CA-3F42-67B6-2F45-385CA0D4D001}"/>
              </a:ext>
            </a:extLst>
          </p:cNvPr>
          <p:cNvSpPr txBox="1"/>
          <p:nvPr/>
        </p:nvSpPr>
        <p:spPr>
          <a:xfrm>
            <a:off x="838199" y="740229"/>
            <a:ext cx="10559143" cy="2308324"/>
          </a:xfrm>
          <a:prstGeom prst="rect">
            <a:avLst/>
          </a:prstGeom>
          <a:noFill/>
        </p:spPr>
        <p:txBody>
          <a:bodyPr wrap="square">
            <a:spAutoFit/>
          </a:bodyPr>
          <a:lstStyle/>
          <a:p>
            <a:pPr algn="just"/>
            <a:r>
              <a:rPr lang="en-US" sz="2400" b="1" i="0" u="none" strike="noStrike" baseline="0" dirty="0">
                <a:solidFill>
                  <a:srgbClr val="000000"/>
                </a:solidFill>
                <a:latin typeface="Cambria" panose="02040503050406030204" pitchFamily="18" charset="0"/>
              </a:rPr>
              <a:t>Redundancy: </a:t>
            </a:r>
            <a:r>
              <a:rPr lang="en-US" sz="2400" b="0" i="0" u="none" strike="noStrike" baseline="0" dirty="0">
                <a:solidFill>
                  <a:srgbClr val="000000"/>
                </a:solidFill>
                <a:latin typeface="Cambria" panose="02040503050406030204" pitchFamily="18" charset="0"/>
              </a:rPr>
              <a:t>refers to repetition of same data or duplicate copies of same data stored in different locations. </a:t>
            </a:r>
          </a:p>
          <a:p>
            <a:pPr algn="just"/>
            <a:endParaRPr lang="en-US" sz="2400" b="0" i="0" u="none" strike="noStrike" baseline="0" dirty="0">
              <a:solidFill>
                <a:srgbClr val="000000"/>
              </a:solidFill>
              <a:latin typeface="Cambria" panose="02040503050406030204" pitchFamily="18" charset="0"/>
            </a:endParaRPr>
          </a:p>
          <a:p>
            <a:pPr algn="just"/>
            <a:r>
              <a:rPr lang="en-US" sz="2400" b="1" i="0" u="none" strike="noStrike" baseline="0" dirty="0">
                <a:solidFill>
                  <a:srgbClr val="000000"/>
                </a:solidFill>
                <a:latin typeface="Cambria" panose="02040503050406030204" pitchFamily="18" charset="0"/>
              </a:rPr>
              <a:t>Anomalies: </a:t>
            </a:r>
            <a:r>
              <a:rPr lang="en-US" sz="2400" b="0" i="0" u="none" strike="noStrike" baseline="0" dirty="0">
                <a:solidFill>
                  <a:srgbClr val="000000"/>
                </a:solidFill>
                <a:latin typeface="Cambria" panose="02040503050406030204" pitchFamily="18" charset="0"/>
              </a:rPr>
              <a:t>Anomalies refers to the problems occurred after poorly planned and normalized databases where all the data is stored in one table which is sometimes called a flat file database. </a:t>
            </a:r>
            <a:endParaRPr lang="en-IN" sz="2400" dirty="0"/>
          </a:p>
        </p:txBody>
      </p:sp>
    </p:spTree>
    <p:extLst>
      <p:ext uri="{BB962C8B-B14F-4D97-AF65-F5344CB8AC3E}">
        <p14:creationId xmlns:p14="http://schemas.microsoft.com/office/powerpoint/2010/main" val="3425933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51B20F-09AD-588B-4C26-80C7724B2D82}"/>
              </a:ext>
            </a:extLst>
          </p:cNvPr>
          <p:cNvSpPr txBox="1"/>
          <p:nvPr/>
        </p:nvSpPr>
        <p:spPr>
          <a:xfrm>
            <a:off x="1613807" y="215678"/>
            <a:ext cx="9141278" cy="830997"/>
          </a:xfrm>
          <a:prstGeom prst="rect">
            <a:avLst/>
          </a:prstGeom>
          <a:noFill/>
        </p:spPr>
        <p:txBody>
          <a:bodyPr wrap="square">
            <a:spAutoFit/>
          </a:bodyPr>
          <a:lstStyle/>
          <a:p>
            <a:pPr algn="ctr"/>
            <a:r>
              <a:rPr lang="en-US" sz="2400" b="1" dirty="0"/>
              <a:t>Anomalies or problems facing without normalization (problems due to redundancy):</a:t>
            </a:r>
            <a:endParaRPr lang="en-IN" sz="2400" b="1" dirty="0"/>
          </a:p>
        </p:txBody>
      </p:sp>
      <p:sp>
        <p:nvSpPr>
          <p:cNvPr id="9" name="TextBox 8">
            <a:extLst>
              <a:ext uri="{FF2B5EF4-FFF2-40B4-BE49-F238E27FC236}">
                <a16:creationId xmlns:a16="http://schemas.microsoft.com/office/drawing/2014/main" id="{504D85F1-ACC8-D11B-77E1-B24F8C827AEF}"/>
              </a:ext>
            </a:extLst>
          </p:cNvPr>
          <p:cNvSpPr txBox="1"/>
          <p:nvPr/>
        </p:nvSpPr>
        <p:spPr>
          <a:xfrm>
            <a:off x="1787979" y="1636851"/>
            <a:ext cx="9674678" cy="1200329"/>
          </a:xfrm>
          <a:prstGeom prst="rect">
            <a:avLst/>
          </a:prstGeom>
          <a:noFill/>
        </p:spPr>
        <p:txBody>
          <a:bodyPr wrap="square">
            <a:spAutoFit/>
          </a:bodyPr>
          <a:lstStyle/>
          <a:p>
            <a:r>
              <a:rPr lang="en-US" dirty="0"/>
              <a:t>Anomalies refers to the problems occurred after poorly planned and unnormalized databases where all the data is stored in one table which is sometimes called a flat file database.</a:t>
            </a:r>
          </a:p>
          <a:p>
            <a:endParaRPr lang="en-US" dirty="0"/>
          </a:p>
          <a:p>
            <a:r>
              <a:rPr lang="en-US" dirty="0"/>
              <a:t> Let us consider such type of schema</a:t>
            </a:r>
            <a:endParaRPr lang="en-IN" dirty="0"/>
          </a:p>
        </p:txBody>
      </p:sp>
      <p:pic>
        <p:nvPicPr>
          <p:cNvPr id="11" name="Picture 10">
            <a:extLst>
              <a:ext uri="{FF2B5EF4-FFF2-40B4-BE49-F238E27FC236}">
                <a16:creationId xmlns:a16="http://schemas.microsoft.com/office/drawing/2014/main" id="{90EC8441-F9E3-2166-62AE-336463B77B2F}"/>
              </a:ext>
            </a:extLst>
          </p:cNvPr>
          <p:cNvPicPr>
            <a:picLocks noChangeAspect="1"/>
          </p:cNvPicPr>
          <p:nvPr/>
        </p:nvPicPr>
        <p:blipFill>
          <a:blip r:embed="rId2"/>
          <a:stretch>
            <a:fillRect/>
          </a:stretch>
        </p:blipFill>
        <p:spPr>
          <a:xfrm>
            <a:off x="4427084" y="2937719"/>
            <a:ext cx="4074659" cy="3467164"/>
          </a:xfrm>
          <a:prstGeom prst="rect">
            <a:avLst/>
          </a:prstGeom>
        </p:spPr>
      </p:pic>
    </p:spTree>
    <p:extLst>
      <p:ext uri="{BB962C8B-B14F-4D97-AF65-F5344CB8AC3E}">
        <p14:creationId xmlns:p14="http://schemas.microsoft.com/office/powerpoint/2010/main" val="1672539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857EA2-9907-A887-0CAB-B6C8A6FD000E}"/>
              </a:ext>
            </a:extLst>
          </p:cNvPr>
          <p:cNvSpPr txBox="1"/>
          <p:nvPr/>
        </p:nvSpPr>
        <p:spPr>
          <a:xfrm>
            <a:off x="609600" y="402771"/>
            <a:ext cx="10036629" cy="3416320"/>
          </a:xfrm>
          <a:prstGeom prst="rect">
            <a:avLst/>
          </a:prstGeom>
          <a:noFill/>
        </p:spPr>
        <p:txBody>
          <a:bodyPr wrap="square">
            <a:spAutoFit/>
          </a:bodyPr>
          <a:lstStyle/>
          <a:p>
            <a:pPr algn="just"/>
            <a:r>
              <a:rPr lang="en-US" sz="2400" b="0" i="0" u="none" strike="noStrike" baseline="0" dirty="0">
                <a:solidFill>
                  <a:srgbClr val="000000"/>
                </a:solidFill>
                <a:latin typeface="Cambria" panose="02040503050406030204" pitchFamily="18" charset="0"/>
              </a:rPr>
              <a:t>Due to redundancy of data we may get the following problems, those are- </a:t>
            </a:r>
          </a:p>
          <a:p>
            <a:pPr algn="just"/>
            <a:endParaRPr lang="en-US" sz="2400" b="0" i="0" u="none" strike="noStrike" baseline="0" dirty="0">
              <a:solidFill>
                <a:srgbClr val="000000"/>
              </a:solidFill>
              <a:latin typeface="Cambria" panose="02040503050406030204" pitchFamily="18" charset="0"/>
            </a:endParaRPr>
          </a:p>
          <a:p>
            <a:pPr marL="457200" indent="-457200" algn="just">
              <a:buAutoNum type="arabicPeriod"/>
            </a:pPr>
            <a:r>
              <a:rPr lang="en-US" sz="2400" b="1" i="0" u="none" strike="noStrike" baseline="0" dirty="0">
                <a:solidFill>
                  <a:srgbClr val="000000"/>
                </a:solidFill>
                <a:latin typeface="Cambria" panose="02040503050406030204" pitchFamily="18" charset="0"/>
              </a:rPr>
              <a:t>insertion anomalies : </a:t>
            </a:r>
            <a:r>
              <a:rPr lang="en-US" sz="2400" b="0" i="0" u="none" strike="noStrike" baseline="0" dirty="0">
                <a:solidFill>
                  <a:srgbClr val="000000"/>
                </a:solidFill>
                <a:latin typeface="Cambria" panose="02040503050406030204" pitchFamily="18" charset="0"/>
              </a:rPr>
              <a:t>It may not be possible to store some information unless some other information is stored as well. </a:t>
            </a:r>
          </a:p>
          <a:p>
            <a:pPr marL="457200" indent="-457200" algn="just">
              <a:buAutoNum type="arabicPeriod"/>
            </a:pPr>
            <a:endParaRPr lang="en-US" sz="2400" b="0" i="0" u="none" strike="noStrike" baseline="0" dirty="0">
              <a:solidFill>
                <a:srgbClr val="000000"/>
              </a:solidFill>
              <a:latin typeface="Cambria" panose="02040503050406030204" pitchFamily="18" charset="0"/>
            </a:endParaRPr>
          </a:p>
          <a:p>
            <a:pPr algn="just"/>
            <a:r>
              <a:rPr lang="en-US" sz="2400" b="1" i="0" u="none" strike="noStrike" baseline="0" dirty="0">
                <a:solidFill>
                  <a:srgbClr val="000000"/>
                </a:solidFill>
                <a:latin typeface="Cambria" panose="02040503050406030204" pitchFamily="18" charset="0"/>
              </a:rPr>
              <a:t>2. redundant storage: </a:t>
            </a:r>
            <a:r>
              <a:rPr lang="en-US" sz="2400" b="0" i="0" u="none" strike="noStrike" baseline="0" dirty="0">
                <a:solidFill>
                  <a:srgbClr val="000000"/>
                </a:solidFill>
                <a:latin typeface="Cambria" panose="02040503050406030204" pitchFamily="18" charset="0"/>
              </a:rPr>
              <a:t>some information is stored repeatedly </a:t>
            </a:r>
          </a:p>
          <a:p>
            <a:pPr algn="just"/>
            <a:endParaRPr lang="en-US" sz="2400" b="0" i="0" u="none" strike="noStrike" baseline="0" dirty="0">
              <a:solidFill>
                <a:srgbClr val="000000"/>
              </a:solidFill>
              <a:latin typeface="Cambria" panose="02040503050406030204" pitchFamily="18" charset="0"/>
            </a:endParaRPr>
          </a:p>
          <a:p>
            <a:pPr algn="just"/>
            <a:r>
              <a:rPr lang="en-US" sz="2400" b="1" i="0" u="none" strike="noStrike" baseline="0" dirty="0">
                <a:solidFill>
                  <a:srgbClr val="000000"/>
                </a:solidFill>
                <a:latin typeface="Cambria" panose="02040503050406030204" pitchFamily="18" charset="0"/>
              </a:rPr>
              <a:t>3. update anomalies: </a:t>
            </a:r>
            <a:r>
              <a:rPr lang="en-US" sz="2400" b="0" i="0" u="none" strike="noStrike" baseline="0" dirty="0">
                <a:solidFill>
                  <a:srgbClr val="000000"/>
                </a:solidFill>
                <a:latin typeface="Cambria" panose="02040503050406030204" pitchFamily="18" charset="0"/>
              </a:rPr>
              <a:t>If one copy of redundant data is updated, then inconsistency is created unless all redundant copies of data are updated. </a:t>
            </a:r>
          </a:p>
        </p:txBody>
      </p:sp>
      <p:sp>
        <p:nvSpPr>
          <p:cNvPr id="9" name="TextBox 8">
            <a:extLst>
              <a:ext uri="{FF2B5EF4-FFF2-40B4-BE49-F238E27FC236}">
                <a16:creationId xmlns:a16="http://schemas.microsoft.com/office/drawing/2014/main" id="{FA7F6F1D-6124-7E47-382C-41BAF41D965A}"/>
              </a:ext>
            </a:extLst>
          </p:cNvPr>
          <p:cNvSpPr txBox="1"/>
          <p:nvPr/>
        </p:nvSpPr>
        <p:spPr>
          <a:xfrm>
            <a:off x="609600" y="3819091"/>
            <a:ext cx="10678886" cy="1261884"/>
          </a:xfrm>
          <a:prstGeom prst="rect">
            <a:avLst/>
          </a:prstGeom>
          <a:noFill/>
        </p:spPr>
        <p:txBody>
          <a:bodyPr wrap="square">
            <a:spAutoFit/>
          </a:bodyPr>
          <a:lstStyle/>
          <a:p>
            <a:pPr algn="l"/>
            <a:endParaRPr lang="en-IN" sz="2800" b="0" i="0" u="none" strike="noStrike" baseline="0" dirty="0">
              <a:solidFill>
                <a:srgbClr val="000000"/>
              </a:solidFill>
              <a:latin typeface="Cambria" panose="02040503050406030204" pitchFamily="18" charset="0"/>
            </a:endParaRPr>
          </a:p>
          <a:p>
            <a:r>
              <a:rPr lang="en-US" sz="2400" b="1" i="0" u="none" strike="noStrike" baseline="0" dirty="0">
                <a:solidFill>
                  <a:srgbClr val="000000"/>
                </a:solidFill>
                <a:latin typeface="Cambria" panose="02040503050406030204" pitchFamily="18" charset="0"/>
              </a:rPr>
              <a:t>4. deletion anomalies: </a:t>
            </a:r>
            <a:r>
              <a:rPr lang="en-US" sz="2400" b="0" i="0" u="none" strike="noStrike" baseline="0" dirty="0">
                <a:solidFill>
                  <a:srgbClr val="000000"/>
                </a:solidFill>
                <a:latin typeface="Cambria" panose="02040503050406030204" pitchFamily="18" charset="0"/>
              </a:rPr>
              <a:t>It may not be possible to delete some information without losing some other information as well. </a:t>
            </a:r>
          </a:p>
        </p:txBody>
      </p:sp>
    </p:spTree>
    <p:extLst>
      <p:ext uri="{BB962C8B-B14F-4D97-AF65-F5344CB8AC3E}">
        <p14:creationId xmlns:p14="http://schemas.microsoft.com/office/powerpoint/2010/main" val="2298545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66B819-6AAB-DBC4-E659-FAE83BBF8487}"/>
              </a:ext>
            </a:extLst>
          </p:cNvPr>
          <p:cNvSpPr txBox="1"/>
          <p:nvPr/>
        </p:nvSpPr>
        <p:spPr>
          <a:xfrm>
            <a:off x="775607" y="384994"/>
            <a:ext cx="9337221" cy="1200329"/>
          </a:xfrm>
          <a:prstGeom prst="rect">
            <a:avLst/>
          </a:prstGeom>
          <a:noFill/>
        </p:spPr>
        <p:txBody>
          <a:bodyPr wrap="square">
            <a:spAutoFit/>
          </a:bodyPr>
          <a:lstStyle/>
          <a:p>
            <a:r>
              <a:rPr lang="en-US" sz="2400" b="1" i="0" u="none" strike="noStrike" baseline="0" dirty="0">
                <a:solidFill>
                  <a:srgbClr val="000000"/>
                </a:solidFill>
                <a:latin typeface="Cambria" panose="02040503050406030204" pitchFamily="18" charset="0"/>
              </a:rPr>
              <a:t>Problem in </a:t>
            </a:r>
            <a:r>
              <a:rPr lang="en-US" sz="2400" b="1" i="0" u="none" strike="noStrike" baseline="0" dirty="0" err="1">
                <a:solidFill>
                  <a:srgbClr val="000000"/>
                </a:solidFill>
                <a:latin typeface="Cambria" panose="02040503050406030204" pitchFamily="18" charset="0"/>
              </a:rPr>
              <a:t>updation</a:t>
            </a:r>
            <a:r>
              <a:rPr lang="en-US" sz="2400" b="1" i="0" u="none" strike="noStrike" baseline="0" dirty="0">
                <a:solidFill>
                  <a:srgbClr val="000000"/>
                </a:solidFill>
                <a:latin typeface="Cambria" panose="02040503050406030204" pitchFamily="18" charset="0"/>
              </a:rPr>
              <a:t> / </a:t>
            </a:r>
            <a:r>
              <a:rPr lang="en-US" sz="2400" b="1" i="0" u="none" strike="noStrike" baseline="0" dirty="0" err="1">
                <a:solidFill>
                  <a:srgbClr val="000000"/>
                </a:solidFill>
                <a:latin typeface="Cambria" panose="02040503050406030204" pitchFamily="18" charset="0"/>
              </a:rPr>
              <a:t>updation</a:t>
            </a:r>
            <a:r>
              <a:rPr lang="en-US" sz="2400" b="1" i="0" u="none" strike="noStrike" baseline="0" dirty="0">
                <a:solidFill>
                  <a:srgbClr val="000000"/>
                </a:solidFill>
                <a:latin typeface="Cambria" panose="02040503050406030204" pitchFamily="18" charset="0"/>
              </a:rPr>
              <a:t> anomaly </a:t>
            </a:r>
            <a:r>
              <a:rPr lang="en-US" sz="2400" b="0" i="0" u="none" strike="noStrike" baseline="0" dirty="0">
                <a:solidFill>
                  <a:srgbClr val="000000"/>
                </a:solidFill>
                <a:latin typeface="Cambria" panose="02040503050406030204" pitchFamily="18" charset="0"/>
              </a:rPr>
              <a:t>– If there is </a:t>
            </a:r>
            <a:r>
              <a:rPr lang="en-US" sz="2400" b="0" i="0" u="none" strike="noStrike" baseline="0" dirty="0" err="1">
                <a:solidFill>
                  <a:srgbClr val="000000"/>
                </a:solidFill>
                <a:latin typeface="Cambria" panose="02040503050406030204" pitchFamily="18" charset="0"/>
              </a:rPr>
              <a:t>updation</a:t>
            </a:r>
            <a:r>
              <a:rPr lang="en-US" sz="2400" b="0" i="0" u="none" strike="noStrike" baseline="0" dirty="0">
                <a:solidFill>
                  <a:srgbClr val="000000"/>
                </a:solidFill>
                <a:latin typeface="Cambria" panose="02040503050406030204" pitchFamily="18" charset="0"/>
              </a:rPr>
              <a:t> in the fee from 5000 to 7000, then we have to update FEE column in all the rows, else data will become inconsistent. </a:t>
            </a:r>
            <a:endParaRPr lang="en-IN" sz="2400" dirty="0"/>
          </a:p>
        </p:txBody>
      </p:sp>
      <p:pic>
        <p:nvPicPr>
          <p:cNvPr id="5" name="Picture 4">
            <a:extLst>
              <a:ext uri="{FF2B5EF4-FFF2-40B4-BE49-F238E27FC236}">
                <a16:creationId xmlns:a16="http://schemas.microsoft.com/office/drawing/2014/main" id="{6CB23803-9526-032F-ED49-5FBB3277E483}"/>
              </a:ext>
            </a:extLst>
          </p:cNvPr>
          <p:cNvPicPr>
            <a:picLocks noChangeAspect="1"/>
          </p:cNvPicPr>
          <p:nvPr/>
        </p:nvPicPr>
        <p:blipFill>
          <a:blip r:embed="rId2"/>
          <a:stretch>
            <a:fillRect/>
          </a:stretch>
        </p:blipFill>
        <p:spPr>
          <a:xfrm>
            <a:off x="1587710" y="2057401"/>
            <a:ext cx="9016580" cy="2392558"/>
          </a:xfrm>
          <a:prstGeom prst="rect">
            <a:avLst/>
          </a:prstGeom>
        </p:spPr>
      </p:pic>
    </p:spTree>
    <p:extLst>
      <p:ext uri="{BB962C8B-B14F-4D97-AF65-F5344CB8AC3E}">
        <p14:creationId xmlns:p14="http://schemas.microsoft.com/office/powerpoint/2010/main" val="1353040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7F6501-2B3D-AF9C-2B5B-5477DDF0BE37}"/>
              </a:ext>
            </a:extLst>
          </p:cNvPr>
          <p:cNvSpPr txBox="1"/>
          <p:nvPr/>
        </p:nvSpPr>
        <p:spPr>
          <a:xfrm>
            <a:off x="993322" y="433392"/>
            <a:ext cx="9065078" cy="830997"/>
          </a:xfrm>
          <a:prstGeom prst="rect">
            <a:avLst/>
          </a:prstGeom>
          <a:noFill/>
        </p:spPr>
        <p:txBody>
          <a:bodyPr wrap="square">
            <a:spAutoFit/>
          </a:bodyPr>
          <a:lstStyle/>
          <a:p>
            <a:r>
              <a:rPr lang="en-US" sz="2400" b="1" i="0" u="none" strike="noStrike" baseline="0" dirty="0">
                <a:solidFill>
                  <a:srgbClr val="000000"/>
                </a:solidFill>
                <a:latin typeface="Cambria" panose="02040503050406030204" pitchFamily="18" charset="0"/>
              </a:rPr>
              <a:t>Insertion Anomalies</a:t>
            </a:r>
            <a:r>
              <a:rPr lang="en-US" sz="2400" b="0" i="0" u="none" strike="noStrike" baseline="0" dirty="0">
                <a:solidFill>
                  <a:srgbClr val="000000"/>
                </a:solidFill>
                <a:latin typeface="Cambria" panose="02040503050406030204" pitchFamily="18" charset="0"/>
              </a:rPr>
              <a:t>: New course is introduced C4, But no student is there who is having C4 subject. </a:t>
            </a:r>
            <a:endParaRPr lang="en-IN" sz="2400" dirty="0"/>
          </a:p>
        </p:txBody>
      </p:sp>
      <p:pic>
        <p:nvPicPr>
          <p:cNvPr id="9" name="Picture 8">
            <a:extLst>
              <a:ext uri="{FF2B5EF4-FFF2-40B4-BE49-F238E27FC236}">
                <a16:creationId xmlns:a16="http://schemas.microsoft.com/office/drawing/2014/main" id="{04B07551-E395-C708-6AD9-36304CCE5FE6}"/>
              </a:ext>
            </a:extLst>
          </p:cNvPr>
          <p:cNvPicPr>
            <a:picLocks noChangeAspect="1"/>
          </p:cNvPicPr>
          <p:nvPr/>
        </p:nvPicPr>
        <p:blipFill>
          <a:blip r:embed="rId2"/>
          <a:stretch>
            <a:fillRect/>
          </a:stretch>
        </p:blipFill>
        <p:spPr>
          <a:xfrm>
            <a:off x="3250745" y="1504527"/>
            <a:ext cx="6078312" cy="4751357"/>
          </a:xfrm>
          <a:prstGeom prst="rect">
            <a:avLst/>
          </a:prstGeom>
        </p:spPr>
      </p:pic>
    </p:spTree>
    <p:extLst>
      <p:ext uri="{BB962C8B-B14F-4D97-AF65-F5344CB8AC3E}">
        <p14:creationId xmlns:p14="http://schemas.microsoft.com/office/powerpoint/2010/main" val="2715879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882E6C-0650-3E1B-BA4F-0D3D93E4E7A5}"/>
              </a:ext>
            </a:extLst>
          </p:cNvPr>
          <p:cNvSpPr txBox="1"/>
          <p:nvPr/>
        </p:nvSpPr>
        <p:spPr>
          <a:xfrm>
            <a:off x="928007" y="287022"/>
            <a:ext cx="10621735" cy="1200329"/>
          </a:xfrm>
          <a:prstGeom prst="rect">
            <a:avLst/>
          </a:prstGeom>
          <a:noFill/>
        </p:spPr>
        <p:txBody>
          <a:bodyPr wrap="square">
            <a:spAutoFit/>
          </a:bodyPr>
          <a:lstStyle/>
          <a:p>
            <a:r>
              <a:rPr lang="en-IN" sz="2400" b="1" i="0" u="none" strike="noStrike" baseline="0" dirty="0">
                <a:solidFill>
                  <a:srgbClr val="000000"/>
                </a:solidFill>
                <a:latin typeface="Cambria" panose="02040503050406030204" pitchFamily="18" charset="0"/>
              </a:rPr>
              <a:t>Deletion Anomaly: </a:t>
            </a:r>
            <a:endParaRPr lang="en-IN" sz="2400" b="0" i="0" u="none" strike="noStrike" baseline="0" dirty="0">
              <a:solidFill>
                <a:srgbClr val="000000"/>
              </a:solidFill>
              <a:latin typeface="Cambria" panose="02040503050406030204" pitchFamily="18" charset="0"/>
            </a:endParaRPr>
          </a:p>
          <a:p>
            <a:r>
              <a:rPr lang="en-US" sz="2400" b="0" i="0" u="none" strike="noStrike" baseline="0" dirty="0">
                <a:solidFill>
                  <a:srgbClr val="000000"/>
                </a:solidFill>
                <a:latin typeface="Cambria" panose="02040503050406030204" pitchFamily="18" charset="0"/>
              </a:rPr>
              <a:t>Deletion of S3 student cause the deletion of course. Because of deletion of some data forced to delete some other useful data. </a:t>
            </a:r>
            <a:endParaRPr lang="en-IN" sz="2400" dirty="0"/>
          </a:p>
        </p:txBody>
      </p:sp>
      <p:pic>
        <p:nvPicPr>
          <p:cNvPr id="5" name="Picture 4">
            <a:extLst>
              <a:ext uri="{FF2B5EF4-FFF2-40B4-BE49-F238E27FC236}">
                <a16:creationId xmlns:a16="http://schemas.microsoft.com/office/drawing/2014/main" id="{33A91E0B-F507-0E6A-183E-99D2138EF134}"/>
              </a:ext>
            </a:extLst>
          </p:cNvPr>
          <p:cNvPicPr>
            <a:picLocks noChangeAspect="1"/>
          </p:cNvPicPr>
          <p:nvPr/>
        </p:nvPicPr>
        <p:blipFill>
          <a:blip r:embed="rId2"/>
          <a:stretch>
            <a:fillRect/>
          </a:stretch>
        </p:blipFill>
        <p:spPr>
          <a:xfrm>
            <a:off x="2838642" y="1816432"/>
            <a:ext cx="6514716" cy="2865652"/>
          </a:xfrm>
          <a:prstGeom prst="rect">
            <a:avLst/>
          </a:prstGeom>
        </p:spPr>
      </p:pic>
    </p:spTree>
    <p:extLst>
      <p:ext uri="{BB962C8B-B14F-4D97-AF65-F5344CB8AC3E}">
        <p14:creationId xmlns:p14="http://schemas.microsoft.com/office/powerpoint/2010/main" val="2954731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8F967C-BE5C-5F5D-0200-7D7C3DF8AABC}"/>
              </a:ext>
            </a:extLst>
          </p:cNvPr>
          <p:cNvSpPr txBox="1"/>
          <p:nvPr/>
        </p:nvSpPr>
        <p:spPr>
          <a:xfrm>
            <a:off x="790575" y="444278"/>
            <a:ext cx="10610850" cy="830997"/>
          </a:xfrm>
          <a:prstGeom prst="rect">
            <a:avLst/>
          </a:prstGeom>
          <a:noFill/>
        </p:spPr>
        <p:txBody>
          <a:bodyPr wrap="square">
            <a:spAutoFit/>
          </a:bodyPr>
          <a:lstStyle/>
          <a:p>
            <a:r>
              <a:rPr lang="en-US" sz="2400" b="0" i="0" u="none" strike="noStrike" baseline="0" dirty="0">
                <a:solidFill>
                  <a:srgbClr val="000000"/>
                </a:solidFill>
                <a:latin typeface="Cambria" panose="02040503050406030204" pitchFamily="18" charset="0"/>
              </a:rPr>
              <a:t>Solutions To Anomalies : Decomposition of Tables – Schema Refinement, shown below. </a:t>
            </a:r>
            <a:endParaRPr lang="en-IN" sz="2400" dirty="0"/>
          </a:p>
        </p:txBody>
      </p:sp>
      <p:pic>
        <p:nvPicPr>
          <p:cNvPr id="5" name="Picture 4">
            <a:extLst>
              <a:ext uri="{FF2B5EF4-FFF2-40B4-BE49-F238E27FC236}">
                <a16:creationId xmlns:a16="http://schemas.microsoft.com/office/drawing/2014/main" id="{E0C77F55-66B1-421C-62B3-43238F1161D6}"/>
              </a:ext>
            </a:extLst>
          </p:cNvPr>
          <p:cNvPicPr>
            <a:picLocks noChangeAspect="1"/>
          </p:cNvPicPr>
          <p:nvPr/>
        </p:nvPicPr>
        <p:blipFill>
          <a:blip r:embed="rId2"/>
          <a:stretch>
            <a:fillRect/>
          </a:stretch>
        </p:blipFill>
        <p:spPr>
          <a:xfrm>
            <a:off x="2166257" y="1436914"/>
            <a:ext cx="8754720" cy="4976808"/>
          </a:xfrm>
          <a:prstGeom prst="rect">
            <a:avLst/>
          </a:prstGeom>
        </p:spPr>
      </p:pic>
    </p:spTree>
    <p:extLst>
      <p:ext uri="{BB962C8B-B14F-4D97-AF65-F5344CB8AC3E}">
        <p14:creationId xmlns:p14="http://schemas.microsoft.com/office/powerpoint/2010/main" val="1302516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C4F4BD-920E-0EA7-1ED4-5947B35B8964}"/>
              </a:ext>
            </a:extLst>
          </p:cNvPr>
          <p:cNvSpPr txBox="1"/>
          <p:nvPr/>
        </p:nvSpPr>
        <p:spPr>
          <a:xfrm>
            <a:off x="370113" y="740230"/>
            <a:ext cx="11103429" cy="2800767"/>
          </a:xfrm>
          <a:prstGeom prst="rect">
            <a:avLst/>
          </a:prstGeom>
          <a:noFill/>
        </p:spPr>
        <p:txBody>
          <a:bodyPr wrap="square">
            <a:spAutoFit/>
          </a:bodyPr>
          <a:lstStyle/>
          <a:p>
            <a:r>
              <a:rPr lang="en-IN" sz="3200" b="1" i="0" u="none" strike="noStrike" baseline="0" dirty="0">
                <a:solidFill>
                  <a:srgbClr val="000000"/>
                </a:solidFill>
                <a:latin typeface="Times New Roman" panose="02020603050405020304" pitchFamily="18" charset="0"/>
              </a:rPr>
              <a:t>Purpose of Normalization: </a:t>
            </a:r>
            <a:endParaRPr lang="en-IN" sz="32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Wingdings" panose="05000000000000000000" pitchFamily="2" charset="2"/>
              </a:rPr>
              <a:t>➢ </a:t>
            </a:r>
            <a:r>
              <a:rPr lang="en-US" sz="2400" b="0" i="0" u="none" strike="noStrike" baseline="0" dirty="0">
                <a:solidFill>
                  <a:srgbClr val="000000"/>
                </a:solidFill>
                <a:latin typeface="Cambria" panose="02040503050406030204" pitchFamily="18" charset="0"/>
              </a:rPr>
              <a:t>Minimize the redundancy in data. </a:t>
            </a:r>
            <a:endParaRPr lang="en-US" sz="24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Wingdings" panose="05000000000000000000" pitchFamily="2" charset="2"/>
              </a:rPr>
              <a:t>➢ </a:t>
            </a:r>
            <a:r>
              <a:rPr lang="en-US" sz="2400" b="0" i="0" u="none" strike="noStrike" baseline="0" dirty="0">
                <a:solidFill>
                  <a:srgbClr val="000000"/>
                </a:solidFill>
                <a:latin typeface="Cambria" panose="02040503050406030204" pitchFamily="18" charset="0"/>
              </a:rPr>
              <a:t>Remove insert, update, and delete anomalies during the database activities. </a:t>
            </a:r>
            <a:endParaRPr lang="en-US" sz="24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Wingdings" panose="05000000000000000000" pitchFamily="2" charset="2"/>
              </a:rPr>
              <a:t>➢ </a:t>
            </a:r>
            <a:r>
              <a:rPr lang="en-US" sz="2400" b="0" i="0" u="none" strike="noStrike" baseline="0" dirty="0">
                <a:solidFill>
                  <a:srgbClr val="000000"/>
                </a:solidFill>
                <a:latin typeface="Cambria" panose="02040503050406030204" pitchFamily="18" charset="0"/>
              </a:rPr>
              <a:t>Reduce the need to organize the data when it is modified or enhanced. </a:t>
            </a:r>
            <a:endParaRPr lang="en-US" sz="24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Wingdings" panose="05000000000000000000" pitchFamily="2" charset="2"/>
              </a:rPr>
              <a:t>➢ </a:t>
            </a:r>
            <a:r>
              <a:rPr lang="en-US" sz="2400" b="0" i="0" u="none" strike="noStrike" baseline="0" dirty="0">
                <a:solidFill>
                  <a:srgbClr val="000000"/>
                </a:solidFill>
                <a:latin typeface="Cambria" panose="02040503050406030204" pitchFamily="18" charset="0"/>
              </a:rPr>
              <a:t>Normalization reduces a complex user view to a set of small and sub groups of fields or relations. This process helps to design a logical data model known as conceptual data model. </a:t>
            </a:r>
            <a:endParaRPr lang="en-US" sz="24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220389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8704FD-E57A-F321-974D-84C0374D77A2}"/>
              </a:ext>
            </a:extLst>
          </p:cNvPr>
          <p:cNvSpPr txBox="1"/>
          <p:nvPr/>
        </p:nvSpPr>
        <p:spPr>
          <a:xfrm>
            <a:off x="819149" y="480026"/>
            <a:ext cx="10110108" cy="3170099"/>
          </a:xfrm>
          <a:prstGeom prst="rect">
            <a:avLst/>
          </a:prstGeom>
          <a:noFill/>
        </p:spPr>
        <p:txBody>
          <a:bodyPr wrap="square">
            <a:spAutoFit/>
          </a:bodyPr>
          <a:lstStyle/>
          <a:p>
            <a:r>
              <a:rPr lang="en-IN" sz="2800" b="1" i="0" u="none" strike="noStrike" baseline="0" dirty="0">
                <a:solidFill>
                  <a:srgbClr val="000000"/>
                </a:solidFill>
                <a:latin typeface="Times New Roman" panose="02020603050405020304" pitchFamily="18" charset="0"/>
              </a:rPr>
              <a:t>Advantages of Normalization: </a:t>
            </a:r>
            <a:endParaRPr lang="en-IN" sz="2800" dirty="0"/>
          </a:p>
          <a:p>
            <a:pPr algn="l"/>
            <a:endParaRPr lang="en-IN" sz="2800" b="0" i="0" u="none" strike="noStrike" baseline="0" dirty="0">
              <a:solidFill>
                <a:srgbClr val="000000"/>
              </a:solidFill>
              <a:latin typeface="Cambria" panose="02040503050406030204" pitchFamily="18" charset="0"/>
            </a:endParaRPr>
          </a:p>
          <a:p>
            <a:r>
              <a:rPr lang="en-US" sz="2400" b="0" i="0" u="none" strike="noStrike" baseline="0" dirty="0">
                <a:solidFill>
                  <a:srgbClr val="000000"/>
                </a:solidFill>
                <a:latin typeface="Cambria" panose="02040503050406030204" pitchFamily="18" charset="0"/>
              </a:rPr>
              <a:t>1. Greater overall database organization will be gained. </a:t>
            </a:r>
          </a:p>
          <a:p>
            <a:r>
              <a:rPr lang="en-US" sz="2400" b="0" i="0" u="none" strike="noStrike" baseline="0" dirty="0">
                <a:solidFill>
                  <a:srgbClr val="000000"/>
                </a:solidFill>
                <a:latin typeface="Cambria" panose="02040503050406030204" pitchFamily="18" charset="0"/>
              </a:rPr>
              <a:t>2. The amount of unnecessary redundant data reduced. </a:t>
            </a:r>
          </a:p>
          <a:p>
            <a:r>
              <a:rPr lang="en-US" sz="2400" b="0" i="0" u="none" strike="noStrike" baseline="0" dirty="0">
                <a:solidFill>
                  <a:srgbClr val="000000"/>
                </a:solidFill>
                <a:latin typeface="Cambria" panose="02040503050406030204" pitchFamily="18" charset="0"/>
              </a:rPr>
              <a:t>3. Data integrity is easily maintained within the database. </a:t>
            </a:r>
          </a:p>
          <a:p>
            <a:r>
              <a:rPr lang="en-US" sz="2400" b="0" i="0" u="none" strike="noStrike" baseline="0" dirty="0">
                <a:solidFill>
                  <a:srgbClr val="000000"/>
                </a:solidFill>
                <a:latin typeface="Cambria" panose="02040503050406030204" pitchFamily="18" charset="0"/>
              </a:rPr>
              <a:t>4. The database &amp; application design processes are much for flexible. </a:t>
            </a:r>
          </a:p>
          <a:p>
            <a:r>
              <a:rPr lang="en-US" sz="2400" b="0" i="0" u="none" strike="noStrike" baseline="0" dirty="0">
                <a:solidFill>
                  <a:srgbClr val="000000"/>
                </a:solidFill>
                <a:latin typeface="Cambria" panose="02040503050406030204" pitchFamily="18" charset="0"/>
              </a:rPr>
              <a:t>5. Security is easier to maintain or manage. </a:t>
            </a:r>
          </a:p>
          <a:p>
            <a:endParaRPr lang="en-IN" sz="2400" b="0" i="0" u="none" strike="noStrike" baseline="0" dirty="0">
              <a:solidFill>
                <a:srgbClr val="000000"/>
              </a:solidFill>
              <a:latin typeface="Cambria" panose="02040503050406030204" pitchFamily="18" charset="0"/>
            </a:endParaRPr>
          </a:p>
        </p:txBody>
      </p:sp>
      <p:sp>
        <p:nvSpPr>
          <p:cNvPr id="7" name="TextBox 6">
            <a:extLst>
              <a:ext uri="{FF2B5EF4-FFF2-40B4-BE49-F238E27FC236}">
                <a16:creationId xmlns:a16="http://schemas.microsoft.com/office/drawing/2014/main" id="{24B0045A-EC70-D64D-795A-4E11E61B0B98}"/>
              </a:ext>
            </a:extLst>
          </p:cNvPr>
          <p:cNvSpPr txBox="1"/>
          <p:nvPr/>
        </p:nvSpPr>
        <p:spPr>
          <a:xfrm>
            <a:off x="666748" y="3276600"/>
            <a:ext cx="11525251" cy="2677656"/>
          </a:xfrm>
          <a:prstGeom prst="rect">
            <a:avLst/>
          </a:prstGeom>
          <a:noFill/>
        </p:spPr>
        <p:txBody>
          <a:bodyPr wrap="square">
            <a:spAutoFit/>
          </a:bodyPr>
          <a:lstStyle/>
          <a:p>
            <a:r>
              <a:rPr lang="en-IN" sz="2800" b="1" i="0" u="none" strike="noStrike" baseline="0" dirty="0">
                <a:solidFill>
                  <a:srgbClr val="000000"/>
                </a:solidFill>
                <a:latin typeface="Times New Roman" panose="02020603050405020304" pitchFamily="18" charset="0"/>
              </a:rPr>
              <a:t>Disadvantages of Normalization: </a:t>
            </a:r>
            <a:endParaRPr lang="en-IN" sz="2800" b="0" i="0" u="none" strike="noStrike" baseline="0" dirty="0">
              <a:solidFill>
                <a:srgbClr val="000000"/>
              </a:solidFill>
              <a:latin typeface="Times New Roman" panose="02020603050405020304" pitchFamily="18" charset="0"/>
            </a:endParaRPr>
          </a:p>
          <a:p>
            <a:r>
              <a:rPr lang="en-US" sz="2000" b="0" i="0" u="none" strike="noStrike" baseline="0" dirty="0">
                <a:solidFill>
                  <a:srgbClr val="000000"/>
                </a:solidFill>
                <a:latin typeface="Cambria" panose="02040503050406030204" pitchFamily="18" charset="0"/>
              </a:rPr>
              <a:t>1. The disadvantage of normalization is that it produces a lot of tables with a relatively small number of columns. These columns then have to be joined using their primary/foreign key relationship. </a:t>
            </a:r>
            <a:endParaRPr lang="en-US" sz="2000" b="0" i="0" u="none" strike="noStrike" baseline="0" dirty="0">
              <a:solidFill>
                <a:srgbClr val="000000"/>
              </a:solidFill>
              <a:latin typeface="Times New Roman" panose="02020603050405020304" pitchFamily="18" charset="0"/>
            </a:endParaRPr>
          </a:p>
          <a:p>
            <a:r>
              <a:rPr lang="en-US" sz="2000" b="0" i="0" u="none" strike="noStrike" baseline="0" dirty="0">
                <a:solidFill>
                  <a:srgbClr val="000000"/>
                </a:solidFill>
                <a:latin typeface="Cambria" panose="02040503050406030204" pitchFamily="18" charset="0"/>
              </a:rPr>
              <a:t>2. This has two disadvantages. </a:t>
            </a:r>
            <a:endParaRPr lang="en-US" sz="2000" b="0" i="0" u="none" strike="noStrike" baseline="0" dirty="0">
              <a:solidFill>
                <a:srgbClr val="000000"/>
              </a:solidFill>
              <a:latin typeface="Times New Roman" panose="02020603050405020304" pitchFamily="18" charset="0"/>
            </a:endParaRPr>
          </a:p>
          <a:p>
            <a:endParaRPr lang="en-IN" sz="2000" b="0" i="0" u="none" strike="noStrike" baseline="0" dirty="0">
              <a:solidFill>
                <a:srgbClr val="000000"/>
              </a:solidFill>
              <a:latin typeface="Times New Roman" panose="02020603050405020304" pitchFamily="18" charset="0"/>
            </a:endParaRPr>
          </a:p>
          <a:p>
            <a:r>
              <a:rPr lang="en-US" sz="2000" b="1" i="0" u="none" strike="noStrike" baseline="0" dirty="0">
                <a:solidFill>
                  <a:srgbClr val="000000"/>
                </a:solidFill>
                <a:latin typeface="Cambria" panose="02040503050406030204" pitchFamily="18" charset="0"/>
              </a:rPr>
              <a:t>Performance</a:t>
            </a:r>
            <a:r>
              <a:rPr lang="en-US" sz="2000" b="0" i="0" u="none" strike="noStrike" baseline="0" dirty="0">
                <a:solidFill>
                  <a:srgbClr val="000000"/>
                </a:solidFill>
                <a:latin typeface="Cambria" panose="02040503050406030204" pitchFamily="18" charset="0"/>
              </a:rPr>
              <a:t>: all the joins required to merge data slow processing &amp; place additional stress on your hardware. </a:t>
            </a:r>
            <a:endParaRPr lang="en-US" sz="2000" b="0" i="0" u="none" strike="noStrike" baseline="0" dirty="0">
              <a:solidFill>
                <a:srgbClr val="000000"/>
              </a:solidFill>
              <a:latin typeface="Times New Roman" panose="02020603050405020304" pitchFamily="18" charset="0"/>
            </a:endParaRPr>
          </a:p>
          <a:p>
            <a:r>
              <a:rPr lang="en-US" sz="2000" b="1" i="0" u="none" strike="noStrike" baseline="0" dirty="0">
                <a:solidFill>
                  <a:srgbClr val="000000"/>
                </a:solidFill>
                <a:latin typeface="Cambria" panose="02040503050406030204" pitchFamily="18" charset="0"/>
              </a:rPr>
              <a:t>Complex queries: </a:t>
            </a:r>
            <a:r>
              <a:rPr lang="en-US" sz="2000" b="0" i="0" u="none" strike="noStrike" baseline="0" dirty="0">
                <a:solidFill>
                  <a:srgbClr val="000000"/>
                </a:solidFill>
                <a:latin typeface="Cambria" panose="02040503050406030204" pitchFamily="18" charset="0"/>
              </a:rPr>
              <a:t>developers have to code complex queries in order to merge data from different tables. </a:t>
            </a:r>
            <a:endParaRPr lang="en-IN" sz="2000" dirty="0"/>
          </a:p>
        </p:txBody>
      </p:sp>
    </p:spTree>
    <p:extLst>
      <p:ext uri="{BB962C8B-B14F-4D97-AF65-F5344CB8AC3E}">
        <p14:creationId xmlns:p14="http://schemas.microsoft.com/office/powerpoint/2010/main" val="2348009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386888-8B41-0BD3-DD1D-B1D139DDC2F9}"/>
              </a:ext>
            </a:extLst>
          </p:cNvPr>
          <p:cNvSpPr txBox="1"/>
          <p:nvPr/>
        </p:nvSpPr>
        <p:spPr>
          <a:xfrm>
            <a:off x="1243693" y="495691"/>
            <a:ext cx="6101442" cy="461665"/>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rPr>
              <a:t>Concept of Functional Dependency: </a:t>
            </a:r>
            <a:endParaRPr lang="en-IN" sz="2400" dirty="0"/>
          </a:p>
        </p:txBody>
      </p:sp>
      <p:sp>
        <p:nvSpPr>
          <p:cNvPr id="5" name="TextBox 4">
            <a:extLst>
              <a:ext uri="{FF2B5EF4-FFF2-40B4-BE49-F238E27FC236}">
                <a16:creationId xmlns:a16="http://schemas.microsoft.com/office/drawing/2014/main" id="{901B56F7-63BB-1650-9350-ADFD98752762}"/>
              </a:ext>
            </a:extLst>
          </p:cNvPr>
          <p:cNvSpPr txBox="1"/>
          <p:nvPr/>
        </p:nvSpPr>
        <p:spPr>
          <a:xfrm>
            <a:off x="1243693" y="1400378"/>
            <a:ext cx="9990364" cy="1323439"/>
          </a:xfrm>
          <a:prstGeom prst="rect">
            <a:avLst/>
          </a:prstGeom>
          <a:noFill/>
        </p:spPr>
        <p:txBody>
          <a:bodyPr wrap="square">
            <a:spAutoFit/>
          </a:bodyPr>
          <a:lstStyle/>
          <a:p>
            <a:pPr algn="just"/>
            <a:r>
              <a:rPr lang="en-US" sz="2000" b="1" i="0" u="none" strike="noStrike" baseline="0" dirty="0">
                <a:solidFill>
                  <a:srgbClr val="000000"/>
                </a:solidFill>
                <a:latin typeface="Cambria" panose="02040503050406030204" pitchFamily="18" charset="0"/>
              </a:rPr>
              <a:t>Functional Dependencies </a:t>
            </a:r>
            <a:r>
              <a:rPr lang="en-US" sz="2000" b="0" i="0" u="none" strike="noStrike" baseline="0" dirty="0">
                <a:solidFill>
                  <a:srgbClr val="000000"/>
                </a:solidFill>
                <a:latin typeface="Cambria" panose="02040503050406030204" pitchFamily="18" charset="0"/>
              </a:rPr>
              <a:t>are fundamental to the process of Normalization i.e., Functional Dependency plays key role in differentiating good database design from bad database designs. A functional dependency is a “</a:t>
            </a:r>
            <a:r>
              <a:rPr lang="en-US" sz="2000" b="1" i="0" u="none" strike="noStrike" baseline="0" dirty="0">
                <a:solidFill>
                  <a:srgbClr val="000000"/>
                </a:solidFill>
                <a:latin typeface="Cambria" panose="02040503050406030204" pitchFamily="18" charset="0"/>
              </a:rPr>
              <a:t>type of constraint that is a generalization of the notation of the key”</a:t>
            </a:r>
            <a:r>
              <a:rPr lang="en-US" sz="2000" b="0" i="0" u="none" strike="noStrike" baseline="0" dirty="0">
                <a:solidFill>
                  <a:srgbClr val="000000"/>
                </a:solidFill>
                <a:latin typeface="Cambria" panose="02040503050406030204" pitchFamily="18" charset="0"/>
              </a:rPr>
              <a:t>. </a:t>
            </a:r>
            <a:endParaRPr lang="en-IN" sz="2000" dirty="0"/>
          </a:p>
        </p:txBody>
      </p:sp>
      <p:pic>
        <p:nvPicPr>
          <p:cNvPr id="9" name="Picture 8">
            <a:extLst>
              <a:ext uri="{FF2B5EF4-FFF2-40B4-BE49-F238E27FC236}">
                <a16:creationId xmlns:a16="http://schemas.microsoft.com/office/drawing/2014/main" id="{D529B3CC-4687-DD2A-504B-4D59EF5583E3}"/>
              </a:ext>
            </a:extLst>
          </p:cNvPr>
          <p:cNvPicPr>
            <a:picLocks noChangeAspect="1"/>
          </p:cNvPicPr>
          <p:nvPr/>
        </p:nvPicPr>
        <p:blipFill>
          <a:blip r:embed="rId2"/>
          <a:stretch>
            <a:fillRect/>
          </a:stretch>
        </p:blipFill>
        <p:spPr>
          <a:xfrm>
            <a:off x="2514604" y="3329188"/>
            <a:ext cx="7662925" cy="1993926"/>
          </a:xfrm>
          <a:prstGeom prst="rect">
            <a:avLst/>
          </a:prstGeom>
        </p:spPr>
      </p:pic>
    </p:spTree>
    <p:extLst>
      <p:ext uri="{BB962C8B-B14F-4D97-AF65-F5344CB8AC3E}">
        <p14:creationId xmlns:p14="http://schemas.microsoft.com/office/powerpoint/2010/main" val="77822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456F57-5D9E-E0CF-5EBF-535E57FAABF8}"/>
              </a:ext>
            </a:extLst>
          </p:cNvPr>
          <p:cNvSpPr txBox="1"/>
          <p:nvPr/>
        </p:nvSpPr>
        <p:spPr>
          <a:xfrm>
            <a:off x="141514" y="446315"/>
            <a:ext cx="11364686" cy="3785652"/>
          </a:xfrm>
          <a:prstGeom prst="rect">
            <a:avLst/>
          </a:prstGeom>
          <a:noFill/>
        </p:spPr>
        <p:txBody>
          <a:bodyPr wrap="square">
            <a:spAutoFit/>
          </a:bodyPr>
          <a:lstStyle/>
          <a:p>
            <a:r>
              <a:rPr lang="en-IN" sz="3200" b="1" i="0" u="none" strike="noStrike" baseline="0" dirty="0">
                <a:solidFill>
                  <a:srgbClr val="000000"/>
                </a:solidFill>
                <a:latin typeface="Times New Roman" panose="02020603050405020304" pitchFamily="18" charset="0"/>
              </a:rPr>
              <a:t>Reasoning about functional dependencies: </a:t>
            </a:r>
            <a:endParaRPr lang="en-IN" sz="3200" b="0" i="0" u="none" strike="noStrike" baseline="0" dirty="0">
              <a:solidFill>
                <a:srgbClr val="000000"/>
              </a:solidFill>
              <a:latin typeface="Times New Roman" panose="02020603050405020304" pitchFamily="18" charset="0"/>
            </a:endParaRPr>
          </a:p>
          <a:p>
            <a:r>
              <a:rPr lang="en-US" sz="3200" b="1" i="0" u="none" strike="noStrike" baseline="0" dirty="0">
                <a:solidFill>
                  <a:srgbClr val="000000"/>
                </a:solidFill>
                <a:latin typeface="Cambria" panose="02040503050406030204" pitchFamily="18" charset="0"/>
              </a:rPr>
              <a:t>Armstrong Axioms (Inference Rules ) : </a:t>
            </a:r>
          </a:p>
          <a:p>
            <a:endParaRPr lang="en-US" sz="3200" b="1" dirty="0">
              <a:solidFill>
                <a:srgbClr val="000000"/>
              </a:solidFill>
              <a:latin typeface="Cambria" panose="02040503050406030204" pitchFamily="18" charset="0"/>
            </a:endParaRPr>
          </a:p>
          <a:p>
            <a:r>
              <a:rPr lang="en-US" sz="2400" b="0" i="0" u="none" strike="noStrike" baseline="0" dirty="0">
                <a:solidFill>
                  <a:srgbClr val="000000"/>
                </a:solidFill>
                <a:latin typeface="Cambria" panose="02040503050406030204" pitchFamily="18" charset="0"/>
              </a:rPr>
              <a:t>The term Armstrong axioms refers to the sound and complete set of inference rules or axioms, introduced by William W. Armstrong, that is used to test logical implication of </a:t>
            </a:r>
            <a:r>
              <a:rPr lang="en-US" sz="2400" b="1" i="0" u="none" strike="noStrike" baseline="0" dirty="0">
                <a:solidFill>
                  <a:srgbClr val="000000"/>
                </a:solidFill>
                <a:latin typeface="Cambria" panose="02040503050406030204" pitchFamily="18" charset="0"/>
              </a:rPr>
              <a:t>functional dependencies</a:t>
            </a:r>
            <a:r>
              <a:rPr lang="en-US" sz="2400" b="0" i="0" u="none" strike="noStrike" baseline="0" dirty="0">
                <a:solidFill>
                  <a:srgbClr val="000000"/>
                </a:solidFill>
                <a:latin typeface="Cambria" panose="02040503050406030204" pitchFamily="18" charset="0"/>
              </a:rPr>
              <a:t>. </a:t>
            </a:r>
          </a:p>
          <a:p>
            <a:endParaRPr lang="en-US" sz="24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Cambria" panose="02040503050406030204" pitchFamily="18" charset="0"/>
              </a:rPr>
              <a:t>Armstrong axioms define the set of rules for reasoning about functional dependencies and also to infer all the functional dependencies on a relational database. </a:t>
            </a:r>
            <a:endParaRPr lang="en-IN" sz="2400" dirty="0"/>
          </a:p>
        </p:txBody>
      </p:sp>
    </p:spTree>
    <p:extLst>
      <p:ext uri="{BB962C8B-B14F-4D97-AF65-F5344CB8AC3E}">
        <p14:creationId xmlns:p14="http://schemas.microsoft.com/office/powerpoint/2010/main" val="2248508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2CB9FD-CF93-A0AE-F1FA-3E5C2613E685}"/>
              </a:ext>
            </a:extLst>
          </p:cNvPr>
          <p:cNvPicPr>
            <a:picLocks noChangeAspect="1"/>
          </p:cNvPicPr>
          <p:nvPr/>
        </p:nvPicPr>
        <p:blipFill>
          <a:blip r:embed="rId2"/>
          <a:stretch>
            <a:fillRect/>
          </a:stretch>
        </p:blipFill>
        <p:spPr>
          <a:xfrm>
            <a:off x="666199" y="1295402"/>
            <a:ext cx="11226444" cy="2931658"/>
          </a:xfrm>
          <a:prstGeom prst="rect">
            <a:avLst/>
          </a:prstGeom>
        </p:spPr>
      </p:pic>
      <p:sp>
        <p:nvSpPr>
          <p:cNvPr id="5" name="TextBox 4">
            <a:extLst>
              <a:ext uri="{FF2B5EF4-FFF2-40B4-BE49-F238E27FC236}">
                <a16:creationId xmlns:a16="http://schemas.microsoft.com/office/drawing/2014/main" id="{2C1F9AB8-E9C7-1E2B-6121-CAF085DF7132}"/>
              </a:ext>
            </a:extLst>
          </p:cNvPr>
          <p:cNvSpPr txBox="1"/>
          <p:nvPr/>
        </p:nvSpPr>
        <p:spPr>
          <a:xfrm>
            <a:off x="666199" y="368078"/>
            <a:ext cx="6101442" cy="830997"/>
          </a:xfrm>
          <a:prstGeom prst="rect">
            <a:avLst/>
          </a:prstGeom>
          <a:noFill/>
        </p:spPr>
        <p:txBody>
          <a:bodyPr wrap="square">
            <a:spAutoFit/>
          </a:bodyPr>
          <a:lstStyle/>
          <a:p>
            <a:r>
              <a:rPr lang="en-US" sz="2400" b="1" i="0" u="none" strike="noStrike" baseline="0" dirty="0">
                <a:solidFill>
                  <a:srgbClr val="000000"/>
                </a:solidFill>
                <a:latin typeface="Cambria" panose="02040503050406030204" pitchFamily="18" charset="0"/>
              </a:rPr>
              <a:t>Various axioms rules or inference rules: </a:t>
            </a:r>
            <a:endParaRPr lang="en-US" sz="2400" b="0" i="0" u="none" strike="noStrike" baseline="0" dirty="0">
              <a:solidFill>
                <a:srgbClr val="000000"/>
              </a:solidFill>
              <a:latin typeface="Cambria" panose="02040503050406030204" pitchFamily="18" charset="0"/>
            </a:endParaRPr>
          </a:p>
          <a:p>
            <a:r>
              <a:rPr lang="en-IN" sz="2400" b="0" i="0" u="none" strike="noStrike" baseline="0" dirty="0">
                <a:solidFill>
                  <a:srgbClr val="000000"/>
                </a:solidFill>
                <a:latin typeface="Cambria" panose="02040503050406030204" pitchFamily="18" charset="0"/>
              </a:rPr>
              <a:t>Primary axioms: </a:t>
            </a:r>
            <a:endParaRPr lang="en-IN" sz="2400" dirty="0"/>
          </a:p>
        </p:txBody>
      </p:sp>
    </p:spTree>
    <p:extLst>
      <p:ext uri="{BB962C8B-B14F-4D97-AF65-F5344CB8AC3E}">
        <p14:creationId xmlns:p14="http://schemas.microsoft.com/office/powerpoint/2010/main" val="876753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C7D451-6CDC-139F-2650-3AF4CC1C95F8}"/>
              </a:ext>
            </a:extLst>
          </p:cNvPr>
          <p:cNvSpPr txBox="1"/>
          <p:nvPr/>
        </p:nvSpPr>
        <p:spPr>
          <a:xfrm>
            <a:off x="601437" y="408605"/>
            <a:ext cx="6101442" cy="369332"/>
          </a:xfrm>
          <a:prstGeom prst="rect">
            <a:avLst/>
          </a:prstGeom>
          <a:noFill/>
        </p:spPr>
        <p:txBody>
          <a:bodyPr wrap="square">
            <a:spAutoFit/>
          </a:bodyPr>
          <a:lstStyle/>
          <a:p>
            <a:r>
              <a:rPr lang="en-IN" sz="1800" b="0" i="0" u="none" strike="noStrike" baseline="0" dirty="0">
                <a:solidFill>
                  <a:srgbClr val="000000"/>
                </a:solidFill>
                <a:latin typeface="Times New Roman" panose="02020603050405020304" pitchFamily="18" charset="0"/>
              </a:rPr>
              <a:t>Secondary or derived axioms: </a:t>
            </a:r>
            <a:endParaRPr lang="en-IN" dirty="0"/>
          </a:p>
        </p:txBody>
      </p:sp>
      <p:pic>
        <p:nvPicPr>
          <p:cNvPr id="5" name="Picture 4">
            <a:extLst>
              <a:ext uri="{FF2B5EF4-FFF2-40B4-BE49-F238E27FC236}">
                <a16:creationId xmlns:a16="http://schemas.microsoft.com/office/drawing/2014/main" id="{F94C9A2F-B9D6-F97A-199C-5E6B9A1D52B5}"/>
              </a:ext>
            </a:extLst>
          </p:cNvPr>
          <p:cNvPicPr>
            <a:picLocks noChangeAspect="1"/>
          </p:cNvPicPr>
          <p:nvPr/>
        </p:nvPicPr>
        <p:blipFill>
          <a:blip r:embed="rId2"/>
          <a:stretch>
            <a:fillRect/>
          </a:stretch>
        </p:blipFill>
        <p:spPr>
          <a:xfrm>
            <a:off x="384602" y="1251858"/>
            <a:ext cx="11422795" cy="2898321"/>
          </a:xfrm>
          <a:prstGeom prst="rect">
            <a:avLst/>
          </a:prstGeom>
        </p:spPr>
      </p:pic>
    </p:spTree>
    <p:extLst>
      <p:ext uri="{BB962C8B-B14F-4D97-AF65-F5344CB8AC3E}">
        <p14:creationId xmlns:p14="http://schemas.microsoft.com/office/powerpoint/2010/main" val="3105765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94054A-48E3-AAC5-59EA-EE521BFE937B}"/>
              </a:ext>
            </a:extLst>
          </p:cNvPr>
          <p:cNvSpPr txBox="1"/>
          <p:nvPr/>
        </p:nvSpPr>
        <p:spPr>
          <a:xfrm>
            <a:off x="315686" y="0"/>
            <a:ext cx="9818914" cy="6124754"/>
          </a:xfrm>
          <a:prstGeom prst="rect">
            <a:avLst/>
          </a:prstGeom>
          <a:noFill/>
        </p:spPr>
        <p:txBody>
          <a:bodyPr wrap="square">
            <a:spAutoFit/>
          </a:bodyPr>
          <a:lstStyle/>
          <a:p>
            <a:r>
              <a:rPr lang="en-US" sz="3200" b="1" i="0" u="none" strike="noStrike" baseline="0" dirty="0">
                <a:solidFill>
                  <a:srgbClr val="000000"/>
                </a:solidFill>
                <a:latin typeface="Cambria" panose="02040503050406030204" pitchFamily="18" charset="0"/>
              </a:rPr>
              <a:t>Closure of a Set of Attributes: </a:t>
            </a:r>
            <a:endParaRPr lang="en-US" sz="3200" b="0" i="0" u="none" strike="noStrike" baseline="0" dirty="0">
              <a:solidFill>
                <a:srgbClr val="000000"/>
              </a:solidFill>
              <a:latin typeface="Cambria" panose="02040503050406030204" pitchFamily="18" charset="0"/>
            </a:endParaRPr>
          </a:p>
          <a:p>
            <a:r>
              <a:rPr lang="en-US" sz="2400" b="0" i="0" u="none" strike="noStrike" baseline="0" dirty="0">
                <a:solidFill>
                  <a:srgbClr val="000000"/>
                </a:solidFill>
                <a:latin typeface="Cambria" panose="02040503050406030204" pitchFamily="18" charset="0"/>
              </a:rPr>
              <a:t>Attribute closure of an attribute set can be defined as set of attributes which can be functionally determined from it. </a:t>
            </a:r>
          </a:p>
          <a:p>
            <a:r>
              <a:rPr lang="en-US" sz="2400" b="0" i="0" u="none" strike="noStrike" baseline="0" dirty="0">
                <a:solidFill>
                  <a:srgbClr val="000000"/>
                </a:solidFill>
                <a:latin typeface="Cambria" panose="02040503050406030204" pitchFamily="18" charset="0"/>
              </a:rPr>
              <a:t>The set of FD’s that is logically implied by F is called the closure of F and written as F</a:t>
            </a:r>
            <a:r>
              <a:rPr lang="en-US" sz="1400" b="0" i="0" u="none" strike="noStrike" baseline="0" dirty="0">
                <a:solidFill>
                  <a:srgbClr val="000000"/>
                </a:solidFill>
                <a:latin typeface="Cambria" panose="02040503050406030204" pitchFamily="18" charset="0"/>
              </a:rPr>
              <a:t>+</a:t>
            </a:r>
            <a:r>
              <a:rPr lang="en-US" sz="2400" b="0" i="0" u="none" strike="noStrike" baseline="0" dirty="0">
                <a:solidFill>
                  <a:srgbClr val="000000"/>
                </a:solidFill>
                <a:latin typeface="Cambria" panose="02040503050406030204" pitchFamily="18" charset="0"/>
              </a:rPr>
              <a:t>. And it is defined as “If F is a set FD’s on a relation R, the F</a:t>
            </a:r>
            <a:r>
              <a:rPr lang="en-US" sz="1400" b="0" i="0" u="none" strike="noStrike" baseline="0" dirty="0">
                <a:solidFill>
                  <a:srgbClr val="000000"/>
                </a:solidFill>
                <a:latin typeface="Cambria" panose="02040503050406030204" pitchFamily="18" charset="0"/>
              </a:rPr>
              <a:t>+</a:t>
            </a:r>
            <a:r>
              <a:rPr lang="en-US" sz="2400" b="0" i="0" u="none" strike="noStrike" baseline="0" dirty="0">
                <a:solidFill>
                  <a:srgbClr val="000000"/>
                </a:solidFill>
                <a:latin typeface="Cambria" panose="02040503050406030204" pitchFamily="18" charset="0"/>
              </a:rPr>
              <a:t>, the closure of F by using the inferences axioms that are not contained in F</a:t>
            </a:r>
            <a:r>
              <a:rPr lang="en-US" sz="1400" b="0" i="0" u="none" strike="noStrike" baseline="0" dirty="0">
                <a:solidFill>
                  <a:srgbClr val="000000"/>
                </a:solidFill>
                <a:latin typeface="Cambria" panose="02040503050406030204" pitchFamily="18" charset="0"/>
              </a:rPr>
              <a:t>+</a:t>
            </a:r>
            <a:r>
              <a:rPr lang="en-US" sz="2400" b="0" i="0" u="none" strike="noStrike" baseline="0" dirty="0">
                <a:solidFill>
                  <a:srgbClr val="000000"/>
                </a:solidFill>
                <a:latin typeface="Cambria" panose="02040503050406030204" pitchFamily="18" charset="0"/>
              </a:rPr>
              <a:t>. </a:t>
            </a:r>
          </a:p>
          <a:p>
            <a:endParaRPr lang="en-US" sz="2400" b="0" i="0" u="none" strike="noStrike" baseline="0" dirty="0">
              <a:solidFill>
                <a:srgbClr val="000000"/>
              </a:solidFill>
              <a:latin typeface="Cambria" panose="02040503050406030204" pitchFamily="18" charset="0"/>
            </a:endParaRPr>
          </a:p>
          <a:p>
            <a:r>
              <a:rPr lang="en-US" sz="2400" b="1" i="0" u="none" strike="noStrike" baseline="0" dirty="0">
                <a:solidFill>
                  <a:srgbClr val="000000"/>
                </a:solidFill>
                <a:latin typeface="Cambria" panose="02040503050406030204" pitchFamily="18" charset="0"/>
              </a:rPr>
              <a:t>Example: R (A, B, C, D) </a:t>
            </a:r>
            <a:r>
              <a:rPr lang="en-US" sz="2400" b="0" i="0" u="none" strike="noStrike" baseline="0" dirty="0">
                <a:solidFill>
                  <a:srgbClr val="000000"/>
                </a:solidFill>
                <a:latin typeface="Cambria" panose="02040503050406030204" pitchFamily="18" charset="0"/>
              </a:rPr>
              <a:t>and set of Functional Dependencies are </a:t>
            </a:r>
            <a:r>
              <a:rPr lang="en-US" sz="2400" b="1" i="0" u="none" strike="noStrike" baseline="0" dirty="0">
                <a:solidFill>
                  <a:srgbClr val="000000"/>
                </a:solidFill>
                <a:latin typeface="Cambria" panose="02040503050406030204" pitchFamily="18" charset="0"/>
              </a:rPr>
              <a:t>A→B, B→D, C→B </a:t>
            </a:r>
            <a:r>
              <a:rPr lang="en-US" sz="2400" b="0" i="0" u="none" strike="noStrike" baseline="0" dirty="0">
                <a:solidFill>
                  <a:srgbClr val="000000"/>
                </a:solidFill>
                <a:latin typeface="Cambria" panose="02040503050406030204" pitchFamily="18" charset="0"/>
              </a:rPr>
              <a:t>then what is the Closure of A, B, C, D? </a:t>
            </a:r>
          </a:p>
          <a:p>
            <a:r>
              <a:rPr lang="en-IN" sz="2400" b="1" i="0" u="none" strike="noStrike" baseline="0" dirty="0">
                <a:solidFill>
                  <a:srgbClr val="000000"/>
                </a:solidFill>
                <a:latin typeface="Cambria" panose="02040503050406030204" pitchFamily="18" charset="0"/>
              </a:rPr>
              <a:t>Solution: A+ is </a:t>
            </a:r>
            <a:endParaRPr lang="en-IN" sz="2400" b="0" i="0" u="none" strike="noStrike" baseline="0" dirty="0">
              <a:solidFill>
                <a:srgbClr val="000000"/>
              </a:solidFill>
              <a:latin typeface="Cambria" panose="02040503050406030204" pitchFamily="18" charset="0"/>
            </a:endParaRPr>
          </a:p>
          <a:p>
            <a:r>
              <a:rPr lang="en-US" sz="2400" b="1" i="0" u="none" strike="noStrike" baseline="0" dirty="0">
                <a:solidFill>
                  <a:srgbClr val="000000"/>
                </a:solidFill>
                <a:latin typeface="Cambria" panose="02040503050406030204" pitchFamily="18" charset="0"/>
              </a:rPr>
              <a:t>A</a:t>
            </a:r>
            <a:r>
              <a:rPr lang="en-US" sz="1400" b="1" i="0" u="none" strike="noStrike" baseline="0" dirty="0">
                <a:solidFill>
                  <a:srgbClr val="000000"/>
                </a:solidFill>
                <a:latin typeface="Cambria" panose="02040503050406030204" pitchFamily="18" charset="0"/>
              </a:rPr>
              <a:t>+</a:t>
            </a:r>
            <a:r>
              <a:rPr lang="en-US" sz="2400" b="1" i="0" u="none" strike="noStrike" baseline="0" dirty="0">
                <a:solidFill>
                  <a:srgbClr val="000000"/>
                </a:solidFill>
                <a:latin typeface="Cambria" panose="02040503050406030204" pitchFamily="18" charset="0"/>
              </a:rPr>
              <a:t>→ {A, B, D} i.e., A→B, B→D is exists and C is not FD on A. So it is eliminated. B</a:t>
            </a:r>
            <a:r>
              <a:rPr lang="en-US" sz="1400" b="1" i="0" u="none" strike="noStrike" baseline="0" dirty="0">
                <a:solidFill>
                  <a:srgbClr val="000000"/>
                </a:solidFill>
                <a:latin typeface="Cambria" panose="02040503050406030204" pitchFamily="18" charset="0"/>
              </a:rPr>
              <a:t>+</a:t>
            </a:r>
            <a:r>
              <a:rPr lang="en-US" sz="2400" b="1" i="0" u="none" strike="noStrike" baseline="0" dirty="0">
                <a:solidFill>
                  <a:srgbClr val="000000"/>
                </a:solidFill>
                <a:latin typeface="Cambria" panose="02040503050406030204" pitchFamily="18" charset="0"/>
              </a:rPr>
              <a:t>→ { B, D} i.e., B→D is exists and A, C is not FD on A. So it is eliminated. </a:t>
            </a:r>
            <a:endParaRPr lang="en-US" sz="2400" b="0" i="0" u="none" strike="noStrike" baseline="0" dirty="0">
              <a:solidFill>
                <a:srgbClr val="000000"/>
              </a:solidFill>
              <a:latin typeface="Cambria" panose="02040503050406030204" pitchFamily="18" charset="0"/>
            </a:endParaRPr>
          </a:p>
          <a:p>
            <a:r>
              <a:rPr lang="en-US" sz="2400" b="1" i="0" u="none" strike="noStrike" baseline="0" dirty="0">
                <a:solidFill>
                  <a:srgbClr val="000000"/>
                </a:solidFill>
                <a:latin typeface="Cambria" panose="02040503050406030204" pitchFamily="18" charset="0"/>
              </a:rPr>
              <a:t>C</a:t>
            </a:r>
            <a:r>
              <a:rPr lang="en-US" sz="1400" b="1" i="0" u="none" strike="noStrike" baseline="0" dirty="0">
                <a:solidFill>
                  <a:srgbClr val="000000"/>
                </a:solidFill>
                <a:latin typeface="Cambria" panose="02040503050406030204" pitchFamily="18" charset="0"/>
              </a:rPr>
              <a:t>+</a:t>
            </a:r>
            <a:r>
              <a:rPr lang="en-US" sz="2400" b="1" i="0" u="none" strike="noStrike" baseline="0" dirty="0">
                <a:solidFill>
                  <a:srgbClr val="000000"/>
                </a:solidFill>
                <a:latin typeface="Cambria" panose="02040503050406030204" pitchFamily="18" charset="0"/>
              </a:rPr>
              <a:t>→ {C, B, D} i.e., C→B, B→D is exists and A is not FD on C. So it is eliminated. </a:t>
            </a:r>
            <a:endParaRPr lang="en-IN" sz="2400" dirty="0"/>
          </a:p>
        </p:txBody>
      </p:sp>
    </p:spTree>
    <p:extLst>
      <p:ext uri="{BB962C8B-B14F-4D97-AF65-F5344CB8AC3E}">
        <p14:creationId xmlns:p14="http://schemas.microsoft.com/office/powerpoint/2010/main" val="3794077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28ECEF-2D1F-1334-F4DF-4D2AAC277698}"/>
              </a:ext>
            </a:extLst>
          </p:cNvPr>
          <p:cNvSpPr txBox="1"/>
          <p:nvPr/>
        </p:nvSpPr>
        <p:spPr>
          <a:xfrm>
            <a:off x="536122" y="400736"/>
            <a:ext cx="10970078" cy="830997"/>
          </a:xfrm>
          <a:prstGeom prst="rect">
            <a:avLst/>
          </a:prstGeom>
          <a:noFill/>
        </p:spPr>
        <p:txBody>
          <a:bodyPr wrap="square">
            <a:spAutoFit/>
          </a:bodyPr>
          <a:lstStyle/>
          <a:p>
            <a:r>
              <a:rPr lang="en-US" sz="2400" b="0" i="0" u="none" strike="noStrike" baseline="0" dirty="0">
                <a:solidFill>
                  <a:srgbClr val="000000"/>
                </a:solidFill>
                <a:latin typeface="Cambria" panose="02040503050406030204" pitchFamily="18" charset="0"/>
              </a:rPr>
              <a:t>The algorithm for computing the attribute closure of a set X of attributes is shown below </a:t>
            </a:r>
            <a:endParaRPr lang="en-IN" sz="2400" dirty="0"/>
          </a:p>
        </p:txBody>
      </p:sp>
      <p:pic>
        <p:nvPicPr>
          <p:cNvPr id="5" name="Picture 4">
            <a:extLst>
              <a:ext uri="{FF2B5EF4-FFF2-40B4-BE49-F238E27FC236}">
                <a16:creationId xmlns:a16="http://schemas.microsoft.com/office/drawing/2014/main" id="{882FD367-3F20-0339-C1F7-BDACFA51BB29}"/>
              </a:ext>
            </a:extLst>
          </p:cNvPr>
          <p:cNvPicPr>
            <a:picLocks noChangeAspect="1"/>
          </p:cNvPicPr>
          <p:nvPr/>
        </p:nvPicPr>
        <p:blipFill>
          <a:blip r:embed="rId2"/>
          <a:stretch>
            <a:fillRect/>
          </a:stretch>
        </p:blipFill>
        <p:spPr>
          <a:xfrm>
            <a:off x="1665518" y="1763486"/>
            <a:ext cx="8466935" cy="2035322"/>
          </a:xfrm>
          <a:prstGeom prst="rect">
            <a:avLst/>
          </a:prstGeom>
        </p:spPr>
      </p:pic>
    </p:spTree>
    <p:extLst>
      <p:ext uri="{BB962C8B-B14F-4D97-AF65-F5344CB8AC3E}">
        <p14:creationId xmlns:p14="http://schemas.microsoft.com/office/powerpoint/2010/main" val="2646741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86F1BF-AE73-48DC-9B96-45D312BB4821}"/>
              </a:ext>
            </a:extLst>
          </p:cNvPr>
          <p:cNvSpPr txBox="1"/>
          <p:nvPr/>
        </p:nvSpPr>
        <p:spPr>
          <a:xfrm>
            <a:off x="370114" y="572121"/>
            <a:ext cx="10352315" cy="4832092"/>
          </a:xfrm>
          <a:prstGeom prst="rect">
            <a:avLst/>
          </a:prstGeom>
          <a:noFill/>
        </p:spPr>
        <p:txBody>
          <a:bodyPr wrap="square">
            <a:spAutoFit/>
          </a:bodyPr>
          <a:lstStyle/>
          <a:p>
            <a:pPr algn="just"/>
            <a:r>
              <a:rPr lang="en-IN" sz="2800" b="1" i="0" u="none" strike="noStrike" baseline="0" dirty="0">
                <a:solidFill>
                  <a:srgbClr val="000000"/>
                </a:solidFill>
                <a:latin typeface="Cambria" panose="02040503050406030204" pitchFamily="18" charset="0"/>
              </a:rPr>
              <a:t>Types of functional dependencies: </a:t>
            </a:r>
            <a:endParaRPr lang="en-IN" sz="28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1. Fully Functional Dependency</a:t>
            </a:r>
            <a:r>
              <a:rPr lang="en-US" sz="2000" b="0" i="0" u="none" strike="noStrike" baseline="0" dirty="0">
                <a:solidFill>
                  <a:srgbClr val="000000"/>
                </a:solidFill>
                <a:latin typeface="Cambria" panose="02040503050406030204" pitchFamily="18" charset="0"/>
              </a:rPr>
              <a:t>: A functional dependency is said to be full dependency “if and only if the determinant of the functional dependency if either candidate key or super key, and the dependent can be either prime or non-prime attribute”. </a:t>
            </a:r>
          </a:p>
          <a:p>
            <a:pPr algn="just"/>
            <a:endParaRPr lang="en-IN" sz="2000" b="0" i="0" u="none" strike="noStrike" baseline="0" dirty="0">
              <a:solidFill>
                <a:srgbClr val="000000"/>
              </a:solidFill>
              <a:latin typeface="Cambria" panose="02040503050406030204" pitchFamily="18" charset="0"/>
            </a:endParaRPr>
          </a:p>
          <a:p>
            <a:pPr algn="just"/>
            <a:r>
              <a:rPr lang="en-IN" sz="2000" b="0" i="0" u="none" strike="noStrike" baseline="0" dirty="0">
                <a:solidFill>
                  <a:srgbClr val="000000"/>
                </a:solidFill>
                <a:latin typeface="Cambria" panose="02040503050406030204" pitchFamily="18" charset="0"/>
              </a:rPr>
              <a:t>(OR) </a:t>
            </a:r>
          </a:p>
          <a:p>
            <a:pPr algn="just"/>
            <a:endParaRPr lang="en-IN" sz="2000" b="0" i="0" u="none" strike="noStrike" baseline="0" dirty="0">
              <a:solidFill>
                <a:srgbClr val="000000"/>
              </a:solidFill>
              <a:latin typeface="Cambria" panose="02040503050406030204" pitchFamily="18" charset="0"/>
            </a:endParaRPr>
          </a:p>
          <a:p>
            <a:pPr algn="just"/>
            <a:r>
              <a:rPr lang="en-US" sz="2000" b="0" i="0" u="none" strike="noStrike" baseline="0" dirty="0">
                <a:solidFill>
                  <a:srgbClr val="000000"/>
                </a:solidFill>
                <a:latin typeface="Cambria" panose="02040503050406030204" pitchFamily="18" charset="0"/>
              </a:rPr>
              <a:t>Let’s take the functional dependency </a:t>
            </a:r>
            <a:r>
              <a:rPr lang="en-US" sz="2000" b="1" i="0" u="none" strike="noStrike" baseline="0" dirty="0">
                <a:solidFill>
                  <a:srgbClr val="000000"/>
                </a:solidFill>
                <a:latin typeface="Cambria" panose="02040503050406030204" pitchFamily="18" charset="0"/>
              </a:rPr>
              <a:t>X → Y (</a:t>
            </a:r>
            <a:r>
              <a:rPr lang="en-US" sz="2000" b="0" i="0" u="none" strike="noStrike" baseline="0" dirty="0">
                <a:solidFill>
                  <a:srgbClr val="000000"/>
                </a:solidFill>
                <a:latin typeface="Cambria" panose="02040503050406030204" pitchFamily="18" charset="0"/>
              </a:rPr>
              <a:t>i.e., X determines y). Here Y is said to be fully determinant, if it cannot determine any subset of X. </a:t>
            </a:r>
          </a:p>
          <a:p>
            <a:pPr algn="just"/>
            <a:r>
              <a:rPr lang="en-US" sz="2000" b="1" i="0" u="none" strike="noStrike" baseline="0" dirty="0">
                <a:solidFill>
                  <a:srgbClr val="000000"/>
                </a:solidFill>
                <a:latin typeface="Cambria" panose="02040503050406030204" pitchFamily="18" charset="0"/>
              </a:rPr>
              <a:t>Example: </a:t>
            </a:r>
            <a:r>
              <a:rPr lang="en-US" sz="2000" b="0" i="0" u="none" strike="noStrike" baseline="0" dirty="0">
                <a:solidFill>
                  <a:srgbClr val="000000"/>
                </a:solidFill>
                <a:latin typeface="Cambria" panose="02040503050406030204" pitchFamily="18" charset="0"/>
              </a:rPr>
              <a:t>Consider the following determinant </a:t>
            </a:r>
            <a:r>
              <a:rPr lang="en-US" sz="2000" b="1" i="0" u="none" strike="noStrike" baseline="0" dirty="0">
                <a:solidFill>
                  <a:srgbClr val="000000"/>
                </a:solidFill>
                <a:latin typeface="Cambria" panose="02040503050406030204" pitchFamily="18" charset="0"/>
              </a:rPr>
              <a:t>ABC → D </a:t>
            </a:r>
            <a:r>
              <a:rPr lang="en-US" sz="2000" b="0" i="0" u="none" strike="noStrike" baseline="0" dirty="0">
                <a:solidFill>
                  <a:srgbClr val="000000"/>
                </a:solidFill>
                <a:latin typeface="Cambria" panose="02040503050406030204" pitchFamily="18" charset="0"/>
              </a:rPr>
              <a:t>i.e., ABC determines D but D is not determined by any subset of A/ BC/C/B/AB i.e., </a:t>
            </a:r>
            <a:r>
              <a:rPr lang="en-US" sz="2000" b="1" i="0" u="none" strike="noStrike" baseline="0" dirty="0">
                <a:solidFill>
                  <a:srgbClr val="000000"/>
                </a:solidFill>
                <a:latin typeface="Cambria" panose="02040503050406030204" pitchFamily="18" charset="0"/>
              </a:rPr>
              <a:t>BC→D, C→D, A→D </a:t>
            </a:r>
            <a:r>
              <a:rPr lang="en-US" sz="2000" b="0" i="0" u="none" strike="noStrike" baseline="0" dirty="0">
                <a:solidFill>
                  <a:srgbClr val="000000"/>
                </a:solidFill>
                <a:latin typeface="Cambria" panose="02040503050406030204" pitchFamily="18" charset="0"/>
              </a:rPr>
              <a:t>Functional dependencies are </a:t>
            </a:r>
            <a:r>
              <a:rPr lang="en-US" sz="2000" b="1" i="0" u="none" strike="noStrike" baseline="0" dirty="0">
                <a:solidFill>
                  <a:srgbClr val="000000"/>
                </a:solidFill>
                <a:latin typeface="Cambria" panose="02040503050406030204" pitchFamily="18" charset="0"/>
              </a:rPr>
              <a:t>not exists. So D is Fully Functional Dependent. </a:t>
            </a:r>
          </a:p>
          <a:p>
            <a:pPr algn="just"/>
            <a:endParaRPr lang="en-US" sz="20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2. Partial Functional Dependency</a:t>
            </a:r>
            <a:r>
              <a:rPr lang="en-US" sz="2000" b="0" i="0" u="none" strike="noStrike" baseline="0" dirty="0">
                <a:solidFill>
                  <a:srgbClr val="000000"/>
                </a:solidFill>
                <a:latin typeface="Cambria" panose="02040503050406030204" pitchFamily="18" charset="0"/>
              </a:rPr>
              <a:t>: If a non-prime attribute of the relation is getting derived by only a part of the candidate key, then such dependency is known as Partial Dependency. </a:t>
            </a:r>
          </a:p>
        </p:txBody>
      </p:sp>
    </p:spTree>
    <p:extLst>
      <p:ext uri="{BB962C8B-B14F-4D97-AF65-F5344CB8AC3E}">
        <p14:creationId xmlns:p14="http://schemas.microsoft.com/office/powerpoint/2010/main" val="1969843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91D8314-CF57-3FC2-6DC9-CA18CF361B6C}"/>
              </a:ext>
            </a:extLst>
          </p:cNvPr>
          <p:cNvSpPr txBox="1"/>
          <p:nvPr/>
        </p:nvSpPr>
        <p:spPr>
          <a:xfrm>
            <a:off x="892629" y="879898"/>
            <a:ext cx="9949542" cy="4555093"/>
          </a:xfrm>
          <a:prstGeom prst="rect">
            <a:avLst/>
          </a:prstGeom>
          <a:noFill/>
        </p:spPr>
        <p:txBody>
          <a:bodyPr wrap="square">
            <a:spAutoFit/>
          </a:bodyPr>
          <a:lstStyle/>
          <a:p>
            <a:pPr algn="l"/>
            <a:endParaRPr lang="en-IN" sz="2000" b="0" i="0" u="none" strike="noStrike" baseline="0" dirty="0">
              <a:solidFill>
                <a:srgbClr val="000000"/>
              </a:solidFill>
              <a:latin typeface="Cambria" panose="02040503050406030204" pitchFamily="18" charset="0"/>
            </a:endParaRPr>
          </a:p>
          <a:p>
            <a:endParaRPr lang="en-IN" sz="1800" b="0" i="0" u="none" strike="noStrike" baseline="0" dirty="0">
              <a:solidFill>
                <a:srgbClr val="000000"/>
              </a:solidFill>
              <a:latin typeface="Cambria" panose="02040503050406030204" pitchFamily="18" charset="0"/>
            </a:endParaRPr>
          </a:p>
          <a:p>
            <a:r>
              <a:rPr lang="en-IN" sz="1800" b="1" i="0" u="none" strike="noStrike" baseline="0" dirty="0">
                <a:solidFill>
                  <a:srgbClr val="000000"/>
                </a:solidFill>
                <a:latin typeface="Cambria" panose="02040503050406030204" pitchFamily="18" charset="0"/>
              </a:rPr>
              <a:t>(OR) </a:t>
            </a:r>
            <a:endParaRPr lang="en-IN"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Cambria" panose="02040503050406030204" pitchFamily="18" charset="0"/>
              </a:rPr>
              <a:t>In a relation having more than one key field, a subset of non key fields may depend on all key fields but another subset or a particular non-key field may depend on only one of the key fields. Such dependency is defined as </a:t>
            </a:r>
            <a:r>
              <a:rPr lang="en-US" sz="1800" b="1" i="0" u="none" strike="noStrike" baseline="0" dirty="0">
                <a:solidFill>
                  <a:srgbClr val="000000"/>
                </a:solidFill>
                <a:latin typeface="Cambria" panose="02040503050406030204" pitchFamily="18" charset="0"/>
              </a:rPr>
              <a:t>Partial Dependency</a:t>
            </a:r>
            <a:r>
              <a:rPr lang="en-US" sz="1800" b="0" i="0" u="none" strike="noStrike" baseline="0" dirty="0">
                <a:solidFill>
                  <a:srgbClr val="000000"/>
                </a:solidFill>
                <a:latin typeface="Cambria" panose="02040503050406030204" pitchFamily="18" charset="0"/>
              </a:rPr>
              <a:t>. </a:t>
            </a:r>
          </a:p>
          <a:p>
            <a:r>
              <a:rPr lang="en-US" sz="1800" b="1" i="0" u="none" strike="noStrike" baseline="0" dirty="0">
                <a:solidFill>
                  <a:srgbClr val="000000"/>
                </a:solidFill>
                <a:latin typeface="Calibri" panose="020F0502020204030204" pitchFamily="34" charset="0"/>
              </a:rPr>
              <a:t>Example: </a:t>
            </a:r>
            <a:r>
              <a:rPr lang="en-US" sz="1800" b="0" i="0" u="none" strike="noStrike" baseline="0" dirty="0">
                <a:solidFill>
                  <a:srgbClr val="000000"/>
                </a:solidFill>
                <a:latin typeface="Calibri" panose="020F0502020204030204" pitchFamily="34" charset="0"/>
              </a:rPr>
              <a:t>Consider the following determinants </a:t>
            </a:r>
            <a:r>
              <a:rPr lang="en-US" sz="1800" b="1" i="0" u="none" strike="noStrike" baseline="0" dirty="0">
                <a:solidFill>
                  <a:srgbClr val="000000"/>
                </a:solidFill>
                <a:latin typeface="Calibri" panose="020F0502020204030204" pitchFamily="34" charset="0"/>
              </a:rPr>
              <a:t>AC→P, A→D, D→P. From these determinants P is not fully FD on AC</a:t>
            </a:r>
            <a:r>
              <a:rPr lang="en-US" sz="1800" b="0" i="0" u="none" strike="noStrike" baseline="0" dirty="0">
                <a:solidFill>
                  <a:srgbClr val="000000"/>
                </a:solidFill>
                <a:latin typeface="Calibri" panose="020F0502020204030204" pitchFamily="34" charset="0"/>
              </a:rPr>
              <a:t>. Because, If we find </a:t>
            </a:r>
            <a:r>
              <a:rPr lang="en-US" sz="1800" b="1" i="0" u="none" strike="noStrike" baseline="0" dirty="0">
                <a:solidFill>
                  <a:srgbClr val="000000"/>
                </a:solidFill>
                <a:latin typeface="Calibri" panose="020F0502020204030204" pitchFamily="34" charset="0"/>
              </a:rPr>
              <a:t>A+ </a:t>
            </a:r>
            <a:r>
              <a:rPr lang="en-US" sz="1800" b="0" i="0" u="none" strike="noStrike" baseline="0" dirty="0">
                <a:solidFill>
                  <a:srgbClr val="000000"/>
                </a:solidFill>
                <a:latin typeface="Calibri" panose="020F0502020204030204" pitchFamily="34" charset="0"/>
              </a:rPr>
              <a:t>(means A’s Closure) </a:t>
            </a:r>
            <a:r>
              <a:rPr lang="en-US" sz="1800" b="1" i="0" u="none" strike="noStrike" baseline="0" dirty="0">
                <a:solidFill>
                  <a:srgbClr val="000000"/>
                </a:solidFill>
                <a:latin typeface="Calibri" panose="020F0502020204030204" pitchFamily="34" charset="0"/>
              </a:rPr>
              <a:t>A→D, D→P </a:t>
            </a:r>
            <a:r>
              <a:rPr lang="en-US" sz="1800" b="0" i="0" u="none" strike="noStrike" baseline="0" dirty="0">
                <a:solidFill>
                  <a:srgbClr val="000000"/>
                </a:solidFill>
                <a:latin typeface="Calibri" panose="020F0502020204030204" pitchFamily="34" charset="0"/>
              </a:rPr>
              <a:t>i.e., </a:t>
            </a:r>
            <a:r>
              <a:rPr lang="en-US" sz="1800" b="1" i="0" u="none" strike="noStrike" baseline="0" dirty="0">
                <a:solidFill>
                  <a:srgbClr val="000000"/>
                </a:solidFill>
                <a:latin typeface="Calibri" panose="020F0502020204030204" pitchFamily="34" charset="0"/>
              </a:rPr>
              <a:t>A→P. </a:t>
            </a:r>
            <a:r>
              <a:rPr lang="en-US" sz="1800" b="0" i="0" u="none" strike="noStrike" baseline="0" dirty="0">
                <a:solidFill>
                  <a:srgbClr val="000000"/>
                </a:solidFill>
                <a:latin typeface="Calibri" panose="020F0502020204030204" pitchFamily="34" charset="0"/>
              </a:rPr>
              <a:t>But we don’t have any requirement of </a:t>
            </a:r>
            <a:r>
              <a:rPr lang="en-US" sz="1800" b="1" i="0" u="none" strike="noStrike" baseline="0" dirty="0">
                <a:solidFill>
                  <a:srgbClr val="000000"/>
                </a:solidFill>
                <a:latin typeface="Calibri" panose="020F0502020204030204" pitchFamily="34" charset="0"/>
              </a:rPr>
              <a:t>C</a:t>
            </a:r>
            <a:r>
              <a:rPr lang="en-US" sz="1800" b="0" i="0" u="none" strike="noStrike" baseline="0"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C </a:t>
            </a:r>
            <a:r>
              <a:rPr lang="en-US" sz="1800" b="0" i="0" u="none" strike="noStrike" baseline="0" dirty="0">
                <a:solidFill>
                  <a:srgbClr val="000000"/>
                </a:solidFill>
                <a:latin typeface="Calibri" panose="020F0502020204030204" pitchFamily="34" charset="0"/>
              </a:rPr>
              <a:t>attribute is removed completely. So </a:t>
            </a:r>
            <a:r>
              <a:rPr lang="en-US" sz="1800" b="1" i="0" u="none" strike="noStrike" baseline="0" dirty="0">
                <a:solidFill>
                  <a:srgbClr val="000000"/>
                </a:solidFill>
                <a:latin typeface="Calibri" panose="020F0502020204030204" pitchFamily="34" charset="0"/>
              </a:rPr>
              <a:t>P </a:t>
            </a:r>
            <a:r>
              <a:rPr lang="en-US" sz="1800" b="0" i="0" u="none" strike="noStrike" baseline="0" dirty="0">
                <a:solidFill>
                  <a:srgbClr val="000000"/>
                </a:solidFill>
                <a:latin typeface="Calibri" panose="020F0502020204030204" pitchFamily="34" charset="0"/>
              </a:rPr>
              <a:t>is Partially Dependent on </a:t>
            </a:r>
            <a:r>
              <a:rPr lang="en-US" sz="1800" b="1" i="0" u="none" strike="noStrike" baseline="0" dirty="0">
                <a:solidFill>
                  <a:srgbClr val="000000"/>
                </a:solidFill>
                <a:latin typeface="Calibri" panose="020F0502020204030204" pitchFamily="34" charset="0"/>
              </a:rPr>
              <a:t>AC. </a:t>
            </a:r>
            <a:endParaRPr lang="en-US" sz="1800" b="0" i="0" u="none" strike="noStrike" baseline="0" dirty="0">
              <a:solidFill>
                <a:srgbClr val="000000"/>
              </a:solidFill>
              <a:latin typeface="Cambria" panose="02040503050406030204" pitchFamily="18" charset="0"/>
            </a:endParaRPr>
          </a:p>
          <a:p>
            <a:endParaRPr lang="en-US" sz="1800" b="1" i="0" u="none" strike="noStrike" baseline="0" dirty="0">
              <a:solidFill>
                <a:srgbClr val="000000"/>
              </a:solidFill>
              <a:latin typeface="Cambria" panose="02040503050406030204" pitchFamily="18" charset="0"/>
            </a:endParaRPr>
          </a:p>
          <a:p>
            <a:r>
              <a:rPr lang="en-US" sz="1800" b="1" i="0" u="none" strike="noStrike" baseline="0" dirty="0">
                <a:solidFill>
                  <a:srgbClr val="000000"/>
                </a:solidFill>
                <a:latin typeface="Cambria" panose="02040503050406030204" pitchFamily="18" charset="0"/>
              </a:rPr>
              <a:t>Under the following conditions a table cannot have partial F.D </a:t>
            </a:r>
          </a:p>
          <a:p>
            <a:endParaRPr lang="en-US" b="1" dirty="0">
              <a:solidFill>
                <a:srgbClr val="000000"/>
              </a:solidFill>
              <a:latin typeface="Cambria" panose="02040503050406030204" pitchFamily="18" charset="0"/>
            </a:endParaRPr>
          </a:p>
          <a:p>
            <a:r>
              <a:rPr lang="en-US" sz="1800" b="0" i="0" u="none" strike="noStrike" baseline="0" dirty="0">
                <a:solidFill>
                  <a:srgbClr val="000000"/>
                </a:solidFill>
                <a:latin typeface="Cambria" panose="02040503050406030204" pitchFamily="18" charset="0"/>
              </a:rPr>
              <a:t>(1) If primary key consists a single attribute </a:t>
            </a:r>
          </a:p>
          <a:p>
            <a:r>
              <a:rPr lang="en-US" sz="1800" b="0" i="0" u="none" strike="noStrike" baseline="0" dirty="0">
                <a:solidFill>
                  <a:srgbClr val="000000"/>
                </a:solidFill>
                <a:latin typeface="Cambria" panose="02040503050406030204" pitchFamily="18" charset="0"/>
              </a:rPr>
              <a:t>(2) If table consists only two attributes </a:t>
            </a:r>
          </a:p>
          <a:p>
            <a:r>
              <a:rPr lang="en-US" sz="1800" b="0" i="0" u="none" strike="noStrike" baseline="0" dirty="0">
                <a:solidFill>
                  <a:srgbClr val="000000"/>
                </a:solidFill>
                <a:latin typeface="Cambria" panose="02040503050406030204" pitchFamily="18" charset="0"/>
              </a:rPr>
              <a:t>(3) If all the attributes in the table are part of the primary key </a:t>
            </a:r>
          </a:p>
          <a:p>
            <a:endParaRPr lang="en-IN" dirty="0"/>
          </a:p>
        </p:txBody>
      </p:sp>
    </p:spTree>
    <p:extLst>
      <p:ext uri="{BB962C8B-B14F-4D97-AF65-F5344CB8AC3E}">
        <p14:creationId xmlns:p14="http://schemas.microsoft.com/office/powerpoint/2010/main" val="2872734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5CA005-E42F-77F5-EED7-C6297B91207C}"/>
              </a:ext>
            </a:extLst>
          </p:cNvPr>
          <p:cNvSpPr txBox="1"/>
          <p:nvPr/>
        </p:nvSpPr>
        <p:spPr>
          <a:xfrm>
            <a:off x="195943" y="464399"/>
            <a:ext cx="11723914" cy="4770537"/>
          </a:xfrm>
          <a:prstGeom prst="rect">
            <a:avLst/>
          </a:prstGeom>
          <a:noFill/>
        </p:spPr>
        <p:txBody>
          <a:bodyPr wrap="square">
            <a:spAutoFit/>
          </a:bodyPr>
          <a:lstStyle/>
          <a:p>
            <a:pPr algn="just"/>
            <a:endParaRPr lang="en-IN" sz="24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3. Transitive Functional Dependency: </a:t>
            </a:r>
            <a:r>
              <a:rPr lang="en-US" sz="2000" b="0" i="0" u="none" strike="noStrike" baseline="0" dirty="0">
                <a:solidFill>
                  <a:srgbClr val="000000"/>
                </a:solidFill>
                <a:latin typeface="Cambria" panose="02040503050406030204" pitchFamily="18" charset="0"/>
              </a:rPr>
              <a:t>If a non-prime attribute of a relation is getting derived by either another non-prime attribute or the combination of the part of the candidate key along with non-prime attribute, then such dependency is defined as </a:t>
            </a:r>
            <a:r>
              <a:rPr lang="en-US" sz="2000" b="1" i="0" u="none" strike="noStrike" baseline="0" dirty="0">
                <a:solidFill>
                  <a:srgbClr val="000000"/>
                </a:solidFill>
                <a:latin typeface="Cambria" panose="02040503050406030204" pitchFamily="18" charset="0"/>
              </a:rPr>
              <a:t>Transitive dependency</a:t>
            </a:r>
            <a:r>
              <a:rPr lang="en-US" sz="2000" b="0" i="0" u="none" strike="noStrike" baseline="0" dirty="0">
                <a:solidFill>
                  <a:srgbClr val="000000"/>
                </a:solidFill>
                <a:latin typeface="Cambria" panose="02040503050406030204" pitchFamily="18" charset="0"/>
              </a:rPr>
              <a:t>. i.e., in a relation, there may be dependency among non-key fields. Such dependency is called Transitive Functional Dependency. (1) If table consists only two attributes </a:t>
            </a:r>
          </a:p>
          <a:p>
            <a:pPr algn="just"/>
            <a:r>
              <a:rPr lang="en-US" sz="2000" b="0" i="0" u="none" strike="noStrike" baseline="0" dirty="0">
                <a:solidFill>
                  <a:srgbClr val="000000"/>
                </a:solidFill>
                <a:latin typeface="Cambria" panose="02040503050406030204" pitchFamily="18" charset="0"/>
              </a:rPr>
              <a:t>(2) If all the attributes in the table are part of the primary key. </a:t>
            </a:r>
          </a:p>
          <a:p>
            <a:pPr algn="just"/>
            <a:endParaRPr lang="en-IN" sz="20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Example: X→Y</a:t>
            </a:r>
            <a:r>
              <a:rPr lang="en-US" sz="2000" b="0" i="0" u="none" strike="noStrike" baseline="0" dirty="0">
                <a:solidFill>
                  <a:srgbClr val="000000"/>
                </a:solidFill>
                <a:latin typeface="Cambria" panose="02040503050406030204" pitchFamily="18" charset="0"/>
              </a:rPr>
              <a:t>, and </a:t>
            </a:r>
            <a:r>
              <a:rPr lang="en-US" sz="2000" b="1" i="0" u="none" strike="noStrike" baseline="0" dirty="0">
                <a:solidFill>
                  <a:srgbClr val="000000"/>
                </a:solidFill>
                <a:latin typeface="Cambria" panose="02040503050406030204" pitchFamily="18" charset="0"/>
              </a:rPr>
              <a:t>Y→Z </a:t>
            </a:r>
            <a:r>
              <a:rPr lang="en-US" sz="2000" b="0" i="0" u="none" strike="noStrike" baseline="0" dirty="0">
                <a:solidFill>
                  <a:srgbClr val="000000"/>
                </a:solidFill>
                <a:latin typeface="Cambria" panose="02040503050406030204" pitchFamily="18" charset="0"/>
              </a:rPr>
              <a:t>then we can determine </a:t>
            </a:r>
            <a:r>
              <a:rPr lang="en-US" sz="2000" b="1" i="0" u="none" strike="noStrike" baseline="0" dirty="0">
                <a:solidFill>
                  <a:srgbClr val="000000"/>
                </a:solidFill>
                <a:latin typeface="Cambria" panose="02040503050406030204" pitchFamily="18" charset="0"/>
              </a:rPr>
              <a:t>X→Z holds. </a:t>
            </a:r>
            <a:endParaRPr lang="en-US" sz="20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Under the following Circumstances, a table cannot have transitive F.D </a:t>
            </a:r>
          </a:p>
          <a:p>
            <a:pPr algn="just"/>
            <a:endParaRPr lang="en-US" sz="20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4. Trivial Functional Dependency: </a:t>
            </a:r>
            <a:r>
              <a:rPr lang="en-US" sz="2000" b="0" i="0" u="none" strike="noStrike" baseline="0" dirty="0">
                <a:solidFill>
                  <a:srgbClr val="000000"/>
                </a:solidFill>
                <a:latin typeface="Cambria" panose="02040503050406030204" pitchFamily="18" charset="0"/>
              </a:rPr>
              <a:t>It is basically related to Reflexive rule. i.e., if X is a set of attributes, and Y is subset of X then </a:t>
            </a:r>
            <a:r>
              <a:rPr lang="en-US" sz="2000" b="1" i="0" u="none" strike="noStrike" baseline="0" dirty="0">
                <a:solidFill>
                  <a:srgbClr val="000000"/>
                </a:solidFill>
                <a:latin typeface="Cambria" panose="02040503050406030204" pitchFamily="18" charset="0"/>
              </a:rPr>
              <a:t>X→Y </a:t>
            </a:r>
            <a:r>
              <a:rPr lang="en-US" sz="2000" b="0" i="0" u="none" strike="noStrike" baseline="0" dirty="0">
                <a:solidFill>
                  <a:srgbClr val="000000"/>
                </a:solidFill>
                <a:latin typeface="Cambria" panose="02040503050406030204" pitchFamily="18" charset="0"/>
              </a:rPr>
              <a:t>holds. </a:t>
            </a:r>
          </a:p>
          <a:p>
            <a:pPr algn="just"/>
            <a:endParaRPr lang="en-IN" sz="2000" b="0" i="0" u="none" strike="noStrike" baseline="0" dirty="0">
              <a:solidFill>
                <a:srgbClr val="000000"/>
              </a:solidFill>
              <a:latin typeface="Cambria" panose="02040503050406030204" pitchFamily="18" charset="0"/>
            </a:endParaRPr>
          </a:p>
          <a:p>
            <a:pPr algn="just"/>
            <a:r>
              <a:rPr lang="en-US" sz="2000" b="1" i="0" u="none" strike="noStrike" baseline="0" dirty="0">
                <a:solidFill>
                  <a:srgbClr val="000000"/>
                </a:solidFill>
                <a:latin typeface="Cambria" panose="02040503050406030204" pitchFamily="18" charset="0"/>
              </a:rPr>
              <a:t>Example: ABC→BC </a:t>
            </a:r>
            <a:r>
              <a:rPr lang="en-US" sz="2000" b="0" i="0" u="none" strike="noStrike" baseline="0" dirty="0">
                <a:solidFill>
                  <a:srgbClr val="000000"/>
                </a:solidFill>
                <a:latin typeface="Cambria" panose="02040503050406030204" pitchFamily="18" charset="0"/>
              </a:rPr>
              <a:t>is a Trivial Dependency. </a:t>
            </a:r>
            <a:endParaRPr lang="en-IN" sz="2000" dirty="0"/>
          </a:p>
        </p:txBody>
      </p:sp>
    </p:spTree>
    <p:extLst>
      <p:ext uri="{BB962C8B-B14F-4D97-AF65-F5344CB8AC3E}">
        <p14:creationId xmlns:p14="http://schemas.microsoft.com/office/powerpoint/2010/main" val="2027137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8F46BC-C3B7-D41A-F321-69E885CBC3AF}"/>
              </a:ext>
            </a:extLst>
          </p:cNvPr>
          <p:cNvSpPr txBox="1"/>
          <p:nvPr/>
        </p:nvSpPr>
        <p:spPr>
          <a:xfrm>
            <a:off x="285751" y="245005"/>
            <a:ext cx="10643506" cy="1231106"/>
          </a:xfrm>
          <a:prstGeom prst="rect">
            <a:avLst/>
          </a:prstGeom>
          <a:noFill/>
        </p:spPr>
        <p:txBody>
          <a:bodyPr wrap="square">
            <a:spAutoFit/>
          </a:bodyPr>
          <a:lstStyle/>
          <a:p>
            <a:pPr algn="just"/>
            <a:endParaRPr lang="en-IN" sz="2000" b="0" i="0" u="none" strike="noStrike" baseline="0" dirty="0">
              <a:solidFill>
                <a:srgbClr val="000000"/>
              </a:solidFill>
              <a:latin typeface="Cambria" panose="02040503050406030204" pitchFamily="18" charset="0"/>
            </a:endParaRPr>
          </a:p>
          <a:p>
            <a:pPr algn="just"/>
            <a:r>
              <a:rPr lang="en-US" sz="1800" b="1" i="0" u="none" strike="noStrike" baseline="0" dirty="0">
                <a:solidFill>
                  <a:srgbClr val="000000"/>
                </a:solidFill>
                <a:latin typeface="Cambria" panose="02040503050406030204" pitchFamily="18" charset="0"/>
              </a:rPr>
              <a:t>5. Multi-Valued Dependency: </a:t>
            </a:r>
            <a:r>
              <a:rPr lang="en-US" sz="1800" b="0" i="0" u="none" strike="noStrike" baseline="0" dirty="0">
                <a:solidFill>
                  <a:srgbClr val="000000"/>
                </a:solidFill>
                <a:latin typeface="Cambria" panose="02040503050406030204" pitchFamily="18" charset="0"/>
              </a:rPr>
              <a:t>Consider 3 fields X, Y, and Z in a relation. If for each value of X, there is a well-defined set of values Y and Well-defined set of values of Z and set of values of Y is independent of the set values of Z. This dependency is Multi-valued Dependency. </a:t>
            </a:r>
            <a:r>
              <a:rPr lang="en-US" sz="1800" b="1" i="0" u="none" strike="noStrike" baseline="0" dirty="0">
                <a:solidFill>
                  <a:srgbClr val="000000"/>
                </a:solidFill>
                <a:latin typeface="Cambria" panose="02040503050406030204" pitchFamily="18" charset="0"/>
              </a:rPr>
              <a:t>i.e., X →Y / Z. </a:t>
            </a:r>
            <a:endParaRPr lang="en-US" sz="1800" b="0" i="0" u="none" strike="noStrike" baseline="0" dirty="0">
              <a:solidFill>
                <a:srgbClr val="000000"/>
              </a:solidFill>
              <a:latin typeface="Cambria" panose="02040503050406030204" pitchFamily="18" charset="0"/>
            </a:endParaRPr>
          </a:p>
        </p:txBody>
      </p:sp>
      <p:sp>
        <p:nvSpPr>
          <p:cNvPr id="5" name="TextBox 4">
            <a:extLst>
              <a:ext uri="{FF2B5EF4-FFF2-40B4-BE49-F238E27FC236}">
                <a16:creationId xmlns:a16="http://schemas.microsoft.com/office/drawing/2014/main" id="{09A265F2-DE7D-0812-DCE8-6901B6D61BBB}"/>
              </a:ext>
            </a:extLst>
          </p:cNvPr>
          <p:cNvSpPr txBox="1"/>
          <p:nvPr/>
        </p:nvSpPr>
        <p:spPr>
          <a:xfrm>
            <a:off x="446313" y="2363293"/>
            <a:ext cx="11114315" cy="3416320"/>
          </a:xfrm>
          <a:prstGeom prst="rect">
            <a:avLst/>
          </a:prstGeom>
          <a:noFill/>
        </p:spPr>
        <p:txBody>
          <a:bodyPr wrap="square">
            <a:spAutoFit/>
          </a:bodyPr>
          <a:lstStyle/>
          <a:p>
            <a:pPr algn="just"/>
            <a:r>
              <a:rPr lang="en-IN" sz="2400" b="1" i="0" u="none" strike="noStrike" baseline="0" dirty="0">
                <a:solidFill>
                  <a:srgbClr val="000000"/>
                </a:solidFill>
                <a:latin typeface="Cambria" panose="02040503050406030204" pitchFamily="18" charset="0"/>
              </a:rPr>
              <a:t>Prime and non-prime attributes </a:t>
            </a:r>
            <a:endParaRPr lang="en-IN" sz="2400" b="0" i="0" u="none" strike="noStrike" baseline="0" dirty="0">
              <a:solidFill>
                <a:srgbClr val="000000"/>
              </a:solidFill>
              <a:latin typeface="Cambria" panose="02040503050406030204" pitchFamily="18" charset="0"/>
            </a:endParaRPr>
          </a:p>
          <a:p>
            <a:pPr algn="just"/>
            <a:r>
              <a:rPr lang="en-US" sz="1800" b="0" i="0" u="none" strike="noStrike" baseline="0" dirty="0">
                <a:solidFill>
                  <a:srgbClr val="000000"/>
                </a:solidFill>
                <a:latin typeface="Cambria" panose="02040503050406030204" pitchFamily="18" charset="0"/>
              </a:rPr>
              <a:t>Attributes which are parts of any candidate key of relation are called as prime attribute, others are non-prime attributes. </a:t>
            </a:r>
          </a:p>
          <a:p>
            <a:pPr algn="just"/>
            <a:endParaRPr lang="en-US" sz="1800" b="0" i="0" u="none" strike="noStrike" baseline="0" dirty="0">
              <a:solidFill>
                <a:srgbClr val="000000"/>
              </a:solidFill>
              <a:latin typeface="Cambria" panose="02040503050406030204" pitchFamily="18" charset="0"/>
            </a:endParaRPr>
          </a:p>
          <a:p>
            <a:pPr algn="just"/>
            <a:r>
              <a:rPr lang="en-IN" sz="2400" b="1" i="0" u="none" strike="noStrike" baseline="0" dirty="0">
                <a:solidFill>
                  <a:srgbClr val="000000"/>
                </a:solidFill>
                <a:latin typeface="Cambria" panose="02040503050406030204" pitchFamily="18" charset="0"/>
              </a:rPr>
              <a:t>Candidate Key: </a:t>
            </a:r>
          </a:p>
          <a:p>
            <a:pPr algn="just"/>
            <a:endParaRPr lang="en-IN" sz="2400" b="0" i="0" u="none" strike="noStrike" baseline="0" dirty="0">
              <a:solidFill>
                <a:srgbClr val="000000"/>
              </a:solidFill>
              <a:latin typeface="Cambria" panose="02040503050406030204" pitchFamily="18" charset="0"/>
            </a:endParaRPr>
          </a:p>
          <a:p>
            <a:pPr algn="just"/>
            <a:r>
              <a:rPr lang="en-US" sz="1800" b="0" i="0" u="none" strike="noStrike" baseline="0" dirty="0">
                <a:solidFill>
                  <a:srgbClr val="000000"/>
                </a:solidFill>
                <a:latin typeface="Cambria" panose="02040503050406030204" pitchFamily="18" charset="0"/>
              </a:rPr>
              <a:t>Candidate Key is minimal set of attributes of a relation which can be used to identify a tuple uniquely. </a:t>
            </a:r>
          </a:p>
          <a:p>
            <a:pPr algn="just"/>
            <a:r>
              <a:rPr lang="en-US" sz="1800" b="0" i="0" u="none" strike="noStrike" baseline="0" dirty="0">
                <a:solidFill>
                  <a:srgbClr val="000000"/>
                </a:solidFill>
                <a:latin typeface="Cambria" panose="02040503050406030204" pitchFamily="18" charset="0"/>
              </a:rPr>
              <a:t>Consider student table: student(</a:t>
            </a:r>
            <a:r>
              <a:rPr lang="en-US" sz="1800" b="1" i="0" u="none" strike="noStrike" baseline="0" dirty="0" err="1">
                <a:solidFill>
                  <a:srgbClr val="000000"/>
                </a:solidFill>
                <a:latin typeface="Cambria" panose="02040503050406030204" pitchFamily="18" charset="0"/>
              </a:rPr>
              <a:t>sno</a:t>
            </a:r>
            <a:r>
              <a:rPr lang="en-US" sz="1800" b="0" i="0" u="none" strike="noStrike" baseline="0" dirty="0">
                <a:solidFill>
                  <a:srgbClr val="000000"/>
                </a:solidFill>
                <a:latin typeface="Cambria" panose="02040503050406030204" pitchFamily="18" charset="0"/>
              </a:rPr>
              <a:t>, </a:t>
            </a:r>
            <a:r>
              <a:rPr lang="en-US" sz="1800" b="0" i="0" u="none" strike="noStrike" baseline="0" dirty="0" err="1">
                <a:solidFill>
                  <a:srgbClr val="000000"/>
                </a:solidFill>
                <a:latin typeface="Cambria" panose="02040503050406030204" pitchFamily="18" charset="0"/>
              </a:rPr>
              <a:t>sname,sphone,age</a:t>
            </a:r>
            <a:r>
              <a:rPr lang="en-US" sz="1800" b="0" i="0" u="none" strike="noStrike" baseline="0" dirty="0">
                <a:solidFill>
                  <a:srgbClr val="000000"/>
                </a:solidFill>
                <a:latin typeface="Cambria" panose="02040503050406030204" pitchFamily="18" charset="0"/>
              </a:rPr>
              <a:t>) </a:t>
            </a:r>
          </a:p>
          <a:p>
            <a:pPr algn="just"/>
            <a:r>
              <a:rPr lang="en-US" sz="1800" b="0" i="0" u="none" strike="noStrike" baseline="0" dirty="0">
                <a:solidFill>
                  <a:srgbClr val="000000"/>
                </a:solidFill>
                <a:latin typeface="Cambria" panose="02040503050406030204" pitchFamily="18" charset="0"/>
              </a:rPr>
              <a:t>we can take </a:t>
            </a:r>
            <a:r>
              <a:rPr lang="en-US" sz="1800" b="1" i="0" u="none" strike="noStrike" baseline="0" dirty="0" err="1">
                <a:solidFill>
                  <a:srgbClr val="000000"/>
                </a:solidFill>
                <a:latin typeface="Cambria" panose="02040503050406030204" pitchFamily="18" charset="0"/>
              </a:rPr>
              <a:t>sno</a:t>
            </a:r>
            <a:r>
              <a:rPr lang="en-US" sz="1800" b="1" i="0" u="none" strike="noStrike" baseline="0" dirty="0">
                <a:solidFill>
                  <a:srgbClr val="000000"/>
                </a:solidFill>
                <a:latin typeface="Cambria" panose="02040503050406030204" pitchFamily="18" charset="0"/>
              </a:rPr>
              <a:t> </a:t>
            </a:r>
            <a:r>
              <a:rPr lang="en-US" sz="1800" b="0" i="0" u="none" strike="noStrike" baseline="0" dirty="0">
                <a:solidFill>
                  <a:srgbClr val="000000"/>
                </a:solidFill>
                <a:latin typeface="Cambria" panose="02040503050406030204" pitchFamily="18" charset="0"/>
              </a:rPr>
              <a:t>as candidate key. we can have more than 1 candidate key in a table. types of candidate keys: </a:t>
            </a:r>
          </a:p>
          <a:p>
            <a:pPr algn="just"/>
            <a:r>
              <a:rPr lang="en-US" sz="1800" b="0" i="0" u="none" strike="noStrike" baseline="0" dirty="0">
                <a:solidFill>
                  <a:srgbClr val="000000"/>
                </a:solidFill>
                <a:latin typeface="Cambria" panose="02040503050406030204" pitchFamily="18" charset="0"/>
              </a:rPr>
              <a:t>1. simple(having only one attribute) </a:t>
            </a:r>
          </a:p>
          <a:p>
            <a:pPr algn="just"/>
            <a:r>
              <a:rPr lang="en-US" sz="1800" b="0" i="0" u="none" strike="noStrike" baseline="0" dirty="0">
                <a:solidFill>
                  <a:srgbClr val="000000"/>
                </a:solidFill>
                <a:latin typeface="Cambria" panose="02040503050406030204" pitchFamily="18" charset="0"/>
              </a:rPr>
              <a:t>2. composite(having multiple attributes as candidate key) </a:t>
            </a:r>
          </a:p>
        </p:txBody>
      </p:sp>
    </p:spTree>
    <p:extLst>
      <p:ext uri="{BB962C8B-B14F-4D97-AF65-F5344CB8AC3E}">
        <p14:creationId xmlns:p14="http://schemas.microsoft.com/office/powerpoint/2010/main" val="71859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F7F3EE-1B15-B2B9-E9F9-DDB198DAC24E}"/>
              </a:ext>
            </a:extLst>
          </p:cNvPr>
          <p:cNvSpPr txBox="1"/>
          <p:nvPr/>
        </p:nvSpPr>
        <p:spPr>
          <a:xfrm>
            <a:off x="185056" y="352412"/>
            <a:ext cx="11114315" cy="3323987"/>
          </a:xfrm>
          <a:prstGeom prst="rect">
            <a:avLst/>
          </a:prstGeom>
          <a:noFill/>
        </p:spPr>
        <p:txBody>
          <a:bodyPr wrap="square">
            <a:spAutoFit/>
          </a:bodyPr>
          <a:lstStyle/>
          <a:p>
            <a:pPr algn="l"/>
            <a:endParaRPr lang="en-IN" sz="2400" b="0" i="0" u="none" strike="noStrike" baseline="0" dirty="0">
              <a:solidFill>
                <a:srgbClr val="000000"/>
              </a:solidFill>
              <a:latin typeface="Wingdings" panose="05000000000000000000" pitchFamily="2" charset="2"/>
            </a:endParaRPr>
          </a:p>
          <a:p>
            <a:endParaRPr lang="en-IN" sz="2000" b="0" i="0" u="none" strike="noStrike" baseline="0" dirty="0">
              <a:solidFill>
                <a:srgbClr val="000000"/>
              </a:solidFill>
              <a:latin typeface="Wingdings" panose="05000000000000000000" pitchFamily="2" charset="2"/>
            </a:endParaRPr>
          </a:p>
          <a:p>
            <a:r>
              <a:rPr lang="en-IN" sz="2800" b="1" i="0" u="none" strike="noStrike" baseline="0" dirty="0">
                <a:solidFill>
                  <a:srgbClr val="000000"/>
                </a:solidFill>
                <a:latin typeface="Cambria" panose="02040503050406030204" pitchFamily="18" charset="0"/>
              </a:rPr>
              <a:t>Super Key: </a:t>
            </a:r>
            <a:endParaRPr lang="en-IN" sz="2800" b="0" i="0" u="none" strike="noStrike" baseline="0" dirty="0">
              <a:solidFill>
                <a:srgbClr val="00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Super Key is set of attributes of a relation which can be used to identify a tuple uniquely. </a:t>
            </a:r>
            <a:endParaRPr lang="en-US" sz="2000" b="0" i="0" u="none" strike="noStrike" baseline="0" dirty="0">
              <a:solidFill>
                <a:srgbClr val="000000"/>
              </a:solidFill>
              <a:latin typeface="Wingdings" panose="05000000000000000000" pitchFamily="2" charset="2"/>
            </a:endParaRPr>
          </a:p>
          <a:p>
            <a:r>
              <a:rPr lang="en-US" sz="2000" b="0" i="0" u="none" strike="noStrike" baseline="0" dirty="0">
                <a:solidFill>
                  <a:srgbClr val="000000"/>
                </a:solidFill>
                <a:latin typeface="Cambria" panose="02040503050406030204" pitchFamily="18" charset="0"/>
              </a:rPr>
              <a:t>we can take </a:t>
            </a:r>
            <a:r>
              <a:rPr lang="en-US" sz="2000" b="1" i="0" u="none" strike="noStrike" baseline="0" dirty="0" err="1">
                <a:solidFill>
                  <a:srgbClr val="000000"/>
                </a:solidFill>
                <a:latin typeface="Cambria" panose="02040503050406030204" pitchFamily="18" charset="0"/>
              </a:rPr>
              <a:t>sno</a:t>
            </a:r>
            <a:r>
              <a:rPr lang="en-US" sz="2000" b="0" i="0" u="none" strike="noStrike" baseline="0" dirty="0">
                <a:solidFill>
                  <a:srgbClr val="000000"/>
                </a:solidFill>
                <a:latin typeface="Cambria" panose="02040503050406030204" pitchFamily="18" charset="0"/>
              </a:rPr>
              <a:t>, (</a:t>
            </a:r>
            <a:r>
              <a:rPr lang="en-US" sz="2000" b="1" i="0" u="none" strike="noStrike" baseline="0" dirty="0" err="1">
                <a:solidFill>
                  <a:srgbClr val="000000"/>
                </a:solidFill>
                <a:latin typeface="Cambria" panose="02040503050406030204" pitchFamily="18" charset="0"/>
              </a:rPr>
              <a:t>sno</a:t>
            </a:r>
            <a:r>
              <a:rPr lang="en-US" sz="2000" b="1" i="0" u="none" strike="noStrike" baseline="0" dirty="0">
                <a:solidFill>
                  <a:srgbClr val="000000"/>
                </a:solidFill>
                <a:latin typeface="Cambria" panose="02040503050406030204" pitchFamily="18" charset="0"/>
              </a:rPr>
              <a:t>, </a:t>
            </a:r>
            <a:r>
              <a:rPr lang="en-US" sz="2000" b="1" i="0" u="none" strike="noStrike" baseline="0" dirty="0" err="1">
                <a:solidFill>
                  <a:srgbClr val="000000"/>
                </a:solidFill>
                <a:latin typeface="Cambria" panose="02040503050406030204" pitchFamily="18" charset="0"/>
              </a:rPr>
              <a:t>sname</a:t>
            </a:r>
            <a:r>
              <a:rPr lang="en-US" sz="2000" b="0" i="0" u="none" strike="noStrike" baseline="0" dirty="0">
                <a:solidFill>
                  <a:srgbClr val="000000"/>
                </a:solidFill>
                <a:latin typeface="Cambria" panose="02040503050406030204" pitchFamily="18" charset="0"/>
              </a:rPr>
              <a:t>) as super key </a:t>
            </a:r>
          </a:p>
          <a:p>
            <a:endParaRPr lang="en-US" sz="2000" dirty="0">
              <a:solidFill>
                <a:srgbClr val="000000"/>
              </a:solidFill>
              <a:latin typeface="Cambria" panose="02040503050406030204" pitchFamily="18" charset="0"/>
            </a:endParaRPr>
          </a:p>
          <a:p>
            <a:r>
              <a:rPr lang="en-US" sz="2000" b="0" i="0" u="none" strike="noStrike" baseline="0" dirty="0">
                <a:solidFill>
                  <a:srgbClr val="000000"/>
                </a:solidFill>
                <a:latin typeface="Wingdings" panose="05000000000000000000" pitchFamily="2" charset="2"/>
              </a:rPr>
              <a:t>➢ </a:t>
            </a:r>
            <a:r>
              <a:rPr lang="en-US" sz="2000" b="0" i="0" u="none" strike="noStrike" baseline="0" dirty="0">
                <a:solidFill>
                  <a:srgbClr val="000000"/>
                </a:solidFill>
                <a:latin typeface="Cambria" panose="02040503050406030204" pitchFamily="18" charset="0"/>
              </a:rPr>
              <a:t>Adding zero or more attributes to candidate key generates super key. </a:t>
            </a:r>
            <a:endParaRPr lang="en-US" sz="2000" b="0" i="0" u="none" strike="noStrike" baseline="0" dirty="0">
              <a:solidFill>
                <a:srgbClr val="000000"/>
              </a:solidFill>
              <a:latin typeface="Wingdings" panose="05000000000000000000" pitchFamily="2" charset="2"/>
            </a:endParaRPr>
          </a:p>
          <a:p>
            <a:r>
              <a:rPr lang="en-US" sz="2000" b="0" i="0" u="none" strike="noStrike" baseline="0" dirty="0">
                <a:solidFill>
                  <a:srgbClr val="000000"/>
                </a:solidFill>
                <a:latin typeface="Wingdings" panose="05000000000000000000" pitchFamily="2" charset="2"/>
              </a:rPr>
              <a:t>➢ </a:t>
            </a:r>
            <a:r>
              <a:rPr lang="en-US" sz="2000" b="0" i="0" u="none" strike="noStrike" baseline="0" dirty="0">
                <a:solidFill>
                  <a:srgbClr val="000000"/>
                </a:solidFill>
                <a:latin typeface="Cambria" panose="02040503050406030204" pitchFamily="18" charset="0"/>
              </a:rPr>
              <a:t>A candidate key is a super key but vice versa is not true. Consider student table: student(</a:t>
            </a:r>
            <a:r>
              <a:rPr lang="en-US" sz="2000" b="0" i="0" u="none" strike="noStrike" baseline="0" dirty="0" err="1">
                <a:solidFill>
                  <a:srgbClr val="000000"/>
                </a:solidFill>
                <a:latin typeface="Cambria" panose="02040503050406030204" pitchFamily="18" charset="0"/>
              </a:rPr>
              <a:t>sno</a:t>
            </a:r>
            <a:r>
              <a:rPr lang="en-US" sz="2000" b="0" i="0" u="none" strike="noStrike" baseline="0" dirty="0">
                <a:solidFill>
                  <a:srgbClr val="000000"/>
                </a:solidFill>
                <a:latin typeface="Cambria" panose="02040503050406030204" pitchFamily="18" charset="0"/>
              </a:rPr>
              <a:t>, </a:t>
            </a:r>
            <a:r>
              <a:rPr lang="en-US" sz="2000" b="0" i="0" u="none" strike="noStrike" baseline="0" dirty="0" err="1">
                <a:solidFill>
                  <a:srgbClr val="000000"/>
                </a:solidFill>
                <a:latin typeface="Cambria" panose="02040503050406030204" pitchFamily="18" charset="0"/>
              </a:rPr>
              <a:t>sname,sphone,age</a:t>
            </a:r>
            <a:r>
              <a:rPr lang="en-US" sz="2000" b="0" i="0" u="none" strike="noStrike" baseline="0" dirty="0">
                <a:solidFill>
                  <a:srgbClr val="000000"/>
                </a:solidFill>
                <a:latin typeface="Cambria" panose="02040503050406030204" pitchFamily="18" charset="0"/>
              </a:rPr>
              <a:t>) </a:t>
            </a:r>
            <a:endParaRPr lang="en-US" sz="2000" b="0" i="0" u="none" strike="noStrike" baseline="0" dirty="0">
              <a:solidFill>
                <a:srgbClr val="000000"/>
              </a:solidFill>
              <a:latin typeface="Wingdings" panose="05000000000000000000" pitchFamily="2" charset="2"/>
            </a:endParaRPr>
          </a:p>
          <a:p>
            <a:endParaRPr lang="en-IN" sz="2000" dirty="0"/>
          </a:p>
        </p:txBody>
      </p:sp>
    </p:spTree>
    <p:extLst>
      <p:ext uri="{BB962C8B-B14F-4D97-AF65-F5344CB8AC3E}">
        <p14:creationId xmlns:p14="http://schemas.microsoft.com/office/powerpoint/2010/main" val="336542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71425-BCEE-50A5-1535-1AD2E70BF8BC}"/>
              </a:ext>
            </a:extLst>
          </p:cNvPr>
          <p:cNvSpPr txBox="1"/>
          <p:nvPr/>
        </p:nvSpPr>
        <p:spPr>
          <a:xfrm>
            <a:off x="598713" y="911697"/>
            <a:ext cx="10417629" cy="3139321"/>
          </a:xfrm>
          <a:prstGeom prst="rect">
            <a:avLst/>
          </a:prstGeom>
          <a:noFill/>
        </p:spPr>
        <p:txBody>
          <a:bodyPr wrap="square">
            <a:spAutoFit/>
          </a:bodyPr>
          <a:lstStyle/>
          <a:p>
            <a:r>
              <a:rPr lang="en-US" sz="2400" b="1" i="0" u="none" strike="noStrike" baseline="0" dirty="0">
                <a:solidFill>
                  <a:srgbClr val="000000"/>
                </a:solidFill>
                <a:latin typeface="Cambria" panose="02040503050406030204" pitchFamily="18" charset="0"/>
              </a:rPr>
              <a:t>Operations performed functional dependencies (applications of closure set of attributes): </a:t>
            </a:r>
          </a:p>
          <a:p>
            <a:endParaRPr lang="en-US" sz="2400" b="0" i="0" u="none" strike="noStrike" baseline="0" dirty="0">
              <a:solidFill>
                <a:srgbClr val="000000"/>
              </a:solidFill>
              <a:latin typeface="Cambria" panose="02040503050406030204" pitchFamily="18" charset="0"/>
            </a:endParaRPr>
          </a:p>
          <a:p>
            <a:pPr marL="342900" indent="-342900">
              <a:buAutoNum type="arabicParenBoth"/>
            </a:pPr>
            <a:r>
              <a:rPr lang="en-US" sz="1800" b="0" i="0" u="none" strike="noStrike" baseline="0" dirty="0">
                <a:solidFill>
                  <a:srgbClr val="000000"/>
                </a:solidFill>
                <a:latin typeface="Cambria" panose="02040503050406030204" pitchFamily="18" charset="0"/>
              </a:rPr>
              <a:t>To identify the additional F.D’s. </a:t>
            </a:r>
          </a:p>
          <a:p>
            <a:pPr marL="342900" indent="-342900">
              <a:buAutoNum type="arabicParenBoth"/>
            </a:pPr>
            <a:endParaRPr lang="en-US"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Cambria" panose="02040503050406030204" pitchFamily="18" charset="0"/>
              </a:rPr>
              <a:t>(2) To identify the keys. </a:t>
            </a:r>
          </a:p>
          <a:p>
            <a:endParaRPr lang="en-US"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Cambria" panose="02040503050406030204" pitchFamily="18" charset="0"/>
              </a:rPr>
              <a:t>(3) To identify the equivalences of the F.D’s </a:t>
            </a:r>
          </a:p>
          <a:p>
            <a:endParaRPr lang="en-US" sz="1800" b="0" i="0" u="none" strike="noStrike" baseline="0" dirty="0">
              <a:solidFill>
                <a:srgbClr val="000000"/>
              </a:solidFill>
              <a:latin typeface="Cambria" panose="02040503050406030204" pitchFamily="18" charset="0"/>
            </a:endParaRPr>
          </a:p>
          <a:p>
            <a:r>
              <a:rPr lang="en-US" sz="1800" b="0" i="0" u="none" strike="noStrike" baseline="0" dirty="0">
                <a:solidFill>
                  <a:srgbClr val="000000"/>
                </a:solidFill>
                <a:latin typeface="Cambria" panose="02040503050406030204" pitchFamily="18" charset="0"/>
              </a:rPr>
              <a:t>(4) To identify irreducible set (minimal set) of F.D’s or canonical forms of F.D’s or standard form of F.D’s. </a:t>
            </a:r>
          </a:p>
        </p:txBody>
      </p:sp>
    </p:spTree>
    <p:extLst>
      <p:ext uri="{BB962C8B-B14F-4D97-AF65-F5344CB8AC3E}">
        <p14:creationId xmlns:p14="http://schemas.microsoft.com/office/powerpoint/2010/main" val="3970502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C5FAF3-97D8-C821-FDA8-40E2CE814D9C}"/>
              </a:ext>
            </a:extLst>
          </p:cNvPr>
          <p:cNvSpPr txBox="1"/>
          <p:nvPr/>
        </p:nvSpPr>
        <p:spPr>
          <a:xfrm>
            <a:off x="1589315" y="255891"/>
            <a:ext cx="9818914" cy="1231106"/>
          </a:xfrm>
          <a:prstGeom prst="rect">
            <a:avLst/>
          </a:prstGeom>
          <a:noFill/>
        </p:spPr>
        <p:txBody>
          <a:bodyPr wrap="square">
            <a:spAutoFit/>
          </a:bodyPr>
          <a:lstStyle/>
          <a:p>
            <a:pPr algn="l"/>
            <a:endParaRPr lang="en-IN" sz="2000" b="0" i="0" u="none" strike="noStrike" baseline="0" dirty="0">
              <a:solidFill>
                <a:srgbClr val="000000"/>
              </a:solidFill>
              <a:latin typeface="Cambria" panose="02040503050406030204" pitchFamily="18" charset="0"/>
            </a:endParaRPr>
          </a:p>
          <a:p>
            <a:r>
              <a:rPr lang="en-US" sz="1800" b="1" i="0" u="none" strike="noStrike" baseline="0" dirty="0">
                <a:solidFill>
                  <a:srgbClr val="000000"/>
                </a:solidFill>
                <a:latin typeface="Cambria" panose="02040503050406030204" pitchFamily="18" charset="0"/>
              </a:rPr>
              <a:t>1. In a schema with attributes A,B,C,D and E the following set of attributes are given A</a:t>
            </a:r>
            <a:r>
              <a:rPr lang="en-US" sz="1800" b="0" i="0" u="none" strike="noStrike" baseline="0" dirty="0">
                <a:solidFill>
                  <a:srgbClr val="000000"/>
                </a:solidFill>
                <a:latin typeface="Cambria" panose="02040503050406030204" pitchFamily="18" charset="0"/>
              </a:rPr>
              <a:t>→</a:t>
            </a:r>
            <a:r>
              <a:rPr lang="en-US" sz="1800" b="1" i="0" u="none" strike="noStrike" baseline="0" dirty="0">
                <a:solidFill>
                  <a:srgbClr val="000000"/>
                </a:solidFill>
                <a:latin typeface="Cambria" panose="02040503050406030204" pitchFamily="18" charset="0"/>
              </a:rPr>
              <a:t>B, A</a:t>
            </a:r>
            <a:r>
              <a:rPr lang="en-US" sz="1800" b="0" i="0" u="none" strike="noStrike" baseline="0" dirty="0">
                <a:solidFill>
                  <a:srgbClr val="000000"/>
                </a:solidFill>
                <a:latin typeface="Cambria" panose="02040503050406030204" pitchFamily="18" charset="0"/>
              </a:rPr>
              <a:t>→</a:t>
            </a:r>
            <a:r>
              <a:rPr lang="en-US" sz="1800" b="1" i="0" u="none" strike="noStrike" baseline="0" dirty="0">
                <a:solidFill>
                  <a:srgbClr val="000000"/>
                </a:solidFill>
                <a:latin typeface="Cambria" panose="02040503050406030204" pitchFamily="18" charset="0"/>
              </a:rPr>
              <a:t>C, CD</a:t>
            </a:r>
            <a:r>
              <a:rPr lang="en-US" sz="1800" b="0" i="0" u="none" strike="noStrike" baseline="0" dirty="0">
                <a:solidFill>
                  <a:srgbClr val="000000"/>
                </a:solidFill>
                <a:latin typeface="Cambria" panose="02040503050406030204" pitchFamily="18" charset="0"/>
              </a:rPr>
              <a:t>→</a:t>
            </a:r>
            <a:r>
              <a:rPr lang="en-US" sz="1800" b="1" i="0" u="none" strike="noStrike" baseline="0" dirty="0">
                <a:solidFill>
                  <a:srgbClr val="000000"/>
                </a:solidFill>
                <a:latin typeface="Cambria" panose="02040503050406030204" pitchFamily="18" charset="0"/>
              </a:rPr>
              <a:t>E, B</a:t>
            </a:r>
            <a:r>
              <a:rPr lang="en-US" sz="1800" b="0" i="0" u="none" strike="noStrike" baseline="0" dirty="0">
                <a:solidFill>
                  <a:srgbClr val="000000"/>
                </a:solidFill>
                <a:latin typeface="Cambria" panose="02040503050406030204" pitchFamily="18" charset="0"/>
              </a:rPr>
              <a:t>→</a:t>
            </a:r>
            <a:r>
              <a:rPr lang="en-US" sz="1800" b="1" i="0" u="none" strike="noStrike" baseline="0" dirty="0">
                <a:solidFill>
                  <a:srgbClr val="000000"/>
                </a:solidFill>
                <a:latin typeface="Cambria" panose="02040503050406030204" pitchFamily="18" charset="0"/>
              </a:rPr>
              <a:t>D, E</a:t>
            </a:r>
            <a:r>
              <a:rPr lang="en-US" sz="1800" b="0" i="0" u="none" strike="noStrike" baseline="0" dirty="0">
                <a:solidFill>
                  <a:srgbClr val="000000"/>
                </a:solidFill>
                <a:latin typeface="Cambria" panose="02040503050406030204" pitchFamily="18" charset="0"/>
              </a:rPr>
              <a:t>→</a:t>
            </a:r>
            <a:r>
              <a:rPr lang="en-US" sz="1800" b="1" i="0" u="none" strike="noStrike" baseline="0" dirty="0">
                <a:solidFill>
                  <a:srgbClr val="000000"/>
                </a:solidFill>
                <a:latin typeface="Cambria" panose="02040503050406030204" pitchFamily="18" charset="0"/>
              </a:rPr>
              <a:t>A. Find CD</a:t>
            </a:r>
            <a:r>
              <a:rPr lang="en-US" sz="1800" b="0" i="0" u="none" strike="noStrike" baseline="0" dirty="0">
                <a:solidFill>
                  <a:srgbClr val="000000"/>
                </a:solidFill>
                <a:latin typeface="Cambria" panose="02040503050406030204" pitchFamily="18" charset="0"/>
              </a:rPr>
              <a:t>→</a:t>
            </a:r>
            <a:r>
              <a:rPr lang="en-US" sz="1800" b="1" i="0" u="none" strike="noStrike" baseline="0" dirty="0">
                <a:solidFill>
                  <a:srgbClr val="000000"/>
                </a:solidFill>
                <a:latin typeface="Cambria" panose="02040503050406030204" pitchFamily="18" charset="0"/>
              </a:rPr>
              <a:t>AC determines from the given FDs or not. </a:t>
            </a:r>
            <a:endParaRPr lang="en-US" sz="1800" b="0" i="0" u="none" strike="noStrike" baseline="0" dirty="0">
              <a:solidFill>
                <a:srgbClr val="000000"/>
              </a:solidFill>
              <a:latin typeface="Cambria" panose="02040503050406030204" pitchFamily="18" charset="0"/>
            </a:endParaRPr>
          </a:p>
          <a:p>
            <a:endParaRPr lang="en-IN" sz="1800" b="0" i="0" u="none" strike="noStrike" baseline="0" dirty="0">
              <a:solidFill>
                <a:srgbClr val="000000"/>
              </a:solidFill>
              <a:latin typeface="Cambria" panose="02040503050406030204" pitchFamily="18" charset="0"/>
            </a:endParaRPr>
          </a:p>
        </p:txBody>
      </p:sp>
      <p:sp>
        <p:nvSpPr>
          <p:cNvPr id="5" name="TextBox 4">
            <a:extLst>
              <a:ext uri="{FF2B5EF4-FFF2-40B4-BE49-F238E27FC236}">
                <a16:creationId xmlns:a16="http://schemas.microsoft.com/office/drawing/2014/main" id="{6013EFA9-06D6-D47F-3D3C-513CE6502D6B}"/>
              </a:ext>
            </a:extLst>
          </p:cNvPr>
          <p:cNvSpPr txBox="1"/>
          <p:nvPr/>
        </p:nvSpPr>
        <p:spPr>
          <a:xfrm>
            <a:off x="1393371" y="2557280"/>
            <a:ext cx="7758793" cy="1477328"/>
          </a:xfrm>
          <a:prstGeom prst="rect">
            <a:avLst/>
          </a:prstGeom>
          <a:noFill/>
        </p:spPr>
        <p:txBody>
          <a:bodyPr wrap="square">
            <a:spAutoFit/>
          </a:bodyPr>
          <a:lstStyle/>
          <a:p>
            <a:r>
              <a:rPr lang="en-US" sz="1800" b="0" i="0" u="none" strike="noStrike" baseline="0" dirty="0">
                <a:solidFill>
                  <a:srgbClr val="000000"/>
                </a:solidFill>
                <a:latin typeface="Cambria" panose="02040503050406030204" pitchFamily="18" charset="0"/>
              </a:rPr>
              <a:t>Given FD is CD→AC find the closure set of CD. </a:t>
            </a:r>
          </a:p>
          <a:p>
            <a:r>
              <a:rPr lang="en-IN" sz="1800" b="0" i="0" u="none" strike="noStrike" baseline="0" dirty="0">
                <a:solidFill>
                  <a:srgbClr val="000000"/>
                </a:solidFill>
                <a:latin typeface="Cambria" panose="02040503050406030204" pitchFamily="18" charset="0"/>
              </a:rPr>
              <a:t>CD+ = CDE (∵ CD→ E) </a:t>
            </a:r>
          </a:p>
          <a:p>
            <a:r>
              <a:rPr lang="en-IN" sz="1800" b="0" i="0" u="none" strike="noStrike" baseline="0" dirty="0">
                <a:solidFill>
                  <a:srgbClr val="000000"/>
                </a:solidFill>
                <a:latin typeface="Cambria" panose="02040503050406030204" pitchFamily="18" charset="0"/>
              </a:rPr>
              <a:t>= CDEA (∵ E→ A) </a:t>
            </a:r>
          </a:p>
          <a:p>
            <a:r>
              <a:rPr lang="en-IN" sz="1800" b="0" i="0" u="none" strike="noStrike" baseline="0" dirty="0">
                <a:solidFill>
                  <a:srgbClr val="000000"/>
                </a:solidFill>
                <a:latin typeface="Cambria" panose="02040503050406030204" pitchFamily="18" charset="0"/>
              </a:rPr>
              <a:t>= CDEAB (∵ A→ B) </a:t>
            </a:r>
          </a:p>
          <a:p>
            <a:r>
              <a:rPr lang="en-US" sz="1800" b="0" i="0" u="none" strike="noStrike" baseline="0" dirty="0">
                <a:solidFill>
                  <a:srgbClr val="000000"/>
                </a:solidFill>
                <a:latin typeface="Cambria" panose="02040503050406030204" pitchFamily="18" charset="0"/>
              </a:rPr>
              <a:t>From the closure set the attributes AC are determined by CD so CD→ AC. </a:t>
            </a:r>
            <a:endParaRPr lang="en-IN" dirty="0"/>
          </a:p>
        </p:txBody>
      </p:sp>
    </p:spTree>
    <p:extLst>
      <p:ext uri="{BB962C8B-B14F-4D97-AF65-F5344CB8AC3E}">
        <p14:creationId xmlns:p14="http://schemas.microsoft.com/office/powerpoint/2010/main" val="4021639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564DCA-B7E1-147B-D685-E41E01AF6590}"/>
              </a:ext>
            </a:extLst>
          </p:cNvPr>
          <p:cNvSpPr txBox="1"/>
          <p:nvPr/>
        </p:nvSpPr>
        <p:spPr>
          <a:xfrm>
            <a:off x="1142999" y="879898"/>
            <a:ext cx="10112829" cy="4555093"/>
          </a:xfrm>
          <a:prstGeom prst="rect">
            <a:avLst/>
          </a:prstGeom>
          <a:noFill/>
        </p:spPr>
        <p:txBody>
          <a:bodyPr wrap="square">
            <a:spAutoFit/>
          </a:bodyPr>
          <a:lstStyle/>
          <a:p>
            <a:pPr algn="just"/>
            <a:endParaRPr lang="en-IN" sz="2000" b="0" i="0" u="none" strike="noStrike" baseline="0" dirty="0">
              <a:solidFill>
                <a:srgbClr val="000000"/>
              </a:solidFill>
              <a:latin typeface="Cambria" panose="02040503050406030204" pitchFamily="18" charset="0"/>
            </a:endParaRPr>
          </a:p>
          <a:p>
            <a:pPr algn="just"/>
            <a:r>
              <a:rPr lang="en-US" sz="1800" b="1" i="0" u="none" strike="noStrike" baseline="0" dirty="0">
                <a:solidFill>
                  <a:srgbClr val="000000"/>
                </a:solidFill>
                <a:latin typeface="Cambria" panose="02040503050406030204" pitchFamily="18" charset="0"/>
              </a:rPr>
              <a:t>(2) Identification of key by using closure set as attributes: </a:t>
            </a:r>
          </a:p>
          <a:p>
            <a:pPr algn="just"/>
            <a:endParaRPr lang="en-US" sz="1800" b="0" i="0" u="none" strike="noStrike" baseline="0" dirty="0">
              <a:solidFill>
                <a:srgbClr val="000000"/>
              </a:solidFill>
              <a:latin typeface="Cambria" panose="02040503050406030204" pitchFamily="18" charset="0"/>
            </a:endParaRPr>
          </a:p>
          <a:p>
            <a:pPr algn="just"/>
            <a:r>
              <a:rPr lang="en-US" sz="1800" b="1" i="0" u="none" strike="noStrike" baseline="0" dirty="0">
                <a:solidFill>
                  <a:srgbClr val="000000"/>
                </a:solidFill>
                <a:latin typeface="Cambria" panose="02040503050406030204" pitchFamily="18" charset="0"/>
              </a:rPr>
              <a:t>A key attribute: </a:t>
            </a:r>
          </a:p>
          <a:p>
            <a:pPr algn="just"/>
            <a:r>
              <a:rPr lang="en-US" sz="1800" b="0" i="0" u="none" strike="noStrike" baseline="0" dirty="0">
                <a:solidFill>
                  <a:srgbClr val="000000"/>
                </a:solidFill>
                <a:latin typeface="Cambria" panose="02040503050406030204" pitchFamily="18" charset="0"/>
              </a:rPr>
              <a:t>An attribute that is capable of identifying all other attributes in a given table. </a:t>
            </a:r>
          </a:p>
          <a:p>
            <a:pPr algn="just"/>
            <a:endParaRPr lang="en-US" sz="1800" b="0" i="0" u="none" strike="noStrike" baseline="0" dirty="0">
              <a:solidFill>
                <a:srgbClr val="000000"/>
              </a:solidFill>
              <a:latin typeface="Cambria" panose="02040503050406030204" pitchFamily="18" charset="0"/>
            </a:endParaRPr>
          </a:p>
          <a:p>
            <a:pPr marL="400050" indent="-400050" algn="just">
              <a:buAutoNum type="romanLcParenBoth"/>
            </a:pPr>
            <a:r>
              <a:rPr lang="en-US" sz="1800" b="1" i="0" u="none" strike="noStrike" baseline="0" dirty="0">
                <a:solidFill>
                  <a:srgbClr val="000000"/>
                </a:solidFill>
                <a:latin typeface="Cambria" panose="02040503050406030204" pitchFamily="18" charset="0"/>
              </a:rPr>
              <a:t>Primary key: </a:t>
            </a:r>
            <a:r>
              <a:rPr lang="en-US" sz="1800" b="0" i="0" u="none" strike="noStrike" baseline="0" dirty="0">
                <a:solidFill>
                  <a:srgbClr val="000000"/>
                </a:solidFill>
                <a:latin typeface="Cambria" panose="02040503050406030204" pitchFamily="18" charset="0"/>
              </a:rPr>
              <a:t>It is an unique value attribute in a table to enforce entity integrity and </a:t>
            </a:r>
            <a:r>
              <a:rPr lang="en-US" sz="1800" b="0" i="0" u="none" strike="noStrike" baseline="0" dirty="0" err="1">
                <a:solidFill>
                  <a:srgbClr val="000000"/>
                </a:solidFill>
                <a:latin typeface="Cambria" panose="02040503050406030204" pitchFamily="18" charset="0"/>
              </a:rPr>
              <a:t>ti</a:t>
            </a:r>
            <a:r>
              <a:rPr lang="en-US" sz="1800" b="0" i="0" u="none" strike="noStrike" baseline="0" dirty="0">
                <a:solidFill>
                  <a:srgbClr val="000000"/>
                </a:solidFill>
                <a:latin typeface="Cambria" panose="02040503050406030204" pitchFamily="18" charset="0"/>
              </a:rPr>
              <a:t> identify rows in the table uniquely. </a:t>
            </a:r>
          </a:p>
          <a:p>
            <a:pPr marL="400050" indent="-400050" algn="just">
              <a:buAutoNum type="romanLcParenBoth"/>
            </a:pPr>
            <a:endParaRPr lang="en-US" sz="1800" b="0" i="0" u="none" strike="noStrike" baseline="0" dirty="0">
              <a:solidFill>
                <a:srgbClr val="000000"/>
              </a:solidFill>
              <a:latin typeface="Cambria" panose="02040503050406030204" pitchFamily="18" charset="0"/>
            </a:endParaRPr>
          </a:p>
          <a:p>
            <a:pPr algn="just"/>
            <a:r>
              <a:rPr lang="en-US" sz="1800" b="0" i="0" u="none" strike="noStrike" baseline="0" dirty="0">
                <a:solidFill>
                  <a:srgbClr val="000000"/>
                </a:solidFill>
                <a:latin typeface="Cambria" panose="02040503050406030204" pitchFamily="18" charset="0"/>
              </a:rPr>
              <a:t>(ii) </a:t>
            </a:r>
            <a:r>
              <a:rPr lang="en-US" sz="1800" b="1" i="0" u="none" strike="noStrike" baseline="0" dirty="0">
                <a:solidFill>
                  <a:srgbClr val="000000"/>
                </a:solidFill>
                <a:latin typeface="Cambria" panose="02040503050406030204" pitchFamily="18" charset="0"/>
              </a:rPr>
              <a:t>Composite Primary Key: </a:t>
            </a:r>
            <a:r>
              <a:rPr lang="en-US" sz="1800" b="0" i="0" u="none" strike="noStrike" baseline="0" dirty="0">
                <a:solidFill>
                  <a:srgbClr val="000000"/>
                </a:solidFill>
                <a:latin typeface="Cambria" panose="02040503050406030204" pitchFamily="18" charset="0"/>
              </a:rPr>
              <a:t>Sometimes single attribute is not sufficient to identify uniquely the rows in the table so, we combine 2 or more attributes to identify the rows uniquely. </a:t>
            </a:r>
          </a:p>
          <a:p>
            <a:pPr algn="just"/>
            <a:endParaRPr lang="en-US" sz="1800" b="0" i="0" u="none" strike="noStrike" baseline="0" dirty="0">
              <a:solidFill>
                <a:srgbClr val="000000"/>
              </a:solidFill>
              <a:latin typeface="Cambria" panose="02040503050406030204" pitchFamily="18" charset="0"/>
            </a:endParaRPr>
          </a:p>
          <a:p>
            <a:pPr algn="just"/>
            <a:r>
              <a:rPr lang="en-US" sz="1800" b="0" i="0" u="none" strike="noStrike" baseline="0" dirty="0">
                <a:solidFill>
                  <a:srgbClr val="000000"/>
                </a:solidFill>
                <a:latin typeface="Cambria" panose="02040503050406030204" pitchFamily="18" charset="0"/>
              </a:rPr>
              <a:t>(iii) </a:t>
            </a:r>
            <a:r>
              <a:rPr lang="en-US" sz="1800" b="1" i="0" u="none" strike="noStrike" baseline="0" dirty="0">
                <a:solidFill>
                  <a:srgbClr val="000000"/>
                </a:solidFill>
                <a:latin typeface="Cambria" panose="02040503050406030204" pitchFamily="18" charset="0"/>
              </a:rPr>
              <a:t>Candidate keys: </a:t>
            </a:r>
            <a:r>
              <a:rPr lang="en-US" sz="1800" b="0" i="0" u="none" strike="noStrike" baseline="0" dirty="0">
                <a:solidFill>
                  <a:srgbClr val="000000"/>
                </a:solidFill>
                <a:latin typeface="Cambria" panose="02040503050406030204" pitchFamily="18" charset="0"/>
              </a:rPr>
              <a:t>Sometimes 2 or more independent attribute or attributes can be used to identify the rows uniquely </a:t>
            </a:r>
            <a:r>
              <a:rPr lang="en-US" sz="1800" b="0" i="0" u="none" strike="noStrike" baseline="0" dirty="0" err="1">
                <a:solidFill>
                  <a:srgbClr val="000000"/>
                </a:solidFill>
                <a:latin typeface="Cambria" panose="02040503050406030204" pitchFamily="18" charset="0"/>
              </a:rPr>
              <a:t>Eg</a:t>
            </a:r>
            <a:r>
              <a:rPr lang="en-US" sz="1800" b="0" i="0" u="none" strike="noStrike" baseline="0" dirty="0">
                <a:solidFill>
                  <a:srgbClr val="000000"/>
                </a:solidFill>
                <a:latin typeface="Cambria" panose="02040503050406030204" pitchFamily="18" charset="0"/>
              </a:rPr>
              <a:t> :( </a:t>
            </a:r>
            <a:r>
              <a:rPr lang="en-US" sz="1800" b="0" i="0" u="none" strike="noStrike" baseline="0" dirty="0" err="1">
                <a:solidFill>
                  <a:srgbClr val="000000"/>
                </a:solidFill>
                <a:latin typeface="Cambria" panose="02040503050406030204" pitchFamily="18" charset="0"/>
              </a:rPr>
              <a:t>vech</a:t>
            </a:r>
            <a:r>
              <a:rPr lang="en-US" sz="1800" b="0" i="0" u="none" strike="noStrike" baseline="0" dirty="0">
                <a:solidFill>
                  <a:srgbClr val="000000"/>
                </a:solidFill>
                <a:latin typeface="Cambria" panose="02040503050406030204" pitchFamily="18" charset="0"/>
              </a:rPr>
              <a:t> </a:t>
            </a:r>
            <a:r>
              <a:rPr lang="en-US" sz="1800" b="0" i="0" u="none" strike="noStrike" baseline="0" dirty="0" err="1">
                <a:solidFill>
                  <a:srgbClr val="000000"/>
                </a:solidFill>
                <a:latin typeface="Cambria" panose="02040503050406030204" pitchFamily="18" charset="0"/>
              </a:rPr>
              <a:t>no,veng</a:t>
            </a:r>
            <a:r>
              <a:rPr lang="en-US" sz="1800" b="0" i="0" u="none" strike="noStrike" baseline="0" dirty="0">
                <a:solidFill>
                  <a:srgbClr val="000000"/>
                </a:solidFill>
                <a:latin typeface="Cambria" panose="02040503050406030204" pitchFamily="18" charset="0"/>
              </a:rPr>
              <a:t> </a:t>
            </a:r>
            <a:r>
              <a:rPr lang="en-US" sz="1800" b="0" i="0" u="none" strike="noStrike" baseline="0" dirty="0" err="1">
                <a:solidFill>
                  <a:srgbClr val="000000"/>
                </a:solidFill>
                <a:latin typeface="Cambria" panose="02040503050406030204" pitchFamily="18" charset="0"/>
              </a:rPr>
              <a:t>no,purchase</a:t>
            </a:r>
            <a:r>
              <a:rPr lang="en-US" sz="1800" b="0" i="0" u="none" strike="noStrike" baseline="0" dirty="0">
                <a:solidFill>
                  <a:srgbClr val="000000"/>
                </a:solidFill>
                <a:latin typeface="Cambria" panose="02040503050406030204" pitchFamily="18" charset="0"/>
              </a:rPr>
              <a:t> date) Either vehicle no or vehicle engine no can be used as a key attribute then they are called as candidate keys one of the candidate key can be elected as primary key. </a:t>
            </a:r>
          </a:p>
        </p:txBody>
      </p:sp>
    </p:spTree>
    <p:extLst>
      <p:ext uri="{BB962C8B-B14F-4D97-AF65-F5344CB8AC3E}">
        <p14:creationId xmlns:p14="http://schemas.microsoft.com/office/powerpoint/2010/main" val="1907761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E9C51A-9627-AB65-D62B-3B10AD7071C3}"/>
              </a:ext>
            </a:extLst>
          </p:cNvPr>
          <p:cNvPicPr>
            <a:picLocks noChangeAspect="1"/>
          </p:cNvPicPr>
          <p:nvPr/>
        </p:nvPicPr>
        <p:blipFill>
          <a:blip r:embed="rId2"/>
          <a:stretch>
            <a:fillRect/>
          </a:stretch>
        </p:blipFill>
        <p:spPr>
          <a:xfrm>
            <a:off x="647956" y="729343"/>
            <a:ext cx="10083277" cy="4996543"/>
          </a:xfrm>
          <a:prstGeom prst="rect">
            <a:avLst/>
          </a:prstGeom>
        </p:spPr>
      </p:pic>
    </p:spTree>
    <p:extLst>
      <p:ext uri="{BB962C8B-B14F-4D97-AF65-F5344CB8AC3E}">
        <p14:creationId xmlns:p14="http://schemas.microsoft.com/office/powerpoint/2010/main" val="3354993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7BBBA5-B2A9-247E-006A-84D5144E7FB9}"/>
              </a:ext>
            </a:extLst>
          </p:cNvPr>
          <p:cNvPicPr>
            <a:picLocks noChangeAspect="1"/>
          </p:cNvPicPr>
          <p:nvPr/>
        </p:nvPicPr>
        <p:blipFill>
          <a:blip r:embed="rId2"/>
          <a:stretch>
            <a:fillRect/>
          </a:stretch>
        </p:blipFill>
        <p:spPr>
          <a:xfrm>
            <a:off x="1404257" y="0"/>
            <a:ext cx="9971314" cy="6585857"/>
          </a:xfrm>
          <a:prstGeom prst="rect">
            <a:avLst/>
          </a:prstGeom>
        </p:spPr>
      </p:pic>
    </p:spTree>
    <p:extLst>
      <p:ext uri="{BB962C8B-B14F-4D97-AF65-F5344CB8AC3E}">
        <p14:creationId xmlns:p14="http://schemas.microsoft.com/office/powerpoint/2010/main" val="623424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63DB24-87F5-63A0-A867-C20A0CAA9E12}"/>
              </a:ext>
            </a:extLst>
          </p:cNvPr>
          <p:cNvSpPr txBox="1"/>
          <p:nvPr/>
        </p:nvSpPr>
        <p:spPr>
          <a:xfrm>
            <a:off x="590551" y="573064"/>
            <a:ext cx="11046278" cy="1938992"/>
          </a:xfrm>
          <a:prstGeom prst="rect">
            <a:avLst/>
          </a:prstGeom>
          <a:noFill/>
        </p:spPr>
        <p:txBody>
          <a:bodyPr wrap="square">
            <a:spAutoFit/>
          </a:bodyPr>
          <a:lstStyle/>
          <a:p>
            <a:pPr algn="just"/>
            <a:r>
              <a:rPr lang="en-US" sz="2400" b="1" i="0" u="none" strike="noStrike" baseline="0" dirty="0">
                <a:solidFill>
                  <a:srgbClr val="000000"/>
                </a:solidFill>
                <a:latin typeface="Cambria" panose="02040503050406030204" pitchFamily="18" charset="0"/>
              </a:rPr>
              <a:t>(3) To identify equivalence of F.D’s : </a:t>
            </a:r>
          </a:p>
          <a:p>
            <a:pPr algn="just"/>
            <a:endParaRPr lang="en-US" sz="2400" b="0" i="0" u="none" strike="noStrike" baseline="0" dirty="0">
              <a:solidFill>
                <a:srgbClr val="000000"/>
              </a:solidFill>
              <a:latin typeface="Cambria" panose="02040503050406030204" pitchFamily="18" charset="0"/>
            </a:endParaRPr>
          </a:p>
          <a:p>
            <a:pPr algn="just"/>
            <a:r>
              <a:rPr lang="en-US" sz="2400" b="0" i="0" u="none" strike="noStrike" baseline="0" dirty="0">
                <a:solidFill>
                  <a:srgbClr val="000000"/>
                </a:solidFill>
                <a:latin typeface="Cambria" panose="02040503050406030204" pitchFamily="18" charset="0"/>
              </a:rPr>
              <a:t>Different database designers may define different F.D’s sets from the same requirements. To evaluate whether they are equivalent if we are able to derive all F.D’s in G from F and vice- versa. </a:t>
            </a:r>
            <a:endParaRPr lang="en-IN" sz="2400" dirty="0"/>
          </a:p>
        </p:txBody>
      </p:sp>
      <p:pic>
        <p:nvPicPr>
          <p:cNvPr id="5" name="Picture 4">
            <a:extLst>
              <a:ext uri="{FF2B5EF4-FFF2-40B4-BE49-F238E27FC236}">
                <a16:creationId xmlns:a16="http://schemas.microsoft.com/office/drawing/2014/main" id="{700FA190-322D-9152-44B1-EEBBB4D3283E}"/>
              </a:ext>
            </a:extLst>
          </p:cNvPr>
          <p:cNvPicPr>
            <a:picLocks noChangeAspect="1"/>
          </p:cNvPicPr>
          <p:nvPr/>
        </p:nvPicPr>
        <p:blipFill>
          <a:blip r:embed="rId2"/>
          <a:stretch>
            <a:fillRect/>
          </a:stretch>
        </p:blipFill>
        <p:spPr>
          <a:xfrm>
            <a:off x="2156732" y="2810813"/>
            <a:ext cx="8054067" cy="3622644"/>
          </a:xfrm>
          <a:prstGeom prst="rect">
            <a:avLst/>
          </a:prstGeom>
        </p:spPr>
      </p:pic>
    </p:spTree>
    <p:extLst>
      <p:ext uri="{BB962C8B-B14F-4D97-AF65-F5344CB8AC3E}">
        <p14:creationId xmlns:p14="http://schemas.microsoft.com/office/powerpoint/2010/main" val="1028500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87B03C-6AC7-2051-A588-A4E3441AD7A5}"/>
              </a:ext>
            </a:extLst>
          </p:cNvPr>
          <p:cNvSpPr txBox="1"/>
          <p:nvPr/>
        </p:nvSpPr>
        <p:spPr>
          <a:xfrm>
            <a:off x="1036864" y="412127"/>
            <a:ext cx="8640535" cy="5016758"/>
          </a:xfrm>
          <a:prstGeom prst="rect">
            <a:avLst/>
          </a:prstGeom>
          <a:noFill/>
        </p:spPr>
        <p:txBody>
          <a:bodyPr wrap="square">
            <a:spAutoFit/>
          </a:bodyPr>
          <a:lstStyle/>
          <a:p>
            <a:r>
              <a:rPr lang="en-US" sz="3200" b="1" i="0" u="none" strike="noStrike" baseline="0" dirty="0">
                <a:solidFill>
                  <a:srgbClr val="000000"/>
                </a:solidFill>
                <a:latin typeface="Cambria" panose="02040503050406030204" pitchFamily="18" charset="0"/>
              </a:rPr>
              <a:t>Step</a:t>
            </a:r>
            <a:r>
              <a:rPr lang="en-US" sz="2400" b="1" i="0" u="none" strike="noStrike" baseline="0" dirty="0">
                <a:solidFill>
                  <a:srgbClr val="000000"/>
                </a:solidFill>
                <a:latin typeface="Cambria" panose="02040503050406030204" pitchFamily="18" charset="0"/>
              </a:rPr>
              <a:t> 1: </a:t>
            </a:r>
            <a:r>
              <a:rPr lang="en-US" sz="2400" b="0" i="0" u="none" strike="noStrike" baseline="0" dirty="0">
                <a:solidFill>
                  <a:srgbClr val="000000"/>
                </a:solidFill>
                <a:latin typeface="Cambria" panose="02040503050406030204" pitchFamily="18" charset="0"/>
              </a:rPr>
              <a:t>Take set F and enclose all FD’s in G that can be derived from F. A→CD </a:t>
            </a:r>
          </a:p>
          <a:p>
            <a:r>
              <a:rPr lang="en-IN" sz="2400" b="0" i="0" u="none" strike="noStrike" baseline="0" dirty="0">
                <a:solidFill>
                  <a:srgbClr val="000000"/>
                </a:solidFill>
                <a:latin typeface="Cambria" panose="02040503050406030204" pitchFamily="18" charset="0"/>
              </a:rPr>
              <a:t>A+ from F </a:t>
            </a:r>
          </a:p>
          <a:p>
            <a:r>
              <a:rPr lang="en-IN" sz="2400" b="0" i="0" u="none" strike="noStrike" baseline="0" dirty="0">
                <a:solidFill>
                  <a:srgbClr val="000000"/>
                </a:solidFill>
                <a:latin typeface="Cambria" panose="02040503050406030204" pitchFamily="18" charset="0"/>
              </a:rPr>
              <a:t>=A </a:t>
            </a:r>
          </a:p>
          <a:p>
            <a:r>
              <a:rPr lang="en-IN" sz="2400" b="0" i="0" u="none" strike="noStrike" baseline="0" dirty="0">
                <a:solidFill>
                  <a:srgbClr val="000000"/>
                </a:solidFill>
                <a:latin typeface="Cambria" panose="02040503050406030204" pitchFamily="18" charset="0"/>
              </a:rPr>
              <a:t>=AC (∵ A→ C) </a:t>
            </a:r>
          </a:p>
          <a:p>
            <a:r>
              <a:rPr lang="en-IN" sz="2400" b="0" i="0" u="none" strike="noStrike" baseline="0" dirty="0">
                <a:solidFill>
                  <a:srgbClr val="000000"/>
                </a:solidFill>
                <a:latin typeface="Cambria" panose="02040503050406030204" pitchFamily="18" charset="0"/>
              </a:rPr>
              <a:t>=ACD (∵ AC→ D) </a:t>
            </a:r>
          </a:p>
          <a:p>
            <a:r>
              <a:rPr lang="en-US" sz="2400" b="0" i="0" u="none" strike="noStrike" baseline="0" dirty="0">
                <a:solidFill>
                  <a:srgbClr val="000000"/>
                </a:solidFill>
                <a:latin typeface="Cambria" panose="02040503050406030204" pitchFamily="18" charset="0"/>
              </a:rPr>
              <a:t>A → CD can be derived from F </a:t>
            </a:r>
          </a:p>
          <a:p>
            <a:r>
              <a:rPr lang="en-IN" sz="2400" b="0" i="0" u="none" strike="noStrike" baseline="0" dirty="0">
                <a:solidFill>
                  <a:srgbClr val="000000"/>
                </a:solidFill>
                <a:latin typeface="Cambria" panose="02040503050406030204" pitchFamily="18" charset="0"/>
              </a:rPr>
              <a:t>E→AH </a:t>
            </a:r>
          </a:p>
          <a:p>
            <a:r>
              <a:rPr lang="en-IN" sz="2400" b="0" i="0" u="none" strike="noStrike" baseline="0" dirty="0">
                <a:solidFill>
                  <a:srgbClr val="000000"/>
                </a:solidFill>
                <a:latin typeface="Cambria" panose="02040503050406030204" pitchFamily="18" charset="0"/>
              </a:rPr>
              <a:t>E+ from F </a:t>
            </a:r>
          </a:p>
          <a:p>
            <a:r>
              <a:rPr lang="en-IN" sz="2400" b="0" i="0" u="none" strike="noStrike" baseline="0" dirty="0">
                <a:solidFill>
                  <a:srgbClr val="000000"/>
                </a:solidFill>
                <a:latin typeface="Cambria" panose="02040503050406030204" pitchFamily="18" charset="0"/>
              </a:rPr>
              <a:t>=E </a:t>
            </a:r>
          </a:p>
          <a:p>
            <a:r>
              <a:rPr lang="en-IN" sz="2400" b="0" i="0" u="none" strike="noStrike" baseline="0" dirty="0">
                <a:solidFill>
                  <a:srgbClr val="000000"/>
                </a:solidFill>
                <a:latin typeface="Cambria" panose="02040503050406030204" pitchFamily="18" charset="0"/>
              </a:rPr>
              <a:t>=EAD </a:t>
            </a:r>
          </a:p>
          <a:p>
            <a:r>
              <a:rPr lang="en-IN" sz="2400" b="0" i="0" u="none" strike="noStrike" baseline="0" dirty="0">
                <a:solidFill>
                  <a:srgbClr val="000000"/>
                </a:solidFill>
                <a:latin typeface="Cambria" panose="02040503050406030204" pitchFamily="18" charset="0"/>
              </a:rPr>
              <a:t>=EADH </a:t>
            </a:r>
          </a:p>
          <a:p>
            <a:r>
              <a:rPr lang="en-US" sz="2400" b="0" i="0" u="none" strike="noStrike" baseline="0" dirty="0">
                <a:solidFill>
                  <a:srgbClr val="000000"/>
                </a:solidFill>
                <a:latin typeface="Cambria" panose="02040503050406030204" pitchFamily="18" charset="0"/>
              </a:rPr>
              <a:t> E → AH can be derived from F </a:t>
            </a:r>
            <a:endParaRPr lang="en-IN" sz="2400" dirty="0"/>
          </a:p>
        </p:txBody>
      </p:sp>
    </p:spTree>
    <p:extLst>
      <p:ext uri="{BB962C8B-B14F-4D97-AF65-F5344CB8AC3E}">
        <p14:creationId xmlns:p14="http://schemas.microsoft.com/office/powerpoint/2010/main" val="1183247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36357B-56DF-F660-A581-E3FF6666D845}"/>
              </a:ext>
            </a:extLst>
          </p:cNvPr>
          <p:cNvSpPr txBox="1"/>
          <p:nvPr/>
        </p:nvSpPr>
        <p:spPr>
          <a:xfrm>
            <a:off x="797380" y="455670"/>
            <a:ext cx="9794420" cy="4524315"/>
          </a:xfrm>
          <a:prstGeom prst="rect">
            <a:avLst/>
          </a:prstGeom>
          <a:noFill/>
        </p:spPr>
        <p:txBody>
          <a:bodyPr wrap="square">
            <a:spAutoFit/>
          </a:bodyPr>
          <a:lstStyle/>
          <a:p>
            <a:r>
              <a:rPr lang="en-US" sz="2400" b="1" i="0" u="none" strike="noStrike" baseline="0" dirty="0">
                <a:solidFill>
                  <a:srgbClr val="000000"/>
                </a:solidFill>
                <a:latin typeface="Cambria" panose="02040503050406030204" pitchFamily="18" charset="0"/>
              </a:rPr>
              <a:t>Step 2: </a:t>
            </a:r>
            <a:r>
              <a:rPr lang="en-US" sz="2400" b="0" i="0" u="none" strike="noStrike" baseline="0" dirty="0">
                <a:solidFill>
                  <a:srgbClr val="000000"/>
                </a:solidFill>
                <a:latin typeface="Cambria" panose="02040503050406030204" pitchFamily="18" charset="0"/>
              </a:rPr>
              <a:t>Take set G and enclose all F.D’s in F that can be derived from </a:t>
            </a:r>
          </a:p>
          <a:p>
            <a:r>
              <a:rPr lang="en-US" sz="2400" b="0" i="0" u="none" strike="noStrike" baseline="0" dirty="0">
                <a:solidFill>
                  <a:srgbClr val="000000"/>
                </a:solidFill>
                <a:latin typeface="Cambria" panose="02040503050406030204" pitchFamily="18" charset="0"/>
              </a:rPr>
              <a:t>G. A→C A+ from G </a:t>
            </a:r>
          </a:p>
          <a:p>
            <a:r>
              <a:rPr lang="en-IN" sz="2400" b="0" i="0" u="none" strike="noStrike" baseline="0" dirty="0">
                <a:solidFill>
                  <a:srgbClr val="000000"/>
                </a:solidFill>
                <a:latin typeface="Cambria" panose="02040503050406030204" pitchFamily="18" charset="0"/>
              </a:rPr>
              <a:t>=A </a:t>
            </a:r>
          </a:p>
          <a:p>
            <a:r>
              <a:rPr lang="en-IN" sz="2400" b="0" i="0" u="none" strike="noStrike" baseline="0" dirty="0">
                <a:solidFill>
                  <a:srgbClr val="000000"/>
                </a:solidFill>
                <a:latin typeface="Cambria" panose="02040503050406030204" pitchFamily="18" charset="0"/>
              </a:rPr>
              <a:t>=ACD </a:t>
            </a:r>
          </a:p>
          <a:p>
            <a:r>
              <a:rPr lang="en-US" sz="2400" b="0" i="0" u="none" strike="noStrike" baseline="0" dirty="0">
                <a:solidFill>
                  <a:srgbClr val="000000"/>
                </a:solidFill>
                <a:latin typeface="Cambria" panose="02040503050406030204" pitchFamily="18" charset="0"/>
              </a:rPr>
              <a:t>A → C can be derived from G </a:t>
            </a:r>
          </a:p>
          <a:p>
            <a:r>
              <a:rPr lang="en-IN" sz="2400" b="0" i="0" u="none" strike="noStrike" baseline="0" dirty="0">
                <a:solidFill>
                  <a:srgbClr val="000000"/>
                </a:solidFill>
                <a:latin typeface="Cambria" panose="02040503050406030204" pitchFamily="18" charset="0"/>
              </a:rPr>
              <a:t>E →AD </a:t>
            </a:r>
          </a:p>
          <a:p>
            <a:r>
              <a:rPr lang="en-IN" sz="2400" b="0" i="0" u="none" strike="noStrike" baseline="0" dirty="0">
                <a:solidFill>
                  <a:srgbClr val="000000"/>
                </a:solidFill>
                <a:latin typeface="Cambria" panose="02040503050406030204" pitchFamily="18" charset="0"/>
              </a:rPr>
              <a:t>E+ from G </a:t>
            </a:r>
          </a:p>
          <a:p>
            <a:r>
              <a:rPr lang="en-IN" sz="2400" b="0" i="0" u="none" strike="noStrike" baseline="0" dirty="0">
                <a:solidFill>
                  <a:srgbClr val="000000"/>
                </a:solidFill>
                <a:latin typeface="Cambria" panose="02040503050406030204" pitchFamily="18" charset="0"/>
              </a:rPr>
              <a:t>=E </a:t>
            </a:r>
          </a:p>
          <a:p>
            <a:r>
              <a:rPr lang="en-IN" sz="2400" b="0" i="0" u="none" strike="noStrike" baseline="0" dirty="0">
                <a:solidFill>
                  <a:srgbClr val="000000"/>
                </a:solidFill>
                <a:latin typeface="Cambria" panose="02040503050406030204" pitchFamily="18" charset="0"/>
              </a:rPr>
              <a:t>=EAH </a:t>
            </a:r>
          </a:p>
          <a:p>
            <a:r>
              <a:rPr lang="en-IN" sz="2400" b="0" i="0" u="none" strike="noStrike" baseline="0" dirty="0">
                <a:solidFill>
                  <a:srgbClr val="000000"/>
                </a:solidFill>
                <a:latin typeface="Cambria" panose="02040503050406030204" pitchFamily="18" charset="0"/>
              </a:rPr>
              <a:t>=EAHCD </a:t>
            </a:r>
          </a:p>
          <a:p>
            <a:r>
              <a:rPr lang="en-US" sz="2400" b="0" i="0" u="none" strike="noStrike" baseline="0" dirty="0">
                <a:solidFill>
                  <a:srgbClr val="000000"/>
                </a:solidFill>
                <a:latin typeface="Cambria" panose="02040503050406030204" pitchFamily="18" charset="0"/>
              </a:rPr>
              <a:t>E → AH &amp; E → AD can be derived from G </a:t>
            </a:r>
          </a:p>
          <a:p>
            <a:r>
              <a:rPr lang="en-US" sz="2400" b="0" i="0" u="none" strike="noStrike" baseline="0" dirty="0">
                <a:solidFill>
                  <a:srgbClr val="000000"/>
                </a:solidFill>
                <a:latin typeface="Cambria" panose="02040503050406030204" pitchFamily="18" charset="0"/>
              </a:rPr>
              <a:t>G and F are equivalent. </a:t>
            </a:r>
            <a:endParaRPr lang="en-IN" sz="2400" dirty="0"/>
          </a:p>
        </p:txBody>
      </p:sp>
    </p:spTree>
    <p:extLst>
      <p:ext uri="{BB962C8B-B14F-4D97-AF65-F5344CB8AC3E}">
        <p14:creationId xmlns:p14="http://schemas.microsoft.com/office/powerpoint/2010/main" val="3941084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A9F6E1-541B-F03B-37C7-9246D505E095}"/>
              </a:ext>
            </a:extLst>
          </p:cNvPr>
          <p:cNvSpPr txBox="1"/>
          <p:nvPr/>
        </p:nvSpPr>
        <p:spPr>
          <a:xfrm>
            <a:off x="609600" y="240970"/>
            <a:ext cx="10591800" cy="4524315"/>
          </a:xfrm>
          <a:prstGeom prst="rect">
            <a:avLst/>
          </a:prstGeom>
          <a:noFill/>
        </p:spPr>
        <p:txBody>
          <a:bodyPr wrap="square">
            <a:spAutoFit/>
          </a:bodyPr>
          <a:lstStyle/>
          <a:p>
            <a:r>
              <a:rPr lang="en-US" sz="2400" b="1" i="0" u="none" strike="noStrike" baseline="0" dirty="0">
                <a:solidFill>
                  <a:srgbClr val="000000"/>
                </a:solidFill>
                <a:latin typeface="Cambria" panose="02040503050406030204" pitchFamily="18" charset="0"/>
              </a:rPr>
              <a:t>(4) To identify the irreducible form of FD’s /canonical Form (minimal cover): </a:t>
            </a:r>
            <a:endParaRPr lang="en-US" sz="2400" b="0" i="0" u="none" strike="noStrike" baseline="0" dirty="0">
              <a:solidFill>
                <a:srgbClr val="000000"/>
              </a:solidFill>
              <a:latin typeface="Cambria" panose="02040503050406030204" pitchFamily="18" charset="0"/>
            </a:endParaRPr>
          </a:p>
          <a:p>
            <a:r>
              <a:rPr lang="en-US" sz="2400" b="0" i="0" u="none" strike="noStrike" baseline="0" dirty="0">
                <a:solidFill>
                  <a:srgbClr val="000000"/>
                </a:solidFill>
                <a:latin typeface="Cambria" panose="02040503050406030204" pitchFamily="18" charset="0"/>
              </a:rPr>
              <a:t>We try to minimize the functional dependency. The minimize FD should be equivalent to original FD, </a:t>
            </a:r>
          </a:p>
          <a:p>
            <a:r>
              <a:rPr lang="en-US" sz="2400" b="1" i="0" u="none" strike="noStrike" baseline="0" dirty="0">
                <a:solidFill>
                  <a:srgbClr val="000000"/>
                </a:solidFill>
                <a:latin typeface="Cambria" panose="02040503050406030204" pitchFamily="18" charset="0"/>
              </a:rPr>
              <a:t>Procedure to find minimal set: </a:t>
            </a:r>
            <a:endParaRPr lang="en-US" sz="2400" b="0" i="0" u="none" strike="noStrike" baseline="0" dirty="0">
              <a:solidFill>
                <a:srgbClr val="000000"/>
              </a:solidFill>
              <a:latin typeface="Cambria" panose="02040503050406030204" pitchFamily="18" charset="0"/>
            </a:endParaRPr>
          </a:p>
          <a:p>
            <a:r>
              <a:rPr lang="en-US" sz="2400" b="1" i="0" u="none" strike="noStrike" baseline="0" dirty="0">
                <a:solidFill>
                  <a:srgbClr val="000000"/>
                </a:solidFill>
                <a:latin typeface="Cambria" panose="02040503050406030204" pitchFamily="18" charset="0"/>
              </a:rPr>
              <a:t>Step 1: </a:t>
            </a:r>
            <a:r>
              <a:rPr lang="en-US" sz="2400" b="0" i="0" u="none" strike="noStrike" baseline="0" dirty="0">
                <a:solidFill>
                  <a:srgbClr val="000000"/>
                </a:solidFill>
                <a:latin typeface="Cambria" panose="02040503050406030204" pitchFamily="18" charset="0"/>
              </a:rPr>
              <a:t>Have single attributes on the RHS for every FD. </a:t>
            </a:r>
          </a:p>
          <a:p>
            <a:r>
              <a:rPr lang="en-US" sz="2400" b="1" i="0" u="none" strike="noStrike" baseline="0" dirty="0">
                <a:solidFill>
                  <a:srgbClr val="000000"/>
                </a:solidFill>
                <a:latin typeface="Cambria" panose="02040503050406030204" pitchFamily="18" charset="0"/>
              </a:rPr>
              <a:t>Step 2: </a:t>
            </a:r>
            <a:r>
              <a:rPr lang="en-US" sz="2400" b="0" i="0" u="none" strike="noStrike" baseline="0" dirty="0">
                <a:solidFill>
                  <a:srgbClr val="000000"/>
                </a:solidFill>
                <a:latin typeface="Cambria" panose="02040503050406030204" pitchFamily="18" charset="0"/>
              </a:rPr>
              <a:t>Evaluate all F.D’s in step 1 for their necessity. If they are not necessary, remove them from the list. </a:t>
            </a:r>
          </a:p>
          <a:p>
            <a:r>
              <a:rPr lang="en-US" sz="2400" b="1" i="0" u="none" strike="noStrike" baseline="0" dirty="0">
                <a:solidFill>
                  <a:srgbClr val="000000"/>
                </a:solidFill>
                <a:latin typeface="Cambria" panose="02040503050406030204" pitchFamily="18" charset="0"/>
              </a:rPr>
              <a:t>Step 3: </a:t>
            </a:r>
            <a:r>
              <a:rPr lang="en-US" sz="2400" b="0" i="0" u="none" strike="noStrike" baseline="0" dirty="0">
                <a:solidFill>
                  <a:srgbClr val="000000"/>
                </a:solidFill>
                <a:latin typeface="Cambria" panose="02040503050406030204" pitchFamily="18" charset="0"/>
              </a:rPr>
              <a:t>Evaluate the necessity of the LHS attributes in FD’s obtained from step 2.If they are not necessary remove from FD. </a:t>
            </a:r>
          </a:p>
          <a:p>
            <a:r>
              <a:rPr lang="en-US" sz="2400" b="1" i="0" u="none" strike="noStrike" baseline="0" dirty="0">
                <a:solidFill>
                  <a:srgbClr val="000000"/>
                </a:solidFill>
                <a:latin typeface="Cambria" panose="02040503050406030204" pitchFamily="18" charset="0"/>
              </a:rPr>
              <a:t>Step 4: </a:t>
            </a:r>
            <a:r>
              <a:rPr lang="en-US" sz="2400" b="0" i="0" u="none" strike="noStrike" baseline="0" dirty="0">
                <a:solidFill>
                  <a:srgbClr val="000000"/>
                </a:solidFill>
                <a:latin typeface="Cambria" panose="02040503050406030204" pitchFamily="18" charset="0"/>
              </a:rPr>
              <a:t>Apply the union rule for common to LHS attribute in the FD’s obtained from step 3.Then we will get irreducible set. </a:t>
            </a:r>
            <a:endParaRPr lang="en-IN" sz="2400" dirty="0"/>
          </a:p>
        </p:txBody>
      </p:sp>
    </p:spTree>
    <p:extLst>
      <p:ext uri="{BB962C8B-B14F-4D97-AF65-F5344CB8AC3E}">
        <p14:creationId xmlns:p14="http://schemas.microsoft.com/office/powerpoint/2010/main" val="3260844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F219CD-0A7C-293C-8B31-6B7820551D14}"/>
              </a:ext>
            </a:extLst>
          </p:cNvPr>
          <p:cNvPicPr>
            <a:picLocks noChangeAspect="1"/>
          </p:cNvPicPr>
          <p:nvPr/>
        </p:nvPicPr>
        <p:blipFill>
          <a:blip r:embed="rId2"/>
          <a:stretch>
            <a:fillRect/>
          </a:stretch>
        </p:blipFill>
        <p:spPr>
          <a:xfrm>
            <a:off x="2754086" y="363439"/>
            <a:ext cx="7478485" cy="5044001"/>
          </a:xfrm>
          <a:prstGeom prst="rect">
            <a:avLst/>
          </a:prstGeom>
        </p:spPr>
      </p:pic>
    </p:spTree>
    <p:extLst>
      <p:ext uri="{BB962C8B-B14F-4D97-AF65-F5344CB8AC3E}">
        <p14:creationId xmlns:p14="http://schemas.microsoft.com/office/powerpoint/2010/main" val="341708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5CC8F0-409E-AA42-FE11-D1DE19639740}"/>
              </a:ext>
            </a:extLst>
          </p:cNvPr>
          <p:cNvPicPr>
            <a:picLocks noChangeAspect="1"/>
          </p:cNvPicPr>
          <p:nvPr/>
        </p:nvPicPr>
        <p:blipFill>
          <a:blip r:embed="rId2"/>
          <a:stretch>
            <a:fillRect/>
          </a:stretch>
        </p:blipFill>
        <p:spPr>
          <a:xfrm>
            <a:off x="1905001" y="876121"/>
            <a:ext cx="8556170" cy="4552018"/>
          </a:xfrm>
          <a:prstGeom prst="rect">
            <a:avLst/>
          </a:prstGeom>
        </p:spPr>
      </p:pic>
    </p:spTree>
    <p:extLst>
      <p:ext uri="{BB962C8B-B14F-4D97-AF65-F5344CB8AC3E}">
        <p14:creationId xmlns:p14="http://schemas.microsoft.com/office/powerpoint/2010/main" val="12808487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347485-276D-EE95-5362-36A7E0356979}"/>
              </a:ext>
            </a:extLst>
          </p:cNvPr>
          <p:cNvPicPr>
            <a:picLocks noChangeAspect="1"/>
          </p:cNvPicPr>
          <p:nvPr/>
        </p:nvPicPr>
        <p:blipFill>
          <a:blip r:embed="rId2"/>
          <a:stretch>
            <a:fillRect/>
          </a:stretch>
        </p:blipFill>
        <p:spPr>
          <a:xfrm>
            <a:off x="1469572" y="141514"/>
            <a:ext cx="8066314" cy="6114908"/>
          </a:xfrm>
          <a:prstGeom prst="rect">
            <a:avLst/>
          </a:prstGeom>
        </p:spPr>
      </p:pic>
    </p:spTree>
    <p:extLst>
      <p:ext uri="{BB962C8B-B14F-4D97-AF65-F5344CB8AC3E}">
        <p14:creationId xmlns:p14="http://schemas.microsoft.com/office/powerpoint/2010/main" val="922843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E920C2-CDB8-C6E2-7D3A-7A8F514CF744}"/>
              </a:ext>
            </a:extLst>
          </p:cNvPr>
          <p:cNvPicPr>
            <a:picLocks noChangeAspect="1"/>
          </p:cNvPicPr>
          <p:nvPr/>
        </p:nvPicPr>
        <p:blipFill>
          <a:blip r:embed="rId2"/>
          <a:stretch>
            <a:fillRect/>
          </a:stretch>
        </p:blipFill>
        <p:spPr>
          <a:xfrm>
            <a:off x="1804737" y="841723"/>
            <a:ext cx="5859379" cy="4907868"/>
          </a:xfrm>
          <a:prstGeom prst="rect">
            <a:avLst/>
          </a:prstGeom>
        </p:spPr>
      </p:pic>
    </p:spTree>
    <p:extLst>
      <p:ext uri="{BB962C8B-B14F-4D97-AF65-F5344CB8AC3E}">
        <p14:creationId xmlns:p14="http://schemas.microsoft.com/office/powerpoint/2010/main" val="1350135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15FE9C-9909-120E-B400-A30FBCFCC670}"/>
              </a:ext>
            </a:extLst>
          </p:cNvPr>
          <p:cNvPicPr>
            <a:picLocks noChangeAspect="1"/>
          </p:cNvPicPr>
          <p:nvPr/>
        </p:nvPicPr>
        <p:blipFill>
          <a:blip r:embed="rId2"/>
          <a:stretch>
            <a:fillRect/>
          </a:stretch>
        </p:blipFill>
        <p:spPr>
          <a:xfrm>
            <a:off x="1443788" y="399653"/>
            <a:ext cx="8255239" cy="5375505"/>
          </a:xfrm>
          <a:prstGeom prst="rect">
            <a:avLst/>
          </a:prstGeom>
        </p:spPr>
      </p:pic>
    </p:spTree>
    <p:extLst>
      <p:ext uri="{BB962C8B-B14F-4D97-AF65-F5344CB8AC3E}">
        <p14:creationId xmlns:p14="http://schemas.microsoft.com/office/powerpoint/2010/main" val="2857839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045718-9946-4B4E-2116-AEE63DDFB6C9}"/>
              </a:ext>
            </a:extLst>
          </p:cNvPr>
          <p:cNvSpPr txBox="1"/>
          <p:nvPr/>
        </p:nvSpPr>
        <p:spPr>
          <a:xfrm>
            <a:off x="2680035" y="0"/>
            <a:ext cx="6106026" cy="523220"/>
          </a:xfrm>
          <a:prstGeom prst="rect">
            <a:avLst/>
          </a:prstGeom>
          <a:noFill/>
        </p:spPr>
        <p:txBody>
          <a:bodyPr wrap="square">
            <a:spAutoFit/>
          </a:bodyPr>
          <a:lstStyle/>
          <a:p>
            <a:pPr algn="ctr"/>
            <a:r>
              <a:rPr lang="en-IN" sz="2800" b="1" dirty="0"/>
              <a:t>Normalization Process</a:t>
            </a:r>
          </a:p>
        </p:txBody>
      </p:sp>
      <p:sp>
        <p:nvSpPr>
          <p:cNvPr id="7" name="TextBox 6">
            <a:extLst>
              <a:ext uri="{FF2B5EF4-FFF2-40B4-BE49-F238E27FC236}">
                <a16:creationId xmlns:a16="http://schemas.microsoft.com/office/drawing/2014/main" id="{A49A2D09-8CDB-0624-B926-010CD5DB1FC6}"/>
              </a:ext>
            </a:extLst>
          </p:cNvPr>
          <p:cNvSpPr txBox="1"/>
          <p:nvPr/>
        </p:nvSpPr>
        <p:spPr>
          <a:xfrm>
            <a:off x="309813" y="523220"/>
            <a:ext cx="11433008" cy="923330"/>
          </a:xfrm>
          <a:prstGeom prst="rect">
            <a:avLst/>
          </a:prstGeom>
          <a:noFill/>
        </p:spPr>
        <p:txBody>
          <a:bodyPr wrap="square">
            <a:spAutoFit/>
          </a:bodyPr>
          <a:lstStyle/>
          <a:p>
            <a:pPr algn="just"/>
            <a:r>
              <a:rPr lang="en-US" b="0" i="0" dirty="0">
                <a:solidFill>
                  <a:srgbClr val="273239"/>
                </a:solidFill>
                <a:effectLst/>
                <a:latin typeface="Nunito" pitchFamily="2" charset="0"/>
              </a:rPr>
              <a:t>Database Normalization is a stepwise formal process that allows us to decompose database tables in such a way that both data dependency and update anomalies are minimized. It makes use of functional dependency that exists in the table and the primary key or candidate key in analyzing the tables.</a:t>
            </a:r>
            <a:endParaRPr lang="en-IN" dirty="0"/>
          </a:p>
        </p:txBody>
      </p:sp>
      <p:pic>
        <p:nvPicPr>
          <p:cNvPr id="1026" name="Picture 2" descr="Lightbox">
            <a:extLst>
              <a:ext uri="{FF2B5EF4-FFF2-40B4-BE49-F238E27FC236}">
                <a16:creationId xmlns:a16="http://schemas.microsoft.com/office/drawing/2014/main" id="{1A1F0797-2614-39F0-D0A0-DA57859F46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074" y="1619959"/>
            <a:ext cx="8138361"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9610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D2A46BC-3702-7EB8-1CF1-5D936EDB63CB}"/>
              </a:ext>
            </a:extLst>
          </p:cNvPr>
          <p:cNvGraphicFramePr>
            <a:graphicFrameLocks noGrp="1"/>
          </p:cNvGraphicFramePr>
          <p:nvPr>
            <p:extLst>
              <p:ext uri="{D42A27DB-BD31-4B8C-83A1-F6EECF244321}">
                <p14:modId xmlns:p14="http://schemas.microsoft.com/office/powerpoint/2010/main" val="1572985147"/>
              </p:ext>
            </p:extLst>
          </p:nvPr>
        </p:nvGraphicFramePr>
        <p:xfrm>
          <a:off x="409074" y="117239"/>
          <a:ext cx="11670631" cy="6623522"/>
        </p:xfrm>
        <a:graphic>
          <a:graphicData uri="http://schemas.openxmlformats.org/drawingml/2006/table">
            <a:tbl>
              <a:tblPr/>
              <a:tblGrid>
                <a:gridCol w="2368367">
                  <a:extLst>
                    <a:ext uri="{9D8B030D-6E8A-4147-A177-3AD203B41FA5}">
                      <a16:colId xmlns:a16="http://schemas.microsoft.com/office/drawing/2014/main" val="2085165501"/>
                    </a:ext>
                  </a:extLst>
                </a:gridCol>
                <a:gridCol w="9302264">
                  <a:extLst>
                    <a:ext uri="{9D8B030D-6E8A-4147-A177-3AD203B41FA5}">
                      <a16:colId xmlns:a16="http://schemas.microsoft.com/office/drawing/2014/main" val="586006418"/>
                    </a:ext>
                  </a:extLst>
                </a:gridCol>
              </a:tblGrid>
              <a:tr h="158865">
                <a:tc>
                  <a:txBody>
                    <a:bodyPr/>
                    <a:lstStyle/>
                    <a:p>
                      <a:pPr algn="ctr" fontAlgn="t"/>
                      <a:r>
                        <a:rPr lang="en-IN" sz="3200" u="none" dirty="0">
                          <a:solidFill>
                            <a:schemeClr val="tx1"/>
                          </a:solidFill>
                          <a:effectLst/>
                          <a:latin typeface="times new roman" panose="02020603050405020304" pitchFamily="18" charset="0"/>
                        </a:rPr>
                        <a:t>Normal Form</a:t>
                      </a:r>
                    </a:p>
                  </a:txBody>
                  <a:tcPr marL="28369" marR="28369" marT="28369" marB="28369">
                    <a:lnL w="6350" cap="flat" cmpd="sng" algn="ctr">
                      <a:solidFill>
                        <a:srgbClr val="503E7A"/>
                      </a:solidFill>
                      <a:prstDash val="solid"/>
                      <a:round/>
                      <a:headEnd type="none" w="med" len="med"/>
                      <a:tailEnd type="none" w="med" len="med"/>
                    </a:lnL>
                    <a:lnR w="6350" cap="flat" cmpd="sng" algn="ctr">
                      <a:solidFill>
                        <a:srgbClr val="503E7A"/>
                      </a:solidFill>
                      <a:prstDash val="solid"/>
                      <a:round/>
                      <a:headEnd type="none" w="med" len="med"/>
                      <a:tailEnd type="none" w="med" len="med"/>
                    </a:lnR>
                    <a:lnT w="6350" cap="flat" cmpd="sng" algn="ctr">
                      <a:solidFill>
                        <a:srgbClr val="503E7A"/>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3200">
                          <a:solidFill>
                            <a:srgbClr val="000000"/>
                          </a:solidFill>
                          <a:effectLst/>
                          <a:latin typeface="times new roman" panose="02020603050405020304" pitchFamily="18" charset="0"/>
                        </a:rPr>
                        <a:t>Description</a:t>
                      </a:r>
                    </a:p>
                  </a:txBody>
                  <a:tcPr marL="28369" marR="28369" marT="28369" marB="28369">
                    <a:lnL w="6350" cap="flat" cmpd="sng" algn="ctr">
                      <a:solidFill>
                        <a:srgbClr val="503E7A"/>
                      </a:solidFill>
                      <a:prstDash val="solid"/>
                      <a:round/>
                      <a:headEnd type="none" w="med" len="med"/>
                      <a:tailEnd type="none" w="med" len="med"/>
                    </a:lnL>
                    <a:lnR w="6350" cap="flat" cmpd="sng" algn="ctr">
                      <a:solidFill>
                        <a:srgbClr val="503E7A"/>
                      </a:solidFill>
                      <a:prstDash val="solid"/>
                      <a:round/>
                      <a:headEnd type="none" w="med" len="med"/>
                      <a:tailEnd type="none" w="med" len="med"/>
                    </a:lnR>
                    <a:lnT w="6350" cap="flat" cmpd="sng" algn="ctr">
                      <a:solidFill>
                        <a:srgbClr val="503E7A"/>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625023323"/>
                  </a:ext>
                </a:extLst>
              </a:tr>
              <a:tr h="344207">
                <a:tc>
                  <a:txBody>
                    <a:bodyPr/>
                    <a:lstStyle/>
                    <a:p>
                      <a:pPr algn="ctr" fontAlgn="t"/>
                      <a:r>
                        <a:rPr lang="en-IN" sz="3200" u="none" strike="noStrike" dirty="0">
                          <a:solidFill>
                            <a:schemeClr val="tx1"/>
                          </a:solidFill>
                          <a:effectLst/>
                          <a:latin typeface="inter-regular"/>
                          <a:hlinkClick r:id="rId2">
                            <a:extLst>
                              <a:ext uri="{A12FA001-AC4F-418D-AE19-62706E023703}">
                                <ahyp:hlinkClr xmlns:ahyp="http://schemas.microsoft.com/office/drawing/2018/hyperlinkcolor" val="tx"/>
                              </a:ext>
                            </a:extLst>
                          </a:hlinkClick>
                        </a:rPr>
                        <a:t>1NF</a:t>
                      </a:r>
                      <a:endParaRPr lang="en-IN" sz="3200" u="none" dirty="0">
                        <a:solidFill>
                          <a:schemeClr val="tx1"/>
                        </a:solidFill>
                        <a:effectLst/>
                        <a:latin typeface="inter-regular"/>
                      </a:endParaRP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3200">
                          <a:solidFill>
                            <a:srgbClr val="333333"/>
                          </a:solidFill>
                          <a:effectLst/>
                          <a:latin typeface="inter-regular"/>
                        </a:rPr>
                        <a:t>A relation is in 1NF if it contains an atomic value.</a:t>
                      </a: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906689674"/>
                  </a:ext>
                </a:extLst>
              </a:tr>
              <a:tr h="752717">
                <a:tc>
                  <a:txBody>
                    <a:bodyPr/>
                    <a:lstStyle/>
                    <a:p>
                      <a:pPr algn="ctr" fontAlgn="t"/>
                      <a:r>
                        <a:rPr lang="en-IN" sz="3200" u="none" strike="noStrike">
                          <a:solidFill>
                            <a:schemeClr val="tx1"/>
                          </a:solidFill>
                          <a:effectLst/>
                          <a:latin typeface="inter-regular"/>
                          <a:hlinkClick r:id="rId3">
                            <a:extLst>
                              <a:ext uri="{A12FA001-AC4F-418D-AE19-62706E023703}">
                                <ahyp:hlinkClr xmlns:ahyp="http://schemas.microsoft.com/office/drawing/2018/hyperlinkcolor" val="tx"/>
                              </a:ext>
                            </a:extLst>
                          </a:hlinkClick>
                        </a:rPr>
                        <a:t>2NF</a:t>
                      </a:r>
                      <a:endParaRPr lang="en-IN" sz="3200" u="none">
                        <a:solidFill>
                          <a:schemeClr val="tx1"/>
                        </a:solidFill>
                        <a:effectLst/>
                        <a:latin typeface="inter-regular"/>
                      </a:endParaRP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3200">
                          <a:solidFill>
                            <a:srgbClr val="333333"/>
                          </a:solidFill>
                          <a:effectLst/>
                          <a:latin typeface="inter-regular"/>
                        </a:rPr>
                        <a:t>A relation will be in 2NF if it is in 1NF and all non-key attributes are fully functional dependent on the primary key.</a:t>
                      </a: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917668660"/>
                  </a:ext>
                </a:extLst>
              </a:tr>
              <a:tr h="446335">
                <a:tc>
                  <a:txBody>
                    <a:bodyPr/>
                    <a:lstStyle/>
                    <a:p>
                      <a:pPr algn="ctr" fontAlgn="t"/>
                      <a:r>
                        <a:rPr lang="en-IN" sz="3200" u="none" strike="noStrike">
                          <a:solidFill>
                            <a:schemeClr val="tx1"/>
                          </a:solidFill>
                          <a:effectLst/>
                          <a:latin typeface="inter-regular"/>
                          <a:hlinkClick r:id="rId4">
                            <a:extLst>
                              <a:ext uri="{A12FA001-AC4F-418D-AE19-62706E023703}">
                                <ahyp:hlinkClr xmlns:ahyp="http://schemas.microsoft.com/office/drawing/2018/hyperlinkcolor" val="tx"/>
                              </a:ext>
                            </a:extLst>
                          </a:hlinkClick>
                        </a:rPr>
                        <a:t>3NF</a:t>
                      </a:r>
                      <a:endParaRPr lang="en-IN" sz="3200" u="none">
                        <a:solidFill>
                          <a:schemeClr val="tx1"/>
                        </a:solidFill>
                        <a:effectLst/>
                        <a:latin typeface="inter-regular"/>
                      </a:endParaRP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3200">
                          <a:solidFill>
                            <a:srgbClr val="333333"/>
                          </a:solidFill>
                          <a:effectLst/>
                          <a:latin typeface="inter-regular"/>
                        </a:rPr>
                        <a:t>A relation will be in 3NF if it is in 2NF and no transition dependency exists.</a:t>
                      </a: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3594458"/>
                  </a:ext>
                </a:extLst>
              </a:tr>
              <a:tr h="548462">
                <a:tc>
                  <a:txBody>
                    <a:bodyPr/>
                    <a:lstStyle/>
                    <a:p>
                      <a:pPr algn="ctr" fontAlgn="t"/>
                      <a:r>
                        <a:rPr lang="en-IN" sz="3200" u="none" dirty="0">
                          <a:solidFill>
                            <a:schemeClr val="tx1"/>
                          </a:solidFill>
                          <a:effectLst/>
                          <a:latin typeface="inter-regular"/>
                        </a:rPr>
                        <a:t>BCNF</a:t>
                      </a: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3200">
                          <a:solidFill>
                            <a:srgbClr val="333333"/>
                          </a:solidFill>
                          <a:effectLst/>
                          <a:latin typeface="inter-regular"/>
                        </a:rPr>
                        <a:t>A stronger definition of 3NF is known as Boyce Codd's normal form.</a:t>
                      </a: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723033230"/>
                  </a:ext>
                </a:extLst>
              </a:tr>
              <a:tr h="548462">
                <a:tc>
                  <a:txBody>
                    <a:bodyPr/>
                    <a:lstStyle/>
                    <a:p>
                      <a:pPr algn="ctr" fontAlgn="t"/>
                      <a:r>
                        <a:rPr lang="en-IN" sz="3200" u="none" strike="noStrike">
                          <a:solidFill>
                            <a:schemeClr val="tx1"/>
                          </a:solidFill>
                          <a:effectLst/>
                          <a:latin typeface="inter-regular"/>
                          <a:hlinkClick r:id="rId5">
                            <a:extLst>
                              <a:ext uri="{A12FA001-AC4F-418D-AE19-62706E023703}">
                                <ahyp:hlinkClr xmlns:ahyp="http://schemas.microsoft.com/office/drawing/2018/hyperlinkcolor" val="tx"/>
                              </a:ext>
                            </a:extLst>
                          </a:hlinkClick>
                        </a:rPr>
                        <a:t>4NF</a:t>
                      </a:r>
                      <a:endParaRPr lang="en-IN" sz="3200" u="none">
                        <a:solidFill>
                          <a:schemeClr val="tx1"/>
                        </a:solidFill>
                        <a:effectLst/>
                        <a:latin typeface="inter-regular"/>
                      </a:endParaRP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3200">
                          <a:solidFill>
                            <a:srgbClr val="333333"/>
                          </a:solidFill>
                          <a:effectLst/>
                          <a:latin typeface="inter-regular"/>
                        </a:rPr>
                        <a:t>A relation will be in 4NF if it is in Boyce Codd's normal form and has no multi-valued dependency.</a:t>
                      </a: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051834472"/>
                  </a:ext>
                </a:extLst>
              </a:tr>
              <a:tr h="650590">
                <a:tc>
                  <a:txBody>
                    <a:bodyPr/>
                    <a:lstStyle/>
                    <a:p>
                      <a:pPr algn="ctr" fontAlgn="t"/>
                      <a:r>
                        <a:rPr lang="en-IN" sz="3200" u="none" strike="noStrike" dirty="0">
                          <a:solidFill>
                            <a:schemeClr val="tx1"/>
                          </a:solidFill>
                          <a:effectLst/>
                          <a:latin typeface="inter-regular"/>
                          <a:hlinkClick r:id="rId6">
                            <a:extLst>
                              <a:ext uri="{A12FA001-AC4F-418D-AE19-62706E023703}">
                                <ahyp:hlinkClr xmlns:ahyp="http://schemas.microsoft.com/office/drawing/2018/hyperlinkcolor" val="tx"/>
                              </a:ext>
                            </a:extLst>
                          </a:hlinkClick>
                        </a:rPr>
                        <a:t>5NF</a:t>
                      </a:r>
                      <a:endParaRPr lang="en-IN" sz="3200" u="none" dirty="0">
                        <a:solidFill>
                          <a:schemeClr val="tx1"/>
                        </a:solidFill>
                        <a:effectLst/>
                        <a:latin typeface="inter-regular"/>
                      </a:endParaRP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3200" dirty="0">
                          <a:solidFill>
                            <a:srgbClr val="333333"/>
                          </a:solidFill>
                          <a:effectLst/>
                          <a:latin typeface="inter-regular"/>
                        </a:rPr>
                        <a:t>A relation is in 5NF. If it is in 4NF and does not contain any join dependency, joining should be lossless.</a:t>
                      </a:r>
                    </a:p>
                  </a:txBody>
                  <a:tcPr marL="18912" marR="18912" marT="18912" marB="1891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43409438"/>
                  </a:ext>
                </a:extLst>
              </a:tr>
            </a:tbl>
          </a:graphicData>
        </a:graphic>
      </p:graphicFrame>
    </p:spTree>
    <p:extLst>
      <p:ext uri="{BB962C8B-B14F-4D97-AF65-F5344CB8AC3E}">
        <p14:creationId xmlns:p14="http://schemas.microsoft.com/office/powerpoint/2010/main" val="2062048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A99752-680B-B43D-326B-68F38CB191B1}"/>
              </a:ext>
            </a:extLst>
          </p:cNvPr>
          <p:cNvSpPr txBox="1"/>
          <p:nvPr/>
        </p:nvSpPr>
        <p:spPr>
          <a:xfrm>
            <a:off x="445168" y="276726"/>
            <a:ext cx="11658600" cy="4524315"/>
          </a:xfrm>
          <a:prstGeom prst="rect">
            <a:avLst/>
          </a:prstGeom>
          <a:noFill/>
        </p:spPr>
        <p:txBody>
          <a:bodyPr wrap="square">
            <a:spAutoFit/>
          </a:bodyPr>
          <a:lstStyle/>
          <a:p>
            <a:pPr algn="just"/>
            <a:r>
              <a:rPr lang="en-US" sz="3200" b="0" i="0" dirty="0">
                <a:solidFill>
                  <a:srgbClr val="610B38"/>
                </a:solidFill>
                <a:effectLst/>
                <a:latin typeface="erdana"/>
              </a:rPr>
              <a:t>What is Normalization?</a:t>
            </a:r>
          </a:p>
          <a:p>
            <a:pPr algn="just">
              <a:buFont typeface="Arial" panose="020B0604020202020204" pitchFamily="34" charset="0"/>
              <a:buChar char="•"/>
            </a:pPr>
            <a:r>
              <a:rPr lang="en-US" sz="3200" b="0" i="0" dirty="0">
                <a:solidFill>
                  <a:srgbClr val="000000"/>
                </a:solidFill>
                <a:effectLst/>
                <a:latin typeface="inter-regular"/>
              </a:rPr>
              <a:t>Normalization is the process of organizing the data in the database.</a:t>
            </a:r>
          </a:p>
          <a:p>
            <a:pPr algn="just">
              <a:buFont typeface="Arial" panose="020B0604020202020204" pitchFamily="34" charset="0"/>
              <a:buChar char="•"/>
            </a:pPr>
            <a:r>
              <a:rPr lang="en-US" sz="3200" b="0" i="0" dirty="0">
                <a:solidFill>
                  <a:srgbClr val="000000"/>
                </a:solidFill>
                <a:effectLst/>
                <a:latin typeface="inter-regular"/>
              </a:rPr>
              <a:t>Normalization is used to minimize the redundancy from a relation or set of relations. It is also used to eliminate undesirable characteristics like Insertion, Update, and Deletion Anomalies.</a:t>
            </a:r>
          </a:p>
          <a:p>
            <a:pPr algn="just">
              <a:buFont typeface="Arial" panose="020B0604020202020204" pitchFamily="34" charset="0"/>
              <a:buChar char="•"/>
            </a:pPr>
            <a:r>
              <a:rPr lang="en-US" sz="3200" b="0" i="0" dirty="0">
                <a:solidFill>
                  <a:srgbClr val="000000"/>
                </a:solidFill>
                <a:effectLst/>
                <a:latin typeface="inter-regular"/>
              </a:rPr>
              <a:t>Normalization divides the larger table into smaller and links them using relationships.</a:t>
            </a:r>
          </a:p>
          <a:p>
            <a:pPr algn="just">
              <a:buFont typeface="Arial" panose="020B0604020202020204" pitchFamily="34" charset="0"/>
              <a:buChar char="•"/>
            </a:pPr>
            <a:r>
              <a:rPr lang="en-US" sz="3200" b="0" i="0" dirty="0">
                <a:solidFill>
                  <a:srgbClr val="000000"/>
                </a:solidFill>
                <a:effectLst/>
                <a:latin typeface="inter-regular"/>
              </a:rPr>
              <a:t>The normal form is used to reduce redundancy from the database table.</a:t>
            </a:r>
          </a:p>
        </p:txBody>
      </p:sp>
    </p:spTree>
    <p:extLst>
      <p:ext uri="{BB962C8B-B14F-4D97-AF65-F5344CB8AC3E}">
        <p14:creationId xmlns:p14="http://schemas.microsoft.com/office/powerpoint/2010/main" val="34171001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83E1E7B3-7089-108E-E48F-4701CC83EED4}"/>
              </a:ext>
            </a:extLst>
          </p:cNvPr>
          <p:cNvSpPr>
            <a:spLocks noChangeArrowheads="1"/>
          </p:cNvSpPr>
          <p:nvPr/>
        </p:nvSpPr>
        <p:spPr bwMode="auto">
          <a:xfrm>
            <a:off x="476417" y="419924"/>
            <a:ext cx="525061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First Normal Form (1NF):</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8638BEB-3FBC-AFCD-A0B9-9CEBB9E1B050}"/>
              </a:ext>
            </a:extLst>
          </p:cNvPr>
          <p:cNvSpPr txBox="1"/>
          <p:nvPr/>
        </p:nvSpPr>
        <p:spPr>
          <a:xfrm>
            <a:off x="324852" y="1660358"/>
            <a:ext cx="11091277" cy="2677656"/>
          </a:xfrm>
          <a:prstGeom prst="rect">
            <a:avLst/>
          </a:prstGeom>
          <a:noFill/>
        </p:spPr>
        <p:txBody>
          <a:bodyPr wrap="square">
            <a:spAutoFit/>
          </a:bodyPr>
          <a:lstStyle/>
          <a:p>
            <a:pPr algn="just">
              <a:buFont typeface="Arial" panose="020B0604020202020204" pitchFamily="34" charset="0"/>
              <a:buChar char="•"/>
            </a:pPr>
            <a:r>
              <a:rPr lang="en-US" sz="2400" b="0" i="0" dirty="0">
                <a:solidFill>
                  <a:srgbClr val="000000"/>
                </a:solidFill>
                <a:effectLst/>
                <a:latin typeface="inter-regular"/>
              </a:rPr>
              <a:t>A relation will be 1NF if it contains an atomic value.</a:t>
            </a:r>
          </a:p>
          <a:p>
            <a:pPr algn="just">
              <a:buFont typeface="Arial" panose="020B0604020202020204" pitchFamily="34" charset="0"/>
              <a:buChar char="•"/>
            </a:pPr>
            <a:endParaRPr lang="en-US" sz="2400" b="0" i="0" dirty="0">
              <a:solidFill>
                <a:srgbClr val="000000"/>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It states that an attribute of a table cannot hold multiple values. It must hold only single-valued attribute.</a:t>
            </a:r>
          </a:p>
          <a:p>
            <a:pPr algn="just">
              <a:buFont typeface="Arial" panose="020B0604020202020204" pitchFamily="34" charset="0"/>
              <a:buChar char="•"/>
            </a:pPr>
            <a:endParaRPr lang="en-US" sz="2400" b="0" i="0" dirty="0">
              <a:solidFill>
                <a:srgbClr val="000000"/>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First normal form disallows the multi-valued attribute, composite attribute, and their combinations.</a:t>
            </a:r>
          </a:p>
        </p:txBody>
      </p:sp>
    </p:spTree>
    <p:extLst>
      <p:ext uri="{BB962C8B-B14F-4D97-AF65-F5344CB8AC3E}">
        <p14:creationId xmlns:p14="http://schemas.microsoft.com/office/powerpoint/2010/main" val="14973670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8ADF361-1FB5-1FBC-0FF8-CEAEFAB49552}"/>
              </a:ext>
            </a:extLst>
          </p:cNvPr>
          <p:cNvGraphicFramePr>
            <a:graphicFrameLocks noGrp="1"/>
          </p:cNvGraphicFramePr>
          <p:nvPr>
            <p:extLst>
              <p:ext uri="{D42A27DB-BD31-4B8C-83A1-F6EECF244321}">
                <p14:modId xmlns:p14="http://schemas.microsoft.com/office/powerpoint/2010/main" val="5470942"/>
              </p:ext>
            </p:extLst>
          </p:nvPr>
        </p:nvGraphicFramePr>
        <p:xfrm>
          <a:off x="2466473" y="1879867"/>
          <a:ext cx="7110664" cy="3449637"/>
        </p:xfrm>
        <a:graphic>
          <a:graphicData uri="http://schemas.openxmlformats.org/drawingml/2006/table">
            <a:tbl>
              <a:tblPr>
                <a:tableStyleId>{327F97BB-C833-4FB7-BDE5-3F7075034690}</a:tableStyleId>
              </a:tblPr>
              <a:tblGrid>
                <a:gridCol w="1777666">
                  <a:extLst>
                    <a:ext uri="{9D8B030D-6E8A-4147-A177-3AD203B41FA5}">
                      <a16:colId xmlns:a16="http://schemas.microsoft.com/office/drawing/2014/main" val="4201394327"/>
                    </a:ext>
                  </a:extLst>
                </a:gridCol>
                <a:gridCol w="1777666">
                  <a:extLst>
                    <a:ext uri="{9D8B030D-6E8A-4147-A177-3AD203B41FA5}">
                      <a16:colId xmlns:a16="http://schemas.microsoft.com/office/drawing/2014/main" val="2409769874"/>
                    </a:ext>
                  </a:extLst>
                </a:gridCol>
                <a:gridCol w="1777666">
                  <a:extLst>
                    <a:ext uri="{9D8B030D-6E8A-4147-A177-3AD203B41FA5}">
                      <a16:colId xmlns:a16="http://schemas.microsoft.com/office/drawing/2014/main" val="2152471905"/>
                    </a:ext>
                  </a:extLst>
                </a:gridCol>
                <a:gridCol w="1777666">
                  <a:extLst>
                    <a:ext uri="{9D8B030D-6E8A-4147-A177-3AD203B41FA5}">
                      <a16:colId xmlns:a16="http://schemas.microsoft.com/office/drawing/2014/main" val="325495059"/>
                    </a:ext>
                  </a:extLst>
                </a:gridCol>
              </a:tblGrid>
              <a:tr h="645054">
                <a:tc>
                  <a:txBody>
                    <a:bodyPr/>
                    <a:lstStyle/>
                    <a:p>
                      <a:pPr algn="ctr" fontAlgn="t"/>
                      <a:r>
                        <a:rPr lang="en-IN" sz="2000">
                          <a:solidFill>
                            <a:srgbClr val="000000"/>
                          </a:solidFill>
                          <a:effectLst/>
                        </a:rPr>
                        <a:t>EMP_ID</a:t>
                      </a:r>
                      <a:endParaRPr lang="en-IN" sz="2000">
                        <a:solidFill>
                          <a:srgbClr val="000000"/>
                        </a:solidFill>
                        <a:effectLst/>
                        <a:latin typeface="times new roman" panose="02020603050405020304" pitchFamily="18" charset="0"/>
                      </a:endParaRPr>
                    </a:p>
                  </a:txBody>
                  <a:tcPr marL="70115" marR="70115" marT="70115" marB="70115"/>
                </a:tc>
                <a:tc>
                  <a:txBody>
                    <a:bodyPr/>
                    <a:lstStyle/>
                    <a:p>
                      <a:pPr algn="ctr" fontAlgn="t"/>
                      <a:r>
                        <a:rPr lang="en-IN" sz="2000" dirty="0">
                          <a:solidFill>
                            <a:srgbClr val="000000"/>
                          </a:solidFill>
                          <a:effectLst/>
                        </a:rPr>
                        <a:t>EMP_NAME</a:t>
                      </a:r>
                      <a:endParaRPr lang="en-IN" sz="2000" dirty="0">
                        <a:solidFill>
                          <a:srgbClr val="000000"/>
                        </a:solidFill>
                        <a:effectLst/>
                        <a:latin typeface="times new roman" panose="02020603050405020304" pitchFamily="18" charset="0"/>
                      </a:endParaRPr>
                    </a:p>
                  </a:txBody>
                  <a:tcPr marL="70115" marR="70115" marT="70115" marB="70115"/>
                </a:tc>
                <a:tc>
                  <a:txBody>
                    <a:bodyPr/>
                    <a:lstStyle/>
                    <a:p>
                      <a:pPr algn="ctr" fontAlgn="t"/>
                      <a:r>
                        <a:rPr lang="en-IN" sz="2000">
                          <a:solidFill>
                            <a:srgbClr val="000000"/>
                          </a:solidFill>
                          <a:effectLst/>
                        </a:rPr>
                        <a:t>EMP_PHONE</a:t>
                      </a:r>
                      <a:endParaRPr lang="en-IN" sz="2000">
                        <a:solidFill>
                          <a:srgbClr val="000000"/>
                        </a:solidFill>
                        <a:effectLst/>
                        <a:latin typeface="times new roman" panose="02020603050405020304" pitchFamily="18" charset="0"/>
                      </a:endParaRPr>
                    </a:p>
                  </a:txBody>
                  <a:tcPr marL="70115" marR="70115" marT="70115" marB="70115"/>
                </a:tc>
                <a:tc>
                  <a:txBody>
                    <a:bodyPr/>
                    <a:lstStyle/>
                    <a:p>
                      <a:pPr algn="ctr" fontAlgn="t"/>
                      <a:r>
                        <a:rPr lang="en-IN" sz="2000">
                          <a:solidFill>
                            <a:srgbClr val="000000"/>
                          </a:solidFill>
                          <a:effectLst/>
                        </a:rPr>
                        <a:t>EMP_STATE</a:t>
                      </a:r>
                      <a:endParaRPr lang="en-IN" sz="2000">
                        <a:solidFill>
                          <a:srgbClr val="000000"/>
                        </a:solidFill>
                        <a:effectLst/>
                        <a:latin typeface="times new roman" panose="02020603050405020304" pitchFamily="18" charset="0"/>
                      </a:endParaRPr>
                    </a:p>
                  </a:txBody>
                  <a:tcPr marL="70115" marR="70115" marT="70115" marB="70115"/>
                </a:tc>
                <a:extLst>
                  <a:ext uri="{0D108BD9-81ED-4DB2-BD59-A6C34878D82A}">
                    <a16:rowId xmlns:a16="http://schemas.microsoft.com/office/drawing/2014/main" val="2493700586"/>
                  </a:ext>
                </a:extLst>
              </a:tr>
              <a:tr h="1103136">
                <a:tc>
                  <a:txBody>
                    <a:bodyPr/>
                    <a:lstStyle/>
                    <a:p>
                      <a:pPr algn="ctr" fontAlgn="t"/>
                      <a:r>
                        <a:rPr lang="en-IN" sz="2000">
                          <a:solidFill>
                            <a:srgbClr val="333333"/>
                          </a:solidFill>
                          <a:effectLst/>
                        </a:rPr>
                        <a:t>14</a:t>
                      </a:r>
                      <a:endParaRPr lang="en-IN" sz="2000">
                        <a:solidFill>
                          <a:srgbClr val="333333"/>
                        </a:solidFill>
                        <a:effectLst/>
                        <a:latin typeface="inter-regular"/>
                      </a:endParaRPr>
                    </a:p>
                  </a:txBody>
                  <a:tcPr marL="46743" marR="46743" marT="46743" marB="46743"/>
                </a:tc>
                <a:tc>
                  <a:txBody>
                    <a:bodyPr/>
                    <a:lstStyle/>
                    <a:p>
                      <a:pPr algn="ctr" fontAlgn="t"/>
                      <a:r>
                        <a:rPr lang="en-IN" sz="2000">
                          <a:solidFill>
                            <a:srgbClr val="333333"/>
                          </a:solidFill>
                          <a:effectLst/>
                        </a:rPr>
                        <a:t>John</a:t>
                      </a:r>
                      <a:endParaRPr lang="en-IN" sz="2000">
                        <a:solidFill>
                          <a:srgbClr val="333333"/>
                        </a:solidFill>
                        <a:effectLst/>
                        <a:latin typeface="inter-regular"/>
                      </a:endParaRPr>
                    </a:p>
                  </a:txBody>
                  <a:tcPr marL="46743" marR="46743" marT="46743" marB="46743"/>
                </a:tc>
                <a:tc>
                  <a:txBody>
                    <a:bodyPr/>
                    <a:lstStyle/>
                    <a:p>
                      <a:pPr algn="ctr" fontAlgn="t"/>
                      <a:r>
                        <a:rPr lang="en-IN" sz="2000">
                          <a:solidFill>
                            <a:srgbClr val="333333"/>
                          </a:solidFill>
                          <a:effectLst/>
                        </a:rPr>
                        <a:t>7272826385,</a:t>
                      </a:r>
                      <a:br>
                        <a:rPr lang="en-IN" sz="2000">
                          <a:solidFill>
                            <a:srgbClr val="333333"/>
                          </a:solidFill>
                          <a:effectLst/>
                        </a:rPr>
                      </a:br>
                      <a:r>
                        <a:rPr lang="en-IN" sz="2000">
                          <a:solidFill>
                            <a:srgbClr val="333333"/>
                          </a:solidFill>
                          <a:effectLst/>
                        </a:rPr>
                        <a:t>9064738238</a:t>
                      </a:r>
                      <a:endParaRPr lang="en-IN" sz="2000">
                        <a:solidFill>
                          <a:srgbClr val="333333"/>
                        </a:solidFill>
                        <a:effectLst/>
                        <a:latin typeface="inter-regular"/>
                      </a:endParaRPr>
                    </a:p>
                  </a:txBody>
                  <a:tcPr marL="46743" marR="46743" marT="46743" marB="46743"/>
                </a:tc>
                <a:tc>
                  <a:txBody>
                    <a:bodyPr/>
                    <a:lstStyle/>
                    <a:p>
                      <a:pPr algn="ctr" fontAlgn="t"/>
                      <a:r>
                        <a:rPr lang="en-IN" sz="2000" dirty="0">
                          <a:solidFill>
                            <a:srgbClr val="333333"/>
                          </a:solidFill>
                          <a:effectLst/>
                        </a:rPr>
                        <a:t>UP</a:t>
                      </a:r>
                      <a:endParaRPr lang="en-IN" sz="2000" dirty="0">
                        <a:solidFill>
                          <a:srgbClr val="333333"/>
                        </a:solidFill>
                        <a:effectLst/>
                        <a:latin typeface="inter-regular"/>
                      </a:endParaRPr>
                    </a:p>
                  </a:txBody>
                  <a:tcPr marL="46743" marR="46743" marT="46743" marB="46743"/>
                </a:tc>
                <a:extLst>
                  <a:ext uri="{0D108BD9-81ED-4DB2-BD59-A6C34878D82A}">
                    <a16:rowId xmlns:a16="http://schemas.microsoft.com/office/drawing/2014/main" val="2640687896"/>
                  </a:ext>
                </a:extLst>
              </a:tr>
              <a:tr h="598311">
                <a:tc>
                  <a:txBody>
                    <a:bodyPr/>
                    <a:lstStyle/>
                    <a:p>
                      <a:pPr algn="ctr" fontAlgn="t"/>
                      <a:r>
                        <a:rPr lang="en-IN" sz="2000">
                          <a:solidFill>
                            <a:srgbClr val="333333"/>
                          </a:solidFill>
                          <a:effectLst/>
                        </a:rPr>
                        <a:t>20</a:t>
                      </a:r>
                      <a:endParaRPr lang="en-IN" sz="2000">
                        <a:solidFill>
                          <a:srgbClr val="333333"/>
                        </a:solidFill>
                        <a:effectLst/>
                        <a:latin typeface="inter-regular"/>
                      </a:endParaRPr>
                    </a:p>
                  </a:txBody>
                  <a:tcPr marL="46743" marR="46743" marT="46743" marB="46743"/>
                </a:tc>
                <a:tc>
                  <a:txBody>
                    <a:bodyPr/>
                    <a:lstStyle/>
                    <a:p>
                      <a:pPr algn="ctr" fontAlgn="t"/>
                      <a:r>
                        <a:rPr lang="en-IN" sz="2000">
                          <a:solidFill>
                            <a:srgbClr val="333333"/>
                          </a:solidFill>
                          <a:effectLst/>
                        </a:rPr>
                        <a:t>Harry</a:t>
                      </a:r>
                      <a:endParaRPr lang="en-IN" sz="2000">
                        <a:solidFill>
                          <a:srgbClr val="333333"/>
                        </a:solidFill>
                        <a:effectLst/>
                        <a:latin typeface="inter-regular"/>
                      </a:endParaRPr>
                    </a:p>
                  </a:txBody>
                  <a:tcPr marL="46743" marR="46743" marT="46743" marB="46743"/>
                </a:tc>
                <a:tc>
                  <a:txBody>
                    <a:bodyPr/>
                    <a:lstStyle/>
                    <a:p>
                      <a:pPr algn="ctr" fontAlgn="t"/>
                      <a:r>
                        <a:rPr lang="en-IN" sz="2000">
                          <a:solidFill>
                            <a:srgbClr val="333333"/>
                          </a:solidFill>
                          <a:effectLst/>
                        </a:rPr>
                        <a:t>8574783832</a:t>
                      </a:r>
                      <a:endParaRPr lang="en-IN" sz="2000">
                        <a:solidFill>
                          <a:srgbClr val="333333"/>
                        </a:solidFill>
                        <a:effectLst/>
                        <a:latin typeface="inter-regular"/>
                      </a:endParaRPr>
                    </a:p>
                  </a:txBody>
                  <a:tcPr marL="46743" marR="46743" marT="46743" marB="46743"/>
                </a:tc>
                <a:tc>
                  <a:txBody>
                    <a:bodyPr/>
                    <a:lstStyle/>
                    <a:p>
                      <a:pPr algn="ctr" fontAlgn="t"/>
                      <a:r>
                        <a:rPr lang="en-IN" sz="2000">
                          <a:solidFill>
                            <a:srgbClr val="333333"/>
                          </a:solidFill>
                          <a:effectLst/>
                        </a:rPr>
                        <a:t>Bihar</a:t>
                      </a:r>
                      <a:endParaRPr lang="en-IN" sz="2000">
                        <a:solidFill>
                          <a:srgbClr val="333333"/>
                        </a:solidFill>
                        <a:effectLst/>
                        <a:latin typeface="inter-regular"/>
                      </a:endParaRPr>
                    </a:p>
                  </a:txBody>
                  <a:tcPr marL="46743" marR="46743" marT="46743" marB="46743"/>
                </a:tc>
                <a:extLst>
                  <a:ext uri="{0D108BD9-81ED-4DB2-BD59-A6C34878D82A}">
                    <a16:rowId xmlns:a16="http://schemas.microsoft.com/office/drawing/2014/main" val="1519785682"/>
                  </a:ext>
                </a:extLst>
              </a:tr>
              <a:tr h="1103136">
                <a:tc>
                  <a:txBody>
                    <a:bodyPr/>
                    <a:lstStyle/>
                    <a:p>
                      <a:pPr algn="ctr" fontAlgn="t"/>
                      <a:r>
                        <a:rPr lang="en-IN" sz="2000">
                          <a:solidFill>
                            <a:srgbClr val="333333"/>
                          </a:solidFill>
                          <a:effectLst/>
                        </a:rPr>
                        <a:t>12</a:t>
                      </a:r>
                      <a:endParaRPr lang="en-IN" sz="2000">
                        <a:solidFill>
                          <a:srgbClr val="333333"/>
                        </a:solidFill>
                        <a:effectLst/>
                        <a:latin typeface="inter-regular"/>
                      </a:endParaRPr>
                    </a:p>
                  </a:txBody>
                  <a:tcPr marL="46743" marR="46743" marT="46743" marB="46743"/>
                </a:tc>
                <a:tc>
                  <a:txBody>
                    <a:bodyPr/>
                    <a:lstStyle/>
                    <a:p>
                      <a:pPr algn="ctr" fontAlgn="t"/>
                      <a:r>
                        <a:rPr lang="en-IN" sz="2000">
                          <a:solidFill>
                            <a:srgbClr val="333333"/>
                          </a:solidFill>
                          <a:effectLst/>
                        </a:rPr>
                        <a:t>Sam</a:t>
                      </a:r>
                      <a:endParaRPr lang="en-IN" sz="2000">
                        <a:solidFill>
                          <a:srgbClr val="333333"/>
                        </a:solidFill>
                        <a:effectLst/>
                        <a:latin typeface="inter-regular"/>
                      </a:endParaRPr>
                    </a:p>
                  </a:txBody>
                  <a:tcPr marL="46743" marR="46743" marT="46743" marB="46743"/>
                </a:tc>
                <a:tc>
                  <a:txBody>
                    <a:bodyPr/>
                    <a:lstStyle/>
                    <a:p>
                      <a:pPr algn="ctr" fontAlgn="t"/>
                      <a:r>
                        <a:rPr lang="en-IN" sz="2000">
                          <a:solidFill>
                            <a:srgbClr val="333333"/>
                          </a:solidFill>
                          <a:effectLst/>
                        </a:rPr>
                        <a:t>7390372389,</a:t>
                      </a:r>
                      <a:br>
                        <a:rPr lang="en-IN" sz="2000">
                          <a:solidFill>
                            <a:srgbClr val="333333"/>
                          </a:solidFill>
                          <a:effectLst/>
                        </a:rPr>
                      </a:br>
                      <a:r>
                        <a:rPr lang="en-IN" sz="2000">
                          <a:solidFill>
                            <a:srgbClr val="333333"/>
                          </a:solidFill>
                          <a:effectLst/>
                        </a:rPr>
                        <a:t>8589830302</a:t>
                      </a:r>
                      <a:endParaRPr lang="en-IN" sz="2000">
                        <a:solidFill>
                          <a:srgbClr val="333333"/>
                        </a:solidFill>
                        <a:effectLst/>
                        <a:latin typeface="inter-regular"/>
                      </a:endParaRPr>
                    </a:p>
                  </a:txBody>
                  <a:tcPr marL="46743" marR="46743" marT="46743" marB="46743"/>
                </a:tc>
                <a:tc>
                  <a:txBody>
                    <a:bodyPr/>
                    <a:lstStyle/>
                    <a:p>
                      <a:pPr algn="ctr" fontAlgn="t"/>
                      <a:r>
                        <a:rPr lang="en-IN" sz="2000" dirty="0">
                          <a:solidFill>
                            <a:srgbClr val="333333"/>
                          </a:solidFill>
                          <a:effectLst/>
                        </a:rPr>
                        <a:t>Punjab</a:t>
                      </a:r>
                      <a:endParaRPr lang="en-IN" sz="2000" dirty="0">
                        <a:solidFill>
                          <a:srgbClr val="333333"/>
                        </a:solidFill>
                        <a:effectLst/>
                        <a:latin typeface="inter-regular"/>
                      </a:endParaRPr>
                    </a:p>
                  </a:txBody>
                  <a:tcPr marL="46743" marR="46743" marT="46743" marB="46743"/>
                </a:tc>
                <a:extLst>
                  <a:ext uri="{0D108BD9-81ED-4DB2-BD59-A6C34878D82A}">
                    <a16:rowId xmlns:a16="http://schemas.microsoft.com/office/drawing/2014/main" val="3001513765"/>
                  </a:ext>
                </a:extLst>
              </a:tr>
            </a:tbl>
          </a:graphicData>
        </a:graphic>
      </p:graphicFrame>
      <p:sp>
        <p:nvSpPr>
          <p:cNvPr id="5" name="Rectangle 2">
            <a:extLst>
              <a:ext uri="{FF2B5EF4-FFF2-40B4-BE49-F238E27FC236}">
                <a16:creationId xmlns:a16="http://schemas.microsoft.com/office/drawing/2014/main" id="{33D29BAC-D8FA-79AF-E502-3324E3C13A0B}"/>
              </a:ext>
            </a:extLst>
          </p:cNvPr>
          <p:cNvSpPr>
            <a:spLocks noChangeArrowheads="1"/>
          </p:cNvSpPr>
          <p:nvPr/>
        </p:nvSpPr>
        <p:spPr bwMode="auto">
          <a:xfrm>
            <a:off x="476163" y="578052"/>
            <a:ext cx="11050090"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inter-regular"/>
              </a:rPr>
              <a:t>Relation EMPLOYEE is not in 1NF because of multi-valued attribute EMP_PHONE.</a:t>
            </a:r>
            <a:endParaRPr kumimoji="0" lang="en-US" altLang="en-US" sz="1050" b="1"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inter-bold"/>
              </a:rPr>
              <a:t>EMPLOYEE table:</a:t>
            </a:r>
            <a:endParaRPr kumimoji="0" lang="en-US" altLang="en-US" sz="28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29159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9906890-E20F-EDDE-21A4-772FE6683F82}"/>
              </a:ext>
            </a:extLst>
          </p:cNvPr>
          <p:cNvGraphicFramePr>
            <a:graphicFrameLocks noGrp="1"/>
          </p:cNvGraphicFramePr>
          <p:nvPr>
            <p:extLst>
              <p:ext uri="{D42A27DB-BD31-4B8C-83A1-F6EECF244321}">
                <p14:modId xmlns:p14="http://schemas.microsoft.com/office/powerpoint/2010/main" val="2335233354"/>
              </p:ext>
            </p:extLst>
          </p:nvPr>
        </p:nvGraphicFramePr>
        <p:xfrm>
          <a:off x="1980065" y="1989694"/>
          <a:ext cx="8403188" cy="3449639"/>
        </p:xfrm>
        <a:graphic>
          <a:graphicData uri="http://schemas.openxmlformats.org/drawingml/2006/table">
            <a:tbl>
              <a:tblPr>
                <a:tableStyleId>{775DCB02-9BB8-47FD-8907-85C794F793BA}</a:tableStyleId>
              </a:tblPr>
              <a:tblGrid>
                <a:gridCol w="2100797">
                  <a:extLst>
                    <a:ext uri="{9D8B030D-6E8A-4147-A177-3AD203B41FA5}">
                      <a16:colId xmlns:a16="http://schemas.microsoft.com/office/drawing/2014/main" val="1558365700"/>
                    </a:ext>
                  </a:extLst>
                </a:gridCol>
                <a:gridCol w="2100797">
                  <a:extLst>
                    <a:ext uri="{9D8B030D-6E8A-4147-A177-3AD203B41FA5}">
                      <a16:colId xmlns:a16="http://schemas.microsoft.com/office/drawing/2014/main" val="481286074"/>
                    </a:ext>
                  </a:extLst>
                </a:gridCol>
                <a:gridCol w="2100797">
                  <a:extLst>
                    <a:ext uri="{9D8B030D-6E8A-4147-A177-3AD203B41FA5}">
                      <a16:colId xmlns:a16="http://schemas.microsoft.com/office/drawing/2014/main" val="3902893248"/>
                    </a:ext>
                  </a:extLst>
                </a:gridCol>
                <a:gridCol w="2100797">
                  <a:extLst>
                    <a:ext uri="{9D8B030D-6E8A-4147-A177-3AD203B41FA5}">
                      <a16:colId xmlns:a16="http://schemas.microsoft.com/office/drawing/2014/main" val="690912865"/>
                    </a:ext>
                  </a:extLst>
                </a:gridCol>
              </a:tblGrid>
              <a:tr h="611889">
                <a:tc>
                  <a:txBody>
                    <a:bodyPr/>
                    <a:lstStyle/>
                    <a:p>
                      <a:pPr algn="l" fontAlgn="t"/>
                      <a:r>
                        <a:rPr lang="en-IN" sz="2400">
                          <a:solidFill>
                            <a:srgbClr val="000000"/>
                          </a:solidFill>
                          <a:effectLst/>
                        </a:rPr>
                        <a:t>EMP_ID</a:t>
                      </a:r>
                      <a:endParaRPr lang="en-IN" sz="2400">
                        <a:solidFill>
                          <a:srgbClr val="000000"/>
                        </a:solidFill>
                        <a:effectLst/>
                        <a:latin typeface="times new roman" panose="02020603050405020304" pitchFamily="18" charset="0"/>
                      </a:endParaRPr>
                    </a:p>
                  </a:txBody>
                  <a:tcPr marL="66510" marR="66510" marT="66510" marB="66510"/>
                </a:tc>
                <a:tc>
                  <a:txBody>
                    <a:bodyPr/>
                    <a:lstStyle/>
                    <a:p>
                      <a:pPr algn="l" fontAlgn="t"/>
                      <a:r>
                        <a:rPr lang="en-IN" sz="2400">
                          <a:solidFill>
                            <a:srgbClr val="000000"/>
                          </a:solidFill>
                          <a:effectLst/>
                        </a:rPr>
                        <a:t>EMP_NAME</a:t>
                      </a:r>
                      <a:endParaRPr lang="en-IN" sz="2400">
                        <a:solidFill>
                          <a:srgbClr val="000000"/>
                        </a:solidFill>
                        <a:effectLst/>
                        <a:latin typeface="times new roman" panose="02020603050405020304" pitchFamily="18" charset="0"/>
                      </a:endParaRPr>
                    </a:p>
                  </a:txBody>
                  <a:tcPr marL="66510" marR="66510" marT="66510" marB="66510"/>
                </a:tc>
                <a:tc>
                  <a:txBody>
                    <a:bodyPr/>
                    <a:lstStyle/>
                    <a:p>
                      <a:pPr algn="l" fontAlgn="t"/>
                      <a:r>
                        <a:rPr lang="en-IN" sz="2400">
                          <a:solidFill>
                            <a:srgbClr val="000000"/>
                          </a:solidFill>
                          <a:effectLst/>
                        </a:rPr>
                        <a:t>EMP_PHONE</a:t>
                      </a:r>
                      <a:endParaRPr lang="en-IN" sz="2400">
                        <a:solidFill>
                          <a:srgbClr val="000000"/>
                        </a:solidFill>
                        <a:effectLst/>
                        <a:latin typeface="times new roman" panose="02020603050405020304" pitchFamily="18" charset="0"/>
                      </a:endParaRPr>
                    </a:p>
                  </a:txBody>
                  <a:tcPr marL="66510" marR="66510" marT="66510" marB="66510"/>
                </a:tc>
                <a:tc>
                  <a:txBody>
                    <a:bodyPr/>
                    <a:lstStyle/>
                    <a:p>
                      <a:pPr algn="l" fontAlgn="t"/>
                      <a:r>
                        <a:rPr lang="en-IN" sz="2400">
                          <a:solidFill>
                            <a:srgbClr val="000000"/>
                          </a:solidFill>
                          <a:effectLst/>
                        </a:rPr>
                        <a:t>EMP_STATE</a:t>
                      </a:r>
                      <a:endParaRPr lang="en-IN" sz="2400">
                        <a:solidFill>
                          <a:srgbClr val="000000"/>
                        </a:solidFill>
                        <a:effectLst/>
                        <a:latin typeface="times new roman" panose="02020603050405020304" pitchFamily="18" charset="0"/>
                      </a:endParaRPr>
                    </a:p>
                  </a:txBody>
                  <a:tcPr marL="66510" marR="66510" marT="66510" marB="66510"/>
                </a:tc>
                <a:extLst>
                  <a:ext uri="{0D108BD9-81ED-4DB2-BD59-A6C34878D82A}">
                    <a16:rowId xmlns:a16="http://schemas.microsoft.com/office/drawing/2014/main" val="3412863580"/>
                  </a:ext>
                </a:extLst>
              </a:tr>
              <a:tr h="567550">
                <a:tc>
                  <a:txBody>
                    <a:bodyPr/>
                    <a:lstStyle/>
                    <a:p>
                      <a:pPr algn="just" fontAlgn="t"/>
                      <a:r>
                        <a:rPr lang="en-IN" sz="2400">
                          <a:solidFill>
                            <a:srgbClr val="333333"/>
                          </a:solidFill>
                          <a:effectLst/>
                        </a:rPr>
                        <a:t>14</a:t>
                      </a:r>
                      <a:endParaRPr lang="en-IN" sz="2400">
                        <a:solidFill>
                          <a:srgbClr val="333333"/>
                        </a:solidFill>
                        <a:effectLst/>
                        <a:latin typeface="inter-regular"/>
                      </a:endParaRPr>
                    </a:p>
                  </a:txBody>
                  <a:tcPr marL="44340" marR="44340" marT="44340" marB="44340"/>
                </a:tc>
                <a:tc>
                  <a:txBody>
                    <a:bodyPr/>
                    <a:lstStyle/>
                    <a:p>
                      <a:pPr algn="just" fontAlgn="t"/>
                      <a:r>
                        <a:rPr lang="en-IN" sz="2400" dirty="0">
                          <a:solidFill>
                            <a:srgbClr val="333333"/>
                          </a:solidFill>
                          <a:effectLst/>
                        </a:rPr>
                        <a:t>John</a:t>
                      </a:r>
                      <a:endParaRPr lang="en-IN" sz="2400" dirty="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7272826385</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UP</a:t>
                      </a:r>
                      <a:endParaRPr lang="en-IN" sz="2400">
                        <a:solidFill>
                          <a:srgbClr val="333333"/>
                        </a:solidFill>
                        <a:effectLst/>
                        <a:latin typeface="inter-regular"/>
                      </a:endParaRPr>
                    </a:p>
                  </a:txBody>
                  <a:tcPr marL="44340" marR="44340" marT="44340" marB="44340"/>
                </a:tc>
                <a:extLst>
                  <a:ext uri="{0D108BD9-81ED-4DB2-BD59-A6C34878D82A}">
                    <a16:rowId xmlns:a16="http://schemas.microsoft.com/office/drawing/2014/main" val="1416729964"/>
                  </a:ext>
                </a:extLst>
              </a:tr>
              <a:tr h="567550">
                <a:tc>
                  <a:txBody>
                    <a:bodyPr/>
                    <a:lstStyle/>
                    <a:p>
                      <a:pPr algn="just" fontAlgn="t"/>
                      <a:r>
                        <a:rPr lang="en-IN" sz="2400">
                          <a:solidFill>
                            <a:srgbClr val="333333"/>
                          </a:solidFill>
                          <a:effectLst/>
                        </a:rPr>
                        <a:t>14</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John</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9064738238</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UP</a:t>
                      </a:r>
                      <a:endParaRPr lang="en-IN" sz="2400">
                        <a:solidFill>
                          <a:srgbClr val="333333"/>
                        </a:solidFill>
                        <a:effectLst/>
                        <a:latin typeface="inter-regular"/>
                      </a:endParaRPr>
                    </a:p>
                  </a:txBody>
                  <a:tcPr marL="44340" marR="44340" marT="44340" marB="44340"/>
                </a:tc>
                <a:extLst>
                  <a:ext uri="{0D108BD9-81ED-4DB2-BD59-A6C34878D82A}">
                    <a16:rowId xmlns:a16="http://schemas.microsoft.com/office/drawing/2014/main" val="438742102"/>
                  </a:ext>
                </a:extLst>
              </a:tr>
              <a:tr h="567550">
                <a:tc>
                  <a:txBody>
                    <a:bodyPr/>
                    <a:lstStyle/>
                    <a:p>
                      <a:pPr algn="just" fontAlgn="t"/>
                      <a:r>
                        <a:rPr lang="en-IN" sz="2400">
                          <a:solidFill>
                            <a:srgbClr val="333333"/>
                          </a:solidFill>
                          <a:effectLst/>
                        </a:rPr>
                        <a:t>20</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Harry</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8574783832</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Bihar</a:t>
                      </a:r>
                      <a:endParaRPr lang="en-IN" sz="2400">
                        <a:solidFill>
                          <a:srgbClr val="333333"/>
                        </a:solidFill>
                        <a:effectLst/>
                        <a:latin typeface="inter-regular"/>
                      </a:endParaRPr>
                    </a:p>
                  </a:txBody>
                  <a:tcPr marL="44340" marR="44340" marT="44340" marB="44340"/>
                </a:tc>
                <a:extLst>
                  <a:ext uri="{0D108BD9-81ED-4DB2-BD59-A6C34878D82A}">
                    <a16:rowId xmlns:a16="http://schemas.microsoft.com/office/drawing/2014/main" val="2486125302"/>
                  </a:ext>
                </a:extLst>
              </a:tr>
              <a:tr h="567550">
                <a:tc>
                  <a:txBody>
                    <a:bodyPr/>
                    <a:lstStyle/>
                    <a:p>
                      <a:pPr algn="just" fontAlgn="t"/>
                      <a:r>
                        <a:rPr lang="en-IN" sz="2400">
                          <a:solidFill>
                            <a:srgbClr val="333333"/>
                          </a:solidFill>
                          <a:effectLst/>
                        </a:rPr>
                        <a:t>12</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Sam</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7390372389</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Punjab</a:t>
                      </a:r>
                      <a:endParaRPr lang="en-IN" sz="2400">
                        <a:solidFill>
                          <a:srgbClr val="333333"/>
                        </a:solidFill>
                        <a:effectLst/>
                        <a:latin typeface="inter-regular"/>
                      </a:endParaRPr>
                    </a:p>
                  </a:txBody>
                  <a:tcPr marL="44340" marR="44340" marT="44340" marB="44340"/>
                </a:tc>
                <a:extLst>
                  <a:ext uri="{0D108BD9-81ED-4DB2-BD59-A6C34878D82A}">
                    <a16:rowId xmlns:a16="http://schemas.microsoft.com/office/drawing/2014/main" val="736288852"/>
                  </a:ext>
                </a:extLst>
              </a:tr>
              <a:tr h="567550">
                <a:tc>
                  <a:txBody>
                    <a:bodyPr/>
                    <a:lstStyle/>
                    <a:p>
                      <a:pPr algn="just" fontAlgn="t"/>
                      <a:r>
                        <a:rPr lang="en-IN" sz="2400">
                          <a:solidFill>
                            <a:srgbClr val="333333"/>
                          </a:solidFill>
                          <a:effectLst/>
                        </a:rPr>
                        <a:t>12</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Sam</a:t>
                      </a:r>
                      <a:endParaRPr lang="en-IN" sz="2400">
                        <a:solidFill>
                          <a:srgbClr val="333333"/>
                        </a:solidFill>
                        <a:effectLst/>
                        <a:latin typeface="inter-regular"/>
                      </a:endParaRPr>
                    </a:p>
                  </a:txBody>
                  <a:tcPr marL="44340" marR="44340" marT="44340" marB="44340"/>
                </a:tc>
                <a:tc>
                  <a:txBody>
                    <a:bodyPr/>
                    <a:lstStyle/>
                    <a:p>
                      <a:pPr algn="just" fontAlgn="t"/>
                      <a:r>
                        <a:rPr lang="en-IN" sz="2400">
                          <a:solidFill>
                            <a:srgbClr val="333333"/>
                          </a:solidFill>
                          <a:effectLst/>
                        </a:rPr>
                        <a:t>8589830302</a:t>
                      </a:r>
                      <a:endParaRPr lang="en-IN" sz="2400">
                        <a:solidFill>
                          <a:srgbClr val="333333"/>
                        </a:solidFill>
                        <a:effectLst/>
                        <a:latin typeface="inter-regular"/>
                      </a:endParaRPr>
                    </a:p>
                  </a:txBody>
                  <a:tcPr marL="44340" marR="44340" marT="44340" marB="44340"/>
                </a:tc>
                <a:tc>
                  <a:txBody>
                    <a:bodyPr/>
                    <a:lstStyle/>
                    <a:p>
                      <a:pPr algn="just" fontAlgn="t"/>
                      <a:r>
                        <a:rPr lang="en-IN" sz="2400" dirty="0">
                          <a:solidFill>
                            <a:srgbClr val="333333"/>
                          </a:solidFill>
                          <a:effectLst/>
                        </a:rPr>
                        <a:t>Punjab</a:t>
                      </a:r>
                      <a:endParaRPr lang="en-IN" sz="2400" dirty="0">
                        <a:solidFill>
                          <a:srgbClr val="333333"/>
                        </a:solidFill>
                        <a:effectLst/>
                        <a:latin typeface="inter-regular"/>
                      </a:endParaRPr>
                    </a:p>
                  </a:txBody>
                  <a:tcPr marL="44340" marR="44340" marT="44340" marB="44340"/>
                </a:tc>
                <a:extLst>
                  <a:ext uri="{0D108BD9-81ED-4DB2-BD59-A6C34878D82A}">
                    <a16:rowId xmlns:a16="http://schemas.microsoft.com/office/drawing/2014/main" val="4147800458"/>
                  </a:ext>
                </a:extLst>
              </a:tr>
            </a:tbl>
          </a:graphicData>
        </a:graphic>
      </p:graphicFrame>
      <p:sp>
        <p:nvSpPr>
          <p:cNvPr id="3" name="Rectangle 1">
            <a:extLst>
              <a:ext uri="{FF2B5EF4-FFF2-40B4-BE49-F238E27FC236}">
                <a16:creationId xmlns:a16="http://schemas.microsoft.com/office/drawing/2014/main" id="{0737DBE0-E340-02A1-94B4-5FB4827EE05D}"/>
              </a:ext>
            </a:extLst>
          </p:cNvPr>
          <p:cNvSpPr>
            <a:spLocks noChangeArrowheads="1"/>
          </p:cNvSpPr>
          <p:nvPr/>
        </p:nvSpPr>
        <p:spPr bwMode="auto">
          <a:xfrm>
            <a:off x="1980065" y="537799"/>
            <a:ext cx="8231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regular"/>
              </a:rPr>
              <a:t>The decomposition of the EMPLOYEE table into 1NF has been shown below:</a:t>
            </a:r>
            <a:endParaRPr kumimoji="0" lang="en-US" altLang="en-US" sz="32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28501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953E2E-9CB0-69F6-BEEF-62B2F35F71F4}"/>
              </a:ext>
            </a:extLst>
          </p:cNvPr>
          <p:cNvSpPr txBox="1"/>
          <p:nvPr/>
        </p:nvSpPr>
        <p:spPr>
          <a:xfrm>
            <a:off x="394033" y="380410"/>
            <a:ext cx="10843461" cy="1938992"/>
          </a:xfrm>
          <a:prstGeom prst="rect">
            <a:avLst/>
          </a:prstGeom>
          <a:noFill/>
        </p:spPr>
        <p:txBody>
          <a:bodyPr wrap="square">
            <a:spAutoFit/>
          </a:bodyPr>
          <a:lstStyle/>
          <a:p>
            <a:pPr algn="just"/>
            <a:r>
              <a:rPr lang="en-US" sz="2400" b="0" i="0" dirty="0">
                <a:solidFill>
                  <a:srgbClr val="610B38"/>
                </a:solidFill>
                <a:effectLst/>
                <a:latin typeface="erdana"/>
              </a:rPr>
              <a:t>Second Normal Form (2NF)</a:t>
            </a:r>
          </a:p>
          <a:p>
            <a:pPr algn="just"/>
            <a:endParaRPr lang="en-US" sz="2400" b="0" i="0" dirty="0">
              <a:solidFill>
                <a:srgbClr val="610B38"/>
              </a:solidFill>
              <a:effectLst/>
              <a:latin typeface="erdana"/>
            </a:endParaRPr>
          </a:p>
          <a:p>
            <a:pPr algn="just">
              <a:buFont typeface="Arial" panose="020B0604020202020204" pitchFamily="34" charset="0"/>
              <a:buChar char="•"/>
            </a:pPr>
            <a:r>
              <a:rPr lang="en-US" sz="2400" b="0" i="0" dirty="0">
                <a:solidFill>
                  <a:srgbClr val="000000"/>
                </a:solidFill>
                <a:effectLst/>
                <a:latin typeface="inter-regular"/>
              </a:rPr>
              <a:t>In the 2NF, relational must be in 1NF.</a:t>
            </a:r>
          </a:p>
          <a:p>
            <a:pPr algn="just">
              <a:buFont typeface="Arial" panose="020B0604020202020204" pitchFamily="34" charset="0"/>
              <a:buChar char="•"/>
            </a:pPr>
            <a:r>
              <a:rPr lang="en-US" sz="2400" b="0" i="0" dirty="0">
                <a:solidFill>
                  <a:srgbClr val="000000"/>
                </a:solidFill>
                <a:effectLst/>
                <a:latin typeface="inter-regular"/>
              </a:rPr>
              <a:t>In the second normal form, all non-key attributes are fully functional dependent on the primary key</a:t>
            </a:r>
          </a:p>
        </p:txBody>
      </p:sp>
      <p:graphicFrame>
        <p:nvGraphicFramePr>
          <p:cNvPr id="4" name="Table 3">
            <a:extLst>
              <a:ext uri="{FF2B5EF4-FFF2-40B4-BE49-F238E27FC236}">
                <a16:creationId xmlns:a16="http://schemas.microsoft.com/office/drawing/2014/main" id="{579B43BA-56CC-FE25-41AD-185BE2C032E2}"/>
              </a:ext>
            </a:extLst>
          </p:cNvPr>
          <p:cNvGraphicFramePr>
            <a:graphicFrameLocks noGrp="1"/>
          </p:cNvGraphicFramePr>
          <p:nvPr>
            <p:extLst>
              <p:ext uri="{D42A27DB-BD31-4B8C-83A1-F6EECF244321}">
                <p14:modId xmlns:p14="http://schemas.microsoft.com/office/powerpoint/2010/main" val="442601986"/>
              </p:ext>
            </p:extLst>
          </p:nvPr>
        </p:nvGraphicFramePr>
        <p:xfrm>
          <a:off x="3339166" y="4002698"/>
          <a:ext cx="5913117" cy="2550187"/>
        </p:xfrm>
        <a:graphic>
          <a:graphicData uri="http://schemas.openxmlformats.org/drawingml/2006/table">
            <a:tbl>
              <a:tblPr>
                <a:tableStyleId>{3C2FFA5D-87B4-456A-9821-1D502468CF0F}</a:tableStyleId>
              </a:tblPr>
              <a:tblGrid>
                <a:gridCol w="1971039">
                  <a:extLst>
                    <a:ext uri="{9D8B030D-6E8A-4147-A177-3AD203B41FA5}">
                      <a16:colId xmlns:a16="http://schemas.microsoft.com/office/drawing/2014/main" val="2937279887"/>
                    </a:ext>
                  </a:extLst>
                </a:gridCol>
                <a:gridCol w="1971039">
                  <a:extLst>
                    <a:ext uri="{9D8B030D-6E8A-4147-A177-3AD203B41FA5}">
                      <a16:colId xmlns:a16="http://schemas.microsoft.com/office/drawing/2014/main" val="3693475913"/>
                    </a:ext>
                  </a:extLst>
                </a:gridCol>
                <a:gridCol w="1971039">
                  <a:extLst>
                    <a:ext uri="{9D8B030D-6E8A-4147-A177-3AD203B41FA5}">
                      <a16:colId xmlns:a16="http://schemas.microsoft.com/office/drawing/2014/main" val="2248390925"/>
                    </a:ext>
                  </a:extLst>
                </a:gridCol>
              </a:tblGrid>
              <a:tr h="670587">
                <a:tc>
                  <a:txBody>
                    <a:bodyPr/>
                    <a:lstStyle/>
                    <a:p>
                      <a:pPr algn="l" fontAlgn="t"/>
                      <a:r>
                        <a:rPr lang="en-IN">
                          <a:solidFill>
                            <a:srgbClr val="000000"/>
                          </a:solidFill>
                          <a:effectLst/>
                        </a:rPr>
                        <a:t>TEACHER_ID</a:t>
                      </a:r>
                      <a:endParaRPr lang="en-IN">
                        <a:solidFill>
                          <a:srgbClr val="000000"/>
                        </a:solidFill>
                        <a:effectLst/>
                        <a:latin typeface="times new roman" panose="02020603050405020304" pitchFamily="18" charset="0"/>
                      </a:endParaRPr>
                    </a:p>
                  </a:txBody>
                  <a:tcPr marL="76200" marR="76200" marT="76200" marB="76200"/>
                </a:tc>
                <a:tc>
                  <a:txBody>
                    <a:bodyPr/>
                    <a:lstStyle/>
                    <a:p>
                      <a:pPr algn="l" fontAlgn="t"/>
                      <a:r>
                        <a:rPr lang="en-IN">
                          <a:solidFill>
                            <a:srgbClr val="000000"/>
                          </a:solidFill>
                          <a:effectLst/>
                        </a:rPr>
                        <a:t>SUBJECT</a:t>
                      </a:r>
                      <a:endParaRPr lang="en-IN">
                        <a:solidFill>
                          <a:srgbClr val="000000"/>
                        </a:solidFill>
                        <a:effectLst/>
                        <a:latin typeface="times new roman" panose="02020603050405020304" pitchFamily="18" charset="0"/>
                      </a:endParaRPr>
                    </a:p>
                  </a:txBody>
                  <a:tcPr marL="76200" marR="76200" marT="76200" marB="76200"/>
                </a:tc>
                <a:tc>
                  <a:txBody>
                    <a:bodyPr/>
                    <a:lstStyle/>
                    <a:p>
                      <a:pPr algn="l" fontAlgn="t"/>
                      <a:r>
                        <a:rPr lang="en-IN">
                          <a:solidFill>
                            <a:srgbClr val="000000"/>
                          </a:solidFill>
                          <a:effectLst/>
                        </a:rPr>
                        <a:t>TEACHER_AGE</a:t>
                      </a:r>
                      <a:endParaRPr lang="en-IN">
                        <a:solidFill>
                          <a:srgbClr val="000000"/>
                        </a:solidFill>
                        <a:effectLst/>
                        <a:latin typeface="times new roman" panose="02020603050405020304" pitchFamily="18" charset="0"/>
                      </a:endParaRPr>
                    </a:p>
                  </a:txBody>
                  <a:tcPr marL="76200" marR="76200" marT="76200" marB="76200"/>
                </a:tc>
                <a:extLst>
                  <a:ext uri="{0D108BD9-81ED-4DB2-BD59-A6C34878D82A}">
                    <a16:rowId xmlns:a16="http://schemas.microsoft.com/office/drawing/2014/main" val="405651347"/>
                  </a:ext>
                </a:extLst>
              </a:tr>
              <a:tr h="359590">
                <a:tc>
                  <a:txBody>
                    <a:bodyPr/>
                    <a:lstStyle/>
                    <a:p>
                      <a:pPr algn="just" fontAlgn="t"/>
                      <a:r>
                        <a:rPr lang="en-IN" dirty="0">
                          <a:solidFill>
                            <a:srgbClr val="333333"/>
                          </a:solidFill>
                          <a:effectLst/>
                        </a:rPr>
                        <a:t>25</a:t>
                      </a:r>
                      <a:endParaRPr lang="en-IN" dirty="0">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Chemistry</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30</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3437923333"/>
                  </a:ext>
                </a:extLst>
              </a:tr>
              <a:tr h="359590">
                <a:tc>
                  <a:txBody>
                    <a:bodyPr/>
                    <a:lstStyle/>
                    <a:p>
                      <a:pPr algn="just" fontAlgn="t"/>
                      <a:r>
                        <a:rPr lang="en-IN">
                          <a:solidFill>
                            <a:srgbClr val="333333"/>
                          </a:solidFill>
                          <a:effectLst/>
                        </a:rPr>
                        <a:t>25</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Biology</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30</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691908967"/>
                  </a:ext>
                </a:extLst>
              </a:tr>
              <a:tr h="359590">
                <a:tc>
                  <a:txBody>
                    <a:bodyPr/>
                    <a:lstStyle/>
                    <a:p>
                      <a:pPr algn="just" fontAlgn="t"/>
                      <a:r>
                        <a:rPr lang="en-IN">
                          <a:solidFill>
                            <a:srgbClr val="333333"/>
                          </a:solidFill>
                          <a:effectLst/>
                        </a:rPr>
                        <a:t>47</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English</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35</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2539551799"/>
                  </a:ext>
                </a:extLst>
              </a:tr>
              <a:tr h="359590">
                <a:tc>
                  <a:txBody>
                    <a:bodyPr/>
                    <a:lstStyle/>
                    <a:p>
                      <a:pPr algn="just" fontAlgn="t"/>
                      <a:r>
                        <a:rPr lang="en-IN">
                          <a:solidFill>
                            <a:srgbClr val="333333"/>
                          </a:solidFill>
                          <a:effectLst/>
                        </a:rPr>
                        <a:t>83</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Math</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38</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2020063101"/>
                  </a:ext>
                </a:extLst>
              </a:tr>
              <a:tr h="359590">
                <a:tc>
                  <a:txBody>
                    <a:bodyPr/>
                    <a:lstStyle/>
                    <a:p>
                      <a:pPr algn="just" fontAlgn="t"/>
                      <a:r>
                        <a:rPr lang="en-IN">
                          <a:solidFill>
                            <a:srgbClr val="333333"/>
                          </a:solidFill>
                          <a:effectLst/>
                        </a:rPr>
                        <a:t>83</a:t>
                      </a:r>
                      <a:endParaRPr lang="en-IN">
                        <a:solidFill>
                          <a:srgbClr val="333333"/>
                        </a:solidFill>
                        <a:effectLst/>
                        <a:latin typeface="inter-regular"/>
                      </a:endParaRPr>
                    </a:p>
                  </a:txBody>
                  <a:tcPr marL="50800" marR="50800" marT="50800" marB="50800"/>
                </a:tc>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50800" marR="50800" marT="50800" marB="50800"/>
                </a:tc>
                <a:tc>
                  <a:txBody>
                    <a:bodyPr/>
                    <a:lstStyle/>
                    <a:p>
                      <a:pPr algn="just" fontAlgn="t"/>
                      <a:r>
                        <a:rPr lang="en-IN" dirty="0">
                          <a:solidFill>
                            <a:srgbClr val="333333"/>
                          </a:solidFill>
                          <a:effectLst/>
                        </a:rPr>
                        <a:t>38</a:t>
                      </a:r>
                      <a:endParaRPr lang="en-IN" dirty="0">
                        <a:solidFill>
                          <a:srgbClr val="333333"/>
                        </a:solidFill>
                        <a:effectLst/>
                        <a:latin typeface="inter-regular"/>
                      </a:endParaRPr>
                    </a:p>
                  </a:txBody>
                  <a:tcPr marL="50800" marR="50800" marT="50800" marB="50800"/>
                </a:tc>
                <a:extLst>
                  <a:ext uri="{0D108BD9-81ED-4DB2-BD59-A6C34878D82A}">
                    <a16:rowId xmlns:a16="http://schemas.microsoft.com/office/drawing/2014/main" val="1388182435"/>
                  </a:ext>
                </a:extLst>
              </a:tr>
            </a:tbl>
          </a:graphicData>
        </a:graphic>
      </p:graphicFrame>
      <p:sp>
        <p:nvSpPr>
          <p:cNvPr id="5" name="Rectangle 1">
            <a:extLst>
              <a:ext uri="{FF2B5EF4-FFF2-40B4-BE49-F238E27FC236}">
                <a16:creationId xmlns:a16="http://schemas.microsoft.com/office/drawing/2014/main" id="{FF8EF43B-40ED-D8E5-0F05-A11F1579C4E3}"/>
              </a:ext>
            </a:extLst>
          </p:cNvPr>
          <p:cNvSpPr>
            <a:spLocks noChangeArrowheads="1"/>
          </p:cNvSpPr>
          <p:nvPr/>
        </p:nvSpPr>
        <p:spPr bwMode="auto">
          <a:xfrm>
            <a:off x="394033" y="2361189"/>
            <a:ext cx="11108156"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inter-regular"/>
              </a:rPr>
              <a:t>In a school, a teacher can teach more than one subject.</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inter-regular"/>
              </a:rPr>
              <a:t>In the given table, non-prime attribute TEACHER_AGE is dependent on TEACHER_ID which is a proper subset of a candidate key. That's why it violates the rule for 2NF.</a:t>
            </a:r>
            <a:endParaRPr kumimoji="0" lang="en-US" altLang="en-US" sz="1050" b="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id="{FE030277-9FE9-8C12-74D2-BAACDEFA1FD1}"/>
              </a:ext>
            </a:extLst>
          </p:cNvPr>
          <p:cNvSpPr txBox="1"/>
          <p:nvPr/>
        </p:nvSpPr>
        <p:spPr>
          <a:xfrm>
            <a:off x="3146257" y="3633366"/>
            <a:ext cx="6106026"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inter-bold"/>
              </a:rPr>
              <a:t>TEACHER table</a:t>
            </a:r>
            <a:endParaRPr kumimoji="0" lang="en-US" altLang="en-US" sz="105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97389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EA94025-8A39-B483-74B5-8A269D63EC27}"/>
              </a:ext>
            </a:extLst>
          </p:cNvPr>
          <p:cNvGraphicFramePr>
            <a:graphicFrameLocks noGrp="1"/>
          </p:cNvGraphicFramePr>
          <p:nvPr>
            <p:extLst>
              <p:ext uri="{D42A27DB-BD31-4B8C-83A1-F6EECF244321}">
                <p14:modId xmlns:p14="http://schemas.microsoft.com/office/powerpoint/2010/main" val="2942391009"/>
              </p:ext>
            </p:extLst>
          </p:nvPr>
        </p:nvGraphicFramePr>
        <p:xfrm>
          <a:off x="355350" y="906462"/>
          <a:ext cx="4168524" cy="1668295"/>
        </p:xfrm>
        <a:graphic>
          <a:graphicData uri="http://schemas.openxmlformats.org/drawingml/2006/table">
            <a:tbl>
              <a:tblPr>
                <a:tableStyleId>{775DCB02-9BB8-47FD-8907-85C794F793BA}</a:tableStyleId>
              </a:tblPr>
              <a:tblGrid>
                <a:gridCol w="2084262">
                  <a:extLst>
                    <a:ext uri="{9D8B030D-6E8A-4147-A177-3AD203B41FA5}">
                      <a16:colId xmlns:a16="http://schemas.microsoft.com/office/drawing/2014/main" val="3913790677"/>
                    </a:ext>
                  </a:extLst>
                </a:gridCol>
                <a:gridCol w="2084262">
                  <a:extLst>
                    <a:ext uri="{9D8B030D-6E8A-4147-A177-3AD203B41FA5}">
                      <a16:colId xmlns:a16="http://schemas.microsoft.com/office/drawing/2014/main" val="807237559"/>
                    </a:ext>
                  </a:extLst>
                </a:gridCol>
              </a:tblGrid>
              <a:tr h="457963">
                <a:tc>
                  <a:txBody>
                    <a:bodyPr/>
                    <a:lstStyle/>
                    <a:p>
                      <a:pPr algn="ctr" fontAlgn="t"/>
                      <a:r>
                        <a:rPr lang="en-IN" b="1" dirty="0">
                          <a:solidFill>
                            <a:srgbClr val="000000"/>
                          </a:solidFill>
                          <a:effectLst/>
                        </a:rPr>
                        <a:t>TEACHER_ID</a:t>
                      </a:r>
                      <a:endParaRPr lang="en-IN" b="1" dirty="0">
                        <a:solidFill>
                          <a:srgbClr val="000000"/>
                        </a:solidFill>
                        <a:effectLst/>
                        <a:latin typeface="times new roman" panose="02020603050405020304" pitchFamily="18" charset="0"/>
                      </a:endParaRPr>
                    </a:p>
                  </a:txBody>
                  <a:tcPr marL="76200" marR="76200" marT="76200" marB="76200"/>
                </a:tc>
                <a:tc>
                  <a:txBody>
                    <a:bodyPr/>
                    <a:lstStyle/>
                    <a:p>
                      <a:pPr algn="ctr" fontAlgn="t"/>
                      <a:r>
                        <a:rPr lang="en-IN" b="1" dirty="0">
                          <a:solidFill>
                            <a:srgbClr val="000000"/>
                          </a:solidFill>
                          <a:effectLst/>
                        </a:rPr>
                        <a:t>TEACHER_AGE</a:t>
                      </a:r>
                      <a:endParaRPr lang="en-IN" b="1" dirty="0">
                        <a:solidFill>
                          <a:srgbClr val="000000"/>
                        </a:solidFill>
                        <a:effectLst/>
                        <a:latin typeface="times new roman" panose="02020603050405020304" pitchFamily="18" charset="0"/>
                      </a:endParaRPr>
                    </a:p>
                  </a:txBody>
                  <a:tcPr marL="76200" marR="76200" marT="76200" marB="76200"/>
                </a:tc>
                <a:extLst>
                  <a:ext uri="{0D108BD9-81ED-4DB2-BD59-A6C34878D82A}">
                    <a16:rowId xmlns:a16="http://schemas.microsoft.com/office/drawing/2014/main" val="3444613942"/>
                  </a:ext>
                </a:extLst>
              </a:tr>
              <a:tr h="403444">
                <a:tc>
                  <a:txBody>
                    <a:bodyPr/>
                    <a:lstStyle/>
                    <a:p>
                      <a:pPr algn="ctr" fontAlgn="t"/>
                      <a:r>
                        <a:rPr lang="en-IN">
                          <a:solidFill>
                            <a:srgbClr val="333333"/>
                          </a:solidFill>
                          <a:effectLst/>
                        </a:rPr>
                        <a:t>25</a:t>
                      </a:r>
                      <a:endParaRPr lang="en-IN">
                        <a:solidFill>
                          <a:srgbClr val="333333"/>
                        </a:solidFill>
                        <a:effectLst/>
                        <a:latin typeface="inter-regular"/>
                      </a:endParaRPr>
                    </a:p>
                  </a:txBody>
                  <a:tcPr marL="50800" marR="50800" marT="50800" marB="50800"/>
                </a:tc>
                <a:tc>
                  <a:txBody>
                    <a:bodyPr/>
                    <a:lstStyle/>
                    <a:p>
                      <a:pPr algn="ctr" fontAlgn="t"/>
                      <a:r>
                        <a:rPr lang="en-IN">
                          <a:solidFill>
                            <a:srgbClr val="333333"/>
                          </a:solidFill>
                          <a:effectLst/>
                        </a:rPr>
                        <a:t>30</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2636174289"/>
                  </a:ext>
                </a:extLst>
              </a:tr>
              <a:tr h="403444">
                <a:tc>
                  <a:txBody>
                    <a:bodyPr/>
                    <a:lstStyle/>
                    <a:p>
                      <a:pPr algn="ctr" fontAlgn="t"/>
                      <a:r>
                        <a:rPr lang="en-IN">
                          <a:solidFill>
                            <a:srgbClr val="333333"/>
                          </a:solidFill>
                          <a:effectLst/>
                        </a:rPr>
                        <a:t>47</a:t>
                      </a:r>
                      <a:endParaRPr lang="en-IN">
                        <a:solidFill>
                          <a:srgbClr val="333333"/>
                        </a:solidFill>
                        <a:effectLst/>
                        <a:latin typeface="inter-regular"/>
                      </a:endParaRPr>
                    </a:p>
                  </a:txBody>
                  <a:tcPr marL="50800" marR="50800" marT="50800" marB="50800"/>
                </a:tc>
                <a:tc>
                  <a:txBody>
                    <a:bodyPr/>
                    <a:lstStyle/>
                    <a:p>
                      <a:pPr algn="ctr" fontAlgn="t"/>
                      <a:r>
                        <a:rPr lang="en-IN">
                          <a:solidFill>
                            <a:srgbClr val="333333"/>
                          </a:solidFill>
                          <a:effectLst/>
                        </a:rPr>
                        <a:t>35</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3219066098"/>
                  </a:ext>
                </a:extLst>
              </a:tr>
              <a:tr h="403444">
                <a:tc>
                  <a:txBody>
                    <a:bodyPr/>
                    <a:lstStyle/>
                    <a:p>
                      <a:pPr algn="ctr" fontAlgn="t"/>
                      <a:r>
                        <a:rPr lang="en-IN">
                          <a:solidFill>
                            <a:srgbClr val="333333"/>
                          </a:solidFill>
                          <a:effectLst/>
                        </a:rPr>
                        <a:t>83</a:t>
                      </a:r>
                      <a:endParaRPr lang="en-IN">
                        <a:solidFill>
                          <a:srgbClr val="333333"/>
                        </a:solidFill>
                        <a:effectLst/>
                        <a:latin typeface="inter-regular"/>
                      </a:endParaRPr>
                    </a:p>
                  </a:txBody>
                  <a:tcPr marL="50800" marR="50800" marT="50800" marB="50800"/>
                </a:tc>
                <a:tc>
                  <a:txBody>
                    <a:bodyPr/>
                    <a:lstStyle/>
                    <a:p>
                      <a:pPr algn="ctr" fontAlgn="t"/>
                      <a:r>
                        <a:rPr lang="en-IN" dirty="0">
                          <a:solidFill>
                            <a:srgbClr val="333333"/>
                          </a:solidFill>
                          <a:effectLst/>
                        </a:rPr>
                        <a:t>38</a:t>
                      </a:r>
                      <a:endParaRPr lang="en-IN" dirty="0">
                        <a:solidFill>
                          <a:srgbClr val="333333"/>
                        </a:solidFill>
                        <a:effectLst/>
                        <a:latin typeface="inter-regular"/>
                      </a:endParaRPr>
                    </a:p>
                  </a:txBody>
                  <a:tcPr marL="50800" marR="50800" marT="50800" marB="50800"/>
                </a:tc>
                <a:extLst>
                  <a:ext uri="{0D108BD9-81ED-4DB2-BD59-A6C34878D82A}">
                    <a16:rowId xmlns:a16="http://schemas.microsoft.com/office/drawing/2014/main" val="2724278928"/>
                  </a:ext>
                </a:extLst>
              </a:tr>
            </a:tbl>
          </a:graphicData>
        </a:graphic>
      </p:graphicFrame>
      <p:sp>
        <p:nvSpPr>
          <p:cNvPr id="3" name="Rectangle 1">
            <a:extLst>
              <a:ext uri="{FF2B5EF4-FFF2-40B4-BE49-F238E27FC236}">
                <a16:creationId xmlns:a16="http://schemas.microsoft.com/office/drawing/2014/main" id="{F34F4E84-992E-E615-1227-F0BFB5C78273}"/>
              </a:ext>
            </a:extLst>
          </p:cNvPr>
          <p:cNvSpPr>
            <a:spLocks noChangeArrowheads="1"/>
          </p:cNvSpPr>
          <p:nvPr/>
        </p:nvSpPr>
        <p:spPr bwMode="auto">
          <a:xfrm>
            <a:off x="355349" y="508585"/>
            <a:ext cx="2808955"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333333"/>
                </a:solidFill>
                <a:effectLst/>
                <a:latin typeface="inter-bold"/>
              </a:rPr>
              <a:t>TEACHER_DETAIL table:</a:t>
            </a:r>
            <a:endParaRPr kumimoji="0" lang="en-US" altLang="en-US" sz="24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A515C12C-DAA3-1D85-FC17-3F4BA867E548}"/>
              </a:ext>
            </a:extLst>
          </p:cNvPr>
          <p:cNvGraphicFramePr>
            <a:graphicFrameLocks noGrp="1"/>
          </p:cNvGraphicFramePr>
          <p:nvPr>
            <p:extLst>
              <p:ext uri="{D42A27DB-BD31-4B8C-83A1-F6EECF244321}">
                <p14:modId xmlns:p14="http://schemas.microsoft.com/office/powerpoint/2010/main" val="2465449934"/>
              </p:ext>
            </p:extLst>
          </p:nvPr>
        </p:nvGraphicFramePr>
        <p:xfrm>
          <a:off x="5644470" y="906462"/>
          <a:ext cx="5388488" cy="2306320"/>
        </p:xfrm>
        <a:graphic>
          <a:graphicData uri="http://schemas.openxmlformats.org/drawingml/2006/table">
            <a:tbl>
              <a:tblPr>
                <a:tableStyleId>{775DCB02-9BB8-47FD-8907-85C794F793BA}</a:tableStyleId>
              </a:tblPr>
              <a:tblGrid>
                <a:gridCol w="2694244">
                  <a:extLst>
                    <a:ext uri="{9D8B030D-6E8A-4147-A177-3AD203B41FA5}">
                      <a16:colId xmlns:a16="http://schemas.microsoft.com/office/drawing/2014/main" val="270088503"/>
                    </a:ext>
                  </a:extLst>
                </a:gridCol>
                <a:gridCol w="2694244">
                  <a:extLst>
                    <a:ext uri="{9D8B030D-6E8A-4147-A177-3AD203B41FA5}">
                      <a16:colId xmlns:a16="http://schemas.microsoft.com/office/drawing/2014/main" val="1683722351"/>
                    </a:ext>
                  </a:extLst>
                </a:gridCol>
              </a:tblGrid>
              <a:tr h="0">
                <a:tc>
                  <a:txBody>
                    <a:bodyPr/>
                    <a:lstStyle/>
                    <a:p>
                      <a:pPr algn="ctr" fontAlgn="t"/>
                      <a:r>
                        <a:rPr lang="en-IN" b="1" dirty="0">
                          <a:solidFill>
                            <a:srgbClr val="000000"/>
                          </a:solidFill>
                          <a:effectLst/>
                        </a:rPr>
                        <a:t>TEACHER_ID</a:t>
                      </a:r>
                      <a:endParaRPr lang="en-IN" b="1" dirty="0">
                        <a:solidFill>
                          <a:srgbClr val="000000"/>
                        </a:solidFill>
                        <a:effectLst/>
                        <a:latin typeface="times new roman" panose="02020603050405020304" pitchFamily="18" charset="0"/>
                      </a:endParaRPr>
                    </a:p>
                  </a:txBody>
                  <a:tcPr marL="76200" marR="76200" marT="76200" marB="76200"/>
                </a:tc>
                <a:tc>
                  <a:txBody>
                    <a:bodyPr/>
                    <a:lstStyle/>
                    <a:p>
                      <a:pPr algn="ctr" fontAlgn="t"/>
                      <a:r>
                        <a:rPr lang="en-IN" b="1" dirty="0">
                          <a:solidFill>
                            <a:srgbClr val="000000"/>
                          </a:solidFill>
                          <a:effectLst/>
                        </a:rPr>
                        <a:t>SUBJECT</a:t>
                      </a:r>
                      <a:endParaRPr lang="en-IN" b="1" dirty="0">
                        <a:solidFill>
                          <a:srgbClr val="000000"/>
                        </a:solidFill>
                        <a:effectLst/>
                        <a:latin typeface="times new roman" panose="02020603050405020304" pitchFamily="18" charset="0"/>
                      </a:endParaRPr>
                    </a:p>
                  </a:txBody>
                  <a:tcPr marL="76200" marR="76200" marT="76200" marB="76200"/>
                </a:tc>
                <a:extLst>
                  <a:ext uri="{0D108BD9-81ED-4DB2-BD59-A6C34878D82A}">
                    <a16:rowId xmlns:a16="http://schemas.microsoft.com/office/drawing/2014/main" val="3879422955"/>
                  </a:ext>
                </a:extLst>
              </a:tr>
              <a:tr h="0">
                <a:tc>
                  <a:txBody>
                    <a:bodyPr/>
                    <a:lstStyle/>
                    <a:p>
                      <a:pPr algn="ctr" fontAlgn="t"/>
                      <a:r>
                        <a:rPr lang="en-IN">
                          <a:solidFill>
                            <a:srgbClr val="333333"/>
                          </a:solidFill>
                          <a:effectLst/>
                        </a:rPr>
                        <a:t>25</a:t>
                      </a:r>
                      <a:endParaRPr lang="en-IN">
                        <a:solidFill>
                          <a:srgbClr val="333333"/>
                        </a:solidFill>
                        <a:effectLst/>
                        <a:latin typeface="inter-regular"/>
                      </a:endParaRPr>
                    </a:p>
                  </a:txBody>
                  <a:tcPr marL="50800" marR="50800" marT="50800" marB="50800"/>
                </a:tc>
                <a:tc>
                  <a:txBody>
                    <a:bodyPr/>
                    <a:lstStyle/>
                    <a:p>
                      <a:pPr algn="ctr" fontAlgn="t"/>
                      <a:r>
                        <a:rPr lang="en-IN">
                          <a:solidFill>
                            <a:srgbClr val="333333"/>
                          </a:solidFill>
                          <a:effectLst/>
                        </a:rPr>
                        <a:t>Chemistry</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3971317833"/>
                  </a:ext>
                </a:extLst>
              </a:tr>
              <a:tr h="0">
                <a:tc>
                  <a:txBody>
                    <a:bodyPr/>
                    <a:lstStyle/>
                    <a:p>
                      <a:pPr algn="ctr" fontAlgn="t"/>
                      <a:r>
                        <a:rPr lang="en-IN" dirty="0">
                          <a:solidFill>
                            <a:srgbClr val="333333"/>
                          </a:solidFill>
                          <a:effectLst/>
                        </a:rPr>
                        <a:t>25</a:t>
                      </a:r>
                      <a:endParaRPr lang="en-IN" dirty="0">
                        <a:solidFill>
                          <a:srgbClr val="333333"/>
                        </a:solidFill>
                        <a:effectLst/>
                        <a:latin typeface="inter-regular"/>
                      </a:endParaRPr>
                    </a:p>
                  </a:txBody>
                  <a:tcPr marL="50800" marR="50800" marT="50800" marB="50800"/>
                </a:tc>
                <a:tc>
                  <a:txBody>
                    <a:bodyPr/>
                    <a:lstStyle/>
                    <a:p>
                      <a:pPr algn="ctr" fontAlgn="t"/>
                      <a:r>
                        <a:rPr lang="en-IN">
                          <a:solidFill>
                            <a:srgbClr val="333333"/>
                          </a:solidFill>
                          <a:effectLst/>
                        </a:rPr>
                        <a:t>Biology</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867068060"/>
                  </a:ext>
                </a:extLst>
              </a:tr>
              <a:tr h="0">
                <a:tc>
                  <a:txBody>
                    <a:bodyPr/>
                    <a:lstStyle/>
                    <a:p>
                      <a:pPr algn="ctr" fontAlgn="t"/>
                      <a:r>
                        <a:rPr lang="en-IN">
                          <a:solidFill>
                            <a:srgbClr val="333333"/>
                          </a:solidFill>
                          <a:effectLst/>
                        </a:rPr>
                        <a:t>47</a:t>
                      </a:r>
                      <a:endParaRPr lang="en-IN">
                        <a:solidFill>
                          <a:srgbClr val="333333"/>
                        </a:solidFill>
                        <a:effectLst/>
                        <a:latin typeface="inter-regular"/>
                      </a:endParaRPr>
                    </a:p>
                  </a:txBody>
                  <a:tcPr marL="50800" marR="50800" marT="50800" marB="50800"/>
                </a:tc>
                <a:tc>
                  <a:txBody>
                    <a:bodyPr/>
                    <a:lstStyle/>
                    <a:p>
                      <a:pPr algn="ctr" fontAlgn="t"/>
                      <a:r>
                        <a:rPr lang="en-IN">
                          <a:solidFill>
                            <a:srgbClr val="333333"/>
                          </a:solidFill>
                          <a:effectLst/>
                        </a:rPr>
                        <a:t>English</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139362972"/>
                  </a:ext>
                </a:extLst>
              </a:tr>
              <a:tr h="0">
                <a:tc>
                  <a:txBody>
                    <a:bodyPr/>
                    <a:lstStyle/>
                    <a:p>
                      <a:pPr algn="ctr" fontAlgn="t"/>
                      <a:r>
                        <a:rPr lang="en-IN">
                          <a:solidFill>
                            <a:srgbClr val="333333"/>
                          </a:solidFill>
                          <a:effectLst/>
                        </a:rPr>
                        <a:t>83</a:t>
                      </a:r>
                      <a:endParaRPr lang="en-IN">
                        <a:solidFill>
                          <a:srgbClr val="333333"/>
                        </a:solidFill>
                        <a:effectLst/>
                        <a:latin typeface="inter-regular"/>
                      </a:endParaRPr>
                    </a:p>
                  </a:txBody>
                  <a:tcPr marL="50800" marR="50800" marT="50800" marB="50800"/>
                </a:tc>
                <a:tc>
                  <a:txBody>
                    <a:bodyPr/>
                    <a:lstStyle/>
                    <a:p>
                      <a:pPr algn="ctr" fontAlgn="t"/>
                      <a:r>
                        <a:rPr lang="en-IN">
                          <a:solidFill>
                            <a:srgbClr val="333333"/>
                          </a:solidFill>
                          <a:effectLst/>
                        </a:rPr>
                        <a:t>Math</a:t>
                      </a:r>
                      <a:endParaRPr lang="en-IN">
                        <a:solidFill>
                          <a:srgbClr val="333333"/>
                        </a:solidFill>
                        <a:effectLst/>
                        <a:latin typeface="inter-regular"/>
                      </a:endParaRPr>
                    </a:p>
                  </a:txBody>
                  <a:tcPr marL="50800" marR="50800" marT="50800" marB="50800"/>
                </a:tc>
                <a:extLst>
                  <a:ext uri="{0D108BD9-81ED-4DB2-BD59-A6C34878D82A}">
                    <a16:rowId xmlns:a16="http://schemas.microsoft.com/office/drawing/2014/main" val="3919856377"/>
                  </a:ext>
                </a:extLst>
              </a:tr>
              <a:tr h="0">
                <a:tc>
                  <a:txBody>
                    <a:bodyPr/>
                    <a:lstStyle/>
                    <a:p>
                      <a:pPr algn="ctr" fontAlgn="t"/>
                      <a:r>
                        <a:rPr lang="en-IN">
                          <a:solidFill>
                            <a:srgbClr val="333333"/>
                          </a:solidFill>
                          <a:effectLst/>
                        </a:rPr>
                        <a:t>83</a:t>
                      </a:r>
                      <a:endParaRPr lang="en-IN">
                        <a:solidFill>
                          <a:srgbClr val="333333"/>
                        </a:solidFill>
                        <a:effectLst/>
                        <a:latin typeface="inter-regular"/>
                      </a:endParaRPr>
                    </a:p>
                  </a:txBody>
                  <a:tcPr marL="50800" marR="50800" marT="50800" marB="50800"/>
                </a:tc>
                <a:tc>
                  <a:txBody>
                    <a:bodyPr/>
                    <a:lstStyle/>
                    <a:p>
                      <a:pPr algn="ctr" fontAlgn="t"/>
                      <a:r>
                        <a:rPr lang="en-IN" dirty="0">
                          <a:solidFill>
                            <a:srgbClr val="333333"/>
                          </a:solidFill>
                          <a:effectLst/>
                        </a:rPr>
                        <a:t>Computer</a:t>
                      </a:r>
                      <a:endParaRPr lang="en-IN" dirty="0">
                        <a:solidFill>
                          <a:srgbClr val="333333"/>
                        </a:solidFill>
                        <a:effectLst/>
                        <a:latin typeface="inter-regular"/>
                      </a:endParaRPr>
                    </a:p>
                  </a:txBody>
                  <a:tcPr marL="50800" marR="50800" marT="50800" marB="50800"/>
                </a:tc>
                <a:extLst>
                  <a:ext uri="{0D108BD9-81ED-4DB2-BD59-A6C34878D82A}">
                    <a16:rowId xmlns:a16="http://schemas.microsoft.com/office/drawing/2014/main" val="1636467382"/>
                  </a:ext>
                </a:extLst>
              </a:tr>
            </a:tbl>
          </a:graphicData>
        </a:graphic>
      </p:graphicFrame>
      <p:sp>
        <p:nvSpPr>
          <p:cNvPr id="5" name="Rectangle 2">
            <a:extLst>
              <a:ext uri="{FF2B5EF4-FFF2-40B4-BE49-F238E27FC236}">
                <a16:creationId xmlns:a16="http://schemas.microsoft.com/office/drawing/2014/main" id="{4AFD061E-4DE7-68FC-ED4A-04DFA4123C31}"/>
              </a:ext>
            </a:extLst>
          </p:cNvPr>
          <p:cNvSpPr>
            <a:spLocks noChangeArrowheads="1"/>
          </p:cNvSpPr>
          <p:nvPr/>
        </p:nvSpPr>
        <p:spPr bwMode="auto">
          <a:xfrm>
            <a:off x="5552992" y="398255"/>
            <a:ext cx="3747419"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333333"/>
                </a:solidFill>
                <a:effectLst/>
                <a:latin typeface="inter-bold"/>
              </a:rPr>
              <a:t>TEACHER_SUBJECT table:</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5851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B75125-5B62-EC1D-9AEC-ABD5B67C7084}"/>
              </a:ext>
            </a:extLst>
          </p:cNvPr>
          <p:cNvSpPr txBox="1"/>
          <p:nvPr/>
        </p:nvSpPr>
        <p:spPr>
          <a:xfrm>
            <a:off x="550444" y="350740"/>
            <a:ext cx="6106026" cy="461665"/>
          </a:xfrm>
          <a:prstGeom prst="rect">
            <a:avLst/>
          </a:prstGeom>
          <a:noFill/>
        </p:spPr>
        <p:txBody>
          <a:bodyPr wrap="square">
            <a:spAutoFit/>
          </a:bodyPr>
          <a:lstStyle/>
          <a:p>
            <a:pPr algn="just"/>
            <a:r>
              <a:rPr lang="en-IN" sz="2400" b="1" i="0">
                <a:solidFill>
                  <a:srgbClr val="610B38"/>
                </a:solidFill>
                <a:effectLst/>
                <a:latin typeface="erdana"/>
              </a:rPr>
              <a:t>Third Normal Form (3NF)</a:t>
            </a:r>
          </a:p>
        </p:txBody>
      </p:sp>
      <p:sp>
        <p:nvSpPr>
          <p:cNvPr id="5" name="TextBox 4">
            <a:extLst>
              <a:ext uri="{FF2B5EF4-FFF2-40B4-BE49-F238E27FC236}">
                <a16:creationId xmlns:a16="http://schemas.microsoft.com/office/drawing/2014/main" id="{B684F31D-8648-7800-332E-84B6F0CF4EDB}"/>
              </a:ext>
            </a:extLst>
          </p:cNvPr>
          <p:cNvSpPr txBox="1"/>
          <p:nvPr/>
        </p:nvSpPr>
        <p:spPr>
          <a:xfrm>
            <a:off x="1287379" y="812405"/>
            <a:ext cx="10214810" cy="1754326"/>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A relation will be in 3NF if it is in 2NF and not contain any transitive partial dependency.</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3NF is used to reduce the data duplication. It is also used to achieve the data integrity.</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If there is no transitive dependency for non-prime attributes, then the relation must be in third normal form.</a:t>
            </a:r>
          </a:p>
        </p:txBody>
      </p:sp>
      <p:sp>
        <p:nvSpPr>
          <p:cNvPr id="7" name="TextBox 6">
            <a:extLst>
              <a:ext uri="{FF2B5EF4-FFF2-40B4-BE49-F238E27FC236}">
                <a16:creationId xmlns:a16="http://schemas.microsoft.com/office/drawing/2014/main" id="{100993EE-1D22-94B4-9CB7-18281978EADC}"/>
              </a:ext>
            </a:extLst>
          </p:cNvPr>
          <p:cNvSpPr txBox="1"/>
          <p:nvPr/>
        </p:nvSpPr>
        <p:spPr>
          <a:xfrm>
            <a:off x="1115927" y="3291779"/>
            <a:ext cx="10687051" cy="1569660"/>
          </a:xfrm>
          <a:prstGeom prst="rect">
            <a:avLst/>
          </a:prstGeom>
          <a:noFill/>
        </p:spPr>
        <p:txBody>
          <a:bodyPr wrap="square">
            <a:spAutoFit/>
          </a:bodyPr>
          <a:lstStyle/>
          <a:p>
            <a:pPr algn="just"/>
            <a:r>
              <a:rPr lang="en-US" sz="2400" b="0" i="0" dirty="0">
                <a:solidFill>
                  <a:srgbClr val="333333"/>
                </a:solidFill>
                <a:effectLst/>
                <a:latin typeface="inter-regular"/>
              </a:rPr>
              <a:t>A relation is in third normal form if it holds </a:t>
            </a:r>
            <a:r>
              <a:rPr lang="en-US" sz="2400" b="0" i="0" dirty="0" err="1">
                <a:solidFill>
                  <a:srgbClr val="333333"/>
                </a:solidFill>
                <a:effectLst/>
                <a:latin typeface="inter-regular"/>
              </a:rPr>
              <a:t>atleast</a:t>
            </a:r>
            <a:r>
              <a:rPr lang="en-US" sz="2400" b="0" i="0" dirty="0">
                <a:solidFill>
                  <a:srgbClr val="333333"/>
                </a:solidFill>
                <a:effectLst/>
                <a:latin typeface="inter-regular"/>
              </a:rPr>
              <a:t> one of the following conditions for every non-trivial function dependency X → Y.</a:t>
            </a:r>
          </a:p>
          <a:p>
            <a:pPr algn="just">
              <a:buFont typeface="+mj-lt"/>
              <a:buAutoNum type="arabicPeriod"/>
            </a:pPr>
            <a:r>
              <a:rPr lang="en-US" sz="2400" b="0" i="0" dirty="0">
                <a:solidFill>
                  <a:srgbClr val="000000"/>
                </a:solidFill>
                <a:effectLst/>
                <a:latin typeface="inter-regular"/>
              </a:rPr>
              <a:t>X is a super key.</a:t>
            </a:r>
          </a:p>
          <a:p>
            <a:pPr algn="just">
              <a:buFont typeface="+mj-lt"/>
              <a:buAutoNum type="arabicPeriod"/>
            </a:pPr>
            <a:r>
              <a:rPr lang="en-US" sz="2400" b="0" i="0" dirty="0">
                <a:solidFill>
                  <a:srgbClr val="000000"/>
                </a:solidFill>
                <a:effectLst/>
                <a:latin typeface="inter-regular"/>
              </a:rPr>
              <a:t>Y is a prime attribute, i.e., each element of Y is part of some candidate key.</a:t>
            </a:r>
          </a:p>
        </p:txBody>
      </p:sp>
      <p:sp>
        <p:nvSpPr>
          <p:cNvPr id="9" name="TextBox 8">
            <a:extLst>
              <a:ext uri="{FF2B5EF4-FFF2-40B4-BE49-F238E27FC236}">
                <a16:creationId xmlns:a16="http://schemas.microsoft.com/office/drawing/2014/main" id="{6A41932D-E317-9B8B-0BB7-146ED9DE0D1F}"/>
              </a:ext>
            </a:extLst>
          </p:cNvPr>
          <p:cNvSpPr txBox="1"/>
          <p:nvPr/>
        </p:nvSpPr>
        <p:spPr>
          <a:xfrm>
            <a:off x="839203" y="5586487"/>
            <a:ext cx="6106026" cy="369332"/>
          </a:xfrm>
          <a:prstGeom prst="rect">
            <a:avLst/>
          </a:prstGeom>
          <a:noFill/>
        </p:spPr>
        <p:txBody>
          <a:bodyPr wrap="square">
            <a:spAutoFit/>
          </a:bodyPr>
          <a:lstStyle/>
          <a:p>
            <a:r>
              <a:rPr lang="en-US" dirty="0">
                <a:hlinkClick r:id="rId2"/>
              </a:rPr>
              <a:t>3NF in DBMS | Third Normal Form - </a:t>
            </a:r>
            <a:r>
              <a:rPr lang="en-US" dirty="0" err="1">
                <a:hlinkClick r:id="rId2"/>
              </a:rPr>
              <a:t>javatpoint</a:t>
            </a:r>
            <a:endParaRPr lang="en-IN" dirty="0"/>
          </a:p>
        </p:txBody>
      </p:sp>
    </p:spTree>
    <p:extLst>
      <p:ext uri="{BB962C8B-B14F-4D97-AF65-F5344CB8AC3E}">
        <p14:creationId xmlns:p14="http://schemas.microsoft.com/office/powerpoint/2010/main" val="23257760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250D5DD-C880-8313-92E5-7560546ACD65}"/>
              </a:ext>
            </a:extLst>
          </p:cNvPr>
          <p:cNvGraphicFramePr>
            <a:graphicFrameLocks noGrp="1"/>
          </p:cNvGraphicFramePr>
          <p:nvPr>
            <p:extLst>
              <p:ext uri="{D42A27DB-BD31-4B8C-83A1-F6EECF244321}">
                <p14:modId xmlns:p14="http://schemas.microsoft.com/office/powerpoint/2010/main" val="3999680247"/>
              </p:ext>
            </p:extLst>
          </p:nvPr>
        </p:nvGraphicFramePr>
        <p:xfrm>
          <a:off x="393291" y="731748"/>
          <a:ext cx="6446915" cy="2910840"/>
        </p:xfrm>
        <a:graphic>
          <a:graphicData uri="http://schemas.openxmlformats.org/drawingml/2006/table">
            <a:tbl>
              <a:tblPr>
                <a:tableStyleId>{69C7853C-536D-4A76-A0AE-DD22124D55A5}</a:tableStyleId>
              </a:tblPr>
              <a:tblGrid>
                <a:gridCol w="1289383">
                  <a:extLst>
                    <a:ext uri="{9D8B030D-6E8A-4147-A177-3AD203B41FA5}">
                      <a16:colId xmlns:a16="http://schemas.microsoft.com/office/drawing/2014/main" val="1263670068"/>
                    </a:ext>
                  </a:extLst>
                </a:gridCol>
                <a:gridCol w="1289383">
                  <a:extLst>
                    <a:ext uri="{9D8B030D-6E8A-4147-A177-3AD203B41FA5}">
                      <a16:colId xmlns:a16="http://schemas.microsoft.com/office/drawing/2014/main" val="3006369888"/>
                    </a:ext>
                  </a:extLst>
                </a:gridCol>
                <a:gridCol w="1289383">
                  <a:extLst>
                    <a:ext uri="{9D8B030D-6E8A-4147-A177-3AD203B41FA5}">
                      <a16:colId xmlns:a16="http://schemas.microsoft.com/office/drawing/2014/main" val="2187115381"/>
                    </a:ext>
                  </a:extLst>
                </a:gridCol>
                <a:gridCol w="1289383">
                  <a:extLst>
                    <a:ext uri="{9D8B030D-6E8A-4147-A177-3AD203B41FA5}">
                      <a16:colId xmlns:a16="http://schemas.microsoft.com/office/drawing/2014/main" val="650686713"/>
                    </a:ext>
                  </a:extLst>
                </a:gridCol>
                <a:gridCol w="1289383">
                  <a:extLst>
                    <a:ext uri="{9D8B030D-6E8A-4147-A177-3AD203B41FA5}">
                      <a16:colId xmlns:a16="http://schemas.microsoft.com/office/drawing/2014/main" val="565380460"/>
                    </a:ext>
                  </a:extLst>
                </a:gridCol>
              </a:tblGrid>
              <a:tr h="662909">
                <a:tc>
                  <a:txBody>
                    <a:bodyPr/>
                    <a:lstStyle/>
                    <a:p>
                      <a:pPr algn="l" fontAlgn="t"/>
                      <a:r>
                        <a:rPr lang="en-IN">
                          <a:solidFill>
                            <a:srgbClr val="000000"/>
                          </a:solidFill>
                          <a:effectLst/>
                        </a:rPr>
                        <a:t>EMP_ID</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EMP_NAME</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EMP_ZIP</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EMP_STATE</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EMP_CITY</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832035289"/>
                  </a:ext>
                </a:extLst>
              </a:tr>
              <a:tr h="363950">
                <a:tc>
                  <a:txBody>
                    <a:bodyPr/>
                    <a:lstStyle/>
                    <a:p>
                      <a:pPr algn="just" fontAlgn="t"/>
                      <a:r>
                        <a:rPr lang="en-IN">
                          <a:solidFill>
                            <a:srgbClr val="333333"/>
                          </a:solidFill>
                          <a:effectLst/>
                        </a:rPr>
                        <a:t>222</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Harry</a:t>
                      </a:r>
                      <a:endParaRPr lang="en-IN" dirty="0">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201010</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UP</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Noida</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3915337403"/>
                  </a:ext>
                </a:extLst>
              </a:tr>
              <a:tr h="363950">
                <a:tc>
                  <a:txBody>
                    <a:bodyPr/>
                    <a:lstStyle/>
                    <a:p>
                      <a:pPr algn="just" fontAlgn="t"/>
                      <a:r>
                        <a:rPr lang="en-IN">
                          <a:solidFill>
                            <a:srgbClr val="333333"/>
                          </a:solidFill>
                          <a:effectLst/>
                        </a:rPr>
                        <a:t>333</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Stephan</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02228</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US</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Boston</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731050622"/>
                  </a:ext>
                </a:extLst>
              </a:tr>
              <a:tr h="363950">
                <a:tc>
                  <a:txBody>
                    <a:bodyPr/>
                    <a:lstStyle/>
                    <a:p>
                      <a:pPr algn="just" fontAlgn="t"/>
                      <a:r>
                        <a:rPr lang="en-IN">
                          <a:solidFill>
                            <a:srgbClr val="333333"/>
                          </a:solidFill>
                          <a:effectLst/>
                        </a:rPr>
                        <a:t>444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Lan</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60007</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US</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Chicago</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235079890"/>
                  </a:ext>
                </a:extLst>
              </a:tr>
              <a:tr h="363950">
                <a:tc>
                  <a:txBody>
                    <a:bodyPr/>
                    <a:lstStyle/>
                    <a:p>
                      <a:pPr algn="just" fontAlgn="t"/>
                      <a:r>
                        <a:rPr lang="en-IN">
                          <a:solidFill>
                            <a:srgbClr val="333333"/>
                          </a:solidFill>
                          <a:effectLst/>
                        </a:rPr>
                        <a:t>555</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Katharine</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06389</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UK</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Norwich</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303982885"/>
                  </a:ext>
                </a:extLst>
              </a:tr>
              <a:tr h="363950">
                <a:tc>
                  <a:txBody>
                    <a:bodyPr/>
                    <a:lstStyle/>
                    <a:p>
                      <a:pPr algn="just" fontAlgn="t"/>
                      <a:r>
                        <a:rPr lang="en-IN">
                          <a:solidFill>
                            <a:srgbClr val="333333"/>
                          </a:solidFill>
                          <a:effectLst/>
                        </a:rPr>
                        <a:t>666</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462007</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MP</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Bhopal</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876636998"/>
                  </a:ext>
                </a:extLst>
              </a:tr>
            </a:tbl>
          </a:graphicData>
        </a:graphic>
      </p:graphicFrame>
      <p:sp>
        <p:nvSpPr>
          <p:cNvPr id="3" name="Rectangle 1">
            <a:extLst>
              <a:ext uri="{FF2B5EF4-FFF2-40B4-BE49-F238E27FC236}">
                <a16:creationId xmlns:a16="http://schemas.microsoft.com/office/drawing/2014/main" id="{AC1A6E4B-0CFD-A1E7-89DF-44354653483E}"/>
              </a:ext>
            </a:extLst>
          </p:cNvPr>
          <p:cNvSpPr>
            <a:spLocks noChangeArrowheads="1"/>
          </p:cNvSpPr>
          <p:nvPr/>
        </p:nvSpPr>
        <p:spPr bwMode="auto">
          <a:xfrm>
            <a:off x="393291" y="393194"/>
            <a:ext cx="3765755"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33333"/>
                </a:solidFill>
                <a:effectLst/>
                <a:latin typeface="inter-bold"/>
              </a:rPr>
              <a:t>EMPLOYEE_DETAIL table:</a:t>
            </a:r>
            <a:endParaRPr kumimoji="0" lang="en-US" altLang="en-US" sz="1600" b="0" i="0" u="none" strike="noStrike" cap="none" normalizeH="0" baseline="0" dirty="0">
              <a:ln>
                <a:noFill/>
              </a:ln>
              <a:solidFill>
                <a:srgbClr val="333333"/>
              </a:solidFill>
              <a:effectLst/>
              <a:latin typeface="inter-regular"/>
            </a:endParaRPr>
          </a:p>
        </p:txBody>
      </p:sp>
      <p:sp>
        <p:nvSpPr>
          <p:cNvPr id="5" name="TextBox 4">
            <a:extLst>
              <a:ext uri="{FF2B5EF4-FFF2-40B4-BE49-F238E27FC236}">
                <a16:creationId xmlns:a16="http://schemas.microsoft.com/office/drawing/2014/main" id="{232ED4C9-8CE7-B0F4-E6D6-EED365AF54E8}"/>
              </a:ext>
            </a:extLst>
          </p:cNvPr>
          <p:cNvSpPr txBox="1"/>
          <p:nvPr/>
        </p:nvSpPr>
        <p:spPr>
          <a:xfrm>
            <a:off x="393291" y="4240527"/>
            <a:ext cx="9537290" cy="1754326"/>
          </a:xfrm>
          <a:prstGeom prst="rect">
            <a:avLst/>
          </a:prstGeom>
          <a:noFill/>
        </p:spPr>
        <p:txBody>
          <a:bodyPr wrap="square">
            <a:spAutoFit/>
          </a:bodyPr>
          <a:lstStyle/>
          <a:p>
            <a:pPr algn="just"/>
            <a:r>
              <a:rPr lang="en-IN" b="1" i="0" dirty="0">
                <a:solidFill>
                  <a:srgbClr val="333333"/>
                </a:solidFill>
                <a:effectLst/>
                <a:latin typeface="inter-bold"/>
              </a:rPr>
              <a:t>Super key in the table above:</a:t>
            </a:r>
            <a:endParaRPr lang="en-IN" b="0" i="0" dirty="0">
              <a:solidFill>
                <a:srgbClr val="333333"/>
              </a:solidFill>
              <a:effectLst/>
              <a:latin typeface="inter-regular"/>
            </a:endParaRPr>
          </a:p>
          <a:p>
            <a:pPr algn="just">
              <a:buFont typeface="+mj-lt"/>
              <a:buAutoNum type="arabicPeriod"/>
            </a:pPr>
            <a:r>
              <a:rPr lang="en-IN" b="0" i="0" dirty="0">
                <a:solidFill>
                  <a:srgbClr val="000000"/>
                </a:solidFill>
                <a:effectLst/>
                <a:latin typeface="inter-regular"/>
              </a:rPr>
              <a:t>{EMP_ID}, {EMP_ID, EMP_NAME}, {EMP_ID, EMP_NAME, EMP_ZIP}....so on  </a:t>
            </a:r>
          </a:p>
          <a:p>
            <a:pPr algn="just">
              <a:buFont typeface="+mj-lt"/>
              <a:buAutoNum type="arabicPeriod"/>
            </a:pPr>
            <a:endParaRPr lang="en-IN" b="0" i="0" dirty="0">
              <a:solidFill>
                <a:srgbClr val="000000"/>
              </a:solidFill>
              <a:effectLst/>
              <a:latin typeface="inter-regular"/>
            </a:endParaRPr>
          </a:p>
          <a:p>
            <a:pPr algn="just"/>
            <a:r>
              <a:rPr lang="en-IN" b="1" i="0" dirty="0">
                <a:solidFill>
                  <a:srgbClr val="333333"/>
                </a:solidFill>
                <a:effectLst/>
                <a:latin typeface="inter-bold"/>
              </a:rPr>
              <a:t>Candidate key:</a:t>
            </a:r>
            <a:r>
              <a:rPr lang="en-IN" b="0" i="0" dirty="0">
                <a:solidFill>
                  <a:srgbClr val="333333"/>
                </a:solidFill>
                <a:effectLst/>
                <a:latin typeface="inter-regular"/>
              </a:rPr>
              <a:t> {EMP_ID}</a:t>
            </a:r>
          </a:p>
          <a:p>
            <a:pPr algn="just"/>
            <a:endParaRPr lang="en-IN" b="0" i="0" dirty="0">
              <a:solidFill>
                <a:srgbClr val="333333"/>
              </a:solidFill>
              <a:effectLst/>
              <a:latin typeface="inter-regular"/>
            </a:endParaRPr>
          </a:p>
          <a:p>
            <a:pPr algn="just"/>
            <a:r>
              <a:rPr lang="en-IN" b="1" i="0" dirty="0">
                <a:solidFill>
                  <a:srgbClr val="333333"/>
                </a:solidFill>
                <a:effectLst/>
                <a:latin typeface="inter-bold"/>
              </a:rPr>
              <a:t>Non-prime attributes:</a:t>
            </a:r>
            <a:r>
              <a:rPr lang="en-IN" b="0" i="0" dirty="0">
                <a:solidFill>
                  <a:srgbClr val="333333"/>
                </a:solidFill>
                <a:effectLst/>
                <a:latin typeface="inter-regular"/>
              </a:rPr>
              <a:t> In the given table, all attributes except EMP_ID are non-prime.</a:t>
            </a:r>
          </a:p>
        </p:txBody>
      </p:sp>
      <p:sp>
        <p:nvSpPr>
          <p:cNvPr id="7" name="TextBox 6">
            <a:extLst>
              <a:ext uri="{FF2B5EF4-FFF2-40B4-BE49-F238E27FC236}">
                <a16:creationId xmlns:a16="http://schemas.microsoft.com/office/drawing/2014/main" id="{1708AFD4-2CF3-AEED-9BCD-7E9D95AAC793}"/>
              </a:ext>
            </a:extLst>
          </p:cNvPr>
          <p:cNvSpPr txBox="1"/>
          <p:nvPr/>
        </p:nvSpPr>
        <p:spPr>
          <a:xfrm>
            <a:off x="6880123" y="1282713"/>
            <a:ext cx="5046406" cy="1477328"/>
          </a:xfrm>
          <a:prstGeom prst="rect">
            <a:avLst/>
          </a:prstGeom>
          <a:noFill/>
        </p:spPr>
        <p:txBody>
          <a:bodyPr wrap="square">
            <a:spAutoFit/>
          </a:bodyPr>
          <a:lstStyle/>
          <a:p>
            <a:pPr algn="just"/>
            <a:r>
              <a:rPr lang="en-US" b="0" i="0" dirty="0">
                <a:solidFill>
                  <a:srgbClr val="333333"/>
                </a:solidFill>
                <a:effectLst/>
                <a:latin typeface="inter-regular"/>
              </a:rPr>
              <a:t>Here, EMP_STATE &amp; EMP_CITY dependent on EMP_ZIP and EMP_ZIP dependent on EMP_ID. The non-prime attributes (EMP_STATE, EMP_CITY) transitively dependent on super key(EMP_ID). It violates the rule of third normal form.</a:t>
            </a:r>
            <a:endParaRPr lang="en-IN" dirty="0"/>
          </a:p>
        </p:txBody>
      </p:sp>
    </p:spTree>
    <p:extLst>
      <p:ext uri="{BB962C8B-B14F-4D97-AF65-F5344CB8AC3E}">
        <p14:creationId xmlns:p14="http://schemas.microsoft.com/office/powerpoint/2010/main" val="2788786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294F7F2-A34D-F635-B20C-9948810FC4C3}"/>
              </a:ext>
            </a:extLst>
          </p:cNvPr>
          <p:cNvGraphicFramePr>
            <a:graphicFrameLocks noGrp="1"/>
          </p:cNvGraphicFramePr>
          <p:nvPr>
            <p:extLst>
              <p:ext uri="{D42A27DB-BD31-4B8C-83A1-F6EECF244321}">
                <p14:modId xmlns:p14="http://schemas.microsoft.com/office/powerpoint/2010/main" val="825169148"/>
              </p:ext>
            </p:extLst>
          </p:nvPr>
        </p:nvGraphicFramePr>
        <p:xfrm>
          <a:off x="169889" y="1488620"/>
          <a:ext cx="5618265" cy="2636520"/>
        </p:xfrm>
        <a:graphic>
          <a:graphicData uri="http://schemas.openxmlformats.org/drawingml/2006/table">
            <a:tbl>
              <a:tblPr>
                <a:tableStyleId>{69C7853C-536D-4A76-A0AE-DD22124D55A5}</a:tableStyleId>
              </a:tblPr>
              <a:tblGrid>
                <a:gridCol w="1872755">
                  <a:extLst>
                    <a:ext uri="{9D8B030D-6E8A-4147-A177-3AD203B41FA5}">
                      <a16:colId xmlns:a16="http://schemas.microsoft.com/office/drawing/2014/main" val="2268017022"/>
                    </a:ext>
                  </a:extLst>
                </a:gridCol>
                <a:gridCol w="1872755">
                  <a:extLst>
                    <a:ext uri="{9D8B030D-6E8A-4147-A177-3AD203B41FA5}">
                      <a16:colId xmlns:a16="http://schemas.microsoft.com/office/drawing/2014/main" val="3408257541"/>
                    </a:ext>
                  </a:extLst>
                </a:gridCol>
                <a:gridCol w="1872755">
                  <a:extLst>
                    <a:ext uri="{9D8B030D-6E8A-4147-A177-3AD203B41FA5}">
                      <a16:colId xmlns:a16="http://schemas.microsoft.com/office/drawing/2014/main" val="2639099085"/>
                    </a:ext>
                  </a:extLst>
                </a:gridCol>
              </a:tblGrid>
              <a:tr h="0">
                <a:tc>
                  <a:txBody>
                    <a:bodyPr/>
                    <a:lstStyle/>
                    <a:p>
                      <a:pPr algn="l" fontAlgn="t"/>
                      <a:r>
                        <a:rPr lang="en-IN" dirty="0">
                          <a:solidFill>
                            <a:srgbClr val="000000"/>
                          </a:solidFill>
                          <a:effectLst/>
                        </a:rPr>
                        <a:t>EMP_ID</a:t>
                      </a:r>
                      <a:endParaRPr lang="en-IN" dirty="0">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EMP_NAME</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EMP_ZIP</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3952500803"/>
                  </a:ext>
                </a:extLst>
              </a:tr>
              <a:tr h="0">
                <a:tc>
                  <a:txBody>
                    <a:bodyPr/>
                    <a:lstStyle/>
                    <a:p>
                      <a:pPr algn="just" fontAlgn="t"/>
                      <a:r>
                        <a:rPr lang="en-IN">
                          <a:solidFill>
                            <a:srgbClr val="333333"/>
                          </a:solidFill>
                          <a:effectLst/>
                        </a:rPr>
                        <a:t>222</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Harry</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201010</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799634745"/>
                  </a:ext>
                </a:extLst>
              </a:tr>
              <a:tr h="0">
                <a:tc>
                  <a:txBody>
                    <a:bodyPr/>
                    <a:lstStyle/>
                    <a:p>
                      <a:pPr algn="just" fontAlgn="t"/>
                      <a:r>
                        <a:rPr lang="en-IN">
                          <a:solidFill>
                            <a:srgbClr val="333333"/>
                          </a:solidFill>
                          <a:effectLst/>
                        </a:rPr>
                        <a:t>333</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Stephan</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02228</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213588459"/>
                  </a:ext>
                </a:extLst>
              </a:tr>
              <a:tr h="0">
                <a:tc>
                  <a:txBody>
                    <a:bodyPr/>
                    <a:lstStyle/>
                    <a:p>
                      <a:pPr algn="just" fontAlgn="t"/>
                      <a:r>
                        <a:rPr lang="en-IN">
                          <a:solidFill>
                            <a:srgbClr val="333333"/>
                          </a:solidFill>
                          <a:effectLst/>
                        </a:rPr>
                        <a:t>444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Lan</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60007</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987097583"/>
                  </a:ext>
                </a:extLst>
              </a:tr>
              <a:tr h="0">
                <a:tc>
                  <a:txBody>
                    <a:bodyPr/>
                    <a:lstStyle/>
                    <a:p>
                      <a:pPr algn="just" fontAlgn="t"/>
                      <a:r>
                        <a:rPr lang="en-IN">
                          <a:solidFill>
                            <a:srgbClr val="333333"/>
                          </a:solidFill>
                          <a:effectLst/>
                        </a:rPr>
                        <a:t>555</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Katharine</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06389</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3187784296"/>
                  </a:ext>
                </a:extLst>
              </a:tr>
              <a:tr h="0">
                <a:tc>
                  <a:txBody>
                    <a:bodyPr/>
                    <a:lstStyle/>
                    <a:p>
                      <a:pPr algn="just" fontAlgn="t"/>
                      <a:r>
                        <a:rPr lang="en-IN">
                          <a:solidFill>
                            <a:srgbClr val="333333"/>
                          </a:solidFill>
                          <a:effectLst/>
                        </a:rPr>
                        <a:t>666</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462007</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2337620433"/>
                  </a:ext>
                </a:extLst>
              </a:tr>
            </a:tbl>
          </a:graphicData>
        </a:graphic>
      </p:graphicFrame>
      <p:graphicFrame>
        <p:nvGraphicFramePr>
          <p:cNvPr id="3" name="Table 2">
            <a:extLst>
              <a:ext uri="{FF2B5EF4-FFF2-40B4-BE49-F238E27FC236}">
                <a16:creationId xmlns:a16="http://schemas.microsoft.com/office/drawing/2014/main" id="{96768465-37AE-FE9F-ABD5-E15248309607}"/>
              </a:ext>
            </a:extLst>
          </p:cNvPr>
          <p:cNvGraphicFramePr>
            <a:graphicFrameLocks noGrp="1"/>
          </p:cNvGraphicFramePr>
          <p:nvPr>
            <p:extLst>
              <p:ext uri="{D42A27DB-BD31-4B8C-83A1-F6EECF244321}">
                <p14:modId xmlns:p14="http://schemas.microsoft.com/office/powerpoint/2010/main" val="243664874"/>
              </p:ext>
            </p:extLst>
          </p:nvPr>
        </p:nvGraphicFramePr>
        <p:xfrm>
          <a:off x="6096000" y="2933961"/>
          <a:ext cx="5618265" cy="2636520"/>
        </p:xfrm>
        <a:graphic>
          <a:graphicData uri="http://schemas.openxmlformats.org/drawingml/2006/table">
            <a:tbl>
              <a:tblPr>
                <a:tableStyleId>{08FB837D-C827-4EFA-A057-4D05807E0F7C}</a:tableStyleId>
              </a:tblPr>
              <a:tblGrid>
                <a:gridCol w="1872755">
                  <a:extLst>
                    <a:ext uri="{9D8B030D-6E8A-4147-A177-3AD203B41FA5}">
                      <a16:colId xmlns:a16="http://schemas.microsoft.com/office/drawing/2014/main" val="4285617742"/>
                    </a:ext>
                  </a:extLst>
                </a:gridCol>
                <a:gridCol w="1872755">
                  <a:extLst>
                    <a:ext uri="{9D8B030D-6E8A-4147-A177-3AD203B41FA5}">
                      <a16:colId xmlns:a16="http://schemas.microsoft.com/office/drawing/2014/main" val="1070044390"/>
                    </a:ext>
                  </a:extLst>
                </a:gridCol>
                <a:gridCol w="1872755">
                  <a:extLst>
                    <a:ext uri="{9D8B030D-6E8A-4147-A177-3AD203B41FA5}">
                      <a16:colId xmlns:a16="http://schemas.microsoft.com/office/drawing/2014/main" val="138879942"/>
                    </a:ext>
                  </a:extLst>
                </a:gridCol>
              </a:tblGrid>
              <a:tr h="0">
                <a:tc>
                  <a:txBody>
                    <a:bodyPr/>
                    <a:lstStyle/>
                    <a:p>
                      <a:pPr algn="l" fontAlgn="t"/>
                      <a:r>
                        <a:rPr lang="en-IN">
                          <a:solidFill>
                            <a:srgbClr val="000000"/>
                          </a:solidFill>
                          <a:effectLst/>
                        </a:rPr>
                        <a:t>EMP_ZIP</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EMP_STATE</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EMP_CITY</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1433335045"/>
                  </a:ext>
                </a:extLst>
              </a:tr>
              <a:tr h="0">
                <a:tc>
                  <a:txBody>
                    <a:bodyPr/>
                    <a:lstStyle/>
                    <a:p>
                      <a:pPr algn="just" fontAlgn="t"/>
                      <a:r>
                        <a:rPr lang="en-IN">
                          <a:solidFill>
                            <a:srgbClr val="333333"/>
                          </a:solidFill>
                          <a:effectLst/>
                        </a:rPr>
                        <a:t>201010</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UP</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Noida</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827398902"/>
                  </a:ext>
                </a:extLst>
              </a:tr>
              <a:tr h="0">
                <a:tc>
                  <a:txBody>
                    <a:bodyPr/>
                    <a:lstStyle/>
                    <a:p>
                      <a:pPr algn="just" fontAlgn="t"/>
                      <a:r>
                        <a:rPr lang="en-IN">
                          <a:solidFill>
                            <a:srgbClr val="333333"/>
                          </a:solidFill>
                          <a:effectLst/>
                        </a:rPr>
                        <a:t>02228</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US</a:t>
                      </a:r>
                      <a:endParaRPr lang="en-IN" dirty="0">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Boston</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072468869"/>
                  </a:ext>
                </a:extLst>
              </a:tr>
              <a:tr h="0">
                <a:tc>
                  <a:txBody>
                    <a:bodyPr/>
                    <a:lstStyle/>
                    <a:p>
                      <a:pPr algn="just" fontAlgn="t"/>
                      <a:r>
                        <a:rPr lang="en-IN">
                          <a:solidFill>
                            <a:srgbClr val="333333"/>
                          </a:solidFill>
                          <a:effectLst/>
                        </a:rPr>
                        <a:t>60007</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US</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Chicago</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221738128"/>
                  </a:ext>
                </a:extLst>
              </a:tr>
              <a:tr h="0">
                <a:tc>
                  <a:txBody>
                    <a:bodyPr/>
                    <a:lstStyle/>
                    <a:p>
                      <a:pPr algn="just" fontAlgn="t"/>
                      <a:r>
                        <a:rPr lang="en-IN">
                          <a:solidFill>
                            <a:srgbClr val="333333"/>
                          </a:solidFill>
                          <a:effectLst/>
                        </a:rPr>
                        <a:t>06389</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UK</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Norwich</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717222420"/>
                  </a:ext>
                </a:extLst>
              </a:tr>
              <a:tr h="0">
                <a:tc>
                  <a:txBody>
                    <a:bodyPr/>
                    <a:lstStyle/>
                    <a:p>
                      <a:pPr algn="just" fontAlgn="t"/>
                      <a:r>
                        <a:rPr lang="en-IN">
                          <a:solidFill>
                            <a:srgbClr val="333333"/>
                          </a:solidFill>
                          <a:effectLst/>
                        </a:rPr>
                        <a:t>462007</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MP</a:t>
                      </a:r>
                      <a:endParaRPr lang="en-IN" dirty="0">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Bhopal</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3406057704"/>
                  </a:ext>
                </a:extLst>
              </a:tr>
            </a:tbl>
          </a:graphicData>
        </a:graphic>
      </p:graphicFrame>
      <p:sp>
        <p:nvSpPr>
          <p:cNvPr id="6" name="TextBox 5">
            <a:extLst>
              <a:ext uri="{FF2B5EF4-FFF2-40B4-BE49-F238E27FC236}">
                <a16:creationId xmlns:a16="http://schemas.microsoft.com/office/drawing/2014/main" id="{E4A654A7-6434-1B49-CFC5-791E35646B22}"/>
              </a:ext>
            </a:extLst>
          </p:cNvPr>
          <p:cNvSpPr txBox="1"/>
          <p:nvPr/>
        </p:nvSpPr>
        <p:spPr>
          <a:xfrm>
            <a:off x="169889" y="1102853"/>
            <a:ext cx="782647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EMPLOYEE table:</a:t>
            </a:r>
            <a:endParaRPr kumimoji="0" lang="en-US" altLang="en-US" sz="1800" b="0" i="0" u="none" strike="noStrike" cap="none" normalizeH="0" baseline="0" dirty="0">
              <a:ln>
                <a:noFill/>
              </a:ln>
              <a:solidFill>
                <a:srgbClr val="333333"/>
              </a:solidFill>
              <a:effectLst/>
              <a:latin typeface="inter-regular"/>
            </a:endParaRPr>
          </a:p>
        </p:txBody>
      </p:sp>
      <p:sp>
        <p:nvSpPr>
          <p:cNvPr id="8" name="TextBox 7">
            <a:extLst>
              <a:ext uri="{FF2B5EF4-FFF2-40B4-BE49-F238E27FC236}">
                <a16:creationId xmlns:a16="http://schemas.microsoft.com/office/drawing/2014/main" id="{4740359D-D802-D65B-6F17-28FB8C7801A1}"/>
              </a:ext>
            </a:extLst>
          </p:cNvPr>
          <p:cNvSpPr txBox="1"/>
          <p:nvPr/>
        </p:nvSpPr>
        <p:spPr>
          <a:xfrm>
            <a:off x="5970639" y="2564629"/>
            <a:ext cx="7851058" cy="369332"/>
          </a:xfrm>
          <a:prstGeom prst="rect">
            <a:avLst/>
          </a:prstGeom>
          <a:noFill/>
        </p:spPr>
        <p:txBody>
          <a:bodyPr wrap="square">
            <a:spAutoFit/>
          </a:bodyPr>
          <a:lstStyle/>
          <a:p>
            <a:r>
              <a:rPr kumimoji="0" lang="en-US" altLang="en-US" sz="1800" b="1" i="0" u="none" strike="noStrike" cap="none" normalizeH="0" baseline="0" dirty="0">
                <a:ln>
                  <a:noFill/>
                </a:ln>
                <a:solidFill>
                  <a:srgbClr val="333333"/>
                </a:solidFill>
                <a:effectLst/>
                <a:latin typeface="inter-bold"/>
              </a:rPr>
              <a:t>EMPLOYEE_ZIP table:</a:t>
            </a:r>
            <a:endParaRPr lang="en-IN" dirty="0"/>
          </a:p>
        </p:txBody>
      </p:sp>
    </p:spTree>
    <p:extLst>
      <p:ext uri="{BB962C8B-B14F-4D97-AF65-F5344CB8AC3E}">
        <p14:creationId xmlns:p14="http://schemas.microsoft.com/office/powerpoint/2010/main" val="18576247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1A83C8-5368-8447-D08F-ED99B617EADE}"/>
              </a:ext>
            </a:extLst>
          </p:cNvPr>
          <p:cNvSpPr txBox="1"/>
          <p:nvPr/>
        </p:nvSpPr>
        <p:spPr>
          <a:xfrm>
            <a:off x="3817374" y="95553"/>
            <a:ext cx="6100916" cy="400110"/>
          </a:xfrm>
          <a:prstGeom prst="rect">
            <a:avLst/>
          </a:prstGeom>
          <a:noFill/>
        </p:spPr>
        <p:txBody>
          <a:bodyPr wrap="square">
            <a:spAutoFit/>
          </a:bodyPr>
          <a:lstStyle/>
          <a:p>
            <a:r>
              <a:rPr lang="en-IN" sz="2000" dirty="0"/>
              <a:t>Boyce Codd normal form (BCNF)</a:t>
            </a:r>
          </a:p>
        </p:txBody>
      </p:sp>
      <p:sp>
        <p:nvSpPr>
          <p:cNvPr id="7" name="TextBox 6">
            <a:extLst>
              <a:ext uri="{FF2B5EF4-FFF2-40B4-BE49-F238E27FC236}">
                <a16:creationId xmlns:a16="http://schemas.microsoft.com/office/drawing/2014/main" id="{823CA462-B996-E9FE-0034-6315D92A3910}"/>
              </a:ext>
            </a:extLst>
          </p:cNvPr>
          <p:cNvSpPr txBox="1"/>
          <p:nvPr/>
        </p:nvSpPr>
        <p:spPr>
          <a:xfrm>
            <a:off x="287594" y="711594"/>
            <a:ext cx="10537722" cy="923330"/>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BCNF is the advance version of 3NF. It is stricter than 3NF.</a:t>
            </a:r>
          </a:p>
          <a:p>
            <a:pPr algn="just">
              <a:buFont typeface="Arial" panose="020B0604020202020204" pitchFamily="34" charset="0"/>
              <a:buChar char="•"/>
            </a:pPr>
            <a:r>
              <a:rPr lang="en-US" b="0" i="0" dirty="0">
                <a:solidFill>
                  <a:srgbClr val="000000"/>
                </a:solidFill>
                <a:effectLst/>
                <a:latin typeface="inter-regular"/>
              </a:rPr>
              <a:t>A table is in BCNF if every functional dependency X → Y, X is the super key of the table.</a:t>
            </a:r>
          </a:p>
          <a:p>
            <a:pPr algn="just">
              <a:buFont typeface="Arial" panose="020B0604020202020204" pitchFamily="34" charset="0"/>
              <a:buChar char="•"/>
            </a:pPr>
            <a:r>
              <a:rPr lang="en-US" b="0" i="0" dirty="0">
                <a:solidFill>
                  <a:srgbClr val="000000"/>
                </a:solidFill>
                <a:effectLst/>
                <a:latin typeface="inter-regular"/>
              </a:rPr>
              <a:t>For BCNF, the table should be in 3NF, and for every FD, LHS is super key</a:t>
            </a:r>
          </a:p>
        </p:txBody>
      </p:sp>
      <p:graphicFrame>
        <p:nvGraphicFramePr>
          <p:cNvPr id="8" name="Table 7">
            <a:extLst>
              <a:ext uri="{FF2B5EF4-FFF2-40B4-BE49-F238E27FC236}">
                <a16:creationId xmlns:a16="http://schemas.microsoft.com/office/drawing/2014/main" id="{1BAFD0A5-2B4F-3BED-1DD4-C3D182606124}"/>
              </a:ext>
            </a:extLst>
          </p:cNvPr>
          <p:cNvGraphicFramePr>
            <a:graphicFrameLocks noGrp="1"/>
          </p:cNvGraphicFramePr>
          <p:nvPr>
            <p:extLst>
              <p:ext uri="{D42A27DB-BD31-4B8C-83A1-F6EECF244321}">
                <p14:modId xmlns:p14="http://schemas.microsoft.com/office/powerpoint/2010/main" val="1964659747"/>
              </p:ext>
            </p:extLst>
          </p:nvPr>
        </p:nvGraphicFramePr>
        <p:xfrm>
          <a:off x="1993135" y="3219958"/>
          <a:ext cx="6042325" cy="2484120"/>
        </p:xfrm>
        <a:graphic>
          <a:graphicData uri="http://schemas.openxmlformats.org/drawingml/2006/table">
            <a:tbl>
              <a:tblPr>
                <a:tableStyleId>{08FB837D-C827-4EFA-A057-4D05807E0F7C}</a:tableStyleId>
              </a:tblPr>
              <a:tblGrid>
                <a:gridCol w="1208465">
                  <a:extLst>
                    <a:ext uri="{9D8B030D-6E8A-4147-A177-3AD203B41FA5}">
                      <a16:colId xmlns:a16="http://schemas.microsoft.com/office/drawing/2014/main" val="2447067078"/>
                    </a:ext>
                  </a:extLst>
                </a:gridCol>
                <a:gridCol w="1208465">
                  <a:extLst>
                    <a:ext uri="{9D8B030D-6E8A-4147-A177-3AD203B41FA5}">
                      <a16:colId xmlns:a16="http://schemas.microsoft.com/office/drawing/2014/main" val="472879964"/>
                    </a:ext>
                  </a:extLst>
                </a:gridCol>
                <a:gridCol w="1208465">
                  <a:extLst>
                    <a:ext uri="{9D8B030D-6E8A-4147-A177-3AD203B41FA5}">
                      <a16:colId xmlns:a16="http://schemas.microsoft.com/office/drawing/2014/main" val="2919336740"/>
                    </a:ext>
                  </a:extLst>
                </a:gridCol>
                <a:gridCol w="1208465">
                  <a:extLst>
                    <a:ext uri="{9D8B030D-6E8A-4147-A177-3AD203B41FA5}">
                      <a16:colId xmlns:a16="http://schemas.microsoft.com/office/drawing/2014/main" val="2413273212"/>
                    </a:ext>
                  </a:extLst>
                </a:gridCol>
                <a:gridCol w="1208465">
                  <a:extLst>
                    <a:ext uri="{9D8B030D-6E8A-4147-A177-3AD203B41FA5}">
                      <a16:colId xmlns:a16="http://schemas.microsoft.com/office/drawing/2014/main" val="3426524615"/>
                    </a:ext>
                  </a:extLst>
                </a:gridCol>
              </a:tblGrid>
              <a:tr h="0">
                <a:tc>
                  <a:txBody>
                    <a:bodyPr/>
                    <a:lstStyle/>
                    <a:p>
                      <a:pPr algn="l" fontAlgn="t"/>
                      <a:r>
                        <a:rPr lang="en-IN">
                          <a:solidFill>
                            <a:srgbClr val="000000"/>
                          </a:solidFill>
                          <a:effectLst/>
                        </a:rPr>
                        <a:t>EMP_ID</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dirty="0">
                          <a:solidFill>
                            <a:srgbClr val="000000"/>
                          </a:solidFill>
                          <a:effectLst/>
                        </a:rPr>
                        <a:t>EMP_COUNTRY</a:t>
                      </a:r>
                      <a:endParaRPr lang="en-IN" dirty="0">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EMP_DEPT</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DEPT_TYPE</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EMP_DEPT_NO</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1983148627"/>
                  </a:ext>
                </a:extLst>
              </a:tr>
              <a:tr h="0">
                <a:tc>
                  <a:txBody>
                    <a:bodyPr/>
                    <a:lstStyle/>
                    <a:p>
                      <a:pPr algn="just" fontAlgn="t"/>
                      <a:r>
                        <a:rPr lang="en-IN">
                          <a:solidFill>
                            <a:srgbClr val="333333"/>
                          </a:solidFill>
                          <a:effectLst/>
                        </a:rPr>
                        <a:t>264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India</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Designing</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D394</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283</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2776868652"/>
                  </a:ext>
                </a:extLst>
              </a:tr>
              <a:tr h="0">
                <a:tc>
                  <a:txBody>
                    <a:bodyPr/>
                    <a:lstStyle/>
                    <a:p>
                      <a:pPr algn="just" fontAlgn="t"/>
                      <a:r>
                        <a:rPr lang="en-IN">
                          <a:solidFill>
                            <a:srgbClr val="333333"/>
                          </a:solidFill>
                          <a:effectLst/>
                        </a:rPr>
                        <a:t>264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India</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Testing</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D394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300</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616789056"/>
                  </a:ext>
                </a:extLst>
              </a:tr>
              <a:tr h="0">
                <a:tc>
                  <a:txBody>
                    <a:bodyPr/>
                    <a:lstStyle/>
                    <a:p>
                      <a:pPr algn="just" fontAlgn="t"/>
                      <a:r>
                        <a:rPr lang="en-IN">
                          <a:solidFill>
                            <a:srgbClr val="333333"/>
                          </a:solidFill>
                          <a:effectLst/>
                        </a:rPr>
                        <a:t>364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UK</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Stores</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D283</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232</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606288805"/>
                  </a:ext>
                </a:extLst>
              </a:tr>
              <a:tr h="0">
                <a:tc>
                  <a:txBody>
                    <a:bodyPr/>
                    <a:lstStyle/>
                    <a:p>
                      <a:pPr algn="just" fontAlgn="t"/>
                      <a:r>
                        <a:rPr lang="en-IN">
                          <a:solidFill>
                            <a:srgbClr val="333333"/>
                          </a:solidFill>
                          <a:effectLst/>
                        </a:rPr>
                        <a:t>364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UK</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Developing</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D283</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549</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2891992199"/>
                  </a:ext>
                </a:extLst>
              </a:tr>
            </a:tbl>
          </a:graphicData>
        </a:graphic>
      </p:graphicFrame>
      <p:sp>
        <p:nvSpPr>
          <p:cNvPr id="11" name="TextBox 10">
            <a:extLst>
              <a:ext uri="{FF2B5EF4-FFF2-40B4-BE49-F238E27FC236}">
                <a16:creationId xmlns:a16="http://schemas.microsoft.com/office/drawing/2014/main" id="{5CA5A06D-4F02-320F-C64B-F26E5606DCFA}"/>
              </a:ext>
            </a:extLst>
          </p:cNvPr>
          <p:cNvSpPr txBox="1"/>
          <p:nvPr/>
        </p:nvSpPr>
        <p:spPr>
          <a:xfrm>
            <a:off x="287594" y="1775897"/>
            <a:ext cx="6100916"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EMPLOYEE table:</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In the table Functional dependencies are as follows:</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000000"/>
                </a:solidFill>
                <a:effectLst/>
                <a:latin typeface="inter-regular"/>
              </a:rPr>
              <a:t>EMP_ID  →  EMP_COUNTRY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rgbClr val="000000"/>
                </a:solidFill>
                <a:effectLst/>
                <a:latin typeface="inter-regular"/>
              </a:rPr>
              <a:t>EMP_DEPT  →   {DEPT_TYPE, EMP_DEPT_NO}  </a:t>
            </a:r>
            <a:endParaRPr kumimoji="0" lang="en-US" altLang="en-US" sz="1800" b="0" i="0" u="none" strike="noStrike" cap="none" normalizeH="0" baseline="0" dirty="0">
              <a:ln>
                <a:noFill/>
              </a:ln>
              <a:solidFill>
                <a:srgbClr val="333333"/>
              </a:solidFill>
              <a:effectLst/>
              <a:latin typeface="inter-regular"/>
            </a:endParaRPr>
          </a:p>
        </p:txBody>
      </p:sp>
      <p:sp>
        <p:nvSpPr>
          <p:cNvPr id="13" name="TextBox 12">
            <a:extLst>
              <a:ext uri="{FF2B5EF4-FFF2-40B4-BE49-F238E27FC236}">
                <a16:creationId xmlns:a16="http://schemas.microsoft.com/office/drawing/2014/main" id="{BB4C8DCB-5EAD-5864-0CBA-8CBF2890EF96}"/>
              </a:ext>
            </a:extLst>
          </p:cNvPr>
          <p:cNvSpPr txBox="1"/>
          <p:nvPr/>
        </p:nvSpPr>
        <p:spPr>
          <a:xfrm>
            <a:off x="8035460" y="4352920"/>
            <a:ext cx="6100916" cy="369332"/>
          </a:xfrm>
          <a:prstGeom prst="rect">
            <a:avLst/>
          </a:prstGeom>
          <a:noFill/>
        </p:spPr>
        <p:txBody>
          <a:bodyPr wrap="square">
            <a:spAutoFit/>
          </a:bodyPr>
          <a:lstStyle/>
          <a:p>
            <a:r>
              <a:rPr lang="en-IN" b="1" i="0" dirty="0">
                <a:solidFill>
                  <a:srgbClr val="333333"/>
                </a:solidFill>
                <a:effectLst/>
                <a:latin typeface="inter-bold"/>
              </a:rPr>
              <a:t>Candidate key: {EMP-ID, EMP-DEPT}</a:t>
            </a:r>
            <a:endParaRPr lang="en-IN" dirty="0"/>
          </a:p>
        </p:txBody>
      </p:sp>
    </p:spTree>
    <p:extLst>
      <p:ext uri="{BB962C8B-B14F-4D97-AF65-F5344CB8AC3E}">
        <p14:creationId xmlns:p14="http://schemas.microsoft.com/office/powerpoint/2010/main" val="2984520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1265BD-81EE-4D04-AB91-BBE522332511}"/>
              </a:ext>
            </a:extLst>
          </p:cNvPr>
          <p:cNvSpPr txBox="1"/>
          <p:nvPr/>
        </p:nvSpPr>
        <p:spPr>
          <a:xfrm>
            <a:off x="288759" y="294986"/>
            <a:ext cx="11165304" cy="646331"/>
          </a:xfrm>
          <a:prstGeom prst="rect">
            <a:avLst/>
          </a:prstGeom>
          <a:noFill/>
        </p:spPr>
        <p:txBody>
          <a:bodyPr wrap="square">
            <a:spAutoFit/>
          </a:bodyPr>
          <a:lstStyle/>
          <a:p>
            <a:pPr algn="just"/>
            <a:r>
              <a:rPr lang="en-US" b="0" i="0" dirty="0">
                <a:solidFill>
                  <a:srgbClr val="333333"/>
                </a:solidFill>
                <a:effectLst/>
                <a:latin typeface="inter-regular"/>
              </a:rPr>
              <a:t>The table is not in BCNF because neither EMP_DEPT nor EMP_ID alone are keys.</a:t>
            </a:r>
          </a:p>
          <a:p>
            <a:pPr algn="just"/>
            <a:r>
              <a:rPr lang="en-US" b="0" i="0" dirty="0">
                <a:solidFill>
                  <a:srgbClr val="333333"/>
                </a:solidFill>
                <a:effectLst/>
                <a:latin typeface="inter-regular"/>
              </a:rPr>
              <a:t>To convert the given table into BCNF, we decompose it into three tables:</a:t>
            </a:r>
          </a:p>
        </p:txBody>
      </p:sp>
      <p:graphicFrame>
        <p:nvGraphicFramePr>
          <p:cNvPr id="4" name="Table 3">
            <a:extLst>
              <a:ext uri="{FF2B5EF4-FFF2-40B4-BE49-F238E27FC236}">
                <a16:creationId xmlns:a16="http://schemas.microsoft.com/office/drawing/2014/main" id="{47FA69DE-720C-9930-AD5E-72D4C74D3448}"/>
              </a:ext>
            </a:extLst>
          </p:cNvPr>
          <p:cNvGraphicFramePr>
            <a:graphicFrameLocks noGrp="1"/>
          </p:cNvGraphicFramePr>
          <p:nvPr>
            <p:extLst>
              <p:ext uri="{D42A27DB-BD31-4B8C-83A1-F6EECF244321}">
                <p14:modId xmlns:p14="http://schemas.microsoft.com/office/powerpoint/2010/main" val="308036426"/>
              </p:ext>
            </p:extLst>
          </p:nvPr>
        </p:nvGraphicFramePr>
        <p:xfrm>
          <a:off x="5801033" y="1596092"/>
          <a:ext cx="3854246" cy="1356360"/>
        </p:xfrm>
        <a:graphic>
          <a:graphicData uri="http://schemas.openxmlformats.org/drawingml/2006/table">
            <a:tbl>
              <a:tblPr>
                <a:tableStyleId>{69C7853C-536D-4A76-A0AE-DD22124D55A5}</a:tableStyleId>
              </a:tblPr>
              <a:tblGrid>
                <a:gridCol w="1927123">
                  <a:extLst>
                    <a:ext uri="{9D8B030D-6E8A-4147-A177-3AD203B41FA5}">
                      <a16:colId xmlns:a16="http://schemas.microsoft.com/office/drawing/2014/main" val="2662915814"/>
                    </a:ext>
                  </a:extLst>
                </a:gridCol>
                <a:gridCol w="1927123">
                  <a:extLst>
                    <a:ext uri="{9D8B030D-6E8A-4147-A177-3AD203B41FA5}">
                      <a16:colId xmlns:a16="http://schemas.microsoft.com/office/drawing/2014/main" val="4061891426"/>
                    </a:ext>
                  </a:extLst>
                </a:gridCol>
              </a:tblGrid>
              <a:tr h="0">
                <a:tc>
                  <a:txBody>
                    <a:bodyPr/>
                    <a:lstStyle/>
                    <a:p>
                      <a:pPr algn="l" fontAlgn="t"/>
                      <a:r>
                        <a:rPr lang="en-IN">
                          <a:solidFill>
                            <a:srgbClr val="000000"/>
                          </a:solidFill>
                          <a:effectLst/>
                        </a:rPr>
                        <a:t>EMP_ID</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dirty="0">
                          <a:solidFill>
                            <a:srgbClr val="000000"/>
                          </a:solidFill>
                          <a:effectLst/>
                        </a:rPr>
                        <a:t>EMP_COUNTRY</a:t>
                      </a:r>
                      <a:endParaRPr lang="en-IN" dirty="0">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1267167986"/>
                  </a:ext>
                </a:extLst>
              </a:tr>
              <a:tr h="0">
                <a:tc>
                  <a:txBody>
                    <a:bodyPr/>
                    <a:lstStyle/>
                    <a:p>
                      <a:pPr algn="just" fontAlgn="t"/>
                      <a:r>
                        <a:rPr lang="en-IN">
                          <a:solidFill>
                            <a:srgbClr val="333333"/>
                          </a:solidFill>
                          <a:effectLst/>
                        </a:rPr>
                        <a:t>264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India</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02971649"/>
                  </a:ext>
                </a:extLst>
              </a:tr>
              <a:tr h="0">
                <a:tc>
                  <a:txBody>
                    <a:bodyPr/>
                    <a:lstStyle/>
                    <a:p>
                      <a:pPr algn="just" fontAlgn="t"/>
                      <a:r>
                        <a:rPr lang="en-IN">
                          <a:solidFill>
                            <a:srgbClr val="333333"/>
                          </a:solidFill>
                          <a:effectLst/>
                        </a:rPr>
                        <a:t>264</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India</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1325336922"/>
                  </a:ext>
                </a:extLst>
              </a:tr>
            </a:tbl>
          </a:graphicData>
        </a:graphic>
      </p:graphicFrame>
      <p:graphicFrame>
        <p:nvGraphicFramePr>
          <p:cNvPr id="5" name="Table 4">
            <a:extLst>
              <a:ext uri="{FF2B5EF4-FFF2-40B4-BE49-F238E27FC236}">
                <a16:creationId xmlns:a16="http://schemas.microsoft.com/office/drawing/2014/main" id="{1B93913D-FFEC-A392-189F-1FEB4D056D71}"/>
              </a:ext>
            </a:extLst>
          </p:cNvPr>
          <p:cNvGraphicFramePr>
            <a:graphicFrameLocks noGrp="1"/>
          </p:cNvGraphicFramePr>
          <p:nvPr>
            <p:extLst>
              <p:ext uri="{D42A27DB-BD31-4B8C-83A1-F6EECF244321}">
                <p14:modId xmlns:p14="http://schemas.microsoft.com/office/powerpoint/2010/main" val="3242778904"/>
              </p:ext>
            </p:extLst>
          </p:nvPr>
        </p:nvGraphicFramePr>
        <p:xfrm>
          <a:off x="214621" y="4353214"/>
          <a:ext cx="5674140" cy="2209800"/>
        </p:xfrm>
        <a:graphic>
          <a:graphicData uri="http://schemas.openxmlformats.org/drawingml/2006/table">
            <a:tbl>
              <a:tblPr>
                <a:tableStyleId>{69C7853C-536D-4A76-A0AE-DD22124D55A5}</a:tableStyleId>
              </a:tblPr>
              <a:tblGrid>
                <a:gridCol w="1891380">
                  <a:extLst>
                    <a:ext uri="{9D8B030D-6E8A-4147-A177-3AD203B41FA5}">
                      <a16:colId xmlns:a16="http://schemas.microsoft.com/office/drawing/2014/main" val="591696432"/>
                    </a:ext>
                  </a:extLst>
                </a:gridCol>
                <a:gridCol w="1891380">
                  <a:extLst>
                    <a:ext uri="{9D8B030D-6E8A-4147-A177-3AD203B41FA5}">
                      <a16:colId xmlns:a16="http://schemas.microsoft.com/office/drawing/2014/main" val="2064659114"/>
                    </a:ext>
                  </a:extLst>
                </a:gridCol>
                <a:gridCol w="1891380">
                  <a:extLst>
                    <a:ext uri="{9D8B030D-6E8A-4147-A177-3AD203B41FA5}">
                      <a16:colId xmlns:a16="http://schemas.microsoft.com/office/drawing/2014/main" val="3289119494"/>
                    </a:ext>
                  </a:extLst>
                </a:gridCol>
              </a:tblGrid>
              <a:tr h="0">
                <a:tc>
                  <a:txBody>
                    <a:bodyPr/>
                    <a:lstStyle/>
                    <a:p>
                      <a:pPr algn="l" fontAlgn="t"/>
                      <a:r>
                        <a:rPr lang="en-IN">
                          <a:solidFill>
                            <a:srgbClr val="000000"/>
                          </a:solidFill>
                          <a:effectLst/>
                        </a:rPr>
                        <a:t>EMP_DEPT</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DEPT_TYPE</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EMP_DEPT_NO</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304262910"/>
                  </a:ext>
                </a:extLst>
              </a:tr>
              <a:tr h="0">
                <a:tc>
                  <a:txBody>
                    <a:bodyPr/>
                    <a:lstStyle/>
                    <a:p>
                      <a:pPr algn="just" fontAlgn="t"/>
                      <a:r>
                        <a:rPr lang="en-IN">
                          <a:solidFill>
                            <a:srgbClr val="333333"/>
                          </a:solidFill>
                          <a:effectLst/>
                        </a:rPr>
                        <a:t>Designing</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D394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283</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873157711"/>
                  </a:ext>
                </a:extLst>
              </a:tr>
              <a:tr h="0">
                <a:tc>
                  <a:txBody>
                    <a:bodyPr/>
                    <a:lstStyle/>
                    <a:p>
                      <a:pPr algn="just" fontAlgn="t"/>
                      <a:r>
                        <a:rPr lang="en-IN">
                          <a:solidFill>
                            <a:srgbClr val="333333"/>
                          </a:solidFill>
                          <a:effectLst/>
                        </a:rPr>
                        <a:t>Testing</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D394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300</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093290871"/>
                  </a:ext>
                </a:extLst>
              </a:tr>
              <a:tr h="0">
                <a:tc>
                  <a:txBody>
                    <a:bodyPr/>
                    <a:lstStyle/>
                    <a:p>
                      <a:pPr algn="just" fontAlgn="t"/>
                      <a:r>
                        <a:rPr lang="en-IN">
                          <a:solidFill>
                            <a:srgbClr val="333333"/>
                          </a:solidFill>
                          <a:effectLst/>
                        </a:rPr>
                        <a:t>Stores</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D283</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232</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229252694"/>
                  </a:ext>
                </a:extLst>
              </a:tr>
              <a:tr h="0">
                <a:tc>
                  <a:txBody>
                    <a:bodyPr/>
                    <a:lstStyle/>
                    <a:p>
                      <a:pPr algn="just" fontAlgn="t"/>
                      <a:r>
                        <a:rPr lang="en-IN">
                          <a:solidFill>
                            <a:srgbClr val="333333"/>
                          </a:solidFill>
                          <a:effectLst/>
                        </a:rPr>
                        <a:t>Developing</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D283</a:t>
                      </a:r>
                      <a:endParaRPr lang="en-IN" dirty="0">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549</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3396543285"/>
                  </a:ext>
                </a:extLst>
              </a:tr>
            </a:tbl>
          </a:graphicData>
        </a:graphic>
      </p:graphicFrame>
      <p:graphicFrame>
        <p:nvGraphicFramePr>
          <p:cNvPr id="6" name="Table 5">
            <a:extLst>
              <a:ext uri="{FF2B5EF4-FFF2-40B4-BE49-F238E27FC236}">
                <a16:creationId xmlns:a16="http://schemas.microsoft.com/office/drawing/2014/main" id="{556E6D52-6604-0974-FD18-6D82DE4C8D59}"/>
              </a:ext>
            </a:extLst>
          </p:cNvPr>
          <p:cNvGraphicFramePr>
            <a:graphicFrameLocks noGrp="1"/>
          </p:cNvGraphicFramePr>
          <p:nvPr>
            <p:extLst>
              <p:ext uri="{D42A27DB-BD31-4B8C-83A1-F6EECF244321}">
                <p14:modId xmlns:p14="http://schemas.microsoft.com/office/powerpoint/2010/main" val="2841662641"/>
              </p:ext>
            </p:extLst>
          </p:nvPr>
        </p:nvGraphicFramePr>
        <p:xfrm>
          <a:off x="214621" y="1508829"/>
          <a:ext cx="4583522" cy="2209800"/>
        </p:xfrm>
        <a:graphic>
          <a:graphicData uri="http://schemas.openxmlformats.org/drawingml/2006/table">
            <a:tbl>
              <a:tblPr>
                <a:tableStyleId>{775DCB02-9BB8-47FD-8907-85C794F793BA}</a:tableStyleId>
              </a:tblPr>
              <a:tblGrid>
                <a:gridCol w="2291761">
                  <a:extLst>
                    <a:ext uri="{9D8B030D-6E8A-4147-A177-3AD203B41FA5}">
                      <a16:colId xmlns:a16="http://schemas.microsoft.com/office/drawing/2014/main" val="1121676311"/>
                    </a:ext>
                  </a:extLst>
                </a:gridCol>
                <a:gridCol w="2291761">
                  <a:extLst>
                    <a:ext uri="{9D8B030D-6E8A-4147-A177-3AD203B41FA5}">
                      <a16:colId xmlns:a16="http://schemas.microsoft.com/office/drawing/2014/main" val="4237379859"/>
                    </a:ext>
                  </a:extLst>
                </a:gridCol>
              </a:tblGrid>
              <a:tr h="0">
                <a:tc>
                  <a:txBody>
                    <a:bodyPr/>
                    <a:lstStyle/>
                    <a:p>
                      <a:pPr algn="l" fontAlgn="t"/>
                      <a:r>
                        <a:rPr lang="en-IN">
                          <a:solidFill>
                            <a:srgbClr val="000000"/>
                          </a:solidFill>
                          <a:effectLst/>
                        </a:rPr>
                        <a:t>EMP_ID</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EMP_DEPT</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251320047"/>
                  </a:ext>
                </a:extLst>
              </a:tr>
              <a:tr h="0">
                <a:tc>
                  <a:txBody>
                    <a:bodyPr/>
                    <a:lstStyle/>
                    <a:p>
                      <a:pPr algn="just" fontAlgn="t"/>
                      <a:r>
                        <a:rPr lang="en-IN" dirty="0">
                          <a:solidFill>
                            <a:srgbClr val="333333"/>
                          </a:solidFill>
                          <a:effectLst/>
                        </a:rPr>
                        <a:t>D394</a:t>
                      </a:r>
                      <a:endParaRPr lang="en-IN" dirty="0">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283</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572715984"/>
                  </a:ext>
                </a:extLst>
              </a:tr>
              <a:tr h="0">
                <a:tc>
                  <a:txBody>
                    <a:bodyPr/>
                    <a:lstStyle/>
                    <a:p>
                      <a:pPr algn="just" fontAlgn="t"/>
                      <a:r>
                        <a:rPr lang="en-IN">
                          <a:solidFill>
                            <a:srgbClr val="333333"/>
                          </a:solidFill>
                          <a:effectLst/>
                        </a:rPr>
                        <a:t>D394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300</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408364638"/>
                  </a:ext>
                </a:extLst>
              </a:tr>
              <a:tr h="0">
                <a:tc>
                  <a:txBody>
                    <a:bodyPr/>
                    <a:lstStyle/>
                    <a:p>
                      <a:pPr algn="just" fontAlgn="t"/>
                      <a:r>
                        <a:rPr lang="en-IN">
                          <a:solidFill>
                            <a:srgbClr val="333333"/>
                          </a:solidFill>
                          <a:effectLst/>
                        </a:rPr>
                        <a:t>D283</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232</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214405074"/>
                  </a:ext>
                </a:extLst>
              </a:tr>
              <a:tr h="0">
                <a:tc>
                  <a:txBody>
                    <a:bodyPr/>
                    <a:lstStyle/>
                    <a:p>
                      <a:pPr algn="just" fontAlgn="t"/>
                      <a:r>
                        <a:rPr lang="en-IN">
                          <a:solidFill>
                            <a:srgbClr val="333333"/>
                          </a:solidFill>
                          <a:effectLst/>
                        </a:rPr>
                        <a:t>D283</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549</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96712027"/>
                  </a:ext>
                </a:extLst>
              </a:tr>
            </a:tbl>
          </a:graphicData>
        </a:graphic>
      </p:graphicFrame>
      <p:sp>
        <p:nvSpPr>
          <p:cNvPr id="7" name="Rectangle 1">
            <a:extLst>
              <a:ext uri="{FF2B5EF4-FFF2-40B4-BE49-F238E27FC236}">
                <a16:creationId xmlns:a16="http://schemas.microsoft.com/office/drawing/2014/main" id="{47A39AE4-38C0-6C2F-0381-D9319F194F89}"/>
              </a:ext>
            </a:extLst>
          </p:cNvPr>
          <p:cNvSpPr>
            <a:spLocks noChangeArrowheads="1"/>
          </p:cNvSpPr>
          <p:nvPr/>
        </p:nvSpPr>
        <p:spPr bwMode="auto">
          <a:xfrm>
            <a:off x="6517065" y="186453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EC48FAE-C261-45AD-D0FD-E899816019C6}"/>
              </a:ext>
            </a:extLst>
          </p:cNvPr>
          <p:cNvSpPr txBox="1"/>
          <p:nvPr/>
        </p:nvSpPr>
        <p:spPr>
          <a:xfrm>
            <a:off x="5888761" y="3230583"/>
            <a:ext cx="5565302" cy="2585323"/>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Functional dependencies:</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000000"/>
                </a:solidFill>
                <a:effectLst/>
                <a:latin typeface="inter-regular"/>
              </a:rPr>
              <a:t>EMP_ID   →    EMP_COUNTRY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rgbClr val="000000"/>
                </a:solidFill>
                <a:effectLst/>
                <a:latin typeface="inter-regular"/>
              </a:rPr>
              <a:t>EMP_DEPT   →   {DEPT_TYPE, EMP_DEPT_NO}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endParaRPr lang="en-US" altLang="en-US" dirty="0">
              <a:solidFill>
                <a:srgbClr val="000000"/>
              </a:solidFill>
              <a:latin typeface="inter-regular"/>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0" i="0" u="none" strike="noStrike" cap="none" normalizeH="0" baseline="0" dirty="0">
              <a:ln>
                <a:noFill/>
              </a:ln>
              <a:solidFill>
                <a:srgbClr val="333333"/>
              </a:solidFill>
              <a:effectLst/>
              <a:latin typeface="inter-regular"/>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Candidate keys:</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For the first table:</a:t>
            </a:r>
            <a:r>
              <a:rPr kumimoji="0" lang="en-US" altLang="en-US" sz="1800" b="0" i="0" u="none" strike="noStrike" cap="none" normalizeH="0" baseline="0" dirty="0">
                <a:ln>
                  <a:noFill/>
                </a:ln>
                <a:solidFill>
                  <a:srgbClr val="333333"/>
                </a:solidFill>
                <a:effectLst/>
                <a:latin typeface="inter-regular"/>
              </a:rPr>
              <a:t> EMP_ID</a:t>
            </a:r>
            <a:br>
              <a:rPr kumimoji="0" lang="en-US" altLang="en-US" sz="1800" b="0" i="0" u="none" strike="noStrike" cap="none" normalizeH="0" baseline="0" dirty="0">
                <a:ln>
                  <a:noFill/>
                </a:ln>
                <a:solidFill>
                  <a:srgbClr val="333333"/>
                </a:solidFill>
                <a:effectLst/>
                <a:latin typeface="inter-regular"/>
              </a:rPr>
            </a:br>
            <a:r>
              <a:rPr kumimoji="0" lang="en-US" altLang="en-US" sz="1800" b="1" i="0" u="none" strike="noStrike" cap="none" normalizeH="0" baseline="0" dirty="0">
                <a:ln>
                  <a:noFill/>
                </a:ln>
                <a:solidFill>
                  <a:srgbClr val="333333"/>
                </a:solidFill>
                <a:effectLst/>
                <a:latin typeface="inter-bold"/>
              </a:rPr>
              <a:t>For the second table:</a:t>
            </a:r>
            <a:r>
              <a:rPr kumimoji="0" lang="en-US" altLang="en-US" sz="1800" b="0" i="0" u="none" strike="noStrike" cap="none" normalizeH="0" baseline="0" dirty="0">
                <a:ln>
                  <a:noFill/>
                </a:ln>
                <a:solidFill>
                  <a:srgbClr val="333333"/>
                </a:solidFill>
                <a:effectLst/>
                <a:latin typeface="inter-regular"/>
              </a:rPr>
              <a:t> EMP_DEPT</a:t>
            </a:r>
            <a:br>
              <a:rPr kumimoji="0" lang="en-US" altLang="en-US" sz="1800" b="0" i="0" u="none" strike="noStrike" cap="none" normalizeH="0" baseline="0" dirty="0">
                <a:ln>
                  <a:noFill/>
                </a:ln>
                <a:solidFill>
                  <a:srgbClr val="333333"/>
                </a:solidFill>
                <a:effectLst/>
                <a:latin typeface="inter-regular"/>
              </a:rPr>
            </a:br>
            <a:r>
              <a:rPr kumimoji="0" lang="en-US" altLang="en-US" sz="1800" b="1" i="0" u="none" strike="noStrike" cap="none" normalizeH="0" baseline="0" dirty="0">
                <a:ln>
                  <a:noFill/>
                </a:ln>
                <a:solidFill>
                  <a:srgbClr val="333333"/>
                </a:solidFill>
                <a:effectLst/>
                <a:latin typeface="inter-bold"/>
              </a:rPr>
              <a:t>For the third table:</a:t>
            </a:r>
            <a:r>
              <a:rPr kumimoji="0" lang="en-US" altLang="en-US" sz="1800" b="0" i="0" u="none" strike="noStrike" cap="none" normalizeH="0" baseline="0" dirty="0">
                <a:ln>
                  <a:noFill/>
                </a:ln>
                <a:solidFill>
                  <a:srgbClr val="333333"/>
                </a:solidFill>
                <a:effectLst/>
                <a:latin typeface="inter-regular"/>
              </a:rPr>
              <a:t> {EMP_ID, EMP_DEPT}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784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5D5335-ED26-2B6B-314E-9BB1412C7983}"/>
              </a:ext>
            </a:extLst>
          </p:cNvPr>
          <p:cNvSpPr txBox="1"/>
          <p:nvPr/>
        </p:nvSpPr>
        <p:spPr>
          <a:xfrm>
            <a:off x="4436806" y="152851"/>
            <a:ext cx="6100916" cy="923330"/>
          </a:xfrm>
          <a:prstGeom prst="rect">
            <a:avLst/>
          </a:prstGeom>
          <a:noFill/>
        </p:spPr>
        <p:txBody>
          <a:bodyPr wrap="square">
            <a:spAutoFit/>
          </a:bodyPr>
          <a:lstStyle/>
          <a:p>
            <a:pPr algn="just"/>
            <a:r>
              <a:rPr lang="en-IN" b="0" i="0" dirty="0">
                <a:solidFill>
                  <a:srgbClr val="610B38"/>
                </a:solidFill>
                <a:effectLst/>
                <a:latin typeface="erdana"/>
              </a:rPr>
              <a:t>Fourth normal form (4NF)</a:t>
            </a:r>
          </a:p>
          <a:p>
            <a:br>
              <a:rPr lang="en-IN" b="0" i="0" dirty="0">
                <a:solidFill>
                  <a:srgbClr val="333333"/>
                </a:solidFill>
                <a:effectLst/>
                <a:latin typeface="inter-regular"/>
              </a:rPr>
            </a:br>
            <a:endParaRPr lang="en-IN" dirty="0"/>
          </a:p>
        </p:txBody>
      </p:sp>
      <p:sp>
        <p:nvSpPr>
          <p:cNvPr id="5" name="TextBox 4">
            <a:extLst>
              <a:ext uri="{FF2B5EF4-FFF2-40B4-BE49-F238E27FC236}">
                <a16:creationId xmlns:a16="http://schemas.microsoft.com/office/drawing/2014/main" id="{04878B94-8CAA-D4FC-47CF-B4D95331D04F}"/>
              </a:ext>
            </a:extLst>
          </p:cNvPr>
          <p:cNvSpPr txBox="1"/>
          <p:nvPr/>
        </p:nvSpPr>
        <p:spPr>
          <a:xfrm>
            <a:off x="995516" y="614516"/>
            <a:ext cx="9210368" cy="923330"/>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A relation will be in 4NF if it is in Boyce Codd normal form and has no multi-valued dependency.</a:t>
            </a:r>
          </a:p>
          <a:p>
            <a:pPr algn="just">
              <a:buFont typeface="Arial" panose="020B0604020202020204" pitchFamily="34" charset="0"/>
              <a:buChar char="•"/>
            </a:pPr>
            <a:r>
              <a:rPr lang="en-US" b="0" i="0" dirty="0">
                <a:solidFill>
                  <a:srgbClr val="000000"/>
                </a:solidFill>
                <a:effectLst/>
                <a:latin typeface="inter-regular"/>
              </a:rPr>
              <a:t>For a dependency A → B, if for a single value of A, multiple values of B exists, then the relation will be a multi-valued dependency.</a:t>
            </a:r>
          </a:p>
        </p:txBody>
      </p:sp>
      <p:graphicFrame>
        <p:nvGraphicFramePr>
          <p:cNvPr id="5122" name="Table 5121">
            <a:extLst>
              <a:ext uri="{FF2B5EF4-FFF2-40B4-BE49-F238E27FC236}">
                <a16:creationId xmlns:a16="http://schemas.microsoft.com/office/drawing/2014/main" id="{BB61B43F-B6CA-8C35-08AD-224379D390F3}"/>
              </a:ext>
            </a:extLst>
          </p:cNvPr>
          <p:cNvGraphicFramePr>
            <a:graphicFrameLocks noGrp="1"/>
          </p:cNvGraphicFramePr>
          <p:nvPr>
            <p:extLst>
              <p:ext uri="{D42A27DB-BD31-4B8C-83A1-F6EECF244321}">
                <p14:modId xmlns:p14="http://schemas.microsoft.com/office/powerpoint/2010/main" val="3870615278"/>
              </p:ext>
            </p:extLst>
          </p:nvPr>
        </p:nvGraphicFramePr>
        <p:xfrm>
          <a:off x="3330551" y="3789471"/>
          <a:ext cx="5999226" cy="2636520"/>
        </p:xfrm>
        <a:graphic>
          <a:graphicData uri="http://schemas.openxmlformats.org/drawingml/2006/table">
            <a:tbl>
              <a:tblPr>
                <a:tableStyleId>{08FB837D-C827-4EFA-A057-4D05807E0F7C}</a:tableStyleId>
              </a:tblPr>
              <a:tblGrid>
                <a:gridCol w="1999742">
                  <a:extLst>
                    <a:ext uri="{9D8B030D-6E8A-4147-A177-3AD203B41FA5}">
                      <a16:colId xmlns:a16="http://schemas.microsoft.com/office/drawing/2014/main" val="2303231641"/>
                    </a:ext>
                  </a:extLst>
                </a:gridCol>
                <a:gridCol w="1999742">
                  <a:extLst>
                    <a:ext uri="{9D8B030D-6E8A-4147-A177-3AD203B41FA5}">
                      <a16:colId xmlns:a16="http://schemas.microsoft.com/office/drawing/2014/main" val="841765336"/>
                    </a:ext>
                  </a:extLst>
                </a:gridCol>
                <a:gridCol w="1999742">
                  <a:extLst>
                    <a:ext uri="{9D8B030D-6E8A-4147-A177-3AD203B41FA5}">
                      <a16:colId xmlns:a16="http://schemas.microsoft.com/office/drawing/2014/main" val="1986536577"/>
                    </a:ext>
                  </a:extLst>
                </a:gridCol>
              </a:tblGrid>
              <a:tr h="0">
                <a:tc>
                  <a:txBody>
                    <a:bodyPr/>
                    <a:lstStyle/>
                    <a:p>
                      <a:pPr algn="l" fontAlgn="t"/>
                      <a:r>
                        <a:rPr lang="en-IN">
                          <a:solidFill>
                            <a:srgbClr val="000000"/>
                          </a:solidFill>
                          <a:effectLst/>
                        </a:rPr>
                        <a:t>STU_ID</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COURSE</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HOBBY</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1679735862"/>
                  </a:ext>
                </a:extLst>
              </a:tr>
              <a:tr h="0">
                <a:tc>
                  <a:txBody>
                    <a:bodyPr/>
                    <a:lstStyle/>
                    <a:p>
                      <a:pPr algn="just" fontAlgn="t"/>
                      <a:r>
                        <a:rPr lang="en-IN">
                          <a:solidFill>
                            <a:srgbClr val="333333"/>
                          </a:solidFill>
                          <a:effectLst/>
                        </a:rPr>
                        <a:t>21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Dancing</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620031009"/>
                  </a:ext>
                </a:extLst>
              </a:tr>
              <a:tr h="0">
                <a:tc>
                  <a:txBody>
                    <a:bodyPr/>
                    <a:lstStyle/>
                    <a:p>
                      <a:pPr algn="just" fontAlgn="t"/>
                      <a:r>
                        <a:rPr lang="en-IN">
                          <a:solidFill>
                            <a:srgbClr val="333333"/>
                          </a:solidFill>
                          <a:effectLst/>
                        </a:rPr>
                        <a:t>21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Math</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Singing</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088936176"/>
                  </a:ext>
                </a:extLst>
              </a:tr>
              <a:tr h="0">
                <a:tc>
                  <a:txBody>
                    <a:bodyPr/>
                    <a:lstStyle/>
                    <a:p>
                      <a:pPr algn="just" fontAlgn="t"/>
                      <a:r>
                        <a:rPr lang="en-IN">
                          <a:solidFill>
                            <a:srgbClr val="333333"/>
                          </a:solidFill>
                          <a:effectLst/>
                        </a:rPr>
                        <a:t>34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Chemistry</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Dancing</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300977164"/>
                  </a:ext>
                </a:extLst>
              </a:tr>
              <a:tr h="0">
                <a:tc>
                  <a:txBody>
                    <a:bodyPr/>
                    <a:lstStyle/>
                    <a:p>
                      <a:pPr algn="just" fontAlgn="t"/>
                      <a:r>
                        <a:rPr lang="en-IN">
                          <a:solidFill>
                            <a:srgbClr val="333333"/>
                          </a:solidFill>
                          <a:effectLst/>
                        </a:rPr>
                        <a:t>74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Biology</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Cricket</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434666676"/>
                  </a:ext>
                </a:extLst>
              </a:tr>
              <a:tr h="0">
                <a:tc>
                  <a:txBody>
                    <a:bodyPr/>
                    <a:lstStyle/>
                    <a:p>
                      <a:pPr algn="just" fontAlgn="t"/>
                      <a:r>
                        <a:rPr lang="en-IN">
                          <a:solidFill>
                            <a:srgbClr val="333333"/>
                          </a:solidFill>
                          <a:effectLst/>
                        </a:rPr>
                        <a:t>59</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Physics</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Hockey</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797547156"/>
                  </a:ext>
                </a:extLst>
              </a:tr>
            </a:tbl>
          </a:graphicData>
        </a:graphic>
      </p:graphicFrame>
      <p:sp>
        <p:nvSpPr>
          <p:cNvPr id="5126" name="TextBox 5125">
            <a:extLst>
              <a:ext uri="{FF2B5EF4-FFF2-40B4-BE49-F238E27FC236}">
                <a16:creationId xmlns:a16="http://schemas.microsoft.com/office/drawing/2014/main" id="{127EA746-4ED7-5353-B13D-0ECA174363E7}"/>
              </a:ext>
            </a:extLst>
          </p:cNvPr>
          <p:cNvSpPr txBox="1"/>
          <p:nvPr/>
        </p:nvSpPr>
        <p:spPr>
          <a:xfrm>
            <a:off x="995516" y="1786495"/>
            <a:ext cx="8662736" cy="1754326"/>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STUDENT</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33333"/>
                </a:solidFill>
                <a:effectLst/>
                <a:latin typeface="inter-regular"/>
              </a:rPr>
              <a:t>The given STUDENT table is in 3NF, but the COURSE and HOBBY are two independent entity. Hence, there is no relationship between COURSE and HOBBY.</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33333"/>
                </a:solidFill>
                <a:effectLst/>
                <a:latin typeface="inter-regular"/>
              </a:rPr>
              <a:t>In the STUDENT relation, a student with STU_ID, </a:t>
            </a:r>
            <a:r>
              <a:rPr kumimoji="0" lang="en-US" altLang="en-US" sz="1800" b="1" i="0" u="none" strike="noStrike" cap="none" normalizeH="0" baseline="0" dirty="0">
                <a:ln>
                  <a:noFill/>
                </a:ln>
                <a:solidFill>
                  <a:srgbClr val="333333"/>
                </a:solidFill>
                <a:effectLst/>
                <a:latin typeface="inter-bold"/>
              </a:rPr>
              <a:t>21</a:t>
            </a:r>
            <a:r>
              <a:rPr kumimoji="0" lang="en-US" altLang="en-US" sz="1800" b="0" i="0" u="none" strike="noStrike" cap="none" normalizeH="0" baseline="0" dirty="0">
                <a:ln>
                  <a:noFill/>
                </a:ln>
                <a:solidFill>
                  <a:srgbClr val="333333"/>
                </a:solidFill>
                <a:effectLst/>
                <a:latin typeface="inter-regular"/>
              </a:rPr>
              <a:t> contains two courses, </a:t>
            </a:r>
            <a:r>
              <a:rPr kumimoji="0" lang="en-US" altLang="en-US" sz="1800" b="1" i="0" u="none" strike="noStrike" cap="none" normalizeH="0" baseline="0" dirty="0">
                <a:ln>
                  <a:noFill/>
                </a:ln>
                <a:solidFill>
                  <a:srgbClr val="333333"/>
                </a:solidFill>
                <a:effectLst/>
                <a:latin typeface="inter-bold"/>
              </a:rPr>
              <a:t>Computer</a:t>
            </a:r>
            <a:r>
              <a:rPr kumimoji="0" lang="en-US" altLang="en-US" sz="1800" b="0" i="0" u="none" strike="noStrike" cap="none" normalizeH="0" baseline="0" dirty="0">
                <a:ln>
                  <a:noFill/>
                </a:ln>
                <a:solidFill>
                  <a:srgbClr val="333333"/>
                </a:solidFill>
                <a:effectLst/>
                <a:latin typeface="inter-regular"/>
              </a:rPr>
              <a:t> and </a:t>
            </a:r>
            <a:r>
              <a:rPr kumimoji="0" lang="en-US" altLang="en-US" sz="1800" b="1" i="0" u="none" strike="noStrike" cap="none" normalizeH="0" baseline="0" dirty="0">
                <a:ln>
                  <a:noFill/>
                </a:ln>
                <a:solidFill>
                  <a:srgbClr val="333333"/>
                </a:solidFill>
                <a:effectLst/>
                <a:latin typeface="inter-bold"/>
              </a:rPr>
              <a:t>Math</a:t>
            </a:r>
            <a:r>
              <a:rPr kumimoji="0" lang="en-US" altLang="en-US" sz="1800" b="0" i="0" u="none" strike="noStrike" cap="none" normalizeH="0" baseline="0" dirty="0">
                <a:ln>
                  <a:noFill/>
                </a:ln>
                <a:solidFill>
                  <a:srgbClr val="333333"/>
                </a:solidFill>
                <a:effectLst/>
                <a:latin typeface="inter-regular"/>
              </a:rPr>
              <a:t> and two hobbies, </a:t>
            </a:r>
            <a:r>
              <a:rPr kumimoji="0" lang="en-US" altLang="en-US" sz="1800" b="1" i="0" u="none" strike="noStrike" cap="none" normalizeH="0" baseline="0" dirty="0">
                <a:ln>
                  <a:noFill/>
                </a:ln>
                <a:solidFill>
                  <a:srgbClr val="333333"/>
                </a:solidFill>
                <a:effectLst/>
                <a:latin typeface="inter-bold"/>
              </a:rPr>
              <a:t>Dancing</a:t>
            </a:r>
            <a:r>
              <a:rPr kumimoji="0" lang="en-US" altLang="en-US" sz="1800" b="0" i="0" u="none" strike="noStrike" cap="none" normalizeH="0" baseline="0" dirty="0">
                <a:ln>
                  <a:noFill/>
                </a:ln>
                <a:solidFill>
                  <a:srgbClr val="333333"/>
                </a:solidFill>
                <a:effectLst/>
                <a:latin typeface="inter-regular"/>
              </a:rPr>
              <a:t> and </a:t>
            </a:r>
            <a:r>
              <a:rPr kumimoji="0" lang="en-US" altLang="en-US" sz="1800" b="1" i="0" u="none" strike="noStrike" cap="none" normalizeH="0" baseline="0" dirty="0">
                <a:ln>
                  <a:noFill/>
                </a:ln>
                <a:solidFill>
                  <a:srgbClr val="333333"/>
                </a:solidFill>
                <a:effectLst/>
                <a:latin typeface="inter-bold"/>
              </a:rPr>
              <a:t>Singing</a:t>
            </a:r>
            <a:r>
              <a:rPr kumimoji="0" lang="en-US" altLang="en-US" sz="1800" b="0" i="0" u="none" strike="noStrike" cap="none" normalizeH="0" baseline="0" dirty="0">
                <a:ln>
                  <a:noFill/>
                </a:ln>
                <a:solidFill>
                  <a:srgbClr val="333333"/>
                </a:solidFill>
                <a:effectLst/>
                <a:latin typeface="inter-regular"/>
              </a:rPr>
              <a:t>. So there is a Multi-valued dependency on STU_ID, which leads to unnecessary repetition of data.</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650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B244BF6-63C2-A3E6-EE31-8240A7C42DA4}"/>
              </a:ext>
            </a:extLst>
          </p:cNvPr>
          <p:cNvGraphicFramePr>
            <a:graphicFrameLocks noGrp="1"/>
          </p:cNvGraphicFramePr>
          <p:nvPr>
            <p:extLst>
              <p:ext uri="{D42A27DB-BD31-4B8C-83A1-F6EECF244321}">
                <p14:modId xmlns:p14="http://schemas.microsoft.com/office/powerpoint/2010/main" val="1465761455"/>
              </p:ext>
            </p:extLst>
          </p:nvPr>
        </p:nvGraphicFramePr>
        <p:xfrm>
          <a:off x="480853" y="2466459"/>
          <a:ext cx="4858064" cy="2636520"/>
        </p:xfrm>
        <a:graphic>
          <a:graphicData uri="http://schemas.openxmlformats.org/drawingml/2006/table">
            <a:tbl>
              <a:tblPr>
                <a:tableStyleId>{35758FB7-9AC5-4552-8A53-C91805E547FA}</a:tableStyleId>
              </a:tblPr>
              <a:tblGrid>
                <a:gridCol w="2429032">
                  <a:extLst>
                    <a:ext uri="{9D8B030D-6E8A-4147-A177-3AD203B41FA5}">
                      <a16:colId xmlns:a16="http://schemas.microsoft.com/office/drawing/2014/main" val="1918785352"/>
                    </a:ext>
                  </a:extLst>
                </a:gridCol>
                <a:gridCol w="2429032">
                  <a:extLst>
                    <a:ext uri="{9D8B030D-6E8A-4147-A177-3AD203B41FA5}">
                      <a16:colId xmlns:a16="http://schemas.microsoft.com/office/drawing/2014/main" val="1999482979"/>
                    </a:ext>
                  </a:extLst>
                </a:gridCol>
              </a:tblGrid>
              <a:tr h="0">
                <a:tc>
                  <a:txBody>
                    <a:bodyPr/>
                    <a:lstStyle/>
                    <a:p>
                      <a:pPr algn="l" fontAlgn="t"/>
                      <a:r>
                        <a:rPr lang="en-IN">
                          <a:solidFill>
                            <a:srgbClr val="000000"/>
                          </a:solidFill>
                          <a:effectLst/>
                        </a:rPr>
                        <a:t>STU_ID</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COURSE</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2324574220"/>
                  </a:ext>
                </a:extLst>
              </a:tr>
              <a:tr h="0">
                <a:tc>
                  <a:txBody>
                    <a:bodyPr/>
                    <a:lstStyle/>
                    <a:p>
                      <a:pPr algn="just" fontAlgn="t"/>
                      <a:r>
                        <a:rPr lang="en-IN">
                          <a:solidFill>
                            <a:srgbClr val="333333"/>
                          </a:solidFill>
                          <a:effectLst/>
                        </a:rPr>
                        <a:t>21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458365772"/>
                  </a:ext>
                </a:extLst>
              </a:tr>
              <a:tr h="0">
                <a:tc>
                  <a:txBody>
                    <a:bodyPr/>
                    <a:lstStyle/>
                    <a:p>
                      <a:pPr algn="just" fontAlgn="t"/>
                      <a:r>
                        <a:rPr lang="en-IN">
                          <a:solidFill>
                            <a:srgbClr val="333333"/>
                          </a:solidFill>
                          <a:effectLst/>
                        </a:rPr>
                        <a:t>21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Math</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027669695"/>
                  </a:ext>
                </a:extLst>
              </a:tr>
              <a:tr h="0">
                <a:tc>
                  <a:txBody>
                    <a:bodyPr/>
                    <a:lstStyle/>
                    <a:p>
                      <a:pPr algn="just" fontAlgn="t"/>
                      <a:r>
                        <a:rPr lang="en-IN">
                          <a:solidFill>
                            <a:srgbClr val="333333"/>
                          </a:solidFill>
                          <a:effectLst/>
                        </a:rPr>
                        <a:t>34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Chemistry</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99214537"/>
                  </a:ext>
                </a:extLst>
              </a:tr>
              <a:tr h="0">
                <a:tc>
                  <a:txBody>
                    <a:bodyPr/>
                    <a:lstStyle/>
                    <a:p>
                      <a:pPr algn="just" fontAlgn="t"/>
                      <a:r>
                        <a:rPr lang="en-IN">
                          <a:solidFill>
                            <a:srgbClr val="333333"/>
                          </a:solidFill>
                          <a:effectLst/>
                        </a:rPr>
                        <a:t>74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Biology</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560043208"/>
                  </a:ext>
                </a:extLst>
              </a:tr>
              <a:tr h="0">
                <a:tc>
                  <a:txBody>
                    <a:bodyPr/>
                    <a:lstStyle/>
                    <a:p>
                      <a:pPr algn="just" fontAlgn="t"/>
                      <a:r>
                        <a:rPr lang="en-IN">
                          <a:solidFill>
                            <a:srgbClr val="333333"/>
                          </a:solidFill>
                          <a:effectLst/>
                        </a:rPr>
                        <a:t>59</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Physics</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1507210987"/>
                  </a:ext>
                </a:extLst>
              </a:tr>
            </a:tbl>
          </a:graphicData>
        </a:graphic>
      </p:graphicFrame>
      <p:graphicFrame>
        <p:nvGraphicFramePr>
          <p:cNvPr id="3" name="Table 2">
            <a:extLst>
              <a:ext uri="{FF2B5EF4-FFF2-40B4-BE49-F238E27FC236}">
                <a16:creationId xmlns:a16="http://schemas.microsoft.com/office/drawing/2014/main" id="{A76D3431-7723-BF8D-5A1E-6878AF30BA52}"/>
              </a:ext>
            </a:extLst>
          </p:cNvPr>
          <p:cNvGraphicFramePr>
            <a:graphicFrameLocks noGrp="1"/>
          </p:cNvGraphicFramePr>
          <p:nvPr>
            <p:extLst>
              <p:ext uri="{D42A27DB-BD31-4B8C-83A1-F6EECF244321}">
                <p14:modId xmlns:p14="http://schemas.microsoft.com/office/powerpoint/2010/main" val="1335640130"/>
              </p:ext>
            </p:extLst>
          </p:nvPr>
        </p:nvGraphicFramePr>
        <p:xfrm>
          <a:off x="6467168" y="1517531"/>
          <a:ext cx="4422058" cy="2636520"/>
        </p:xfrm>
        <a:graphic>
          <a:graphicData uri="http://schemas.openxmlformats.org/drawingml/2006/table">
            <a:tbl>
              <a:tblPr>
                <a:tableStyleId>{284E427A-3D55-4303-BF80-6455036E1DE7}</a:tableStyleId>
              </a:tblPr>
              <a:tblGrid>
                <a:gridCol w="2211029">
                  <a:extLst>
                    <a:ext uri="{9D8B030D-6E8A-4147-A177-3AD203B41FA5}">
                      <a16:colId xmlns:a16="http://schemas.microsoft.com/office/drawing/2014/main" val="2323691613"/>
                    </a:ext>
                  </a:extLst>
                </a:gridCol>
                <a:gridCol w="2211029">
                  <a:extLst>
                    <a:ext uri="{9D8B030D-6E8A-4147-A177-3AD203B41FA5}">
                      <a16:colId xmlns:a16="http://schemas.microsoft.com/office/drawing/2014/main" val="1121990280"/>
                    </a:ext>
                  </a:extLst>
                </a:gridCol>
              </a:tblGrid>
              <a:tr h="0">
                <a:tc>
                  <a:txBody>
                    <a:bodyPr/>
                    <a:lstStyle/>
                    <a:p>
                      <a:pPr algn="l" fontAlgn="t"/>
                      <a:r>
                        <a:rPr lang="en-IN" dirty="0">
                          <a:solidFill>
                            <a:srgbClr val="000000"/>
                          </a:solidFill>
                          <a:effectLst/>
                        </a:rPr>
                        <a:t>STU_ID</a:t>
                      </a:r>
                      <a:endParaRPr lang="en-IN" dirty="0">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HOBBY</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2292770478"/>
                  </a:ext>
                </a:extLst>
              </a:tr>
              <a:tr h="0">
                <a:tc>
                  <a:txBody>
                    <a:bodyPr/>
                    <a:lstStyle/>
                    <a:p>
                      <a:pPr algn="just" fontAlgn="t"/>
                      <a:r>
                        <a:rPr lang="en-IN">
                          <a:solidFill>
                            <a:srgbClr val="333333"/>
                          </a:solidFill>
                          <a:effectLst/>
                        </a:rPr>
                        <a:t>21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Dancing</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213560491"/>
                  </a:ext>
                </a:extLst>
              </a:tr>
              <a:tr h="0">
                <a:tc>
                  <a:txBody>
                    <a:bodyPr/>
                    <a:lstStyle/>
                    <a:p>
                      <a:pPr algn="just" fontAlgn="t"/>
                      <a:r>
                        <a:rPr lang="en-IN">
                          <a:solidFill>
                            <a:srgbClr val="333333"/>
                          </a:solidFill>
                          <a:effectLst/>
                        </a:rPr>
                        <a:t>21</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Singing</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570619667"/>
                  </a:ext>
                </a:extLst>
              </a:tr>
              <a:tr h="0">
                <a:tc>
                  <a:txBody>
                    <a:bodyPr/>
                    <a:lstStyle/>
                    <a:p>
                      <a:pPr algn="just" fontAlgn="t"/>
                      <a:r>
                        <a:rPr lang="en-IN">
                          <a:solidFill>
                            <a:srgbClr val="333333"/>
                          </a:solidFill>
                          <a:effectLst/>
                        </a:rPr>
                        <a:t>34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Dancing</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084584965"/>
                  </a:ext>
                </a:extLst>
              </a:tr>
              <a:tr h="0">
                <a:tc>
                  <a:txBody>
                    <a:bodyPr/>
                    <a:lstStyle/>
                    <a:p>
                      <a:pPr algn="just" fontAlgn="t"/>
                      <a:r>
                        <a:rPr lang="en-IN">
                          <a:solidFill>
                            <a:srgbClr val="333333"/>
                          </a:solidFill>
                          <a:effectLst/>
                        </a:rPr>
                        <a:t>74</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Cricket</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3603905106"/>
                  </a:ext>
                </a:extLst>
              </a:tr>
              <a:tr h="0">
                <a:tc>
                  <a:txBody>
                    <a:bodyPr/>
                    <a:lstStyle/>
                    <a:p>
                      <a:pPr algn="just" fontAlgn="t"/>
                      <a:r>
                        <a:rPr lang="en-IN">
                          <a:solidFill>
                            <a:srgbClr val="333333"/>
                          </a:solidFill>
                          <a:effectLst/>
                        </a:rPr>
                        <a:t>59</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Hockey</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144737956"/>
                  </a:ext>
                </a:extLst>
              </a:tr>
            </a:tbl>
          </a:graphicData>
        </a:graphic>
      </p:graphicFrame>
      <p:sp>
        <p:nvSpPr>
          <p:cNvPr id="6" name="TextBox 5">
            <a:extLst>
              <a:ext uri="{FF2B5EF4-FFF2-40B4-BE49-F238E27FC236}">
                <a16:creationId xmlns:a16="http://schemas.microsoft.com/office/drawing/2014/main" id="{EA1B0FDF-67C1-BE75-22D6-40B3E9E07242}"/>
              </a:ext>
            </a:extLst>
          </p:cNvPr>
          <p:cNvSpPr txBox="1"/>
          <p:nvPr/>
        </p:nvSpPr>
        <p:spPr>
          <a:xfrm>
            <a:off x="480853" y="2004794"/>
            <a:ext cx="6100916"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STUDENT_COURSE</a:t>
            </a:r>
            <a:endParaRPr kumimoji="0" lang="en-US" altLang="en-US" sz="1050" b="0"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97C3094A-EB15-A92C-80C8-9EAB7A217804}"/>
              </a:ext>
            </a:extLst>
          </p:cNvPr>
          <p:cNvSpPr txBox="1"/>
          <p:nvPr/>
        </p:nvSpPr>
        <p:spPr>
          <a:xfrm>
            <a:off x="6390695" y="976332"/>
            <a:ext cx="6100916"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33333"/>
                </a:solidFill>
                <a:effectLst/>
                <a:latin typeface="inter-bold"/>
              </a:rPr>
              <a:t>STUDENT_HOBBY</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02503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73415B-199D-3B10-51C0-1DB2EF3900A8}"/>
              </a:ext>
            </a:extLst>
          </p:cNvPr>
          <p:cNvSpPr txBox="1"/>
          <p:nvPr/>
        </p:nvSpPr>
        <p:spPr>
          <a:xfrm>
            <a:off x="4594122" y="223372"/>
            <a:ext cx="6100916" cy="369332"/>
          </a:xfrm>
          <a:prstGeom prst="rect">
            <a:avLst/>
          </a:prstGeom>
          <a:noFill/>
        </p:spPr>
        <p:txBody>
          <a:bodyPr wrap="square">
            <a:spAutoFit/>
          </a:bodyPr>
          <a:lstStyle/>
          <a:p>
            <a:pPr algn="just"/>
            <a:r>
              <a:rPr lang="en-IN" b="0" i="0" dirty="0">
                <a:solidFill>
                  <a:srgbClr val="610B38"/>
                </a:solidFill>
                <a:effectLst/>
                <a:latin typeface="erdana"/>
              </a:rPr>
              <a:t>Fifth normal form (5NF)</a:t>
            </a:r>
          </a:p>
        </p:txBody>
      </p:sp>
      <p:sp>
        <p:nvSpPr>
          <p:cNvPr id="5" name="TextBox 4">
            <a:extLst>
              <a:ext uri="{FF2B5EF4-FFF2-40B4-BE49-F238E27FC236}">
                <a16:creationId xmlns:a16="http://schemas.microsoft.com/office/drawing/2014/main" id="{D31BA283-ABB8-11BE-FEF6-99381DE48F41}"/>
              </a:ext>
            </a:extLst>
          </p:cNvPr>
          <p:cNvSpPr txBox="1"/>
          <p:nvPr/>
        </p:nvSpPr>
        <p:spPr>
          <a:xfrm>
            <a:off x="798897" y="695500"/>
            <a:ext cx="11078678" cy="923330"/>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A relation is in 5NF if it is in 4NF and not contains any join dependency and joining should be lossless.</a:t>
            </a:r>
          </a:p>
          <a:p>
            <a:pPr algn="just">
              <a:buFont typeface="Arial" panose="020B0604020202020204" pitchFamily="34" charset="0"/>
              <a:buChar char="•"/>
            </a:pPr>
            <a:r>
              <a:rPr lang="en-US" b="0" i="0" dirty="0">
                <a:solidFill>
                  <a:srgbClr val="000000"/>
                </a:solidFill>
                <a:effectLst/>
                <a:latin typeface="inter-regular"/>
              </a:rPr>
              <a:t>5NF is satisfied when all the tables are broken into as many tables as possible in order to avoid redundancy.</a:t>
            </a:r>
          </a:p>
          <a:p>
            <a:pPr algn="just">
              <a:buFont typeface="Arial" panose="020B0604020202020204" pitchFamily="34" charset="0"/>
              <a:buChar char="•"/>
            </a:pPr>
            <a:r>
              <a:rPr lang="en-US" b="0" i="0" dirty="0">
                <a:solidFill>
                  <a:srgbClr val="000000"/>
                </a:solidFill>
                <a:effectLst/>
                <a:latin typeface="inter-regular"/>
              </a:rPr>
              <a:t>5NF is also known as Project-join normal form (PJ/NF).</a:t>
            </a:r>
          </a:p>
        </p:txBody>
      </p:sp>
      <p:graphicFrame>
        <p:nvGraphicFramePr>
          <p:cNvPr id="6" name="Table 5">
            <a:extLst>
              <a:ext uri="{FF2B5EF4-FFF2-40B4-BE49-F238E27FC236}">
                <a16:creationId xmlns:a16="http://schemas.microsoft.com/office/drawing/2014/main" id="{6D17FB5F-712D-6959-114A-DFE0D159AC0B}"/>
              </a:ext>
            </a:extLst>
          </p:cNvPr>
          <p:cNvGraphicFramePr>
            <a:graphicFrameLocks noGrp="1"/>
          </p:cNvGraphicFramePr>
          <p:nvPr>
            <p:extLst>
              <p:ext uri="{D42A27DB-BD31-4B8C-83A1-F6EECF244321}">
                <p14:modId xmlns:p14="http://schemas.microsoft.com/office/powerpoint/2010/main" val="2676522522"/>
              </p:ext>
            </p:extLst>
          </p:nvPr>
        </p:nvGraphicFramePr>
        <p:xfrm>
          <a:off x="798897" y="1835543"/>
          <a:ext cx="5999226" cy="2636520"/>
        </p:xfrm>
        <a:graphic>
          <a:graphicData uri="http://schemas.openxmlformats.org/drawingml/2006/table">
            <a:tbl>
              <a:tblPr>
                <a:tableStyleId>{35758FB7-9AC5-4552-8A53-C91805E547FA}</a:tableStyleId>
              </a:tblPr>
              <a:tblGrid>
                <a:gridCol w="1999742">
                  <a:extLst>
                    <a:ext uri="{9D8B030D-6E8A-4147-A177-3AD203B41FA5}">
                      <a16:colId xmlns:a16="http://schemas.microsoft.com/office/drawing/2014/main" val="4181491213"/>
                    </a:ext>
                  </a:extLst>
                </a:gridCol>
                <a:gridCol w="1999742">
                  <a:extLst>
                    <a:ext uri="{9D8B030D-6E8A-4147-A177-3AD203B41FA5}">
                      <a16:colId xmlns:a16="http://schemas.microsoft.com/office/drawing/2014/main" val="1254532393"/>
                    </a:ext>
                  </a:extLst>
                </a:gridCol>
                <a:gridCol w="1999742">
                  <a:extLst>
                    <a:ext uri="{9D8B030D-6E8A-4147-A177-3AD203B41FA5}">
                      <a16:colId xmlns:a16="http://schemas.microsoft.com/office/drawing/2014/main" val="182255931"/>
                    </a:ext>
                  </a:extLst>
                </a:gridCol>
              </a:tblGrid>
              <a:tr h="0">
                <a:tc>
                  <a:txBody>
                    <a:bodyPr/>
                    <a:lstStyle/>
                    <a:p>
                      <a:pPr algn="l" fontAlgn="t"/>
                      <a:r>
                        <a:rPr lang="en-IN">
                          <a:solidFill>
                            <a:srgbClr val="000000"/>
                          </a:solidFill>
                          <a:effectLst/>
                        </a:rPr>
                        <a:t>SUBJECT</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LECTURER</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SEMESTER</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2915697071"/>
                  </a:ext>
                </a:extLst>
              </a:tr>
              <a:tr h="0">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Anshika</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3965616754"/>
                  </a:ext>
                </a:extLst>
              </a:tr>
              <a:tr h="0">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217258728"/>
                  </a:ext>
                </a:extLst>
              </a:tr>
              <a:tr h="0">
                <a:tc>
                  <a:txBody>
                    <a:bodyPr/>
                    <a:lstStyle/>
                    <a:p>
                      <a:pPr algn="just" fontAlgn="t"/>
                      <a:r>
                        <a:rPr lang="en-IN">
                          <a:solidFill>
                            <a:srgbClr val="333333"/>
                          </a:solidFill>
                          <a:effectLst/>
                        </a:rPr>
                        <a:t>Math</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669568849"/>
                  </a:ext>
                </a:extLst>
              </a:tr>
              <a:tr h="0">
                <a:tc>
                  <a:txBody>
                    <a:bodyPr/>
                    <a:lstStyle/>
                    <a:p>
                      <a:pPr algn="just" fontAlgn="t"/>
                      <a:r>
                        <a:rPr lang="en-IN">
                          <a:solidFill>
                            <a:srgbClr val="333333"/>
                          </a:solidFill>
                          <a:effectLst/>
                        </a:rPr>
                        <a:t>Math</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Akash</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Semester 2</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068082569"/>
                  </a:ext>
                </a:extLst>
              </a:tr>
              <a:tr h="0">
                <a:tc>
                  <a:txBody>
                    <a:bodyPr/>
                    <a:lstStyle/>
                    <a:p>
                      <a:pPr algn="just" fontAlgn="t"/>
                      <a:r>
                        <a:rPr lang="en-IN">
                          <a:solidFill>
                            <a:srgbClr val="333333"/>
                          </a:solidFill>
                          <a:effectLst/>
                        </a:rPr>
                        <a:t>Chemistry</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Praveen</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Semester 1</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1235544530"/>
                  </a:ext>
                </a:extLst>
              </a:tr>
            </a:tbl>
          </a:graphicData>
        </a:graphic>
      </p:graphicFrame>
      <p:sp>
        <p:nvSpPr>
          <p:cNvPr id="8" name="TextBox 7">
            <a:extLst>
              <a:ext uri="{FF2B5EF4-FFF2-40B4-BE49-F238E27FC236}">
                <a16:creationId xmlns:a16="http://schemas.microsoft.com/office/drawing/2014/main" id="{314347F0-D291-E887-ABEA-1CAABFE0618F}"/>
              </a:ext>
            </a:extLst>
          </p:cNvPr>
          <p:cNvSpPr txBox="1"/>
          <p:nvPr/>
        </p:nvSpPr>
        <p:spPr>
          <a:xfrm>
            <a:off x="1405289" y="4789983"/>
            <a:ext cx="6102416" cy="1200329"/>
          </a:xfrm>
          <a:prstGeom prst="rect">
            <a:avLst/>
          </a:prstGeom>
          <a:noFill/>
        </p:spPr>
        <p:txBody>
          <a:bodyPr wrap="square">
            <a:spAutoFit/>
          </a:bodyPr>
          <a:lstStyle/>
          <a:p>
            <a:r>
              <a:rPr lang="en-US" b="0" i="0" dirty="0">
                <a:solidFill>
                  <a:srgbClr val="333333"/>
                </a:solidFill>
                <a:effectLst/>
                <a:latin typeface="inter-regular"/>
              </a:rPr>
              <a:t>In the above table, John takes both Computer and Math class for Semester 1 but he doesn't take Math class for Semester 2. In this case, combination of all these fields required to identify a valid data.</a:t>
            </a:r>
            <a:endParaRPr lang="en-IN" dirty="0"/>
          </a:p>
        </p:txBody>
      </p:sp>
    </p:spTree>
    <p:extLst>
      <p:ext uri="{BB962C8B-B14F-4D97-AF65-F5344CB8AC3E}">
        <p14:creationId xmlns:p14="http://schemas.microsoft.com/office/powerpoint/2010/main" val="19911614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73D834-332E-0D9A-0A54-9003F85DDDF3}"/>
              </a:ext>
            </a:extLst>
          </p:cNvPr>
          <p:cNvSpPr txBox="1"/>
          <p:nvPr/>
        </p:nvSpPr>
        <p:spPr>
          <a:xfrm>
            <a:off x="423512" y="293373"/>
            <a:ext cx="10732168" cy="1200329"/>
          </a:xfrm>
          <a:prstGeom prst="rect">
            <a:avLst/>
          </a:prstGeom>
          <a:noFill/>
        </p:spPr>
        <p:txBody>
          <a:bodyPr wrap="square">
            <a:spAutoFit/>
          </a:bodyPr>
          <a:lstStyle/>
          <a:p>
            <a:pPr algn="just"/>
            <a:r>
              <a:rPr lang="en-US" b="0" i="0" dirty="0">
                <a:solidFill>
                  <a:srgbClr val="333333"/>
                </a:solidFill>
                <a:effectLst/>
                <a:latin typeface="inter-regular"/>
              </a:rPr>
              <a:t>Suppose we add a new Semester as Semester 3 but do not know about the subject and who will be taking that subject so we leave Lecturer and Subject as NULL. But all three columns together acts as a primary key, so we can't leave other two columns blank.</a:t>
            </a:r>
          </a:p>
          <a:p>
            <a:pPr algn="just"/>
            <a:r>
              <a:rPr lang="en-US" b="0" i="0" dirty="0">
                <a:solidFill>
                  <a:srgbClr val="333333"/>
                </a:solidFill>
                <a:effectLst/>
                <a:latin typeface="inter-regular"/>
              </a:rPr>
              <a:t>So to make the above table into 5NF, we can decompose it into three relations P1, P2 &amp; P3:</a:t>
            </a:r>
          </a:p>
        </p:txBody>
      </p:sp>
      <p:graphicFrame>
        <p:nvGraphicFramePr>
          <p:cNvPr id="4" name="Table 3">
            <a:extLst>
              <a:ext uri="{FF2B5EF4-FFF2-40B4-BE49-F238E27FC236}">
                <a16:creationId xmlns:a16="http://schemas.microsoft.com/office/drawing/2014/main" id="{EF0F9909-D208-9EBE-490C-D119F69E313D}"/>
              </a:ext>
            </a:extLst>
          </p:cNvPr>
          <p:cNvGraphicFramePr>
            <a:graphicFrameLocks noGrp="1"/>
          </p:cNvGraphicFramePr>
          <p:nvPr>
            <p:extLst>
              <p:ext uri="{D42A27DB-BD31-4B8C-83A1-F6EECF244321}">
                <p14:modId xmlns:p14="http://schemas.microsoft.com/office/powerpoint/2010/main" val="3571760750"/>
              </p:ext>
            </p:extLst>
          </p:nvPr>
        </p:nvGraphicFramePr>
        <p:xfrm>
          <a:off x="423512" y="1712019"/>
          <a:ext cx="4225280" cy="2209800"/>
        </p:xfrm>
        <a:graphic>
          <a:graphicData uri="http://schemas.openxmlformats.org/drawingml/2006/table">
            <a:tbl>
              <a:tblPr>
                <a:tableStyleId>{775DCB02-9BB8-47FD-8907-85C794F793BA}</a:tableStyleId>
              </a:tblPr>
              <a:tblGrid>
                <a:gridCol w="2112640">
                  <a:extLst>
                    <a:ext uri="{9D8B030D-6E8A-4147-A177-3AD203B41FA5}">
                      <a16:colId xmlns:a16="http://schemas.microsoft.com/office/drawing/2014/main" val="3142021557"/>
                    </a:ext>
                  </a:extLst>
                </a:gridCol>
                <a:gridCol w="2112640">
                  <a:extLst>
                    <a:ext uri="{9D8B030D-6E8A-4147-A177-3AD203B41FA5}">
                      <a16:colId xmlns:a16="http://schemas.microsoft.com/office/drawing/2014/main" val="2668142737"/>
                    </a:ext>
                  </a:extLst>
                </a:gridCol>
              </a:tblGrid>
              <a:tr h="0">
                <a:tc>
                  <a:txBody>
                    <a:bodyPr/>
                    <a:lstStyle/>
                    <a:p>
                      <a:pPr algn="l" fontAlgn="t"/>
                      <a:r>
                        <a:rPr lang="en-IN">
                          <a:solidFill>
                            <a:srgbClr val="000000"/>
                          </a:solidFill>
                          <a:effectLst/>
                        </a:rPr>
                        <a:t>SEMESTER</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SUBJECT</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2607626400"/>
                  </a:ext>
                </a:extLst>
              </a:tr>
              <a:tr h="0">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821842343"/>
                  </a:ext>
                </a:extLst>
              </a:tr>
              <a:tr h="0">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Math</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623587350"/>
                  </a:ext>
                </a:extLst>
              </a:tr>
              <a:tr h="0">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Chemistry</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027195134"/>
                  </a:ext>
                </a:extLst>
              </a:tr>
              <a:tr h="0">
                <a:tc>
                  <a:txBody>
                    <a:bodyPr/>
                    <a:lstStyle/>
                    <a:p>
                      <a:pPr algn="just" fontAlgn="t"/>
                      <a:r>
                        <a:rPr lang="en-IN">
                          <a:solidFill>
                            <a:srgbClr val="333333"/>
                          </a:solidFill>
                          <a:effectLst/>
                        </a:rPr>
                        <a:t>Semester 2</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Math</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1461331597"/>
                  </a:ext>
                </a:extLst>
              </a:tr>
            </a:tbl>
          </a:graphicData>
        </a:graphic>
      </p:graphicFrame>
      <p:graphicFrame>
        <p:nvGraphicFramePr>
          <p:cNvPr id="5" name="Table 4">
            <a:extLst>
              <a:ext uri="{FF2B5EF4-FFF2-40B4-BE49-F238E27FC236}">
                <a16:creationId xmlns:a16="http://schemas.microsoft.com/office/drawing/2014/main" id="{BC02B3B6-6535-264F-ABBA-E3326208AC49}"/>
              </a:ext>
            </a:extLst>
          </p:cNvPr>
          <p:cNvGraphicFramePr>
            <a:graphicFrameLocks noGrp="1"/>
          </p:cNvGraphicFramePr>
          <p:nvPr>
            <p:extLst>
              <p:ext uri="{D42A27DB-BD31-4B8C-83A1-F6EECF244321}">
                <p14:modId xmlns:p14="http://schemas.microsoft.com/office/powerpoint/2010/main" val="1340638797"/>
              </p:ext>
            </p:extLst>
          </p:nvPr>
        </p:nvGraphicFramePr>
        <p:xfrm>
          <a:off x="5707991" y="1712019"/>
          <a:ext cx="4514038" cy="2636520"/>
        </p:xfrm>
        <a:graphic>
          <a:graphicData uri="http://schemas.openxmlformats.org/drawingml/2006/table">
            <a:tbl>
              <a:tblPr>
                <a:tableStyleId>{775DCB02-9BB8-47FD-8907-85C794F793BA}</a:tableStyleId>
              </a:tblPr>
              <a:tblGrid>
                <a:gridCol w="2257019">
                  <a:extLst>
                    <a:ext uri="{9D8B030D-6E8A-4147-A177-3AD203B41FA5}">
                      <a16:colId xmlns:a16="http://schemas.microsoft.com/office/drawing/2014/main" val="841803857"/>
                    </a:ext>
                  </a:extLst>
                </a:gridCol>
                <a:gridCol w="2257019">
                  <a:extLst>
                    <a:ext uri="{9D8B030D-6E8A-4147-A177-3AD203B41FA5}">
                      <a16:colId xmlns:a16="http://schemas.microsoft.com/office/drawing/2014/main" val="3221386136"/>
                    </a:ext>
                  </a:extLst>
                </a:gridCol>
              </a:tblGrid>
              <a:tr h="0">
                <a:tc>
                  <a:txBody>
                    <a:bodyPr/>
                    <a:lstStyle/>
                    <a:p>
                      <a:pPr algn="l" fontAlgn="t"/>
                      <a:r>
                        <a:rPr lang="en-IN">
                          <a:solidFill>
                            <a:srgbClr val="000000"/>
                          </a:solidFill>
                          <a:effectLst/>
                        </a:rPr>
                        <a:t>SUBJECT</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LECTURER</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2078129975"/>
                  </a:ext>
                </a:extLst>
              </a:tr>
              <a:tr h="0">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Anshika</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843499900"/>
                  </a:ext>
                </a:extLst>
              </a:tr>
              <a:tr h="0">
                <a:tc>
                  <a:txBody>
                    <a:bodyPr/>
                    <a:lstStyle/>
                    <a:p>
                      <a:pPr algn="just" fontAlgn="t"/>
                      <a:r>
                        <a:rPr lang="en-IN">
                          <a:solidFill>
                            <a:srgbClr val="333333"/>
                          </a:solidFill>
                          <a:effectLst/>
                        </a:rPr>
                        <a:t>Computer</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3118318142"/>
                  </a:ext>
                </a:extLst>
              </a:tr>
              <a:tr h="0">
                <a:tc>
                  <a:txBody>
                    <a:bodyPr/>
                    <a:lstStyle/>
                    <a:p>
                      <a:pPr algn="just" fontAlgn="t"/>
                      <a:r>
                        <a:rPr lang="en-IN">
                          <a:solidFill>
                            <a:srgbClr val="333333"/>
                          </a:solidFill>
                          <a:effectLst/>
                        </a:rPr>
                        <a:t>Math</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406151030"/>
                  </a:ext>
                </a:extLst>
              </a:tr>
              <a:tr h="0">
                <a:tc>
                  <a:txBody>
                    <a:bodyPr/>
                    <a:lstStyle/>
                    <a:p>
                      <a:pPr algn="just" fontAlgn="t"/>
                      <a:r>
                        <a:rPr lang="en-IN">
                          <a:solidFill>
                            <a:srgbClr val="333333"/>
                          </a:solidFill>
                          <a:effectLst/>
                        </a:rPr>
                        <a:t>Math</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Akash</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3306863272"/>
                  </a:ext>
                </a:extLst>
              </a:tr>
              <a:tr h="0">
                <a:tc>
                  <a:txBody>
                    <a:bodyPr/>
                    <a:lstStyle/>
                    <a:p>
                      <a:pPr algn="just" fontAlgn="t"/>
                      <a:r>
                        <a:rPr lang="en-IN">
                          <a:solidFill>
                            <a:srgbClr val="333333"/>
                          </a:solidFill>
                          <a:effectLst/>
                        </a:rPr>
                        <a:t>Chemistry</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Praveen</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256231797"/>
                  </a:ext>
                </a:extLst>
              </a:tr>
            </a:tbl>
          </a:graphicData>
        </a:graphic>
      </p:graphicFrame>
      <p:graphicFrame>
        <p:nvGraphicFramePr>
          <p:cNvPr id="6" name="Table 5">
            <a:extLst>
              <a:ext uri="{FF2B5EF4-FFF2-40B4-BE49-F238E27FC236}">
                <a16:creationId xmlns:a16="http://schemas.microsoft.com/office/drawing/2014/main" id="{E2AA0F6E-0E50-024F-A7B6-CCE405CAD312}"/>
              </a:ext>
            </a:extLst>
          </p:cNvPr>
          <p:cNvGraphicFramePr>
            <a:graphicFrameLocks noGrp="1"/>
          </p:cNvGraphicFramePr>
          <p:nvPr>
            <p:extLst>
              <p:ext uri="{D42A27DB-BD31-4B8C-83A1-F6EECF244321}">
                <p14:modId xmlns:p14="http://schemas.microsoft.com/office/powerpoint/2010/main" val="834547643"/>
              </p:ext>
            </p:extLst>
          </p:nvPr>
        </p:nvGraphicFramePr>
        <p:xfrm>
          <a:off x="519974" y="4156504"/>
          <a:ext cx="4658418" cy="2636520"/>
        </p:xfrm>
        <a:graphic>
          <a:graphicData uri="http://schemas.openxmlformats.org/drawingml/2006/table">
            <a:tbl>
              <a:tblPr>
                <a:tableStyleId>{08FB837D-C827-4EFA-A057-4D05807E0F7C}</a:tableStyleId>
              </a:tblPr>
              <a:tblGrid>
                <a:gridCol w="2329209">
                  <a:extLst>
                    <a:ext uri="{9D8B030D-6E8A-4147-A177-3AD203B41FA5}">
                      <a16:colId xmlns:a16="http://schemas.microsoft.com/office/drawing/2014/main" val="2041785833"/>
                    </a:ext>
                  </a:extLst>
                </a:gridCol>
                <a:gridCol w="2329209">
                  <a:extLst>
                    <a:ext uri="{9D8B030D-6E8A-4147-A177-3AD203B41FA5}">
                      <a16:colId xmlns:a16="http://schemas.microsoft.com/office/drawing/2014/main" val="214340478"/>
                    </a:ext>
                  </a:extLst>
                </a:gridCol>
              </a:tblGrid>
              <a:tr h="0">
                <a:tc>
                  <a:txBody>
                    <a:bodyPr/>
                    <a:lstStyle/>
                    <a:p>
                      <a:pPr algn="l" fontAlgn="t"/>
                      <a:r>
                        <a:rPr lang="en-IN">
                          <a:solidFill>
                            <a:srgbClr val="000000"/>
                          </a:solidFill>
                          <a:effectLst/>
                        </a:rPr>
                        <a:t>SEMSTER</a:t>
                      </a:r>
                      <a:endParaRPr lang="en-IN">
                        <a:solidFill>
                          <a:srgbClr val="000000"/>
                        </a:solidFill>
                        <a:effectLst/>
                        <a:latin typeface="times new roman" panose="02020603050405020304" pitchFamily="18" charset="0"/>
                      </a:endParaRPr>
                    </a:p>
                  </a:txBody>
                  <a:tcPr marL="114300" marR="114300" marT="114300" marB="114300"/>
                </a:tc>
                <a:tc>
                  <a:txBody>
                    <a:bodyPr/>
                    <a:lstStyle/>
                    <a:p>
                      <a:pPr algn="l" fontAlgn="t"/>
                      <a:r>
                        <a:rPr lang="en-IN">
                          <a:solidFill>
                            <a:srgbClr val="000000"/>
                          </a:solidFill>
                          <a:effectLst/>
                        </a:rPr>
                        <a:t>LECTURER</a:t>
                      </a:r>
                      <a:endParaRPr lang="en-IN">
                        <a:solidFill>
                          <a:srgbClr val="000000"/>
                        </a:solidFill>
                        <a:effectLst/>
                        <a:latin typeface="times new roman" panose="02020603050405020304" pitchFamily="18" charset="0"/>
                      </a:endParaRPr>
                    </a:p>
                  </a:txBody>
                  <a:tcPr marL="114300" marR="114300" marT="114300" marB="114300"/>
                </a:tc>
                <a:extLst>
                  <a:ext uri="{0D108BD9-81ED-4DB2-BD59-A6C34878D82A}">
                    <a16:rowId xmlns:a16="http://schemas.microsoft.com/office/drawing/2014/main" val="181818450"/>
                  </a:ext>
                </a:extLst>
              </a:tr>
              <a:tr h="0">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Anshika</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361434266"/>
                  </a:ext>
                </a:extLst>
              </a:tr>
              <a:tr h="0">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78047828"/>
                  </a:ext>
                </a:extLst>
              </a:tr>
              <a:tr h="0">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John</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1672416366"/>
                  </a:ext>
                </a:extLst>
              </a:tr>
              <a:tr h="0">
                <a:tc>
                  <a:txBody>
                    <a:bodyPr/>
                    <a:lstStyle/>
                    <a:p>
                      <a:pPr algn="just" fontAlgn="t"/>
                      <a:r>
                        <a:rPr lang="en-IN">
                          <a:solidFill>
                            <a:srgbClr val="333333"/>
                          </a:solidFill>
                          <a:effectLst/>
                        </a:rPr>
                        <a:t>Semester 2</a:t>
                      </a:r>
                      <a:endParaRPr lang="en-IN">
                        <a:solidFill>
                          <a:srgbClr val="333333"/>
                        </a:solidFill>
                        <a:effectLst/>
                        <a:latin typeface="inter-regular"/>
                      </a:endParaRPr>
                    </a:p>
                  </a:txBody>
                  <a:tcPr marL="76200" marR="76200" marT="76200" marB="76200"/>
                </a:tc>
                <a:tc>
                  <a:txBody>
                    <a:bodyPr/>
                    <a:lstStyle/>
                    <a:p>
                      <a:pPr algn="just" fontAlgn="t"/>
                      <a:r>
                        <a:rPr lang="en-IN">
                          <a:solidFill>
                            <a:srgbClr val="333333"/>
                          </a:solidFill>
                          <a:effectLst/>
                        </a:rPr>
                        <a:t>Akash</a:t>
                      </a:r>
                      <a:endParaRPr lang="en-IN">
                        <a:solidFill>
                          <a:srgbClr val="333333"/>
                        </a:solidFill>
                        <a:effectLst/>
                        <a:latin typeface="inter-regular"/>
                      </a:endParaRPr>
                    </a:p>
                  </a:txBody>
                  <a:tcPr marL="76200" marR="76200" marT="76200" marB="76200"/>
                </a:tc>
                <a:extLst>
                  <a:ext uri="{0D108BD9-81ED-4DB2-BD59-A6C34878D82A}">
                    <a16:rowId xmlns:a16="http://schemas.microsoft.com/office/drawing/2014/main" val="277521926"/>
                  </a:ext>
                </a:extLst>
              </a:tr>
              <a:tr h="0">
                <a:tc>
                  <a:txBody>
                    <a:bodyPr/>
                    <a:lstStyle/>
                    <a:p>
                      <a:pPr algn="just" fontAlgn="t"/>
                      <a:r>
                        <a:rPr lang="en-IN">
                          <a:solidFill>
                            <a:srgbClr val="333333"/>
                          </a:solidFill>
                          <a:effectLst/>
                        </a:rPr>
                        <a:t>Semester 1</a:t>
                      </a:r>
                      <a:endParaRPr lang="en-IN">
                        <a:solidFill>
                          <a:srgbClr val="333333"/>
                        </a:solidFill>
                        <a:effectLst/>
                        <a:latin typeface="inter-regular"/>
                      </a:endParaRPr>
                    </a:p>
                  </a:txBody>
                  <a:tcPr marL="76200" marR="76200" marT="76200" marB="76200"/>
                </a:tc>
                <a:tc>
                  <a:txBody>
                    <a:bodyPr/>
                    <a:lstStyle/>
                    <a:p>
                      <a:pPr algn="just" fontAlgn="t"/>
                      <a:r>
                        <a:rPr lang="en-IN" dirty="0">
                          <a:solidFill>
                            <a:srgbClr val="333333"/>
                          </a:solidFill>
                          <a:effectLst/>
                        </a:rPr>
                        <a:t>Praveen</a:t>
                      </a:r>
                      <a:endParaRPr lang="en-IN" dirty="0">
                        <a:solidFill>
                          <a:srgbClr val="333333"/>
                        </a:solidFill>
                        <a:effectLst/>
                        <a:latin typeface="inter-regular"/>
                      </a:endParaRPr>
                    </a:p>
                  </a:txBody>
                  <a:tcPr marL="76200" marR="76200" marT="76200" marB="76200"/>
                </a:tc>
                <a:extLst>
                  <a:ext uri="{0D108BD9-81ED-4DB2-BD59-A6C34878D82A}">
                    <a16:rowId xmlns:a16="http://schemas.microsoft.com/office/drawing/2014/main" val="1585121675"/>
                  </a:ext>
                </a:extLst>
              </a:tr>
            </a:tbl>
          </a:graphicData>
        </a:graphic>
      </p:graphicFrame>
    </p:spTree>
    <p:extLst>
      <p:ext uri="{BB962C8B-B14F-4D97-AF65-F5344CB8AC3E}">
        <p14:creationId xmlns:p14="http://schemas.microsoft.com/office/powerpoint/2010/main" val="27141720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789F7F-61D5-C01E-064A-242ED591417B}"/>
              </a:ext>
            </a:extLst>
          </p:cNvPr>
          <p:cNvSpPr txBox="1"/>
          <p:nvPr/>
        </p:nvSpPr>
        <p:spPr>
          <a:xfrm>
            <a:off x="471638" y="481611"/>
            <a:ext cx="11720361" cy="646331"/>
          </a:xfrm>
          <a:prstGeom prst="rect">
            <a:avLst/>
          </a:prstGeom>
          <a:noFill/>
        </p:spPr>
        <p:txBody>
          <a:bodyPr wrap="square">
            <a:spAutoFit/>
          </a:bodyPr>
          <a:lstStyle/>
          <a:p>
            <a:r>
              <a:rPr lang="en-US" b="0" i="0" dirty="0">
                <a:solidFill>
                  <a:srgbClr val="000000"/>
                </a:solidFill>
                <a:effectLst/>
                <a:latin typeface="Verdana" panose="020B0604030504040204" pitchFamily="34" charset="0"/>
              </a:rPr>
              <a:t>You can also consider that a relation is in 5NF, if the candidate key implies every join dependency in it.</a:t>
            </a:r>
            <a:endParaRPr lang="en-IN" dirty="0"/>
          </a:p>
        </p:txBody>
      </p:sp>
      <p:sp>
        <p:nvSpPr>
          <p:cNvPr id="5" name="TextBox 4">
            <a:extLst>
              <a:ext uri="{FF2B5EF4-FFF2-40B4-BE49-F238E27FC236}">
                <a16:creationId xmlns:a16="http://schemas.microsoft.com/office/drawing/2014/main" id="{6594EBEB-1AE1-DE1D-2572-A2148176FF8C}"/>
              </a:ext>
            </a:extLst>
          </p:cNvPr>
          <p:cNvSpPr txBox="1"/>
          <p:nvPr/>
        </p:nvSpPr>
        <p:spPr>
          <a:xfrm>
            <a:off x="471637" y="1290133"/>
            <a:ext cx="11531065" cy="646331"/>
          </a:xfrm>
          <a:prstGeom prst="rect">
            <a:avLst/>
          </a:prstGeom>
          <a:noFill/>
        </p:spPr>
        <p:txBody>
          <a:bodyPr wrap="square">
            <a:spAutoFit/>
          </a:bodyPr>
          <a:lstStyle/>
          <a:p>
            <a:r>
              <a:rPr lang="en-US" b="0" i="0" dirty="0">
                <a:solidFill>
                  <a:srgbClr val="000000"/>
                </a:solidFill>
                <a:effectLst/>
                <a:latin typeface="Verdana" panose="020B0604030504040204" pitchFamily="34" charset="0"/>
              </a:rPr>
              <a:t>Decomposition is lossless-join decomposition if it preserves all the data in original relation and does not result in additional tuples.</a:t>
            </a:r>
            <a:endParaRPr lang="en-IN" dirty="0"/>
          </a:p>
        </p:txBody>
      </p:sp>
      <p:sp>
        <p:nvSpPr>
          <p:cNvPr id="7" name="TextBox 6">
            <a:extLst>
              <a:ext uri="{FF2B5EF4-FFF2-40B4-BE49-F238E27FC236}">
                <a16:creationId xmlns:a16="http://schemas.microsoft.com/office/drawing/2014/main" id="{186832C7-AF07-88BC-E164-2B7905B2D79D}"/>
              </a:ext>
            </a:extLst>
          </p:cNvPr>
          <p:cNvSpPr txBox="1"/>
          <p:nvPr/>
        </p:nvSpPr>
        <p:spPr>
          <a:xfrm>
            <a:off x="596766" y="2705047"/>
            <a:ext cx="11165306" cy="646331"/>
          </a:xfrm>
          <a:prstGeom prst="rect">
            <a:avLst/>
          </a:prstGeom>
          <a:noFill/>
        </p:spPr>
        <p:txBody>
          <a:bodyPr wrap="square">
            <a:spAutoFit/>
          </a:bodyPr>
          <a:lstStyle/>
          <a:p>
            <a:r>
              <a:rPr lang="en-US" b="0" i="0" dirty="0">
                <a:solidFill>
                  <a:srgbClr val="000000"/>
                </a:solidFill>
                <a:effectLst/>
                <a:latin typeface="Verdana" panose="020B0604030504040204" pitchFamily="34" charset="0"/>
              </a:rPr>
              <a:t>A relation R satisfies join dependency </a:t>
            </a:r>
            <a:r>
              <a:rPr lang="en-US" b="0" i="0" dirty="0" err="1">
                <a:solidFill>
                  <a:srgbClr val="000000"/>
                </a:solidFill>
                <a:effectLst/>
                <a:latin typeface="Verdana" panose="020B0604030504040204" pitchFamily="34" charset="0"/>
              </a:rPr>
              <a:t>iff</a:t>
            </a:r>
            <a:r>
              <a:rPr lang="en-US" b="0" i="0" dirty="0">
                <a:solidFill>
                  <a:srgbClr val="000000"/>
                </a:solidFill>
                <a:effectLst/>
                <a:latin typeface="Verdana" panose="020B0604030504040204" pitchFamily="34" charset="0"/>
              </a:rPr>
              <a:t> R is equal to the join of R1,R2,.....Rn where Ri are a subset of the set of attributes of R.</a:t>
            </a:r>
            <a:endParaRPr lang="en-IN" dirty="0"/>
          </a:p>
        </p:txBody>
      </p:sp>
    </p:spTree>
    <p:extLst>
      <p:ext uri="{BB962C8B-B14F-4D97-AF65-F5344CB8AC3E}">
        <p14:creationId xmlns:p14="http://schemas.microsoft.com/office/powerpoint/2010/main" val="34798768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6425904-0915-B0C0-55E5-5972B2CAB10D}"/>
              </a:ext>
            </a:extLst>
          </p:cNvPr>
          <p:cNvGraphicFramePr>
            <a:graphicFrameLocks noGrp="1"/>
          </p:cNvGraphicFramePr>
          <p:nvPr>
            <p:extLst>
              <p:ext uri="{D42A27DB-BD31-4B8C-83A1-F6EECF244321}">
                <p14:modId xmlns:p14="http://schemas.microsoft.com/office/powerpoint/2010/main" val="4172219484"/>
              </p:ext>
            </p:extLst>
          </p:nvPr>
        </p:nvGraphicFramePr>
        <p:xfrm>
          <a:off x="484924" y="895150"/>
          <a:ext cx="3442182" cy="2209800"/>
        </p:xfrm>
        <a:graphic>
          <a:graphicData uri="http://schemas.openxmlformats.org/drawingml/2006/table">
            <a:tbl>
              <a:tblPr>
                <a:tableStyleId>{284E427A-3D55-4303-BF80-6455036E1DE7}</a:tableStyleId>
              </a:tblPr>
              <a:tblGrid>
                <a:gridCol w="1147394">
                  <a:extLst>
                    <a:ext uri="{9D8B030D-6E8A-4147-A177-3AD203B41FA5}">
                      <a16:colId xmlns:a16="http://schemas.microsoft.com/office/drawing/2014/main" val="1808397980"/>
                    </a:ext>
                  </a:extLst>
                </a:gridCol>
                <a:gridCol w="1147394">
                  <a:extLst>
                    <a:ext uri="{9D8B030D-6E8A-4147-A177-3AD203B41FA5}">
                      <a16:colId xmlns:a16="http://schemas.microsoft.com/office/drawing/2014/main" val="2994669766"/>
                    </a:ext>
                  </a:extLst>
                </a:gridCol>
                <a:gridCol w="1147394">
                  <a:extLst>
                    <a:ext uri="{9D8B030D-6E8A-4147-A177-3AD203B41FA5}">
                      <a16:colId xmlns:a16="http://schemas.microsoft.com/office/drawing/2014/main" val="3562709005"/>
                    </a:ext>
                  </a:extLst>
                </a:gridCol>
              </a:tblGrid>
              <a:tr h="0">
                <a:tc>
                  <a:txBody>
                    <a:bodyPr/>
                    <a:lstStyle/>
                    <a:p>
                      <a:pPr algn="ctr" fontAlgn="t"/>
                      <a:r>
                        <a:rPr lang="en-IN" b="1">
                          <a:effectLst/>
                        </a:rPr>
                        <a:t>Dept</a:t>
                      </a:r>
                      <a:endParaRPr lang="en-IN" b="1">
                        <a:effectLst/>
                        <a:latin typeface="inherit"/>
                      </a:endParaRPr>
                    </a:p>
                  </a:txBody>
                  <a:tcPr marL="95250" marR="95250" marT="114300" marB="114300"/>
                </a:tc>
                <a:tc>
                  <a:txBody>
                    <a:bodyPr/>
                    <a:lstStyle/>
                    <a:p>
                      <a:pPr algn="ctr" fontAlgn="t"/>
                      <a:r>
                        <a:rPr lang="en-IN" b="1">
                          <a:effectLst/>
                        </a:rPr>
                        <a:t>Subject</a:t>
                      </a:r>
                      <a:endParaRPr lang="en-IN" b="1">
                        <a:effectLst/>
                        <a:latin typeface="inherit"/>
                      </a:endParaRPr>
                    </a:p>
                  </a:txBody>
                  <a:tcPr marL="95250" marR="95250" marT="114300" marB="114300"/>
                </a:tc>
                <a:tc>
                  <a:txBody>
                    <a:bodyPr/>
                    <a:lstStyle/>
                    <a:p>
                      <a:pPr algn="ctr" fontAlgn="t"/>
                      <a:r>
                        <a:rPr lang="en-IN" b="1">
                          <a:effectLst/>
                        </a:rPr>
                        <a:t>Name</a:t>
                      </a:r>
                      <a:endParaRPr lang="en-IN" b="1">
                        <a:effectLst/>
                        <a:latin typeface="inherit"/>
                      </a:endParaRPr>
                    </a:p>
                  </a:txBody>
                  <a:tcPr marL="95250" marR="95250" marT="114300" marB="114300"/>
                </a:tc>
                <a:extLst>
                  <a:ext uri="{0D108BD9-81ED-4DB2-BD59-A6C34878D82A}">
                    <a16:rowId xmlns:a16="http://schemas.microsoft.com/office/drawing/2014/main" val="1612969128"/>
                  </a:ext>
                </a:extLst>
              </a:tr>
              <a:tr h="0">
                <a:tc>
                  <a:txBody>
                    <a:bodyPr/>
                    <a:lstStyle/>
                    <a:p>
                      <a:pPr algn="l" fontAlgn="t"/>
                      <a:r>
                        <a:rPr lang="en-IN">
                          <a:effectLst/>
                        </a:rPr>
                        <a:t>CSE</a:t>
                      </a:r>
                    </a:p>
                  </a:txBody>
                  <a:tcPr marL="76200" marR="76200" marT="76200" marB="76200"/>
                </a:tc>
                <a:tc>
                  <a:txBody>
                    <a:bodyPr/>
                    <a:lstStyle/>
                    <a:p>
                      <a:pPr algn="l" fontAlgn="t"/>
                      <a:r>
                        <a:rPr lang="en-IN">
                          <a:effectLst/>
                        </a:rPr>
                        <a:t>C</a:t>
                      </a:r>
                    </a:p>
                  </a:txBody>
                  <a:tcPr marL="76200" marR="76200" marT="76200" marB="76200"/>
                </a:tc>
                <a:tc>
                  <a:txBody>
                    <a:bodyPr/>
                    <a:lstStyle/>
                    <a:p>
                      <a:pPr algn="l" fontAlgn="t"/>
                      <a:r>
                        <a:rPr lang="en-IN" dirty="0">
                          <a:effectLst/>
                        </a:rPr>
                        <a:t>Alok</a:t>
                      </a:r>
                    </a:p>
                  </a:txBody>
                  <a:tcPr marL="76200" marR="76200" marT="76200" marB="76200"/>
                </a:tc>
                <a:extLst>
                  <a:ext uri="{0D108BD9-81ED-4DB2-BD59-A6C34878D82A}">
                    <a16:rowId xmlns:a16="http://schemas.microsoft.com/office/drawing/2014/main" val="3939598831"/>
                  </a:ext>
                </a:extLst>
              </a:tr>
              <a:tr h="0">
                <a:tc>
                  <a:txBody>
                    <a:bodyPr/>
                    <a:lstStyle/>
                    <a:p>
                      <a:pPr algn="l" fontAlgn="t"/>
                      <a:r>
                        <a:rPr lang="en-IN" dirty="0">
                          <a:effectLst/>
                        </a:rPr>
                        <a:t>CSE</a:t>
                      </a:r>
                    </a:p>
                  </a:txBody>
                  <a:tcPr marL="76200" marR="76200" marT="76200" marB="76200"/>
                </a:tc>
                <a:tc>
                  <a:txBody>
                    <a:bodyPr/>
                    <a:lstStyle/>
                    <a:p>
                      <a:pPr algn="l" fontAlgn="t"/>
                      <a:r>
                        <a:rPr lang="en-IN">
                          <a:effectLst/>
                        </a:rPr>
                        <a:t>C</a:t>
                      </a:r>
                    </a:p>
                  </a:txBody>
                  <a:tcPr marL="76200" marR="76200" marT="76200" marB="76200"/>
                </a:tc>
                <a:tc>
                  <a:txBody>
                    <a:bodyPr/>
                    <a:lstStyle/>
                    <a:p>
                      <a:pPr algn="l" fontAlgn="t"/>
                      <a:r>
                        <a:rPr lang="en-IN">
                          <a:effectLst/>
                        </a:rPr>
                        <a:t>Amar</a:t>
                      </a:r>
                    </a:p>
                  </a:txBody>
                  <a:tcPr marL="76200" marR="76200" marT="76200" marB="76200"/>
                </a:tc>
                <a:extLst>
                  <a:ext uri="{0D108BD9-81ED-4DB2-BD59-A6C34878D82A}">
                    <a16:rowId xmlns:a16="http://schemas.microsoft.com/office/drawing/2014/main" val="3679604834"/>
                  </a:ext>
                </a:extLst>
              </a:tr>
              <a:tr h="0">
                <a:tc>
                  <a:txBody>
                    <a:bodyPr/>
                    <a:lstStyle/>
                    <a:p>
                      <a:pPr algn="l" fontAlgn="t"/>
                      <a:r>
                        <a:rPr lang="en-IN" dirty="0">
                          <a:effectLst/>
                        </a:rPr>
                        <a:t>CSE</a:t>
                      </a:r>
                    </a:p>
                  </a:txBody>
                  <a:tcPr marL="76200" marR="76200" marT="76200" marB="76200"/>
                </a:tc>
                <a:tc>
                  <a:txBody>
                    <a:bodyPr/>
                    <a:lstStyle/>
                    <a:p>
                      <a:pPr algn="l" fontAlgn="t"/>
                      <a:r>
                        <a:rPr lang="en-IN">
                          <a:effectLst/>
                        </a:rPr>
                        <a:t>Java</a:t>
                      </a:r>
                    </a:p>
                  </a:txBody>
                  <a:tcPr marL="76200" marR="76200" marT="76200" marB="76200"/>
                </a:tc>
                <a:tc>
                  <a:txBody>
                    <a:bodyPr/>
                    <a:lstStyle/>
                    <a:p>
                      <a:pPr algn="l" fontAlgn="t"/>
                      <a:r>
                        <a:rPr lang="en-IN">
                          <a:effectLst/>
                        </a:rPr>
                        <a:t>Amar</a:t>
                      </a:r>
                    </a:p>
                  </a:txBody>
                  <a:tcPr marL="76200" marR="76200" marT="76200" marB="76200"/>
                </a:tc>
                <a:extLst>
                  <a:ext uri="{0D108BD9-81ED-4DB2-BD59-A6C34878D82A}">
                    <a16:rowId xmlns:a16="http://schemas.microsoft.com/office/drawing/2014/main" val="3450744163"/>
                  </a:ext>
                </a:extLst>
              </a:tr>
              <a:tr h="0">
                <a:tc>
                  <a:txBody>
                    <a:bodyPr/>
                    <a:lstStyle/>
                    <a:p>
                      <a:pPr algn="l" fontAlgn="t"/>
                      <a:r>
                        <a:rPr lang="en-IN">
                          <a:effectLst/>
                        </a:rPr>
                        <a:t>IT</a:t>
                      </a:r>
                    </a:p>
                  </a:txBody>
                  <a:tcPr marL="76200" marR="76200" marT="76200" marB="76200"/>
                </a:tc>
                <a:tc>
                  <a:txBody>
                    <a:bodyPr/>
                    <a:lstStyle/>
                    <a:p>
                      <a:pPr algn="l" fontAlgn="t"/>
                      <a:r>
                        <a:rPr lang="en-IN">
                          <a:effectLst/>
                        </a:rPr>
                        <a:t>C</a:t>
                      </a:r>
                    </a:p>
                  </a:txBody>
                  <a:tcPr marL="76200" marR="76200" marT="76200" marB="76200"/>
                </a:tc>
                <a:tc>
                  <a:txBody>
                    <a:bodyPr/>
                    <a:lstStyle/>
                    <a:p>
                      <a:pPr algn="l" fontAlgn="t"/>
                      <a:r>
                        <a:rPr lang="en-IN" dirty="0" err="1">
                          <a:effectLst/>
                        </a:rPr>
                        <a:t>Asit</a:t>
                      </a:r>
                      <a:endParaRPr lang="en-IN" dirty="0">
                        <a:effectLst/>
                      </a:endParaRPr>
                    </a:p>
                  </a:txBody>
                  <a:tcPr marL="76200" marR="76200" marT="76200" marB="76200"/>
                </a:tc>
                <a:extLst>
                  <a:ext uri="{0D108BD9-81ED-4DB2-BD59-A6C34878D82A}">
                    <a16:rowId xmlns:a16="http://schemas.microsoft.com/office/drawing/2014/main" val="809188732"/>
                  </a:ext>
                </a:extLst>
              </a:tr>
            </a:tbl>
          </a:graphicData>
        </a:graphic>
      </p:graphicFrame>
      <p:sp>
        <p:nvSpPr>
          <p:cNvPr id="3" name="Rectangle 1">
            <a:extLst>
              <a:ext uri="{FF2B5EF4-FFF2-40B4-BE49-F238E27FC236}">
                <a16:creationId xmlns:a16="http://schemas.microsoft.com/office/drawing/2014/main" id="{84C3C653-AEA2-3D0A-A51F-D40F469486C0}"/>
              </a:ext>
            </a:extLst>
          </p:cNvPr>
          <p:cNvSpPr>
            <a:spLocks noChangeArrowheads="1"/>
          </p:cNvSpPr>
          <p:nvPr/>
        </p:nvSpPr>
        <p:spPr bwMode="auto">
          <a:xfrm>
            <a:off x="484923" y="295609"/>
            <a:ext cx="26817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Verdana" panose="020B0604030504040204" pitchFamily="34" charset="0"/>
              </a:rPr>
              <a:t>Relation R</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E7777CF0-B24D-638D-B328-C385534A817E}"/>
              </a:ext>
            </a:extLst>
          </p:cNvPr>
          <p:cNvSpPr txBox="1"/>
          <p:nvPr/>
        </p:nvSpPr>
        <p:spPr>
          <a:xfrm>
            <a:off x="4677879" y="1213131"/>
            <a:ext cx="6102416" cy="923330"/>
          </a:xfrm>
          <a:prstGeom prst="rect">
            <a:avLst/>
          </a:prstGeom>
          <a:noFill/>
        </p:spPr>
        <p:txBody>
          <a:bodyPr wrap="square">
            <a:spAutoFit/>
          </a:bodyPr>
          <a:lstStyle/>
          <a:p>
            <a:pPr algn="just"/>
            <a:r>
              <a:rPr lang="en-US" b="0" i="0" dirty="0">
                <a:solidFill>
                  <a:srgbClr val="000000"/>
                </a:solidFill>
                <a:effectLst/>
                <a:latin typeface="Verdana" panose="020B0604030504040204" pitchFamily="34" charset="0"/>
              </a:rPr>
              <a:t>Here,</a:t>
            </a:r>
          </a:p>
          <a:p>
            <a:pPr algn="just"/>
            <a:r>
              <a:rPr lang="en-US" b="0" i="0" dirty="0">
                <a:solidFill>
                  <a:srgbClr val="000000"/>
                </a:solidFill>
                <a:effectLst/>
                <a:latin typeface="Verdana" panose="020B0604030504040204" pitchFamily="34" charset="0"/>
              </a:rPr>
              <a:t>dept -&gt;-&gt; subject</a:t>
            </a:r>
          </a:p>
          <a:p>
            <a:pPr algn="just"/>
            <a:r>
              <a:rPr lang="en-US" b="0" i="0" dirty="0">
                <a:solidFill>
                  <a:srgbClr val="000000"/>
                </a:solidFill>
                <a:effectLst/>
                <a:latin typeface="Verdana" panose="020B0604030504040204" pitchFamily="34" charset="0"/>
              </a:rPr>
              <a:t>dept-&gt;-&gt; name</a:t>
            </a:r>
          </a:p>
        </p:txBody>
      </p:sp>
      <p:sp>
        <p:nvSpPr>
          <p:cNvPr id="7" name="TextBox 6">
            <a:extLst>
              <a:ext uri="{FF2B5EF4-FFF2-40B4-BE49-F238E27FC236}">
                <a16:creationId xmlns:a16="http://schemas.microsoft.com/office/drawing/2014/main" id="{13A2CC32-6E01-03FE-F33F-CB6C7EDEA84C}"/>
              </a:ext>
            </a:extLst>
          </p:cNvPr>
          <p:cNvSpPr txBox="1"/>
          <p:nvPr/>
        </p:nvSpPr>
        <p:spPr>
          <a:xfrm>
            <a:off x="1222408" y="3982876"/>
            <a:ext cx="10376033" cy="1754326"/>
          </a:xfrm>
          <a:prstGeom prst="rect">
            <a:avLst/>
          </a:prstGeom>
          <a:noFill/>
        </p:spPr>
        <p:txBody>
          <a:bodyPr wrap="square">
            <a:spAutoFit/>
          </a:bodyPr>
          <a:lstStyle/>
          <a:p>
            <a:r>
              <a:rPr lang="en-US" b="0" i="0" dirty="0">
                <a:solidFill>
                  <a:srgbClr val="000000"/>
                </a:solidFill>
                <a:effectLst/>
                <a:latin typeface="Verdana" panose="020B0604030504040204" pitchFamily="34" charset="0"/>
              </a:rPr>
              <a:t>The above relation says that dept offers many elective subjects which are taken by a variety of students. Students have the opinion to choose subjects. </a:t>
            </a:r>
          </a:p>
          <a:p>
            <a:endParaRPr lang="en-US" dirty="0">
              <a:solidFill>
                <a:srgbClr val="000000"/>
              </a:solidFill>
              <a:latin typeface="Verdana" panose="020B0604030504040204" pitchFamily="34" charset="0"/>
            </a:endParaRPr>
          </a:p>
          <a:p>
            <a:r>
              <a:rPr lang="en-US" b="0" i="0" dirty="0">
                <a:solidFill>
                  <a:srgbClr val="000000"/>
                </a:solidFill>
                <a:effectLst/>
                <a:latin typeface="Verdana" panose="020B0604030504040204" pitchFamily="34" charset="0"/>
              </a:rPr>
              <a:t>Therefore, all three fields are needed to represent the information.</a:t>
            </a:r>
          </a:p>
          <a:p>
            <a:endParaRPr lang="en-US" dirty="0">
              <a:solidFill>
                <a:srgbClr val="000000"/>
              </a:solidFill>
              <a:latin typeface="Verdana" panose="020B0604030504040204" pitchFamily="34" charset="0"/>
            </a:endParaRPr>
          </a:p>
          <a:p>
            <a:r>
              <a:rPr lang="en-US" dirty="0">
                <a:solidFill>
                  <a:srgbClr val="000000"/>
                </a:solidFill>
                <a:latin typeface="Verdana" panose="020B0604030504040204" pitchFamily="34" charset="0"/>
              </a:rPr>
              <a:t>Composite key(dept, subject, Name)</a:t>
            </a:r>
            <a:endParaRPr lang="en-IN" dirty="0"/>
          </a:p>
        </p:txBody>
      </p:sp>
    </p:spTree>
    <p:extLst>
      <p:ext uri="{BB962C8B-B14F-4D97-AF65-F5344CB8AC3E}">
        <p14:creationId xmlns:p14="http://schemas.microsoft.com/office/powerpoint/2010/main" val="15671531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EA333A8-2DFF-9477-7077-F6599E1DAB72}"/>
              </a:ext>
            </a:extLst>
          </p:cNvPr>
          <p:cNvGraphicFramePr>
            <a:graphicFrameLocks noGrp="1"/>
          </p:cNvGraphicFramePr>
          <p:nvPr>
            <p:extLst>
              <p:ext uri="{D42A27DB-BD31-4B8C-83A1-F6EECF244321}">
                <p14:modId xmlns:p14="http://schemas.microsoft.com/office/powerpoint/2010/main" val="3194463790"/>
              </p:ext>
            </p:extLst>
          </p:nvPr>
        </p:nvGraphicFramePr>
        <p:xfrm>
          <a:off x="407600" y="891460"/>
          <a:ext cx="3856392" cy="1783080"/>
        </p:xfrm>
        <a:graphic>
          <a:graphicData uri="http://schemas.openxmlformats.org/drawingml/2006/table">
            <a:tbl>
              <a:tblPr>
                <a:tableStyleId>{35758FB7-9AC5-4552-8A53-C91805E547FA}</a:tableStyleId>
              </a:tblPr>
              <a:tblGrid>
                <a:gridCol w="1928196">
                  <a:extLst>
                    <a:ext uri="{9D8B030D-6E8A-4147-A177-3AD203B41FA5}">
                      <a16:colId xmlns:a16="http://schemas.microsoft.com/office/drawing/2014/main" val="730223152"/>
                    </a:ext>
                  </a:extLst>
                </a:gridCol>
                <a:gridCol w="1928196">
                  <a:extLst>
                    <a:ext uri="{9D8B030D-6E8A-4147-A177-3AD203B41FA5}">
                      <a16:colId xmlns:a16="http://schemas.microsoft.com/office/drawing/2014/main" val="389647238"/>
                    </a:ext>
                  </a:extLst>
                </a:gridCol>
              </a:tblGrid>
              <a:tr h="0">
                <a:tc>
                  <a:txBody>
                    <a:bodyPr/>
                    <a:lstStyle/>
                    <a:p>
                      <a:pPr algn="ctr" fontAlgn="t"/>
                      <a:r>
                        <a:rPr lang="en-IN" b="1" dirty="0">
                          <a:effectLst/>
                        </a:rPr>
                        <a:t>Dept</a:t>
                      </a:r>
                      <a:endParaRPr lang="en-IN" b="1" dirty="0">
                        <a:effectLst/>
                        <a:latin typeface="inherit"/>
                      </a:endParaRPr>
                    </a:p>
                  </a:txBody>
                  <a:tcPr marL="95250" marR="95250" marT="114300" marB="114300"/>
                </a:tc>
                <a:tc>
                  <a:txBody>
                    <a:bodyPr/>
                    <a:lstStyle/>
                    <a:p>
                      <a:pPr algn="ctr" fontAlgn="t"/>
                      <a:r>
                        <a:rPr lang="en-IN" b="1">
                          <a:effectLst/>
                        </a:rPr>
                        <a:t>Subject</a:t>
                      </a:r>
                      <a:endParaRPr lang="en-IN" b="1">
                        <a:effectLst/>
                        <a:latin typeface="inherit"/>
                      </a:endParaRPr>
                    </a:p>
                  </a:txBody>
                  <a:tcPr marL="95250" marR="95250" marT="114300" marB="114300"/>
                </a:tc>
                <a:extLst>
                  <a:ext uri="{0D108BD9-81ED-4DB2-BD59-A6C34878D82A}">
                    <a16:rowId xmlns:a16="http://schemas.microsoft.com/office/drawing/2014/main" val="2003951971"/>
                  </a:ext>
                </a:extLst>
              </a:tr>
              <a:tr h="0">
                <a:tc>
                  <a:txBody>
                    <a:bodyPr/>
                    <a:lstStyle/>
                    <a:p>
                      <a:pPr algn="l" fontAlgn="t"/>
                      <a:r>
                        <a:rPr lang="en-IN">
                          <a:effectLst/>
                        </a:rPr>
                        <a:t>CSE</a:t>
                      </a:r>
                    </a:p>
                  </a:txBody>
                  <a:tcPr marL="76200" marR="76200" marT="76200" marB="76200"/>
                </a:tc>
                <a:tc>
                  <a:txBody>
                    <a:bodyPr/>
                    <a:lstStyle/>
                    <a:p>
                      <a:pPr algn="l" fontAlgn="t"/>
                      <a:r>
                        <a:rPr lang="en-IN" dirty="0">
                          <a:effectLst/>
                        </a:rPr>
                        <a:t>C</a:t>
                      </a:r>
                    </a:p>
                  </a:txBody>
                  <a:tcPr marL="76200" marR="76200" marT="76200" marB="76200"/>
                </a:tc>
                <a:extLst>
                  <a:ext uri="{0D108BD9-81ED-4DB2-BD59-A6C34878D82A}">
                    <a16:rowId xmlns:a16="http://schemas.microsoft.com/office/drawing/2014/main" val="1601360349"/>
                  </a:ext>
                </a:extLst>
              </a:tr>
              <a:tr h="0">
                <a:tc>
                  <a:txBody>
                    <a:bodyPr/>
                    <a:lstStyle/>
                    <a:p>
                      <a:pPr algn="l" fontAlgn="t"/>
                      <a:r>
                        <a:rPr lang="en-IN">
                          <a:effectLst/>
                        </a:rPr>
                        <a:t>CSE</a:t>
                      </a:r>
                    </a:p>
                  </a:txBody>
                  <a:tcPr marL="76200" marR="76200" marT="76200" marB="76200"/>
                </a:tc>
                <a:tc>
                  <a:txBody>
                    <a:bodyPr/>
                    <a:lstStyle/>
                    <a:p>
                      <a:pPr algn="l" fontAlgn="t"/>
                      <a:r>
                        <a:rPr lang="en-IN" dirty="0">
                          <a:effectLst/>
                        </a:rPr>
                        <a:t>Java</a:t>
                      </a:r>
                    </a:p>
                  </a:txBody>
                  <a:tcPr marL="76200" marR="76200" marT="76200" marB="76200"/>
                </a:tc>
                <a:extLst>
                  <a:ext uri="{0D108BD9-81ED-4DB2-BD59-A6C34878D82A}">
                    <a16:rowId xmlns:a16="http://schemas.microsoft.com/office/drawing/2014/main" val="2615592039"/>
                  </a:ext>
                </a:extLst>
              </a:tr>
              <a:tr h="0">
                <a:tc>
                  <a:txBody>
                    <a:bodyPr/>
                    <a:lstStyle/>
                    <a:p>
                      <a:pPr algn="l" fontAlgn="t"/>
                      <a:r>
                        <a:rPr lang="en-IN">
                          <a:effectLst/>
                        </a:rPr>
                        <a:t>IT</a:t>
                      </a:r>
                    </a:p>
                  </a:txBody>
                  <a:tcPr marL="76200" marR="76200" marT="76200" marB="76200"/>
                </a:tc>
                <a:tc>
                  <a:txBody>
                    <a:bodyPr/>
                    <a:lstStyle/>
                    <a:p>
                      <a:pPr algn="l" fontAlgn="t"/>
                      <a:r>
                        <a:rPr lang="en-IN" dirty="0">
                          <a:effectLst/>
                        </a:rPr>
                        <a:t>C</a:t>
                      </a:r>
                    </a:p>
                  </a:txBody>
                  <a:tcPr marL="76200" marR="76200" marT="76200" marB="76200"/>
                </a:tc>
                <a:extLst>
                  <a:ext uri="{0D108BD9-81ED-4DB2-BD59-A6C34878D82A}">
                    <a16:rowId xmlns:a16="http://schemas.microsoft.com/office/drawing/2014/main" val="3089680559"/>
                  </a:ext>
                </a:extLst>
              </a:tr>
            </a:tbl>
          </a:graphicData>
        </a:graphic>
      </p:graphicFrame>
      <p:graphicFrame>
        <p:nvGraphicFramePr>
          <p:cNvPr id="3" name="Table 2">
            <a:extLst>
              <a:ext uri="{FF2B5EF4-FFF2-40B4-BE49-F238E27FC236}">
                <a16:creationId xmlns:a16="http://schemas.microsoft.com/office/drawing/2014/main" id="{C7324368-9FC2-6449-3A42-28DE1EB8F65A}"/>
              </a:ext>
            </a:extLst>
          </p:cNvPr>
          <p:cNvGraphicFramePr>
            <a:graphicFrameLocks noGrp="1"/>
          </p:cNvGraphicFramePr>
          <p:nvPr>
            <p:extLst>
              <p:ext uri="{D42A27DB-BD31-4B8C-83A1-F6EECF244321}">
                <p14:modId xmlns:p14="http://schemas.microsoft.com/office/powerpoint/2010/main" val="4141165467"/>
              </p:ext>
            </p:extLst>
          </p:nvPr>
        </p:nvGraphicFramePr>
        <p:xfrm>
          <a:off x="6220917" y="891460"/>
          <a:ext cx="3779732" cy="1783080"/>
        </p:xfrm>
        <a:graphic>
          <a:graphicData uri="http://schemas.openxmlformats.org/drawingml/2006/table">
            <a:tbl>
              <a:tblPr>
                <a:tableStyleId>{35758FB7-9AC5-4552-8A53-C91805E547FA}</a:tableStyleId>
              </a:tblPr>
              <a:tblGrid>
                <a:gridCol w="1889866">
                  <a:extLst>
                    <a:ext uri="{9D8B030D-6E8A-4147-A177-3AD203B41FA5}">
                      <a16:colId xmlns:a16="http://schemas.microsoft.com/office/drawing/2014/main" val="1553674658"/>
                    </a:ext>
                  </a:extLst>
                </a:gridCol>
                <a:gridCol w="1889866">
                  <a:extLst>
                    <a:ext uri="{9D8B030D-6E8A-4147-A177-3AD203B41FA5}">
                      <a16:colId xmlns:a16="http://schemas.microsoft.com/office/drawing/2014/main" val="2493263215"/>
                    </a:ext>
                  </a:extLst>
                </a:gridCol>
              </a:tblGrid>
              <a:tr h="0">
                <a:tc>
                  <a:txBody>
                    <a:bodyPr/>
                    <a:lstStyle/>
                    <a:p>
                      <a:pPr algn="ctr" fontAlgn="t"/>
                      <a:r>
                        <a:rPr lang="en-IN" b="1" dirty="0">
                          <a:effectLst/>
                        </a:rPr>
                        <a:t>Dept</a:t>
                      </a:r>
                      <a:endParaRPr lang="en-IN" b="1" dirty="0">
                        <a:effectLst/>
                        <a:latin typeface="inherit"/>
                      </a:endParaRPr>
                    </a:p>
                  </a:txBody>
                  <a:tcPr marL="95250" marR="95250" marT="114300" marB="114300"/>
                </a:tc>
                <a:tc>
                  <a:txBody>
                    <a:bodyPr/>
                    <a:lstStyle/>
                    <a:p>
                      <a:pPr algn="ctr" fontAlgn="t"/>
                      <a:r>
                        <a:rPr lang="en-IN" b="1" dirty="0">
                          <a:effectLst/>
                        </a:rPr>
                        <a:t>Name</a:t>
                      </a:r>
                      <a:endParaRPr lang="en-IN" b="1" dirty="0">
                        <a:effectLst/>
                        <a:latin typeface="inherit"/>
                      </a:endParaRPr>
                    </a:p>
                  </a:txBody>
                  <a:tcPr marL="95250" marR="95250" marT="114300" marB="114300"/>
                </a:tc>
                <a:extLst>
                  <a:ext uri="{0D108BD9-81ED-4DB2-BD59-A6C34878D82A}">
                    <a16:rowId xmlns:a16="http://schemas.microsoft.com/office/drawing/2014/main" val="3988184993"/>
                  </a:ext>
                </a:extLst>
              </a:tr>
              <a:tr h="0">
                <a:tc>
                  <a:txBody>
                    <a:bodyPr/>
                    <a:lstStyle/>
                    <a:p>
                      <a:pPr algn="l" fontAlgn="t"/>
                      <a:r>
                        <a:rPr lang="en-IN">
                          <a:effectLst/>
                        </a:rPr>
                        <a:t>CSE</a:t>
                      </a:r>
                    </a:p>
                  </a:txBody>
                  <a:tcPr marL="76200" marR="76200" marT="76200" marB="76200"/>
                </a:tc>
                <a:tc>
                  <a:txBody>
                    <a:bodyPr/>
                    <a:lstStyle/>
                    <a:p>
                      <a:pPr algn="l" fontAlgn="t"/>
                      <a:r>
                        <a:rPr lang="en-IN" dirty="0">
                          <a:effectLst/>
                        </a:rPr>
                        <a:t>Alok</a:t>
                      </a:r>
                    </a:p>
                  </a:txBody>
                  <a:tcPr marL="76200" marR="76200" marT="76200" marB="76200"/>
                </a:tc>
                <a:extLst>
                  <a:ext uri="{0D108BD9-81ED-4DB2-BD59-A6C34878D82A}">
                    <a16:rowId xmlns:a16="http://schemas.microsoft.com/office/drawing/2014/main" val="3410206176"/>
                  </a:ext>
                </a:extLst>
              </a:tr>
              <a:tr h="0">
                <a:tc>
                  <a:txBody>
                    <a:bodyPr/>
                    <a:lstStyle/>
                    <a:p>
                      <a:pPr algn="l" fontAlgn="t"/>
                      <a:r>
                        <a:rPr lang="en-IN">
                          <a:effectLst/>
                        </a:rPr>
                        <a:t>CSE</a:t>
                      </a:r>
                    </a:p>
                  </a:txBody>
                  <a:tcPr marL="76200" marR="76200" marT="76200" marB="76200"/>
                </a:tc>
                <a:tc>
                  <a:txBody>
                    <a:bodyPr/>
                    <a:lstStyle/>
                    <a:p>
                      <a:pPr algn="l" fontAlgn="t"/>
                      <a:r>
                        <a:rPr lang="en-IN">
                          <a:effectLst/>
                        </a:rPr>
                        <a:t>Amar</a:t>
                      </a:r>
                    </a:p>
                  </a:txBody>
                  <a:tcPr marL="76200" marR="76200" marT="76200" marB="76200"/>
                </a:tc>
                <a:extLst>
                  <a:ext uri="{0D108BD9-81ED-4DB2-BD59-A6C34878D82A}">
                    <a16:rowId xmlns:a16="http://schemas.microsoft.com/office/drawing/2014/main" val="3721060300"/>
                  </a:ext>
                </a:extLst>
              </a:tr>
              <a:tr h="0">
                <a:tc>
                  <a:txBody>
                    <a:bodyPr/>
                    <a:lstStyle/>
                    <a:p>
                      <a:pPr algn="l" fontAlgn="t"/>
                      <a:r>
                        <a:rPr lang="en-IN" dirty="0">
                          <a:effectLst/>
                        </a:rPr>
                        <a:t>IT</a:t>
                      </a:r>
                    </a:p>
                  </a:txBody>
                  <a:tcPr marL="76200" marR="76200" marT="76200" marB="76200"/>
                </a:tc>
                <a:tc>
                  <a:txBody>
                    <a:bodyPr/>
                    <a:lstStyle/>
                    <a:p>
                      <a:pPr algn="l" fontAlgn="t"/>
                      <a:r>
                        <a:rPr lang="en-IN" dirty="0" err="1">
                          <a:effectLst/>
                        </a:rPr>
                        <a:t>Asit</a:t>
                      </a:r>
                      <a:endParaRPr lang="en-IN" dirty="0">
                        <a:effectLst/>
                      </a:endParaRPr>
                    </a:p>
                  </a:txBody>
                  <a:tcPr marL="76200" marR="76200" marT="76200" marB="76200"/>
                </a:tc>
                <a:extLst>
                  <a:ext uri="{0D108BD9-81ED-4DB2-BD59-A6C34878D82A}">
                    <a16:rowId xmlns:a16="http://schemas.microsoft.com/office/drawing/2014/main" val="420841841"/>
                  </a:ext>
                </a:extLst>
              </a:tr>
            </a:tbl>
          </a:graphicData>
        </a:graphic>
      </p:graphicFrame>
      <p:graphicFrame>
        <p:nvGraphicFramePr>
          <p:cNvPr id="4" name="Table 3">
            <a:extLst>
              <a:ext uri="{FF2B5EF4-FFF2-40B4-BE49-F238E27FC236}">
                <a16:creationId xmlns:a16="http://schemas.microsoft.com/office/drawing/2014/main" id="{5EFCD33F-2036-14B7-DADF-13DC3EAFBA94}"/>
              </a:ext>
            </a:extLst>
          </p:cNvPr>
          <p:cNvGraphicFramePr>
            <a:graphicFrameLocks noGrp="1"/>
          </p:cNvGraphicFramePr>
          <p:nvPr>
            <p:extLst>
              <p:ext uri="{D42A27DB-BD31-4B8C-83A1-F6EECF244321}">
                <p14:modId xmlns:p14="http://schemas.microsoft.com/office/powerpoint/2010/main" val="1605674530"/>
              </p:ext>
            </p:extLst>
          </p:nvPr>
        </p:nvGraphicFramePr>
        <p:xfrm>
          <a:off x="288597" y="4266562"/>
          <a:ext cx="4658788" cy="2209800"/>
        </p:xfrm>
        <a:graphic>
          <a:graphicData uri="http://schemas.openxmlformats.org/drawingml/2006/table">
            <a:tbl>
              <a:tblPr>
                <a:tableStyleId>{35758FB7-9AC5-4552-8A53-C91805E547FA}</a:tableStyleId>
              </a:tblPr>
              <a:tblGrid>
                <a:gridCol w="2329394">
                  <a:extLst>
                    <a:ext uri="{9D8B030D-6E8A-4147-A177-3AD203B41FA5}">
                      <a16:colId xmlns:a16="http://schemas.microsoft.com/office/drawing/2014/main" val="745050746"/>
                    </a:ext>
                  </a:extLst>
                </a:gridCol>
                <a:gridCol w="2329394">
                  <a:extLst>
                    <a:ext uri="{9D8B030D-6E8A-4147-A177-3AD203B41FA5}">
                      <a16:colId xmlns:a16="http://schemas.microsoft.com/office/drawing/2014/main" val="1313295974"/>
                    </a:ext>
                  </a:extLst>
                </a:gridCol>
              </a:tblGrid>
              <a:tr h="0">
                <a:tc>
                  <a:txBody>
                    <a:bodyPr/>
                    <a:lstStyle/>
                    <a:p>
                      <a:pPr algn="ctr" fontAlgn="t"/>
                      <a:r>
                        <a:rPr lang="en-IN" b="1" dirty="0">
                          <a:effectLst/>
                        </a:rPr>
                        <a:t>Subject</a:t>
                      </a:r>
                      <a:endParaRPr lang="en-IN" b="1" dirty="0">
                        <a:effectLst/>
                        <a:latin typeface="inherit"/>
                      </a:endParaRPr>
                    </a:p>
                  </a:txBody>
                  <a:tcPr marL="95250" marR="95250" marT="114300" marB="114300"/>
                </a:tc>
                <a:tc>
                  <a:txBody>
                    <a:bodyPr/>
                    <a:lstStyle/>
                    <a:p>
                      <a:pPr algn="ctr" fontAlgn="t"/>
                      <a:r>
                        <a:rPr lang="en-IN" b="1">
                          <a:effectLst/>
                        </a:rPr>
                        <a:t>Name</a:t>
                      </a:r>
                      <a:endParaRPr lang="en-IN" b="1">
                        <a:effectLst/>
                        <a:latin typeface="inherit"/>
                      </a:endParaRPr>
                    </a:p>
                  </a:txBody>
                  <a:tcPr marL="95250" marR="95250" marT="114300" marB="114300"/>
                </a:tc>
                <a:extLst>
                  <a:ext uri="{0D108BD9-81ED-4DB2-BD59-A6C34878D82A}">
                    <a16:rowId xmlns:a16="http://schemas.microsoft.com/office/drawing/2014/main" val="638099185"/>
                  </a:ext>
                </a:extLst>
              </a:tr>
              <a:tr h="0">
                <a:tc>
                  <a:txBody>
                    <a:bodyPr/>
                    <a:lstStyle/>
                    <a:p>
                      <a:pPr algn="l" fontAlgn="t"/>
                      <a:r>
                        <a:rPr lang="en-IN" dirty="0">
                          <a:effectLst/>
                        </a:rPr>
                        <a:t>C</a:t>
                      </a:r>
                    </a:p>
                  </a:txBody>
                  <a:tcPr marL="76200" marR="76200" marT="76200" marB="76200"/>
                </a:tc>
                <a:tc>
                  <a:txBody>
                    <a:bodyPr/>
                    <a:lstStyle/>
                    <a:p>
                      <a:pPr algn="l" fontAlgn="t"/>
                      <a:r>
                        <a:rPr lang="en-IN" dirty="0">
                          <a:effectLst/>
                        </a:rPr>
                        <a:t>Alok</a:t>
                      </a:r>
                    </a:p>
                  </a:txBody>
                  <a:tcPr marL="76200" marR="76200" marT="76200" marB="76200"/>
                </a:tc>
                <a:extLst>
                  <a:ext uri="{0D108BD9-81ED-4DB2-BD59-A6C34878D82A}">
                    <a16:rowId xmlns:a16="http://schemas.microsoft.com/office/drawing/2014/main" val="916455022"/>
                  </a:ext>
                </a:extLst>
              </a:tr>
              <a:tr h="0">
                <a:tc>
                  <a:txBody>
                    <a:bodyPr/>
                    <a:lstStyle/>
                    <a:p>
                      <a:pPr algn="l" fontAlgn="t"/>
                      <a:r>
                        <a:rPr lang="en-IN">
                          <a:effectLst/>
                        </a:rPr>
                        <a:t>C</a:t>
                      </a:r>
                    </a:p>
                  </a:txBody>
                  <a:tcPr marL="76200" marR="76200" marT="76200" marB="76200"/>
                </a:tc>
                <a:tc>
                  <a:txBody>
                    <a:bodyPr/>
                    <a:lstStyle/>
                    <a:p>
                      <a:pPr algn="l" fontAlgn="t"/>
                      <a:r>
                        <a:rPr lang="en-IN">
                          <a:effectLst/>
                        </a:rPr>
                        <a:t>Amar</a:t>
                      </a:r>
                    </a:p>
                  </a:txBody>
                  <a:tcPr marL="76200" marR="76200" marT="76200" marB="76200"/>
                </a:tc>
                <a:extLst>
                  <a:ext uri="{0D108BD9-81ED-4DB2-BD59-A6C34878D82A}">
                    <a16:rowId xmlns:a16="http://schemas.microsoft.com/office/drawing/2014/main" val="412279696"/>
                  </a:ext>
                </a:extLst>
              </a:tr>
              <a:tr h="0">
                <a:tc>
                  <a:txBody>
                    <a:bodyPr/>
                    <a:lstStyle/>
                    <a:p>
                      <a:pPr algn="l" fontAlgn="t"/>
                      <a:r>
                        <a:rPr lang="en-IN">
                          <a:effectLst/>
                        </a:rPr>
                        <a:t>Java</a:t>
                      </a:r>
                    </a:p>
                  </a:txBody>
                  <a:tcPr marL="76200" marR="76200" marT="76200" marB="76200"/>
                </a:tc>
                <a:tc>
                  <a:txBody>
                    <a:bodyPr/>
                    <a:lstStyle/>
                    <a:p>
                      <a:pPr algn="l" fontAlgn="t"/>
                      <a:r>
                        <a:rPr lang="en-IN">
                          <a:effectLst/>
                        </a:rPr>
                        <a:t>Amar</a:t>
                      </a:r>
                    </a:p>
                  </a:txBody>
                  <a:tcPr marL="76200" marR="76200" marT="76200" marB="76200"/>
                </a:tc>
                <a:extLst>
                  <a:ext uri="{0D108BD9-81ED-4DB2-BD59-A6C34878D82A}">
                    <a16:rowId xmlns:a16="http://schemas.microsoft.com/office/drawing/2014/main" val="2504549074"/>
                  </a:ext>
                </a:extLst>
              </a:tr>
              <a:tr h="0">
                <a:tc>
                  <a:txBody>
                    <a:bodyPr/>
                    <a:lstStyle/>
                    <a:p>
                      <a:pPr algn="l" fontAlgn="t"/>
                      <a:r>
                        <a:rPr lang="en-IN">
                          <a:effectLst/>
                        </a:rPr>
                        <a:t>C</a:t>
                      </a:r>
                    </a:p>
                  </a:txBody>
                  <a:tcPr marL="76200" marR="76200" marT="76200" marB="76200"/>
                </a:tc>
                <a:tc>
                  <a:txBody>
                    <a:bodyPr/>
                    <a:lstStyle/>
                    <a:p>
                      <a:pPr algn="l" fontAlgn="t"/>
                      <a:r>
                        <a:rPr lang="en-IN" dirty="0" err="1">
                          <a:effectLst/>
                        </a:rPr>
                        <a:t>Asit</a:t>
                      </a:r>
                      <a:endParaRPr lang="en-IN" dirty="0">
                        <a:effectLst/>
                      </a:endParaRPr>
                    </a:p>
                  </a:txBody>
                  <a:tcPr marL="76200" marR="76200" marT="76200" marB="76200"/>
                </a:tc>
                <a:extLst>
                  <a:ext uri="{0D108BD9-81ED-4DB2-BD59-A6C34878D82A}">
                    <a16:rowId xmlns:a16="http://schemas.microsoft.com/office/drawing/2014/main" val="2062809597"/>
                  </a:ext>
                </a:extLst>
              </a:tr>
            </a:tbl>
          </a:graphicData>
        </a:graphic>
      </p:graphicFrame>
      <p:sp>
        <p:nvSpPr>
          <p:cNvPr id="5" name="Rectangle 1">
            <a:extLst>
              <a:ext uri="{FF2B5EF4-FFF2-40B4-BE49-F238E27FC236}">
                <a16:creationId xmlns:a16="http://schemas.microsoft.com/office/drawing/2014/main" id="{80684C18-4E3B-0159-7D8D-1C8E1E55672C}"/>
              </a:ext>
            </a:extLst>
          </p:cNvPr>
          <p:cNvSpPr>
            <a:spLocks noChangeArrowheads="1"/>
          </p:cNvSpPr>
          <p:nvPr/>
        </p:nvSpPr>
        <p:spPr bwMode="auto">
          <a:xfrm>
            <a:off x="407600" y="381638"/>
            <a:ext cx="231899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Verdana" panose="020B0604030504040204" pitchFamily="34" charset="0"/>
              </a:rPr>
              <a:t>R1</a:t>
            </a:r>
            <a:endParaRPr kumimoji="0" lang="en-US" altLang="en-US" sz="1100" b="1" i="0" u="none" strike="noStrike" cap="none" normalizeH="0" baseline="0" dirty="0">
              <a:ln>
                <a:noFill/>
              </a:ln>
              <a:solidFill>
                <a:srgbClr val="000000"/>
              </a:solidFill>
              <a:effectLst/>
              <a:latin typeface="Verdana" panose="020B0604030504040204" pitchFamily="34" charset="0"/>
            </a:endParaRPr>
          </a:p>
        </p:txBody>
      </p:sp>
      <p:sp>
        <p:nvSpPr>
          <p:cNvPr id="7" name="TextBox 6">
            <a:extLst>
              <a:ext uri="{FF2B5EF4-FFF2-40B4-BE49-F238E27FC236}">
                <a16:creationId xmlns:a16="http://schemas.microsoft.com/office/drawing/2014/main" id="{518F3BDD-E254-36B6-4A28-F0DA5908CBE5}"/>
              </a:ext>
            </a:extLst>
          </p:cNvPr>
          <p:cNvSpPr txBox="1"/>
          <p:nvPr/>
        </p:nvSpPr>
        <p:spPr>
          <a:xfrm>
            <a:off x="6015791" y="413995"/>
            <a:ext cx="6102416"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Verdana" panose="020B0604030504040204" pitchFamily="34" charset="0"/>
              </a:rPr>
              <a:t>R2</a:t>
            </a:r>
            <a:endParaRPr kumimoji="0" lang="en-US" altLang="en-US" sz="1100" b="0" i="0" u="none" strike="noStrike" cap="none" normalizeH="0" baseline="0" dirty="0">
              <a:ln>
                <a:noFill/>
              </a:ln>
              <a:solidFill>
                <a:schemeClr val="tx1"/>
              </a:solidFill>
              <a:effectLst/>
            </a:endParaRPr>
          </a:p>
        </p:txBody>
      </p:sp>
      <p:sp>
        <p:nvSpPr>
          <p:cNvPr id="9" name="TextBox 8">
            <a:extLst>
              <a:ext uri="{FF2B5EF4-FFF2-40B4-BE49-F238E27FC236}">
                <a16:creationId xmlns:a16="http://schemas.microsoft.com/office/drawing/2014/main" id="{D3285FC0-B2A5-B453-D3F9-753C5D418C3C}"/>
              </a:ext>
            </a:extLst>
          </p:cNvPr>
          <p:cNvSpPr txBox="1"/>
          <p:nvPr/>
        </p:nvSpPr>
        <p:spPr>
          <a:xfrm>
            <a:off x="176433" y="3786831"/>
            <a:ext cx="6877250"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Verdana" panose="020B0604030504040204" pitchFamily="34" charset="0"/>
              </a:rPr>
              <a:t>R3</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17466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B6F50ED9-70B8-9133-BC95-99154B38E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62" y="556345"/>
            <a:ext cx="11444762" cy="5815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98023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A8F904E3-B224-2592-1102-07810C28EF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164" y="1203549"/>
            <a:ext cx="10443671" cy="3297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0168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5D38FE-8ED3-4F83-697B-CBA27EE28FAF}"/>
              </a:ext>
            </a:extLst>
          </p:cNvPr>
          <p:cNvSpPr txBox="1"/>
          <p:nvPr/>
        </p:nvSpPr>
        <p:spPr>
          <a:xfrm>
            <a:off x="4263993" y="277346"/>
            <a:ext cx="6102416" cy="369332"/>
          </a:xfrm>
          <a:prstGeom prst="rect">
            <a:avLst/>
          </a:prstGeom>
          <a:noFill/>
        </p:spPr>
        <p:txBody>
          <a:bodyPr wrap="square">
            <a:spAutoFit/>
          </a:bodyPr>
          <a:lstStyle/>
          <a:p>
            <a:pPr algn="just"/>
            <a:r>
              <a:rPr lang="en-IN" b="0" i="0" dirty="0">
                <a:solidFill>
                  <a:srgbClr val="610B38"/>
                </a:solidFill>
                <a:effectLst/>
                <a:latin typeface="erdana"/>
              </a:rPr>
              <a:t>Relational Decomposition</a:t>
            </a:r>
          </a:p>
        </p:txBody>
      </p:sp>
      <p:sp>
        <p:nvSpPr>
          <p:cNvPr id="5" name="TextBox 4">
            <a:extLst>
              <a:ext uri="{FF2B5EF4-FFF2-40B4-BE49-F238E27FC236}">
                <a16:creationId xmlns:a16="http://schemas.microsoft.com/office/drawing/2014/main" id="{7E53248C-73CF-0E90-FF2F-4FFB7A02A156}"/>
              </a:ext>
            </a:extLst>
          </p:cNvPr>
          <p:cNvSpPr txBox="1"/>
          <p:nvPr/>
        </p:nvSpPr>
        <p:spPr>
          <a:xfrm>
            <a:off x="1049153" y="813138"/>
            <a:ext cx="10173903" cy="1754326"/>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inter-regular"/>
              </a:rPr>
              <a:t>When a relation in the relational model is not in appropriate normal form then the decomposition of a relation is required.</a:t>
            </a:r>
          </a:p>
          <a:p>
            <a:pPr algn="just">
              <a:buFont typeface="Arial" panose="020B0604020202020204" pitchFamily="34" charset="0"/>
              <a:buChar char="•"/>
            </a:pPr>
            <a:r>
              <a:rPr lang="en-US" b="0" i="0" dirty="0">
                <a:solidFill>
                  <a:srgbClr val="000000"/>
                </a:solidFill>
                <a:effectLst/>
                <a:latin typeface="inter-regular"/>
              </a:rPr>
              <a:t>In a database, it breaks the table into multiple tables.</a:t>
            </a:r>
          </a:p>
          <a:p>
            <a:pPr algn="just">
              <a:buFont typeface="Arial" panose="020B0604020202020204" pitchFamily="34" charset="0"/>
              <a:buChar char="•"/>
            </a:pPr>
            <a:r>
              <a:rPr lang="en-US" b="0" i="0" dirty="0">
                <a:solidFill>
                  <a:srgbClr val="000000"/>
                </a:solidFill>
                <a:effectLst/>
                <a:latin typeface="inter-regular"/>
              </a:rPr>
              <a:t>If the relation has no proper decomposition, then it may lead to problems like loss of information.</a:t>
            </a:r>
          </a:p>
          <a:p>
            <a:pPr algn="just">
              <a:buFont typeface="Arial" panose="020B0604020202020204" pitchFamily="34" charset="0"/>
              <a:buChar char="•"/>
            </a:pPr>
            <a:r>
              <a:rPr lang="en-US" b="0" i="0" dirty="0">
                <a:solidFill>
                  <a:srgbClr val="000000"/>
                </a:solidFill>
                <a:effectLst/>
                <a:latin typeface="inter-regular"/>
              </a:rPr>
              <a:t>Decomposition is used to eliminate some of the problems of bad design like anomalies, inconsistencies, and redundancy.</a:t>
            </a:r>
          </a:p>
        </p:txBody>
      </p:sp>
      <p:pic>
        <p:nvPicPr>
          <p:cNvPr id="9218" name="Picture 2" descr="DBMS Relational Decomposition">
            <a:extLst>
              <a:ext uri="{FF2B5EF4-FFF2-40B4-BE49-F238E27FC236}">
                <a16:creationId xmlns:a16="http://schemas.microsoft.com/office/drawing/2014/main" id="{F48BA179-B12A-89D5-FE5E-A3D51A447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9075" y="3518836"/>
            <a:ext cx="413385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2866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73C569-902C-2F82-5B0D-6EA55D2BBE3E}"/>
              </a:ext>
            </a:extLst>
          </p:cNvPr>
          <p:cNvSpPr txBox="1"/>
          <p:nvPr/>
        </p:nvSpPr>
        <p:spPr>
          <a:xfrm>
            <a:off x="442762" y="428128"/>
            <a:ext cx="10222029" cy="4524315"/>
          </a:xfrm>
          <a:prstGeom prst="rect">
            <a:avLst/>
          </a:prstGeom>
          <a:noFill/>
        </p:spPr>
        <p:txBody>
          <a:bodyPr wrap="square">
            <a:spAutoFit/>
          </a:bodyPr>
          <a:lstStyle/>
          <a:p>
            <a:pPr algn="just"/>
            <a:r>
              <a:rPr lang="en-US" b="0" i="0" dirty="0">
                <a:solidFill>
                  <a:srgbClr val="610B4B"/>
                </a:solidFill>
                <a:effectLst/>
                <a:latin typeface="erdana"/>
              </a:rPr>
              <a:t>Lossless Decomposition</a:t>
            </a:r>
          </a:p>
          <a:p>
            <a:pPr algn="just"/>
            <a:endParaRPr lang="en-US" dirty="0">
              <a:solidFill>
                <a:srgbClr val="610B4B"/>
              </a:solidFill>
              <a:latin typeface="erdana"/>
            </a:endParaRPr>
          </a:p>
          <a:p>
            <a:pPr algn="just"/>
            <a:endParaRPr lang="en-US" b="0" i="0" dirty="0">
              <a:solidFill>
                <a:srgbClr val="610B4B"/>
              </a:solidFill>
              <a:effectLst/>
              <a:latin typeface="erdana"/>
            </a:endParaRPr>
          </a:p>
          <a:p>
            <a:pPr algn="just">
              <a:buFont typeface="Arial" panose="020B0604020202020204" pitchFamily="34" charset="0"/>
              <a:buChar char="•"/>
            </a:pPr>
            <a:r>
              <a:rPr lang="en-US" b="0" i="0" dirty="0">
                <a:solidFill>
                  <a:srgbClr val="000000"/>
                </a:solidFill>
                <a:effectLst/>
                <a:latin typeface="inter-regular"/>
              </a:rPr>
              <a:t>If the information is not lost from the relation that is decomposed, then the decomposition will be lossless.</a:t>
            </a:r>
          </a:p>
          <a:p>
            <a:pPr algn="just">
              <a:buFont typeface="Arial" panose="020B0604020202020204" pitchFamily="34" charset="0"/>
              <a:buChar char="•"/>
            </a:pPr>
            <a:r>
              <a:rPr lang="en-US" b="0" i="0" dirty="0">
                <a:solidFill>
                  <a:srgbClr val="000000"/>
                </a:solidFill>
                <a:effectLst/>
                <a:latin typeface="inter-regular"/>
              </a:rPr>
              <a:t>The lossless decomposition guarantees that the join of relations will result in the same relation as it was decomposed.</a:t>
            </a:r>
          </a:p>
          <a:p>
            <a:pPr algn="just">
              <a:buFont typeface="Arial" panose="020B0604020202020204" pitchFamily="34" charset="0"/>
              <a:buChar char="•"/>
            </a:pPr>
            <a:r>
              <a:rPr lang="en-US" b="0" i="0" dirty="0">
                <a:solidFill>
                  <a:srgbClr val="000000"/>
                </a:solidFill>
                <a:effectLst/>
                <a:latin typeface="inter-regular"/>
              </a:rPr>
              <a:t>The relation is said to be lossless decomposition if natural joins of all the decomposition give the original relation.</a:t>
            </a:r>
          </a:p>
          <a:p>
            <a:pPr algn="just">
              <a:buFont typeface="Arial" panose="020B0604020202020204" pitchFamily="34" charset="0"/>
              <a:buChar char="•"/>
            </a:pPr>
            <a:endParaRPr lang="en-US" dirty="0">
              <a:solidFill>
                <a:srgbClr val="000000"/>
              </a:solidFill>
              <a:latin typeface="inter-regular"/>
            </a:endParaRPr>
          </a:p>
          <a:p>
            <a:pPr algn="just">
              <a:buFont typeface="Arial" panose="020B0604020202020204" pitchFamily="34" charset="0"/>
              <a:buChar char="•"/>
            </a:pPr>
            <a:r>
              <a:rPr lang="en-US" b="0" i="0" dirty="0">
                <a:solidFill>
                  <a:srgbClr val="000000"/>
                </a:solidFill>
                <a:effectLst/>
                <a:latin typeface="inter-regular"/>
              </a:rPr>
              <a:t>R1 UNION R2 SHOULD BE EQUAL TO R</a:t>
            </a:r>
          </a:p>
          <a:p>
            <a:pPr algn="just">
              <a:buFont typeface="Arial" panose="020B0604020202020204" pitchFamily="34" charset="0"/>
              <a:buChar char="•"/>
            </a:pPr>
            <a:endParaRPr lang="en-US" dirty="0">
              <a:solidFill>
                <a:srgbClr val="000000"/>
              </a:solidFill>
              <a:latin typeface="inter-regular"/>
            </a:endParaRPr>
          </a:p>
          <a:p>
            <a:pPr algn="just">
              <a:buFont typeface="Arial" panose="020B0604020202020204" pitchFamily="34" charset="0"/>
              <a:buChar char="•"/>
            </a:pPr>
            <a:r>
              <a:rPr lang="en-US" dirty="0">
                <a:solidFill>
                  <a:srgbClr val="000000"/>
                </a:solidFill>
                <a:latin typeface="inter-regular"/>
              </a:rPr>
              <a:t>R1 INTERSECTION R1 SHOULD BE NULL</a:t>
            </a:r>
          </a:p>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dirty="0">
                <a:solidFill>
                  <a:srgbClr val="000000"/>
                </a:solidFill>
                <a:latin typeface="inter-regular"/>
              </a:rPr>
              <a:t>THE COMMON ATTRIBUTE OF DECOMPOSED TABLES SHOULD BE A CANDIDATE KEY OR SUPER KEY OF EITHER ONE OF THE TABLES OR BOTH. </a:t>
            </a:r>
          </a:p>
          <a:p>
            <a:pPr algn="just">
              <a:buFont typeface="Arial" panose="020B0604020202020204" pitchFamily="34" charset="0"/>
              <a:buChar char="•"/>
            </a:pPr>
            <a:endParaRPr lang="en-US" b="0" i="0" dirty="0">
              <a:solidFill>
                <a:srgbClr val="000000"/>
              </a:solidFill>
              <a:effectLst/>
              <a:latin typeface="inter-regular"/>
            </a:endParaRPr>
          </a:p>
        </p:txBody>
      </p:sp>
    </p:spTree>
    <p:extLst>
      <p:ext uri="{BB962C8B-B14F-4D97-AF65-F5344CB8AC3E}">
        <p14:creationId xmlns:p14="http://schemas.microsoft.com/office/powerpoint/2010/main" val="13922141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1F81CB-510E-3288-29C0-065139870E67}"/>
              </a:ext>
            </a:extLst>
          </p:cNvPr>
          <p:cNvSpPr txBox="1"/>
          <p:nvPr/>
        </p:nvSpPr>
        <p:spPr>
          <a:xfrm>
            <a:off x="125128" y="625642"/>
            <a:ext cx="11261558" cy="5262979"/>
          </a:xfrm>
          <a:prstGeom prst="rect">
            <a:avLst/>
          </a:prstGeom>
          <a:noFill/>
        </p:spPr>
        <p:txBody>
          <a:bodyPr wrap="square">
            <a:spAutoFit/>
          </a:bodyPr>
          <a:lstStyle/>
          <a:p>
            <a:pPr algn="just"/>
            <a:r>
              <a:rPr lang="en-US" sz="2800" b="0" i="0" dirty="0">
                <a:solidFill>
                  <a:srgbClr val="610B4B"/>
                </a:solidFill>
                <a:effectLst/>
                <a:latin typeface="erdana"/>
              </a:rPr>
              <a:t>Dependency Preserving</a:t>
            </a:r>
          </a:p>
          <a:p>
            <a:pPr algn="just"/>
            <a:endParaRPr lang="en-US" sz="2800" b="0" i="0" dirty="0">
              <a:solidFill>
                <a:srgbClr val="610B4B"/>
              </a:solidFill>
              <a:effectLst/>
              <a:latin typeface="erdana"/>
            </a:endParaRPr>
          </a:p>
          <a:p>
            <a:pPr algn="just">
              <a:buFont typeface="Arial" panose="020B0604020202020204" pitchFamily="34" charset="0"/>
              <a:buChar char="•"/>
            </a:pPr>
            <a:r>
              <a:rPr lang="en-US" sz="2800" b="0" i="0" dirty="0">
                <a:solidFill>
                  <a:srgbClr val="000000"/>
                </a:solidFill>
                <a:effectLst/>
                <a:latin typeface="inter-regular"/>
              </a:rPr>
              <a:t>It is an important constraint of the database.</a:t>
            </a:r>
          </a:p>
          <a:p>
            <a:pPr algn="just">
              <a:buFont typeface="Arial" panose="020B0604020202020204" pitchFamily="34" charset="0"/>
              <a:buChar char="•"/>
            </a:pPr>
            <a:r>
              <a:rPr lang="en-US" sz="2800" b="0" i="0" dirty="0">
                <a:solidFill>
                  <a:srgbClr val="000000"/>
                </a:solidFill>
                <a:effectLst/>
                <a:latin typeface="inter-regular"/>
              </a:rPr>
              <a:t>In the dependency preservation, at least one decomposed table must satisfy every dependency.</a:t>
            </a:r>
          </a:p>
          <a:p>
            <a:pPr algn="just">
              <a:buFont typeface="Arial" panose="020B0604020202020204" pitchFamily="34" charset="0"/>
              <a:buChar char="•"/>
            </a:pPr>
            <a:r>
              <a:rPr lang="en-US" sz="2800" b="0" i="0" dirty="0">
                <a:solidFill>
                  <a:srgbClr val="000000"/>
                </a:solidFill>
                <a:effectLst/>
                <a:latin typeface="inter-regular"/>
              </a:rPr>
              <a:t>If a relation R is decomposed into relation R1 and R2, then the dependencies of R either must be a part of R1 or R2 or must be derivable from the combination of functional dependencies of R1 and R2.</a:t>
            </a:r>
          </a:p>
          <a:p>
            <a:pPr algn="just">
              <a:buFont typeface="Arial" panose="020B0604020202020204" pitchFamily="34" charset="0"/>
              <a:buChar char="•"/>
            </a:pPr>
            <a:r>
              <a:rPr lang="en-US" sz="2800" b="0" i="0" dirty="0">
                <a:solidFill>
                  <a:srgbClr val="000000"/>
                </a:solidFill>
                <a:effectLst/>
                <a:latin typeface="inter-regular"/>
              </a:rPr>
              <a:t>For example, suppose there is a relation R (A, B, C, D) with functional dependency set (A-&gt;BC). The relational R is decomposed into R1(ABC) and R2(AD) which is dependency preserving because FD A-&gt;BC is a part of relation R1(ABC).</a:t>
            </a:r>
          </a:p>
        </p:txBody>
      </p:sp>
    </p:spTree>
    <p:extLst>
      <p:ext uri="{BB962C8B-B14F-4D97-AF65-F5344CB8AC3E}">
        <p14:creationId xmlns:p14="http://schemas.microsoft.com/office/powerpoint/2010/main" val="1758404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9A1C-6ABD-2596-1124-89C7277CC6E9}"/>
              </a:ext>
            </a:extLst>
          </p:cNvPr>
          <p:cNvSpPr>
            <a:spLocks noGrp="1"/>
          </p:cNvSpPr>
          <p:nvPr>
            <p:ph type="title"/>
          </p:nvPr>
        </p:nvSpPr>
        <p:spPr>
          <a:xfrm>
            <a:off x="1157664" y="2612571"/>
            <a:ext cx="9603275" cy="1049235"/>
          </a:xfrm>
        </p:spPr>
        <p:txBody>
          <a:bodyPr/>
          <a:lstStyle/>
          <a:p>
            <a:pPr algn="ctr"/>
            <a:r>
              <a:rPr lang="en-US" dirty="0"/>
              <a:t>THANK YOU </a:t>
            </a:r>
            <a:endParaRPr lang="en-IN" dirty="0"/>
          </a:p>
        </p:txBody>
      </p:sp>
    </p:spTree>
    <p:extLst>
      <p:ext uri="{BB962C8B-B14F-4D97-AF65-F5344CB8AC3E}">
        <p14:creationId xmlns:p14="http://schemas.microsoft.com/office/powerpoint/2010/main" val="30929063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2227</TotalTime>
  <Words>4596</Words>
  <Application>Microsoft Office PowerPoint</Application>
  <PresentationFormat>Widescreen</PresentationFormat>
  <Paragraphs>652</Paragraphs>
  <Slides>65</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65</vt:i4>
      </vt:variant>
    </vt:vector>
  </HeadingPairs>
  <TitlesOfParts>
    <vt:vector size="80" baseType="lpstr">
      <vt:lpstr>Arial</vt:lpstr>
      <vt:lpstr>Calibri</vt:lpstr>
      <vt:lpstr>Cambria</vt:lpstr>
      <vt:lpstr>erdana</vt:lpstr>
      <vt:lpstr>Gill Sans MT</vt:lpstr>
      <vt:lpstr>inherit</vt:lpstr>
      <vt:lpstr>inter-bold</vt:lpstr>
      <vt:lpstr>inter-regular</vt:lpstr>
      <vt:lpstr>Nunito</vt:lpstr>
      <vt:lpstr>Palatino Linotype</vt:lpstr>
      <vt:lpstr>Times New Roman</vt:lpstr>
      <vt:lpstr>Times New Roman</vt:lpstr>
      <vt:lpstr>Verdana</vt:lpstr>
      <vt:lpstr>Wingdings</vt:lpstr>
      <vt:lpstr>Gallery</vt:lpstr>
      <vt:lpstr>Database Management Systems</vt:lpstr>
      <vt:lpstr>PowerPoint Presentation</vt:lpstr>
      <vt:lpstr>PowerPoint Presentation</vt:lpstr>
      <vt:lpstr>PowerPoint Presentation</vt:lpstr>
      <vt:lpstr>Unit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dc:title>
  <dc:creator>neha28nandal@outlook.com</dc:creator>
  <cp:lastModifiedBy>Neha Nandal</cp:lastModifiedBy>
  <cp:revision>311</cp:revision>
  <dcterms:created xsi:type="dcterms:W3CDTF">2023-09-09T04:22:22Z</dcterms:created>
  <dcterms:modified xsi:type="dcterms:W3CDTF">2023-12-05T05:25:04Z</dcterms:modified>
</cp:coreProperties>
</file>