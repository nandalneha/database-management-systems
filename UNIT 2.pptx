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318" r:id="rId5"/>
    <p:sldId id="259" r:id="rId6"/>
    <p:sldId id="260" r:id="rId7"/>
    <p:sldId id="261" r:id="rId8"/>
    <p:sldId id="360" r:id="rId9"/>
    <p:sldId id="262" r:id="rId10"/>
    <p:sldId id="361" r:id="rId11"/>
    <p:sldId id="263" r:id="rId12"/>
    <p:sldId id="363" r:id="rId13"/>
    <p:sldId id="364" r:id="rId14"/>
    <p:sldId id="359" r:id="rId15"/>
    <p:sldId id="264" r:id="rId16"/>
    <p:sldId id="365" r:id="rId17"/>
    <p:sldId id="366" r:id="rId18"/>
    <p:sldId id="362" r:id="rId19"/>
    <p:sldId id="367" r:id="rId20"/>
    <p:sldId id="369" r:id="rId21"/>
    <p:sldId id="368" r:id="rId22"/>
    <p:sldId id="370" r:id="rId23"/>
    <p:sldId id="371" r:id="rId24"/>
    <p:sldId id="372" r:id="rId25"/>
    <p:sldId id="373" r:id="rId26"/>
    <p:sldId id="374" r:id="rId27"/>
    <p:sldId id="375" r:id="rId28"/>
    <p:sldId id="376" r:id="rId29"/>
    <p:sldId id="377" r:id="rId30"/>
    <p:sldId id="378" r:id="rId31"/>
    <p:sldId id="379" r:id="rId32"/>
    <p:sldId id="380" r:id="rId33"/>
    <p:sldId id="381" r:id="rId34"/>
    <p:sldId id="382" r:id="rId35"/>
    <p:sldId id="383" r:id="rId36"/>
    <p:sldId id="385" r:id="rId37"/>
    <p:sldId id="384" r:id="rId38"/>
    <p:sldId id="386" r:id="rId39"/>
    <p:sldId id="387" r:id="rId40"/>
    <p:sldId id="388" r:id="rId41"/>
    <p:sldId id="389" r:id="rId42"/>
    <p:sldId id="390" r:id="rId43"/>
    <p:sldId id="392" r:id="rId44"/>
    <p:sldId id="393" r:id="rId45"/>
    <p:sldId id="394" r:id="rId46"/>
    <p:sldId id="395" r:id="rId47"/>
    <p:sldId id="396" r:id="rId48"/>
    <p:sldId id="391" r:id="rId49"/>
    <p:sldId id="431" r:id="rId50"/>
    <p:sldId id="432" r:id="rId51"/>
    <p:sldId id="433" r:id="rId52"/>
    <p:sldId id="434" r:id="rId53"/>
    <p:sldId id="435" r:id="rId54"/>
    <p:sldId id="397" r:id="rId55"/>
    <p:sldId id="398" r:id="rId56"/>
    <p:sldId id="399" r:id="rId57"/>
    <p:sldId id="400" r:id="rId58"/>
    <p:sldId id="401" r:id="rId59"/>
    <p:sldId id="402" r:id="rId60"/>
    <p:sldId id="403" r:id="rId61"/>
    <p:sldId id="404" r:id="rId62"/>
    <p:sldId id="405" r:id="rId63"/>
    <p:sldId id="408" r:id="rId64"/>
    <p:sldId id="406" r:id="rId65"/>
    <p:sldId id="407" r:id="rId66"/>
    <p:sldId id="410" r:id="rId67"/>
    <p:sldId id="409" r:id="rId68"/>
    <p:sldId id="411" r:id="rId69"/>
    <p:sldId id="412" r:id="rId70"/>
    <p:sldId id="413" r:id="rId71"/>
    <p:sldId id="414" r:id="rId72"/>
    <p:sldId id="415" r:id="rId73"/>
    <p:sldId id="416" r:id="rId74"/>
    <p:sldId id="417" r:id="rId75"/>
    <p:sldId id="418" r:id="rId76"/>
    <p:sldId id="419" r:id="rId77"/>
    <p:sldId id="420" r:id="rId78"/>
    <p:sldId id="421" r:id="rId79"/>
    <p:sldId id="422" r:id="rId80"/>
    <p:sldId id="423" r:id="rId81"/>
    <p:sldId id="424" r:id="rId82"/>
    <p:sldId id="425" r:id="rId83"/>
    <p:sldId id="426" r:id="rId84"/>
    <p:sldId id="427" r:id="rId85"/>
    <p:sldId id="428" r:id="rId86"/>
    <p:sldId id="429" r:id="rId87"/>
    <p:sldId id="430" r:id="rId88"/>
    <p:sldId id="436" r:id="rId89"/>
    <p:sldId id="437" r:id="rId90"/>
    <p:sldId id="438" r:id="rId91"/>
    <p:sldId id="439" r:id="rId92"/>
    <p:sldId id="440" r:id="rId93"/>
    <p:sldId id="441" r:id="rId94"/>
    <p:sldId id="443" r:id="rId95"/>
    <p:sldId id="442" r:id="rId96"/>
    <p:sldId id="444" r:id="rId97"/>
    <p:sldId id="358" r:id="rId9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19-12-2023</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8039E184-7329-4088-8A28-AB52FED91289}"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16268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19-12-2023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37443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FCE208-276C-46C2-9558-0228F90E07C8}" type="datetimeFigureOut">
              <a:rPr lang="en-IN" smtClean="0"/>
              <a:t>19-12-2023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7911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FCE208-276C-46C2-9558-0228F90E07C8}" type="datetimeFigureOut">
              <a:rPr lang="en-IN" smtClean="0"/>
              <a:t>19-12-2023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39E184-7329-4088-8A28-AB52FED91289}"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42043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FCE208-276C-46C2-9558-0228F90E07C8}" type="datetimeFigureOut">
              <a:rPr lang="en-IN" smtClean="0"/>
              <a:t>19-12-2023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039E184-7329-4088-8A28-AB52FED91289}"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8952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FCE208-276C-46C2-9558-0228F90E07C8}" type="datetimeFigureOut">
              <a:rPr lang="en-IN" smtClean="0"/>
              <a:t>19-12-2023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039E184-7329-4088-8A28-AB52FED91289}"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68164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FCE208-276C-46C2-9558-0228F90E07C8}" type="datetimeFigureOut">
              <a:rPr lang="en-IN" smtClean="0"/>
              <a:t>19-12-2023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039E184-7329-4088-8A28-AB52FED91289}" type="slidenum">
              <a:rPr lang="en-IN" smtClean="0"/>
              <a:t>‹#›</a:t>
            </a:fld>
            <a:endParaRPr lang="en-IN"/>
          </a:p>
        </p:txBody>
      </p:sp>
    </p:spTree>
    <p:extLst>
      <p:ext uri="{BB962C8B-B14F-4D97-AF65-F5344CB8AC3E}">
        <p14:creationId xmlns:p14="http://schemas.microsoft.com/office/powerpoint/2010/main" val="2551954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FCE208-276C-46C2-9558-0228F90E07C8}" type="datetimeFigureOut">
              <a:rPr lang="en-IN" smtClean="0"/>
              <a:t>19-12-2023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39E184-7329-4088-8A28-AB52FED91289}"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33686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9FCE208-276C-46C2-9558-0228F90E07C8}" type="datetimeFigureOut">
              <a:rPr lang="en-IN" smtClean="0"/>
              <a:t>19-12-2023</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8039E184-7329-4088-8A28-AB52FED91289}"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43510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19-12-2023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87686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19-12-2023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28685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9FCE208-276C-46C2-9558-0228F90E07C8}" type="datetimeFigureOut">
              <a:rPr lang="en-IN" smtClean="0"/>
              <a:t>19-12-2023</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039E184-7329-4088-8A28-AB52FED91289}"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8721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www.geeksforgeeks.org/rename-operation-in-relational-algebra/" TargetMode="External"/><Relationship Id="rId3" Type="http://schemas.openxmlformats.org/officeDocument/2006/relationships/hyperlink" Target="https://www.geeksforgeeks.org/select-operation-in-relational-algebra/" TargetMode="External"/><Relationship Id="rId7" Type="http://schemas.openxmlformats.org/officeDocument/2006/relationships/hyperlink" Target="https://www.geeksforgeeks.org/sql-intersect-clause/" TargetMode="External"/><Relationship Id="rId2" Type="http://schemas.openxmlformats.org/officeDocument/2006/relationships/hyperlink" Target="https://www.geeksforgeeks.org/basic-operators-in-relational-algebra-2/" TargetMode="External"/><Relationship Id="rId1" Type="http://schemas.openxmlformats.org/officeDocument/2006/relationships/slideLayout" Target="../slideLayouts/slideLayout2.xml"/><Relationship Id="rId6" Type="http://schemas.openxmlformats.org/officeDocument/2006/relationships/hyperlink" Target="https://www.geeksforgeeks.org/set-theory-operations-in-relational-algebra/" TargetMode="External"/><Relationship Id="rId5" Type="http://schemas.openxmlformats.org/officeDocument/2006/relationships/hyperlink" Target="https://www.geeksforgeeks.org/sql-union-operator/" TargetMode="External"/><Relationship Id="rId4" Type="http://schemas.openxmlformats.org/officeDocument/2006/relationships/hyperlink" Target="https://www.geeksforgeeks.org/difference-between-selection-and-projection-in-dbms/" TargetMode="External"/><Relationship Id="rId9" Type="http://schemas.openxmlformats.org/officeDocument/2006/relationships/hyperlink" Target="https://www.geeksforgeeks.org/cartesian-product-operation-in-relational-algebr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hyperlink" Target="https://www.geeksforgeeks.org/tuple-relational-calculus-trc-in-dbms/" TargetMode="External"/><Relationship Id="rId2" Type="http://schemas.openxmlformats.org/officeDocument/2006/relationships/hyperlink" Target="https://www.geeksforgeeks.org/difference-between-relational-algebra-and-relational-calculus/" TargetMode="External"/><Relationship Id="rId1" Type="http://schemas.openxmlformats.org/officeDocument/2006/relationships/slideLayout" Target="../slideLayouts/slideLayout7.xml"/><Relationship Id="rId4" Type="http://schemas.openxmlformats.org/officeDocument/2006/relationships/hyperlink" Target="https://www.geeksforgeeks.org/domain-relational-calculus-in-dbms/"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9EAE8-BC4E-E8B6-4764-0C333FBFBD72}"/>
              </a:ext>
            </a:extLst>
          </p:cNvPr>
          <p:cNvSpPr>
            <a:spLocks noGrp="1"/>
          </p:cNvSpPr>
          <p:nvPr>
            <p:ph type="ctrTitle"/>
          </p:nvPr>
        </p:nvSpPr>
        <p:spPr/>
        <p:txBody>
          <a:bodyPr>
            <a:normAutofit fontScale="90000"/>
          </a:bodyPr>
          <a:lstStyle/>
          <a:p>
            <a:r>
              <a:rPr lang="en-US" dirty="0"/>
              <a:t>Database Management Systems</a:t>
            </a:r>
            <a:endParaRPr lang="en-IN" dirty="0"/>
          </a:p>
        </p:txBody>
      </p:sp>
      <p:sp>
        <p:nvSpPr>
          <p:cNvPr id="3" name="Subtitle 2">
            <a:extLst>
              <a:ext uri="{FF2B5EF4-FFF2-40B4-BE49-F238E27FC236}">
                <a16:creationId xmlns:a16="http://schemas.microsoft.com/office/drawing/2014/main" id="{7CA40BDD-4EC8-4EAD-CC7A-C9BAA605582E}"/>
              </a:ext>
            </a:extLst>
          </p:cNvPr>
          <p:cNvSpPr>
            <a:spLocks noGrp="1"/>
          </p:cNvSpPr>
          <p:nvPr>
            <p:ph type="subTitle" idx="1"/>
          </p:nvPr>
        </p:nvSpPr>
        <p:spPr/>
        <p:txBody>
          <a:bodyPr>
            <a:normAutofit fontScale="62500" lnSpcReduction="20000"/>
          </a:bodyPr>
          <a:lstStyle/>
          <a:p>
            <a:r>
              <a:rPr lang="en-US" dirty="0"/>
              <a:t>By:</a:t>
            </a:r>
          </a:p>
          <a:p>
            <a:r>
              <a:rPr lang="en-US" dirty="0"/>
              <a:t>Dr. Neha </a:t>
            </a:r>
            <a:r>
              <a:rPr lang="en-US" dirty="0" err="1"/>
              <a:t>Nandal</a:t>
            </a:r>
            <a:r>
              <a:rPr lang="en-US" dirty="0"/>
              <a:t> </a:t>
            </a:r>
          </a:p>
          <a:p>
            <a:r>
              <a:rPr lang="en-US" dirty="0"/>
              <a:t>Computer Science and Engineering</a:t>
            </a:r>
            <a:endParaRPr lang="en-IN" dirty="0"/>
          </a:p>
        </p:txBody>
      </p:sp>
    </p:spTree>
    <p:extLst>
      <p:ext uri="{BB962C8B-B14F-4D97-AF65-F5344CB8AC3E}">
        <p14:creationId xmlns:p14="http://schemas.microsoft.com/office/powerpoint/2010/main" val="120168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23FC7B4-2F7A-70B8-6FBE-52A6B161F24B}"/>
              </a:ext>
            </a:extLst>
          </p:cNvPr>
          <p:cNvSpPr txBox="1"/>
          <p:nvPr/>
        </p:nvSpPr>
        <p:spPr>
          <a:xfrm>
            <a:off x="3823608" y="245320"/>
            <a:ext cx="6101442" cy="369332"/>
          </a:xfrm>
          <a:prstGeom prst="rect">
            <a:avLst/>
          </a:prstGeom>
          <a:noFill/>
        </p:spPr>
        <p:txBody>
          <a:bodyPr wrap="square">
            <a:spAutoFit/>
          </a:bodyPr>
          <a:lstStyle/>
          <a:p>
            <a:r>
              <a:rPr lang="en-IN" sz="1800" b="1" i="0" u="none" strike="noStrike" baseline="0" dirty="0">
                <a:solidFill>
                  <a:srgbClr val="000000"/>
                </a:solidFill>
                <a:latin typeface="Times New Roman" panose="02020603050405020304" pitchFamily="18" charset="0"/>
              </a:rPr>
              <a:t>DATABASE MANAGEMENT SYSTEMS </a:t>
            </a:r>
            <a:endParaRPr lang="en-IN" dirty="0"/>
          </a:p>
        </p:txBody>
      </p:sp>
      <p:pic>
        <p:nvPicPr>
          <p:cNvPr id="9" name="Picture 8">
            <a:extLst>
              <a:ext uri="{FF2B5EF4-FFF2-40B4-BE49-F238E27FC236}">
                <a16:creationId xmlns:a16="http://schemas.microsoft.com/office/drawing/2014/main" id="{4AC9C2F3-3EF7-F5EC-C85A-C4858FDC4ADD}"/>
              </a:ext>
            </a:extLst>
          </p:cNvPr>
          <p:cNvPicPr>
            <a:picLocks noChangeAspect="1"/>
          </p:cNvPicPr>
          <p:nvPr/>
        </p:nvPicPr>
        <p:blipFill>
          <a:blip r:embed="rId2"/>
          <a:stretch>
            <a:fillRect/>
          </a:stretch>
        </p:blipFill>
        <p:spPr>
          <a:xfrm>
            <a:off x="695088" y="717505"/>
            <a:ext cx="10801824" cy="5422990"/>
          </a:xfrm>
          <a:prstGeom prst="rect">
            <a:avLst/>
          </a:prstGeom>
        </p:spPr>
      </p:pic>
    </p:spTree>
    <p:extLst>
      <p:ext uri="{BB962C8B-B14F-4D97-AF65-F5344CB8AC3E}">
        <p14:creationId xmlns:p14="http://schemas.microsoft.com/office/powerpoint/2010/main" val="631163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267957-2109-C267-879E-01CD91FED856}"/>
              </a:ext>
            </a:extLst>
          </p:cNvPr>
          <p:cNvPicPr>
            <a:picLocks noChangeAspect="1"/>
          </p:cNvPicPr>
          <p:nvPr/>
        </p:nvPicPr>
        <p:blipFill>
          <a:blip r:embed="rId2"/>
          <a:stretch>
            <a:fillRect/>
          </a:stretch>
        </p:blipFill>
        <p:spPr>
          <a:xfrm>
            <a:off x="1230085" y="0"/>
            <a:ext cx="10003971" cy="4385371"/>
          </a:xfrm>
          <a:prstGeom prst="rect">
            <a:avLst/>
          </a:prstGeom>
        </p:spPr>
      </p:pic>
      <p:pic>
        <p:nvPicPr>
          <p:cNvPr id="7" name="Picture 6">
            <a:extLst>
              <a:ext uri="{FF2B5EF4-FFF2-40B4-BE49-F238E27FC236}">
                <a16:creationId xmlns:a16="http://schemas.microsoft.com/office/drawing/2014/main" id="{168CB64E-1C84-237D-ED42-0ACC1DC7396A}"/>
              </a:ext>
            </a:extLst>
          </p:cNvPr>
          <p:cNvPicPr>
            <a:picLocks noChangeAspect="1"/>
          </p:cNvPicPr>
          <p:nvPr/>
        </p:nvPicPr>
        <p:blipFill>
          <a:blip r:embed="rId3"/>
          <a:stretch>
            <a:fillRect/>
          </a:stretch>
        </p:blipFill>
        <p:spPr>
          <a:xfrm>
            <a:off x="1230084" y="4385371"/>
            <a:ext cx="10003971" cy="2021992"/>
          </a:xfrm>
          <a:prstGeom prst="rect">
            <a:avLst/>
          </a:prstGeom>
        </p:spPr>
      </p:pic>
    </p:spTree>
    <p:extLst>
      <p:ext uri="{BB962C8B-B14F-4D97-AF65-F5344CB8AC3E}">
        <p14:creationId xmlns:p14="http://schemas.microsoft.com/office/powerpoint/2010/main" val="3323009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62E158D-44FB-5D8D-0AB3-D21CA5ED2642}"/>
              </a:ext>
            </a:extLst>
          </p:cNvPr>
          <p:cNvSpPr txBox="1"/>
          <p:nvPr/>
        </p:nvSpPr>
        <p:spPr>
          <a:xfrm>
            <a:off x="1426029" y="2046514"/>
            <a:ext cx="9914163" cy="1938992"/>
          </a:xfrm>
          <a:prstGeom prst="rect">
            <a:avLst/>
          </a:prstGeom>
          <a:noFill/>
        </p:spPr>
        <p:txBody>
          <a:bodyPr wrap="square">
            <a:spAutoFit/>
          </a:bodyPr>
          <a:lstStyle/>
          <a:p>
            <a:pPr algn="just"/>
            <a:r>
              <a:rPr lang="en-IN" sz="2400" b="1" i="0" u="none" strike="noStrike" baseline="0" dirty="0">
                <a:latin typeface="Times New Roman" panose="02020603050405020304" pitchFamily="18" charset="0"/>
              </a:rPr>
              <a:t>TEXT BOOKS:</a:t>
            </a:r>
          </a:p>
          <a:p>
            <a:pPr algn="just"/>
            <a:r>
              <a:rPr lang="en-US" sz="2400" b="0" i="0" u="none" strike="noStrike" baseline="0" dirty="0">
                <a:latin typeface="Times New Roman" panose="02020603050405020304" pitchFamily="18" charset="0"/>
              </a:rPr>
              <a:t>1. Data base System Concepts, </a:t>
            </a:r>
            <a:r>
              <a:rPr lang="en-US" sz="2400" b="0" i="0" u="none" strike="noStrike" baseline="0" dirty="0" err="1">
                <a:latin typeface="Times New Roman" panose="02020603050405020304" pitchFamily="18" charset="0"/>
              </a:rPr>
              <a:t>Silberschatz</a:t>
            </a:r>
            <a:r>
              <a:rPr lang="en-US" sz="2400" b="0" i="0" u="none" strike="noStrike" baseline="0" dirty="0">
                <a:latin typeface="Times New Roman" panose="02020603050405020304" pitchFamily="18" charset="0"/>
              </a:rPr>
              <a:t>, </a:t>
            </a:r>
            <a:r>
              <a:rPr lang="en-US" sz="2400" b="0" i="0" u="none" strike="noStrike" baseline="0" dirty="0" err="1">
                <a:latin typeface="Times New Roman" panose="02020603050405020304" pitchFamily="18" charset="0"/>
              </a:rPr>
              <a:t>Korth</a:t>
            </a:r>
            <a:r>
              <a:rPr lang="en-US" sz="2400" b="0" i="0" u="none" strike="noStrike" baseline="0" dirty="0">
                <a:latin typeface="Times New Roman" panose="02020603050405020304" pitchFamily="18" charset="0"/>
              </a:rPr>
              <a:t>, McGraw hill, Sixth Edition.(All UNITS </a:t>
            </a:r>
            <a:r>
              <a:rPr lang="en-IN" sz="2400" b="0" i="0" u="none" strike="noStrike" baseline="0" dirty="0">
                <a:latin typeface="Times New Roman" panose="02020603050405020304" pitchFamily="18" charset="0"/>
              </a:rPr>
              <a:t>except III </a:t>
            </a:r>
            <a:r>
              <a:rPr lang="en-IN" sz="2400" b="0" i="0" u="none" strike="noStrike" baseline="0" dirty="0" err="1">
                <a:latin typeface="Times New Roman" panose="02020603050405020304" pitchFamily="18" charset="0"/>
              </a:rPr>
              <a:t>th</a:t>
            </a:r>
            <a:r>
              <a:rPr lang="en-IN" sz="2400" b="0" i="0" u="none" strike="noStrike" baseline="0" dirty="0">
                <a:latin typeface="Times New Roman" panose="02020603050405020304" pitchFamily="18" charset="0"/>
              </a:rPr>
              <a:t>)</a:t>
            </a:r>
          </a:p>
          <a:p>
            <a:pPr algn="just"/>
            <a:r>
              <a:rPr lang="en-IN" sz="2400" b="0" i="0" u="none" strike="noStrike" baseline="0" dirty="0">
                <a:latin typeface="Times New Roman" panose="02020603050405020304" pitchFamily="18" charset="0"/>
              </a:rPr>
              <a:t>2. Data base Management Systems, </a:t>
            </a:r>
            <a:r>
              <a:rPr lang="en-IN" sz="2400" i="0" u="none" strike="noStrike" baseline="0" dirty="0" err="1">
                <a:latin typeface="Times New Roman" panose="02020603050405020304" pitchFamily="18" charset="0"/>
              </a:rPr>
              <a:t>Raghurama</a:t>
            </a:r>
            <a:r>
              <a:rPr lang="en-IN" sz="2400" i="0" u="none" strike="noStrike" baseline="0" dirty="0">
                <a:latin typeface="Times New Roman" panose="02020603050405020304" pitchFamily="18" charset="0"/>
              </a:rPr>
              <a:t> Krishnan</a:t>
            </a:r>
            <a:r>
              <a:rPr lang="en-IN" sz="2400" b="0" i="0" u="none" strike="noStrike" baseline="0" dirty="0">
                <a:latin typeface="Times New Roman" panose="02020603050405020304" pitchFamily="18" charset="0"/>
              </a:rPr>
              <a:t>, Johannes </a:t>
            </a:r>
            <a:r>
              <a:rPr lang="en-IN" sz="2400" b="0" i="0" u="none" strike="noStrike" baseline="0" dirty="0" err="1">
                <a:latin typeface="Times New Roman" panose="02020603050405020304" pitchFamily="18" charset="0"/>
              </a:rPr>
              <a:t>Gehrke</a:t>
            </a:r>
            <a:r>
              <a:rPr lang="en-IN" sz="2400" b="0" i="0" u="none" strike="noStrike" baseline="0" dirty="0">
                <a:latin typeface="Times New Roman" panose="02020603050405020304" pitchFamily="18" charset="0"/>
              </a:rPr>
              <a:t>, TATA </a:t>
            </a:r>
            <a:r>
              <a:rPr lang="en-IN" sz="2400" b="0" i="0" u="none" strike="noStrike" baseline="0" dirty="0" err="1">
                <a:latin typeface="Times New Roman" panose="02020603050405020304" pitchFamily="18" charset="0"/>
              </a:rPr>
              <a:t>McGrawHill</a:t>
            </a:r>
            <a:r>
              <a:rPr lang="en-IN" sz="2400" b="0" i="0" u="none" strike="noStrike" baseline="0" dirty="0">
                <a:latin typeface="Times New Roman" panose="02020603050405020304" pitchFamily="18" charset="0"/>
              </a:rPr>
              <a:t> 3rd Edition.</a:t>
            </a:r>
            <a:endParaRPr lang="en-IN" sz="2400" dirty="0"/>
          </a:p>
        </p:txBody>
      </p:sp>
    </p:spTree>
    <p:extLst>
      <p:ext uri="{BB962C8B-B14F-4D97-AF65-F5344CB8AC3E}">
        <p14:creationId xmlns:p14="http://schemas.microsoft.com/office/powerpoint/2010/main" val="2501966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56D3E-FF7B-DB81-23EB-CE632A2BC57C}"/>
              </a:ext>
            </a:extLst>
          </p:cNvPr>
          <p:cNvSpPr>
            <a:spLocks noGrp="1"/>
          </p:cNvSpPr>
          <p:nvPr>
            <p:ph type="title"/>
          </p:nvPr>
        </p:nvSpPr>
        <p:spPr/>
        <p:txBody>
          <a:bodyPr/>
          <a:lstStyle/>
          <a:p>
            <a:r>
              <a:rPr lang="en-US" dirty="0"/>
              <a:t>Unit 2: RELATIONAL ALGEBRA</a:t>
            </a:r>
            <a:endParaRPr lang="en-IN" dirty="0"/>
          </a:p>
        </p:txBody>
      </p:sp>
      <p:sp>
        <p:nvSpPr>
          <p:cNvPr id="3" name="Content Placeholder 2">
            <a:extLst>
              <a:ext uri="{FF2B5EF4-FFF2-40B4-BE49-F238E27FC236}">
                <a16:creationId xmlns:a16="http://schemas.microsoft.com/office/drawing/2014/main" id="{B3728833-8DB3-7D84-CF03-1C8A17C8F922}"/>
              </a:ext>
            </a:extLst>
          </p:cNvPr>
          <p:cNvSpPr>
            <a:spLocks noGrp="1"/>
          </p:cNvSpPr>
          <p:nvPr>
            <p:ph idx="1"/>
          </p:nvPr>
        </p:nvSpPr>
        <p:spPr/>
        <p:txBody>
          <a:bodyPr>
            <a:normAutofit/>
          </a:bodyPr>
          <a:lstStyle/>
          <a:p>
            <a:pPr algn="just"/>
            <a:r>
              <a:rPr lang="en-US" dirty="0"/>
              <a:t>Relational Algebra is a procedural query language. Relational algebra mainly provides a theoretical foundation for relational databases and SQL. The main purpose of using Relational Algebra is to define operators that transform one or more input relations into an output relation. </a:t>
            </a:r>
            <a:endParaRPr lang="en-IN" dirty="0"/>
          </a:p>
        </p:txBody>
      </p:sp>
      <p:sp>
        <p:nvSpPr>
          <p:cNvPr id="9" name="TextBox 8">
            <a:extLst>
              <a:ext uri="{FF2B5EF4-FFF2-40B4-BE49-F238E27FC236}">
                <a16:creationId xmlns:a16="http://schemas.microsoft.com/office/drawing/2014/main" id="{BB13315A-8296-CB5E-5C07-CBC0B6B7EC69}"/>
              </a:ext>
            </a:extLst>
          </p:cNvPr>
          <p:cNvSpPr txBox="1"/>
          <p:nvPr/>
        </p:nvSpPr>
        <p:spPr>
          <a:xfrm>
            <a:off x="1657349" y="3963378"/>
            <a:ext cx="9489621" cy="646331"/>
          </a:xfrm>
          <a:prstGeom prst="rect">
            <a:avLst/>
          </a:prstGeom>
          <a:noFill/>
        </p:spPr>
        <p:txBody>
          <a:bodyPr wrap="square">
            <a:spAutoFit/>
          </a:bodyPr>
          <a:lstStyle/>
          <a:p>
            <a:pPr algn="just"/>
            <a:r>
              <a:rPr lang="en-US" dirty="0"/>
              <a:t>As it is pure mathematics, there is no use of English Keywords in Relational Algebra and operators are represented using symbols.</a:t>
            </a:r>
            <a:endParaRPr lang="en-IN" dirty="0"/>
          </a:p>
        </p:txBody>
      </p:sp>
    </p:spTree>
    <p:extLst>
      <p:ext uri="{BB962C8B-B14F-4D97-AF65-F5344CB8AC3E}">
        <p14:creationId xmlns:p14="http://schemas.microsoft.com/office/powerpoint/2010/main" val="2504054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E79CE-8CBA-8902-401E-50ED0C21A0C6}"/>
              </a:ext>
            </a:extLst>
          </p:cNvPr>
          <p:cNvSpPr>
            <a:spLocks noGrp="1"/>
          </p:cNvSpPr>
          <p:nvPr>
            <p:ph type="title"/>
          </p:nvPr>
        </p:nvSpPr>
        <p:spPr/>
        <p:txBody>
          <a:bodyPr/>
          <a:lstStyle/>
          <a:p>
            <a:r>
              <a:rPr lang="en-US" dirty="0"/>
              <a:t>Fundamental Operators</a:t>
            </a:r>
          </a:p>
        </p:txBody>
      </p:sp>
      <p:sp>
        <p:nvSpPr>
          <p:cNvPr id="7" name="TextBox 6">
            <a:extLst>
              <a:ext uri="{FF2B5EF4-FFF2-40B4-BE49-F238E27FC236}">
                <a16:creationId xmlns:a16="http://schemas.microsoft.com/office/drawing/2014/main" id="{F5609F16-8DFF-5775-0DC6-F48FB2D748AA}"/>
              </a:ext>
            </a:extLst>
          </p:cNvPr>
          <p:cNvSpPr txBox="1"/>
          <p:nvPr/>
        </p:nvSpPr>
        <p:spPr>
          <a:xfrm>
            <a:off x="1451579" y="1951672"/>
            <a:ext cx="10272335" cy="3970318"/>
          </a:xfrm>
          <a:prstGeom prst="rect">
            <a:avLst/>
          </a:prstGeom>
          <a:noFill/>
        </p:spPr>
        <p:txBody>
          <a:bodyPr wrap="square">
            <a:spAutoFit/>
          </a:bodyPr>
          <a:lstStyle/>
          <a:p>
            <a:pPr algn="just" fontAlgn="base"/>
            <a:r>
              <a:rPr lang="en-US" sz="2800" b="0" i="0" dirty="0">
                <a:effectLst/>
                <a:latin typeface="Nunito" pitchFamily="2" charset="0"/>
              </a:rPr>
              <a:t>These are the </a:t>
            </a:r>
            <a:r>
              <a:rPr lang="en-US" sz="2800" b="0" i="0" u="sng" dirty="0">
                <a:effectLst/>
                <a:latin typeface="Nunito" pitchFamily="2" charset="0"/>
                <a:hlinkClick r:id="rId2">
                  <a:extLst>
                    <a:ext uri="{A12FA001-AC4F-418D-AE19-62706E023703}">
                      <ahyp:hlinkClr xmlns:ahyp="http://schemas.microsoft.com/office/drawing/2018/hyperlinkcolor" val="tx"/>
                    </a:ext>
                  </a:extLst>
                </a:hlinkClick>
              </a:rPr>
              <a:t>basic/fundamental operators</a:t>
            </a:r>
            <a:r>
              <a:rPr lang="en-US" sz="2800" b="0" i="0" dirty="0">
                <a:effectLst/>
                <a:latin typeface="Nunito" pitchFamily="2" charset="0"/>
              </a:rPr>
              <a:t> used in Relational Algebra.</a:t>
            </a:r>
          </a:p>
          <a:p>
            <a:pPr algn="just" fontAlgn="base">
              <a:buFont typeface="+mj-lt"/>
              <a:buAutoNum type="arabicPeriod"/>
            </a:pPr>
            <a:r>
              <a:rPr lang="en-US" sz="2800" b="0" i="0" u="sng" dirty="0">
                <a:effectLst/>
                <a:latin typeface="Nunito" pitchFamily="2" charset="0"/>
                <a:hlinkClick r:id="rId3">
                  <a:extLst>
                    <a:ext uri="{A12FA001-AC4F-418D-AE19-62706E023703}">
                      <ahyp:hlinkClr xmlns:ahyp="http://schemas.microsoft.com/office/drawing/2018/hyperlinkcolor" val="tx"/>
                    </a:ext>
                  </a:extLst>
                </a:hlinkClick>
              </a:rPr>
              <a:t>Selection(σ)</a:t>
            </a:r>
            <a:endParaRPr lang="en-US" sz="2800" b="0" i="0" dirty="0">
              <a:effectLst/>
              <a:latin typeface="Nunito" pitchFamily="2" charset="0"/>
            </a:endParaRPr>
          </a:p>
          <a:p>
            <a:pPr algn="just" fontAlgn="base">
              <a:buFont typeface="+mj-lt"/>
              <a:buAutoNum type="arabicPeriod"/>
            </a:pPr>
            <a:r>
              <a:rPr lang="en-US" sz="2800" b="0" i="0" u="sng" dirty="0">
                <a:effectLst/>
                <a:latin typeface="Nunito" pitchFamily="2" charset="0"/>
                <a:hlinkClick r:id="rId4">
                  <a:extLst>
                    <a:ext uri="{A12FA001-AC4F-418D-AE19-62706E023703}">
                      <ahyp:hlinkClr xmlns:ahyp="http://schemas.microsoft.com/office/drawing/2018/hyperlinkcolor" val="tx"/>
                    </a:ext>
                  </a:extLst>
                </a:hlinkClick>
              </a:rPr>
              <a:t>Projection(π)</a:t>
            </a:r>
            <a:endParaRPr lang="en-US" sz="2800" b="0" i="0" dirty="0">
              <a:effectLst/>
              <a:latin typeface="Nunito" pitchFamily="2" charset="0"/>
            </a:endParaRPr>
          </a:p>
          <a:p>
            <a:pPr algn="just" fontAlgn="base">
              <a:buFont typeface="+mj-lt"/>
              <a:buAutoNum type="arabicPeriod"/>
            </a:pPr>
            <a:r>
              <a:rPr lang="en-US" sz="2800" b="0" i="0" u="sng" dirty="0">
                <a:effectLst/>
                <a:latin typeface="Nunito" pitchFamily="2" charset="0"/>
                <a:hlinkClick r:id="rId5">
                  <a:extLst>
                    <a:ext uri="{A12FA001-AC4F-418D-AE19-62706E023703}">
                      <ahyp:hlinkClr xmlns:ahyp="http://schemas.microsoft.com/office/drawing/2018/hyperlinkcolor" val="tx"/>
                    </a:ext>
                  </a:extLst>
                </a:hlinkClick>
              </a:rPr>
              <a:t>Union(U)</a:t>
            </a:r>
            <a:endParaRPr lang="en-US" sz="2800" b="0" i="0" dirty="0">
              <a:effectLst/>
              <a:latin typeface="Nunito" pitchFamily="2" charset="0"/>
            </a:endParaRPr>
          </a:p>
          <a:p>
            <a:pPr algn="just" fontAlgn="base">
              <a:buFont typeface="+mj-lt"/>
              <a:buAutoNum type="arabicPeriod"/>
            </a:pPr>
            <a:r>
              <a:rPr lang="en-US" sz="2800" b="0" i="0" u="sng" dirty="0">
                <a:effectLst/>
                <a:latin typeface="Nunito" pitchFamily="2" charset="0"/>
                <a:hlinkClick r:id="rId6">
                  <a:extLst>
                    <a:ext uri="{A12FA001-AC4F-418D-AE19-62706E023703}">
                      <ahyp:hlinkClr xmlns:ahyp="http://schemas.microsoft.com/office/drawing/2018/hyperlinkcolor" val="tx"/>
                    </a:ext>
                  </a:extLst>
                </a:hlinkClick>
              </a:rPr>
              <a:t>Set Difference(-)</a:t>
            </a:r>
            <a:endParaRPr lang="en-US" sz="2800" b="0" i="0" dirty="0">
              <a:effectLst/>
              <a:latin typeface="Nunito" pitchFamily="2" charset="0"/>
            </a:endParaRPr>
          </a:p>
          <a:p>
            <a:pPr algn="just" fontAlgn="base">
              <a:buFont typeface="+mj-lt"/>
              <a:buAutoNum type="arabicPeriod"/>
            </a:pPr>
            <a:r>
              <a:rPr lang="en-US" sz="2800" b="0" i="0" u="sng" dirty="0">
                <a:effectLst/>
                <a:latin typeface="Nunito" pitchFamily="2" charset="0"/>
                <a:hlinkClick r:id="rId7">
                  <a:extLst>
                    <a:ext uri="{A12FA001-AC4F-418D-AE19-62706E023703}">
                      <ahyp:hlinkClr xmlns:ahyp="http://schemas.microsoft.com/office/drawing/2018/hyperlinkcolor" val="tx"/>
                    </a:ext>
                  </a:extLst>
                </a:hlinkClick>
              </a:rPr>
              <a:t>Set Intersection(∩)</a:t>
            </a:r>
            <a:endParaRPr lang="en-US" sz="2800" b="0" i="0" dirty="0">
              <a:effectLst/>
              <a:latin typeface="Nunito" pitchFamily="2" charset="0"/>
            </a:endParaRPr>
          </a:p>
          <a:p>
            <a:pPr algn="just" fontAlgn="base">
              <a:buFont typeface="+mj-lt"/>
              <a:buAutoNum type="arabicPeriod"/>
            </a:pPr>
            <a:r>
              <a:rPr lang="en-US" sz="2800" b="0" i="0" u="sng" dirty="0">
                <a:effectLst/>
                <a:latin typeface="Nunito" pitchFamily="2" charset="0"/>
                <a:hlinkClick r:id="rId8">
                  <a:extLst>
                    <a:ext uri="{A12FA001-AC4F-418D-AE19-62706E023703}">
                      <ahyp:hlinkClr xmlns:ahyp="http://schemas.microsoft.com/office/drawing/2018/hyperlinkcolor" val="tx"/>
                    </a:ext>
                  </a:extLst>
                </a:hlinkClick>
              </a:rPr>
              <a:t>Rename(ρ)</a:t>
            </a:r>
            <a:endParaRPr lang="en-US" sz="2800" b="0" i="0" dirty="0">
              <a:effectLst/>
              <a:latin typeface="Nunito" pitchFamily="2" charset="0"/>
            </a:endParaRPr>
          </a:p>
          <a:p>
            <a:pPr algn="just" fontAlgn="base">
              <a:buFont typeface="+mj-lt"/>
              <a:buAutoNum type="arabicPeriod"/>
            </a:pPr>
            <a:r>
              <a:rPr lang="en-US" sz="2800" b="0" i="0" u="sng" dirty="0">
                <a:effectLst/>
                <a:latin typeface="Nunito" pitchFamily="2" charset="0"/>
                <a:hlinkClick r:id="rId9">
                  <a:extLst>
                    <a:ext uri="{A12FA001-AC4F-418D-AE19-62706E023703}">
                      <ahyp:hlinkClr xmlns:ahyp="http://schemas.microsoft.com/office/drawing/2018/hyperlinkcolor" val="tx"/>
                    </a:ext>
                  </a:extLst>
                </a:hlinkClick>
              </a:rPr>
              <a:t>Cartesian Product(X)</a:t>
            </a:r>
            <a:endParaRPr lang="en-US" sz="2800" b="0" i="0" dirty="0">
              <a:effectLst/>
              <a:latin typeface="Nunito" pitchFamily="2" charset="0"/>
            </a:endParaRPr>
          </a:p>
        </p:txBody>
      </p:sp>
    </p:spTree>
    <p:extLst>
      <p:ext uri="{BB962C8B-B14F-4D97-AF65-F5344CB8AC3E}">
        <p14:creationId xmlns:p14="http://schemas.microsoft.com/office/powerpoint/2010/main" val="1791188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1A52D-0EAF-E126-97D9-36C680E748DE}"/>
              </a:ext>
            </a:extLst>
          </p:cNvPr>
          <p:cNvSpPr>
            <a:spLocks noGrp="1"/>
          </p:cNvSpPr>
          <p:nvPr>
            <p:ph type="title"/>
          </p:nvPr>
        </p:nvSpPr>
        <p:spPr>
          <a:xfrm>
            <a:off x="1451578" y="1391655"/>
            <a:ext cx="9603275" cy="1049235"/>
          </a:xfrm>
        </p:spPr>
        <p:txBody>
          <a:bodyPr/>
          <a:lstStyle/>
          <a:p>
            <a:r>
              <a:rPr lang="en-US" b="1" i="0" dirty="0">
                <a:solidFill>
                  <a:srgbClr val="273239"/>
                </a:solidFill>
                <a:effectLst/>
                <a:latin typeface="Nunito" pitchFamily="2" charset="0"/>
              </a:rPr>
              <a:t>1. Selection(σ): </a:t>
            </a:r>
            <a:endParaRPr lang="en-IN" dirty="0"/>
          </a:p>
        </p:txBody>
      </p:sp>
      <p:sp>
        <p:nvSpPr>
          <p:cNvPr id="5" name="Content Placeholder 4">
            <a:extLst>
              <a:ext uri="{FF2B5EF4-FFF2-40B4-BE49-F238E27FC236}">
                <a16:creationId xmlns:a16="http://schemas.microsoft.com/office/drawing/2014/main" id="{AA2429DE-1260-8BD4-BB5D-4274E5CCBC04}"/>
              </a:ext>
            </a:extLst>
          </p:cNvPr>
          <p:cNvSpPr>
            <a:spLocks noGrp="1"/>
          </p:cNvSpPr>
          <p:nvPr>
            <p:ph idx="1"/>
          </p:nvPr>
        </p:nvSpPr>
        <p:spPr/>
        <p:txBody>
          <a:bodyPr/>
          <a:lstStyle/>
          <a:p>
            <a:r>
              <a:rPr lang="en-US" b="0" i="0" dirty="0">
                <a:solidFill>
                  <a:srgbClr val="273239"/>
                </a:solidFill>
                <a:effectLst/>
                <a:latin typeface="Nunito" pitchFamily="2" charset="0"/>
              </a:rPr>
              <a:t>It is used to select required tuples of the relations.</a:t>
            </a:r>
            <a:endParaRPr lang="en-IN" dirty="0"/>
          </a:p>
        </p:txBody>
      </p:sp>
      <p:graphicFrame>
        <p:nvGraphicFramePr>
          <p:cNvPr id="11" name="Table 10">
            <a:extLst>
              <a:ext uri="{FF2B5EF4-FFF2-40B4-BE49-F238E27FC236}">
                <a16:creationId xmlns:a16="http://schemas.microsoft.com/office/drawing/2014/main" id="{175CB9AA-812F-58A3-951E-3635C54F8A1E}"/>
              </a:ext>
            </a:extLst>
          </p:cNvPr>
          <p:cNvGraphicFramePr>
            <a:graphicFrameLocks noGrp="1"/>
          </p:cNvGraphicFramePr>
          <p:nvPr>
            <p:extLst>
              <p:ext uri="{D42A27DB-BD31-4B8C-83A1-F6EECF244321}">
                <p14:modId xmlns:p14="http://schemas.microsoft.com/office/powerpoint/2010/main" val="3255548706"/>
              </p:ext>
            </p:extLst>
          </p:nvPr>
        </p:nvGraphicFramePr>
        <p:xfrm>
          <a:off x="3325244" y="2660782"/>
          <a:ext cx="1985055" cy="2026920"/>
        </p:xfrm>
        <a:graphic>
          <a:graphicData uri="http://schemas.openxmlformats.org/drawingml/2006/table">
            <a:tbl>
              <a:tblPr>
                <a:tableStyleId>{775DCB02-9BB8-47FD-8907-85C794F793BA}</a:tableStyleId>
              </a:tblPr>
              <a:tblGrid>
                <a:gridCol w="661685">
                  <a:extLst>
                    <a:ext uri="{9D8B030D-6E8A-4147-A177-3AD203B41FA5}">
                      <a16:colId xmlns:a16="http://schemas.microsoft.com/office/drawing/2014/main" val="109645884"/>
                    </a:ext>
                  </a:extLst>
                </a:gridCol>
                <a:gridCol w="661685">
                  <a:extLst>
                    <a:ext uri="{9D8B030D-6E8A-4147-A177-3AD203B41FA5}">
                      <a16:colId xmlns:a16="http://schemas.microsoft.com/office/drawing/2014/main" val="854577315"/>
                    </a:ext>
                  </a:extLst>
                </a:gridCol>
                <a:gridCol w="661685">
                  <a:extLst>
                    <a:ext uri="{9D8B030D-6E8A-4147-A177-3AD203B41FA5}">
                      <a16:colId xmlns:a16="http://schemas.microsoft.com/office/drawing/2014/main" val="297177488"/>
                    </a:ext>
                  </a:extLst>
                </a:gridCol>
              </a:tblGrid>
              <a:tr h="0">
                <a:tc>
                  <a:txBody>
                    <a:bodyPr/>
                    <a:lstStyle/>
                    <a:p>
                      <a:pPr algn="ctr" fontAlgn="base"/>
                      <a:r>
                        <a:rPr lang="en-IN" sz="1400" b="1" dirty="0">
                          <a:effectLst/>
                        </a:rPr>
                        <a:t>      A       </a:t>
                      </a:r>
                    </a:p>
                  </a:txBody>
                  <a:tcPr marL="38100" marR="38100" marT="63500" marB="63500" anchor="ctr"/>
                </a:tc>
                <a:tc>
                  <a:txBody>
                    <a:bodyPr/>
                    <a:lstStyle/>
                    <a:p>
                      <a:pPr algn="ctr" fontAlgn="base"/>
                      <a:r>
                        <a:rPr lang="en-IN" sz="1400" b="1" dirty="0">
                          <a:effectLst/>
                        </a:rPr>
                        <a:t>     B       </a:t>
                      </a:r>
                    </a:p>
                  </a:txBody>
                  <a:tcPr marL="63500" marR="63500" marT="63500" marB="63500" anchor="ctr"/>
                </a:tc>
                <a:tc>
                  <a:txBody>
                    <a:bodyPr/>
                    <a:lstStyle/>
                    <a:p>
                      <a:pPr algn="ctr" fontAlgn="base"/>
                      <a:r>
                        <a:rPr lang="en-IN" sz="1400" b="1" dirty="0">
                          <a:effectLst/>
                        </a:rPr>
                        <a:t>     C       </a:t>
                      </a:r>
                    </a:p>
                  </a:txBody>
                  <a:tcPr marL="63500" marR="63500" marT="63500" marB="63500" anchor="ctr"/>
                </a:tc>
                <a:extLst>
                  <a:ext uri="{0D108BD9-81ED-4DB2-BD59-A6C34878D82A}">
                    <a16:rowId xmlns:a16="http://schemas.microsoft.com/office/drawing/2014/main" val="995990670"/>
                  </a:ext>
                </a:extLst>
              </a:tr>
              <a:tr h="0">
                <a:tc>
                  <a:txBody>
                    <a:bodyPr/>
                    <a:lstStyle/>
                    <a:p>
                      <a:pPr algn="ctr" fontAlgn="ctr"/>
                      <a:r>
                        <a:rPr lang="en-IN" sz="1250" b="0">
                          <a:effectLst/>
                        </a:rPr>
                        <a:t>1</a:t>
                      </a:r>
                    </a:p>
                  </a:txBody>
                  <a:tcPr marL="63500" marR="63500" marT="88900" marB="88900" anchor="ctr"/>
                </a:tc>
                <a:tc>
                  <a:txBody>
                    <a:bodyPr/>
                    <a:lstStyle/>
                    <a:p>
                      <a:pPr algn="ctr" fontAlgn="ctr"/>
                      <a:r>
                        <a:rPr lang="en-IN" sz="1250" b="0">
                          <a:effectLst/>
                        </a:rPr>
                        <a:t>2</a:t>
                      </a:r>
                    </a:p>
                  </a:txBody>
                  <a:tcPr marL="63500" marR="63500" marT="88900" marB="88900" anchor="ctr"/>
                </a:tc>
                <a:tc>
                  <a:txBody>
                    <a:bodyPr/>
                    <a:lstStyle/>
                    <a:p>
                      <a:pPr algn="ctr" fontAlgn="ctr"/>
                      <a:r>
                        <a:rPr lang="en-IN" sz="1250" b="0">
                          <a:effectLst/>
                        </a:rPr>
                        <a:t>4</a:t>
                      </a:r>
                    </a:p>
                  </a:txBody>
                  <a:tcPr marL="63500" marR="63500" marT="88900" marB="88900" anchor="ctr"/>
                </a:tc>
                <a:extLst>
                  <a:ext uri="{0D108BD9-81ED-4DB2-BD59-A6C34878D82A}">
                    <a16:rowId xmlns:a16="http://schemas.microsoft.com/office/drawing/2014/main" val="2940120783"/>
                  </a:ext>
                </a:extLst>
              </a:tr>
              <a:tr h="0">
                <a:tc>
                  <a:txBody>
                    <a:bodyPr/>
                    <a:lstStyle/>
                    <a:p>
                      <a:pPr algn="ctr" fontAlgn="ctr"/>
                      <a:r>
                        <a:rPr lang="en-IN" sz="1250" b="0">
                          <a:effectLst/>
                        </a:rPr>
                        <a:t>2</a:t>
                      </a:r>
                    </a:p>
                  </a:txBody>
                  <a:tcPr marL="63500" marR="63500" marT="88900" marB="88900" anchor="ctr"/>
                </a:tc>
                <a:tc>
                  <a:txBody>
                    <a:bodyPr/>
                    <a:lstStyle/>
                    <a:p>
                      <a:pPr algn="ctr" fontAlgn="ctr"/>
                      <a:r>
                        <a:rPr lang="en-IN" sz="1250" b="0">
                          <a:effectLst/>
                        </a:rPr>
                        <a:t>2</a:t>
                      </a:r>
                    </a:p>
                  </a:txBody>
                  <a:tcPr marL="63500" marR="63500" marT="88900" marB="88900" anchor="ctr"/>
                </a:tc>
                <a:tc>
                  <a:txBody>
                    <a:bodyPr/>
                    <a:lstStyle/>
                    <a:p>
                      <a:pPr algn="ctr" fontAlgn="ctr"/>
                      <a:r>
                        <a:rPr lang="en-IN" sz="1250" b="0">
                          <a:effectLst/>
                        </a:rPr>
                        <a:t>3</a:t>
                      </a:r>
                    </a:p>
                  </a:txBody>
                  <a:tcPr marL="63500" marR="63500" marT="88900" marB="88900" anchor="ctr"/>
                </a:tc>
                <a:extLst>
                  <a:ext uri="{0D108BD9-81ED-4DB2-BD59-A6C34878D82A}">
                    <a16:rowId xmlns:a16="http://schemas.microsoft.com/office/drawing/2014/main" val="3651516130"/>
                  </a:ext>
                </a:extLst>
              </a:tr>
              <a:tr h="0">
                <a:tc>
                  <a:txBody>
                    <a:bodyPr/>
                    <a:lstStyle/>
                    <a:p>
                      <a:pPr algn="ctr" fontAlgn="ctr"/>
                      <a:r>
                        <a:rPr lang="en-IN" sz="1250" b="0">
                          <a:effectLst/>
                        </a:rPr>
                        <a:t>3</a:t>
                      </a:r>
                    </a:p>
                  </a:txBody>
                  <a:tcPr marL="63500" marR="63500" marT="88900" marB="88900" anchor="ctr"/>
                </a:tc>
                <a:tc>
                  <a:txBody>
                    <a:bodyPr/>
                    <a:lstStyle/>
                    <a:p>
                      <a:pPr algn="ctr" fontAlgn="ctr"/>
                      <a:r>
                        <a:rPr lang="en-IN" sz="1250" b="0">
                          <a:effectLst/>
                        </a:rPr>
                        <a:t>2</a:t>
                      </a:r>
                    </a:p>
                  </a:txBody>
                  <a:tcPr marL="63500" marR="63500" marT="88900" marB="88900" anchor="ctr"/>
                </a:tc>
                <a:tc>
                  <a:txBody>
                    <a:bodyPr/>
                    <a:lstStyle/>
                    <a:p>
                      <a:pPr algn="ctr" fontAlgn="ctr"/>
                      <a:r>
                        <a:rPr lang="en-IN" sz="1250" b="0">
                          <a:effectLst/>
                        </a:rPr>
                        <a:t>3</a:t>
                      </a:r>
                    </a:p>
                  </a:txBody>
                  <a:tcPr marL="63500" marR="63500" marT="88900" marB="88900" anchor="ctr"/>
                </a:tc>
                <a:extLst>
                  <a:ext uri="{0D108BD9-81ED-4DB2-BD59-A6C34878D82A}">
                    <a16:rowId xmlns:a16="http://schemas.microsoft.com/office/drawing/2014/main" val="3729891931"/>
                  </a:ext>
                </a:extLst>
              </a:tr>
              <a:tr h="0">
                <a:tc>
                  <a:txBody>
                    <a:bodyPr/>
                    <a:lstStyle/>
                    <a:p>
                      <a:pPr algn="ctr" fontAlgn="ctr"/>
                      <a:r>
                        <a:rPr lang="en-IN" sz="1250" b="0">
                          <a:effectLst/>
                        </a:rPr>
                        <a:t>4</a:t>
                      </a:r>
                    </a:p>
                  </a:txBody>
                  <a:tcPr marL="63500" marR="63500" marT="88900" marB="88900" anchor="ctr"/>
                </a:tc>
                <a:tc>
                  <a:txBody>
                    <a:bodyPr/>
                    <a:lstStyle/>
                    <a:p>
                      <a:pPr algn="ctr" fontAlgn="ctr"/>
                      <a:r>
                        <a:rPr lang="en-IN" sz="1250" b="0">
                          <a:effectLst/>
                        </a:rPr>
                        <a:t>3</a:t>
                      </a:r>
                    </a:p>
                  </a:txBody>
                  <a:tcPr marL="63500" marR="63500" marT="88900" marB="88900" anchor="ctr"/>
                </a:tc>
                <a:tc>
                  <a:txBody>
                    <a:bodyPr/>
                    <a:lstStyle/>
                    <a:p>
                      <a:pPr algn="ctr" fontAlgn="ctr"/>
                      <a:r>
                        <a:rPr lang="en-IN" sz="1250" b="0" dirty="0">
                          <a:effectLst/>
                        </a:rPr>
                        <a:t>4</a:t>
                      </a:r>
                    </a:p>
                  </a:txBody>
                  <a:tcPr marL="63500" marR="63500" marT="88900" marB="88900" anchor="ctr"/>
                </a:tc>
                <a:extLst>
                  <a:ext uri="{0D108BD9-81ED-4DB2-BD59-A6C34878D82A}">
                    <a16:rowId xmlns:a16="http://schemas.microsoft.com/office/drawing/2014/main" val="2611604028"/>
                  </a:ext>
                </a:extLst>
              </a:tr>
            </a:tbl>
          </a:graphicData>
        </a:graphic>
      </p:graphicFrame>
      <p:graphicFrame>
        <p:nvGraphicFramePr>
          <p:cNvPr id="12" name="Table 11">
            <a:extLst>
              <a:ext uri="{FF2B5EF4-FFF2-40B4-BE49-F238E27FC236}">
                <a16:creationId xmlns:a16="http://schemas.microsoft.com/office/drawing/2014/main" id="{48A5737D-09C6-5EE6-F0CF-A7AEF73D11DA}"/>
              </a:ext>
            </a:extLst>
          </p:cNvPr>
          <p:cNvGraphicFramePr>
            <a:graphicFrameLocks noGrp="1"/>
          </p:cNvGraphicFramePr>
          <p:nvPr>
            <p:extLst>
              <p:ext uri="{D42A27DB-BD31-4B8C-83A1-F6EECF244321}">
                <p14:modId xmlns:p14="http://schemas.microsoft.com/office/powerpoint/2010/main" val="935580671"/>
              </p:ext>
            </p:extLst>
          </p:nvPr>
        </p:nvGraphicFramePr>
        <p:xfrm>
          <a:off x="9232339" y="3064967"/>
          <a:ext cx="1508082" cy="1325392"/>
        </p:xfrm>
        <a:graphic>
          <a:graphicData uri="http://schemas.openxmlformats.org/drawingml/2006/table">
            <a:tbl>
              <a:tblPr>
                <a:tableStyleId>{69C7853C-536D-4A76-A0AE-DD22124D55A5}</a:tableStyleId>
              </a:tblPr>
              <a:tblGrid>
                <a:gridCol w="502694">
                  <a:extLst>
                    <a:ext uri="{9D8B030D-6E8A-4147-A177-3AD203B41FA5}">
                      <a16:colId xmlns:a16="http://schemas.microsoft.com/office/drawing/2014/main" val="2239424510"/>
                    </a:ext>
                  </a:extLst>
                </a:gridCol>
                <a:gridCol w="502694">
                  <a:extLst>
                    <a:ext uri="{9D8B030D-6E8A-4147-A177-3AD203B41FA5}">
                      <a16:colId xmlns:a16="http://schemas.microsoft.com/office/drawing/2014/main" val="3744975195"/>
                    </a:ext>
                  </a:extLst>
                </a:gridCol>
                <a:gridCol w="502694">
                  <a:extLst>
                    <a:ext uri="{9D8B030D-6E8A-4147-A177-3AD203B41FA5}">
                      <a16:colId xmlns:a16="http://schemas.microsoft.com/office/drawing/2014/main" val="47160261"/>
                    </a:ext>
                  </a:extLst>
                </a:gridCol>
              </a:tblGrid>
              <a:tr h="208517">
                <a:tc>
                  <a:txBody>
                    <a:bodyPr/>
                    <a:lstStyle/>
                    <a:p>
                      <a:pPr algn="ctr" fontAlgn="base"/>
                      <a:r>
                        <a:rPr lang="en-IN" sz="1400" b="1" dirty="0">
                          <a:effectLst/>
                        </a:rPr>
                        <a:t> A </a:t>
                      </a:r>
                    </a:p>
                  </a:txBody>
                  <a:tcPr marL="38100" marR="38100" marT="63500" marB="63500" anchor="ctr"/>
                </a:tc>
                <a:tc>
                  <a:txBody>
                    <a:bodyPr/>
                    <a:lstStyle/>
                    <a:p>
                      <a:pPr algn="ctr" fontAlgn="base"/>
                      <a:r>
                        <a:rPr lang="en-IN" sz="1400" b="1" dirty="0">
                          <a:effectLst/>
                        </a:rPr>
                        <a:t>B </a:t>
                      </a:r>
                    </a:p>
                  </a:txBody>
                  <a:tcPr marL="63500" marR="63500" marT="63500" marB="63500" anchor="ctr"/>
                </a:tc>
                <a:tc>
                  <a:txBody>
                    <a:bodyPr/>
                    <a:lstStyle/>
                    <a:p>
                      <a:pPr algn="ctr" fontAlgn="base"/>
                      <a:r>
                        <a:rPr lang="en-IN" sz="1400" b="1" dirty="0">
                          <a:effectLst/>
                        </a:rPr>
                        <a:t>C  </a:t>
                      </a:r>
                    </a:p>
                  </a:txBody>
                  <a:tcPr marL="63500" marR="63500" marT="63500" marB="63500" anchor="ctr"/>
                </a:tc>
                <a:extLst>
                  <a:ext uri="{0D108BD9-81ED-4DB2-BD59-A6C34878D82A}">
                    <a16:rowId xmlns:a16="http://schemas.microsoft.com/office/drawing/2014/main" val="2064625806"/>
                  </a:ext>
                </a:extLst>
              </a:tr>
              <a:tr h="492516">
                <a:tc>
                  <a:txBody>
                    <a:bodyPr/>
                    <a:lstStyle/>
                    <a:p>
                      <a:pPr algn="ctr" fontAlgn="ctr"/>
                      <a:r>
                        <a:rPr lang="en-IN" sz="1250" b="0" dirty="0">
                          <a:effectLst/>
                        </a:rPr>
                        <a:t>1</a:t>
                      </a:r>
                    </a:p>
                  </a:txBody>
                  <a:tcPr marL="63500" marR="63500" marT="88900" marB="88900" anchor="ctr"/>
                </a:tc>
                <a:tc>
                  <a:txBody>
                    <a:bodyPr/>
                    <a:lstStyle/>
                    <a:p>
                      <a:pPr algn="ctr" fontAlgn="ctr"/>
                      <a:r>
                        <a:rPr lang="en-IN" sz="1250" b="0">
                          <a:effectLst/>
                        </a:rPr>
                        <a:t>2</a:t>
                      </a:r>
                    </a:p>
                  </a:txBody>
                  <a:tcPr marL="63500" marR="63500" marT="88900" marB="88900" anchor="ctr"/>
                </a:tc>
                <a:tc>
                  <a:txBody>
                    <a:bodyPr/>
                    <a:lstStyle/>
                    <a:p>
                      <a:pPr algn="ctr" fontAlgn="ctr"/>
                      <a:r>
                        <a:rPr lang="en-IN" sz="1250" b="0" dirty="0">
                          <a:effectLst/>
                        </a:rPr>
                        <a:t>4</a:t>
                      </a:r>
                    </a:p>
                  </a:txBody>
                  <a:tcPr marL="63500" marR="63500" marT="88900" marB="88900" anchor="ctr"/>
                </a:tc>
                <a:extLst>
                  <a:ext uri="{0D108BD9-81ED-4DB2-BD59-A6C34878D82A}">
                    <a16:rowId xmlns:a16="http://schemas.microsoft.com/office/drawing/2014/main" val="3115510705"/>
                  </a:ext>
                </a:extLst>
              </a:tr>
              <a:tr h="492516">
                <a:tc>
                  <a:txBody>
                    <a:bodyPr/>
                    <a:lstStyle/>
                    <a:p>
                      <a:pPr algn="ctr" fontAlgn="ctr"/>
                      <a:r>
                        <a:rPr lang="en-IN" sz="1250" b="0">
                          <a:effectLst/>
                        </a:rPr>
                        <a:t>4</a:t>
                      </a:r>
                    </a:p>
                  </a:txBody>
                  <a:tcPr marL="63500" marR="63500" marT="88900" marB="88900" anchor="ctr"/>
                </a:tc>
                <a:tc>
                  <a:txBody>
                    <a:bodyPr/>
                    <a:lstStyle/>
                    <a:p>
                      <a:pPr algn="ctr" fontAlgn="ctr"/>
                      <a:r>
                        <a:rPr lang="en-IN" sz="1250" b="0">
                          <a:effectLst/>
                        </a:rPr>
                        <a:t>3</a:t>
                      </a:r>
                    </a:p>
                  </a:txBody>
                  <a:tcPr marL="63500" marR="63500" marT="88900" marB="88900" anchor="ctr"/>
                </a:tc>
                <a:tc>
                  <a:txBody>
                    <a:bodyPr/>
                    <a:lstStyle/>
                    <a:p>
                      <a:pPr algn="ctr" fontAlgn="ctr"/>
                      <a:r>
                        <a:rPr lang="en-IN" sz="1250" b="0" dirty="0">
                          <a:effectLst/>
                        </a:rPr>
                        <a:t>4</a:t>
                      </a:r>
                    </a:p>
                  </a:txBody>
                  <a:tcPr marL="63500" marR="63500" marT="88900" marB="88900" anchor="ctr"/>
                </a:tc>
                <a:extLst>
                  <a:ext uri="{0D108BD9-81ED-4DB2-BD59-A6C34878D82A}">
                    <a16:rowId xmlns:a16="http://schemas.microsoft.com/office/drawing/2014/main" val="3052652098"/>
                  </a:ext>
                </a:extLst>
              </a:tr>
            </a:tbl>
          </a:graphicData>
        </a:graphic>
      </p:graphicFrame>
      <p:sp>
        <p:nvSpPr>
          <p:cNvPr id="13" name="Rectangle 2">
            <a:extLst>
              <a:ext uri="{FF2B5EF4-FFF2-40B4-BE49-F238E27FC236}">
                <a16:creationId xmlns:a16="http://schemas.microsoft.com/office/drawing/2014/main" id="{C781D465-8E17-197B-7342-A00353047140}"/>
              </a:ext>
            </a:extLst>
          </p:cNvPr>
          <p:cNvSpPr>
            <a:spLocks noChangeArrowheads="1"/>
          </p:cNvSpPr>
          <p:nvPr/>
        </p:nvSpPr>
        <p:spPr bwMode="auto">
          <a:xfrm>
            <a:off x="5514594" y="3304910"/>
            <a:ext cx="3338740"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Nunito" pitchFamily="2" charset="0"/>
              </a:rPr>
              <a:t>For this relation, </a:t>
            </a:r>
            <a:r>
              <a:rPr kumimoji="0" lang="en-US" altLang="en-US" sz="1600" b="1" i="0" u="none" strike="noStrike" cap="none" normalizeH="0" baseline="0" dirty="0">
                <a:ln>
                  <a:noFill/>
                </a:ln>
                <a:solidFill>
                  <a:srgbClr val="273239"/>
                </a:solidFill>
                <a:effectLst/>
                <a:latin typeface="Nunito" pitchFamily="2" charset="0"/>
              </a:rPr>
              <a:t>σ(c&gt;3)R</a:t>
            </a:r>
            <a:r>
              <a:rPr kumimoji="0" lang="en-US" altLang="en-US" sz="1600" b="0" i="0" u="none" strike="noStrike" cap="none" normalizeH="0" baseline="0" dirty="0">
                <a:ln>
                  <a:noFill/>
                </a:ln>
                <a:solidFill>
                  <a:srgbClr val="273239"/>
                </a:solidFill>
                <a:effectLst/>
                <a:latin typeface="Nunito" pitchFamily="2" charset="0"/>
              </a:rPr>
              <a:t> will select the tuples which have c more than 3.</a:t>
            </a:r>
            <a:endParaRPr kumimoji="0" lang="en-US" altLang="en-US" sz="1000" b="0" i="0" u="none" strike="noStrike" cap="none" normalizeH="0" baseline="0" dirty="0">
              <a:ln>
                <a:noFill/>
              </a:ln>
              <a:solidFill>
                <a:schemeClr val="tx1"/>
              </a:solidFill>
              <a:effectLst/>
            </a:endParaRPr>
          </a:p>
        </p:txBody>
      </p:sp>
      <p:sp>
        <p:nvSpPr>
          <p:cNvPr id="15" name="TextBox 14">
            <a:extLst>
              <a:ext uri="{FF2B5EF4-FFF2-40B4-BE49-F238E27FC236}">
                <a16:creationId xmlns:a16="http://schemas.microsoft.com/office/drawing/2014/main" id="{742220D5-A090-4CC0-895F-C5FE1C3E2BEE}"/>
              </a:ext>
            </a:extLst>
          </p:cNvPr>
          <p:cNvSpPr txBox="1"/>
          <p:nvPr/>
        </p:nvSpPr>
        <p:spPr>
          <a:xfrm>
            <a:off x="1568904" y="5143179"/>
            <a:ext cx="9054192" cy="646331"/>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73239"/>
                </a:solidFill>
                <a:effectLst/>
                <a:latin typeface="Nunito" pitchFamily="2" charset="0"/>
              </a:rPr>
              <a:t>Note:</a:t>
            </a:r>
            <a:r>
              <a:rPr kumimoji="0" lang="en-US" altLang="en-US" sz="1800" b="0" i="0" u="none" strike="noStrike" cap="none" normalizeH="0" baseline="0" dirty="0">
                <a:ln>
                  <a:noFill/>
                </a:ln>
                <a:solidFill>
                  <a:srgbClr val="273239"/>
                </a:solidFill>
                <a:effectLst/>
                <a:latin typeface="Nunito" pitchFamily="2" charset="0"/>
              </a:rPr>
              <a:t> The selection operator only selects the required tuples but does not display them. For display, the data projection operator is used.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48409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791AA-D9A0-F0B6-C5DA-40A16BD22E98}"/>
              </a:ext>
            </a:extLst>
          </p:cNvPr>
          <p:cNvSpPr>
            <a:spLocks noGrp="1"/>
          </p:cNvSpPr>
          <p:nvPr>
            <p:ph type="title"/>
          </p:nvPr>
        </p:nvSpPr>
        <p:spPr/>
        <p:txBody>
          <a:bodyPr/>
          <a:lstStyle/>
          <a:p>
            <a:r>
              <a:rPr lang="en-IN" dirty="0"/>
              <a:t>2. Projection(</a:t>
            </a:r>
            <a:r>
              <a:rPr lang="el-GR" dirty="0"/>
              <a:t>π): </a:t>
            </a:r>
            <a:endParaRPr lang="en-IN" dirty="0"/>
          </a:p>
        </p:txBody>
      </p:sp>
      <p:sp>
        <p:nvSpPr>
          <p:cNvPr id="13" name="TextBox 12">
            <a:extLst>
              <a:ext uri="{FF2B5EF4-FFF2-40B4-BE49-F238E27FC236}">
                <a16:creationId xmlns:a16="http://schemas.microsoft.com/office/drawing/2014/main" id="{A4D1F5F9-2315-0264-51DD-89DCCF88FC4A}"/>
              </a:ext>
            </a:extLst>
          </p:cNvPr>
          <p:cNvSpPr txBox="1"/>
          <p:nvPr/>
        </p:nvSpPr>
        <p:spPr>
          <a:xfrm>
            <a:off x="1451579" y="2011821"/>
            <a:ext cx="6101442" cy="369332"/>
          </a:xfrm>
          <a:prstGeom prst="rect">
            <a:avLst/>
          </a:prstGeom>
          <a:noFill/>
        </p:spPr>
        <p:txBody>
          <a:bodyPr wrap="square">
            <a:spAutoFit/>
          </a:bodyPr>
          <a:lstStyle/>
          <a:p>
            <a:r>
              <a:rPr lang="en-US" dirty="0"/>
              <a:t>It is used to project required column data from a relation. </a:t>
            </a:r>
            <a:endParaRPr lang="en-IN" dirty="0"/>
          </a:p>
        </p:txBody>
      </p:sp>
      <p:graphicFrame>
        <p:nvGraphicFramePr>
          <p:cNvPr id="14" name="Table 13">
            <a:extLst>
              <a:ext uri="{FF2B5EF4-FFF2-40B4-BE49-F238E27FC236}">
                <a16:creationId xmlns:a16="http://schemas.microsoft.com/office/drawing/2014/main" id="{27CE723E-C5CE-3A84-8E5F-3D40202C7006}"/>
              </a:ext>
            </a:extLst>
          </p:cNvPr>
          <p:cNvGraphicFramePr>
            <a:graphicFrameLocks noGrp="1"/>
          </p:cNvGraphicFramePr>
          <p:nvPr>
            <p:extLst>
              <p:ext uri="{D42A27DB-BD31-4B8C-83A1-F6EECF244321}">
                <p14:modId xmlns:p14="http://schemas.microsoft.com/office/powerpoint/2010/main" val="3432714462"/>
              </p:ext>
            </p:extLst>
          </p:nvPr>
        </p:nvGraphicFramePr>
        <p:xfrm>
          <a:off x="4906282" y="3429000"/>
          <a:ext cx="2379436" cy="1422400"/>
        </p:xfrm>
        <a:graphic>
          <a:graphicData uri="http://schemas.openxmlformats.org/drawingml/2006/table">
            <a:tbl>
              <a:tblPr>
                <a:tableStyleId>{69C7853C-536D-4A76-A0AE-DD22124D55A5}</a:tableStyleId>
              </a:tblPr>
              <a:tblGrid>
                <a:gridCol w="1189718">
                  <a:extLst>
                    <a:ext uri="{9D8B030D-6E8A-4147-A177-3AD203B41FA5}">
                      <a16:colId xmlns:a16="http://schemas.microsoft.com/office/drawing/2014/main" val="3666699463"/>
                    </a:ext>
                  </a:extLst>
                </a:gridCol>
                <a:gridCol w="1189718">
                  <a:extLst>
                    <a:ext uri="{9D8B030D-6E8A-4147-A177-3AD203B41FA5}">
                      <a16:colId xmlns:a16="http://schemas.microsoft.com/office/drawing/2014/main" val="3111089181"/>
                    </a:ext>
                  </a:extLst>
                </a:gridCol>
              </a:tblGrid>
              <a:tr h="251067">
                <a:tc>
                  <a:txBody>
                    <a:bodyPr/>
                    <a:lstStyle/>
                    <a:p>
                      <a:pPr algn="ctr" fontAlgn="base"/>
                      <a:r>
                        <a:rPr lang="en-IN" sz="1400" b="1" dirty="0">
                          <a:effectLst/>
                        </a:rPr>
                        <a:t>     B       </a:t>
                      </a:r>
                    </a:p>
                  </a:txBody>
                  <a:tcPr marL="38100" marR="38100" marT="63500" marB="63500" anchor="ctr"/>
                </a:tc>
                <a:tc>
                  <a:txBody>
                    <a:bodyPr/>
                    <a:lstStyle/>
                    <a:p>
                      <a:pPr algn="ctr" fontAlgn="base"/>
                      <a:r>
                        <a:rPr lang="en-IN" sz="1400" b="1" dirty="0">
                          <a:effectLst/>
                        </a:rPr>
                        <a:t>     C       </a:t>
                      </a:r>
                    </a:p>
                  </a:txBody>
                  <a:tcPr marL="63500" marR="63500" marT="63500" marB="63500" anchor="ctr"/>
                </a:tc>
                <a:extLst>
                  <a:ext uri="{0D108BD9-81ED-4DB2-BD59-A6C34878D82A}">
                    <a16:rowId xmlns:a16="http://schemas.microsoft.com/office/drawing/2014/main" val="1917955721"/>
                  </a:ext>
                </a:extLst>
              </a:tr>
              <a:tr h="266056">
                <a:tc>
                  <a:txBody>
                    <a:bodyPr/>
                    <a:lstStyle/>
                    <a:p>
                      <a:pPr algn="ctr" fontAlgn="ctr"/>
                      <a:r>
                        <a:rPr lang="en-IN" sz="1200" b="0">
                          <a:effectLst/>
                        </a:rPr>
                        <a:t>2</a:t>
                      </a:r>
                    </a:p>
                  </a:txBody>
                  <a:tcPr marL="63500" marR="63500" marT="88900" marB="88900" anchor="ctr"/>
                </a:tc>
                <a:tc>
                  <a:txBody>
                    <a:bodyPr/>
                    <a:lstStyle/>
                    <a:p>
                      <a:pPr algn="ctr" fontAlgn="ctr"/>
                      <a:r>
                        <a:rPr lang="en-IN" sz="1200" b="0">
                          <a:effectLst/>
                        </a:rPr>
                        <a:t>4</a:t>
                      </a:r>
                    </a:p>
                  </a:txBody>
                  <a:tcPr marL="63500" marR="63500" marT="88900" marB="88900" anchor="ctr"/>
                </a:tc>
                <a:extLst>
                  <a:ext uri="{0D108BD9-81ED-4DB2-BD59-A6C34878D82A}">
                    <a16:rowId xmlns:a16="http://schemas.microsoft.com/office/drawing/2014/main" val="293831011"/>
                  </a:ext>
                </a:extLst>
              </a:tr>
              <a:tr h="266056">
                <a:tc>
                  <a:txBody>
                    <a:bodyPr/>
                    <a:lstStyle/>
                    <a:p>
                      <a:pPr algn="ctr" fontAlgn="ctr"/>
                      <a:r>
                        <a:rPr lang="en-IN" sz="1200" b="0">
                          <a:effectLst/>
                        </a:rPr>
                        <a:t>2</a:t>
                      </a:r>
                    </a:p>
                  </a:txBody>
                  <a:tcPr marL="63500" marR="63500" marT="88900" marB="88900" anchor="ctr"/>
                </a:tc>
                <a:tc>
                  <a:txBody>
                    <a:bodyPr/>
                    <a:lstStyle/>
                    <a:p>
                      <a:pPr algn="ctr" fontAlgn="ctr"/>
                      <a:r>
                        <a:rPr lang="en-IN" sz="1200" b="0" dirty="0">
                          <a:effectLst/>
                        </a:rPr>
                        <a:t>3</a:t>
                      </a:r>
                    </a:p>
                  </a:txBody>
                  <a:tcPr marL="63500" marR="63500" marT="88900" marB="88900" anchor="ctr"/>
                </a:tc>
                <a:extLst>
                  <a:ext uri="{0D108BD9-81ED-4DB2-BD59-A6C34878D82A}">
                    <a16:rowId xmlns:a16="http://schemas.microsoft.com/office/drawing/2014/main" val="3067210465"/>
                  </a:ext>
                </a:extLst>
              </a:tr>
              <a:tr h="266056">
                <a:tc>
                  <a:txBody>
                    <a:bodyPr/>
                    <a:lstStyle/>
                    <a:p>
                      <a:pPr algn="ctr" fontAlgn="ctr"/>
                      <a:r>
                        <a:rPr lang="en-IN" sz="1200" b="0">
                          <a:effectLst/>
                        </a:rPr>
                        <a:t>3</a:t>
                      </a:r>
                    </a:p>
                  </a:txBody>
                  <a:tcPr marL="63500" marR="63500" marT="88900" marB="88900" anchor="ctr"/>
                </a:tc>
                <a:tc>
                  <a:txBody>
                    <a:bodyPr/>
                    <a:lstStyle/>
                    <a:p>
                      <a:pPr algn="ctr" fontAlgn="ctr"/>
                      <a:r>
                        <a:rPr lang="en-IN" sz="1200" b="0" dirty="0">
                          <a:effectLst/>
                        </a:rPr>
                        <a:t>4</a:t>
                      </a:r>
                    </a:p>
                  </a:txBody>
                  <a:tcPr marL="63500" marR="63500" marT="88900" marB="88900" anchor="ctr"/>
                </a:tc>
                <a:extLst>
                  <a:ext uri="{0D108BD9-81ED-4DB2-BD59-A6C34878D82A}">
                    <a16:rowId xmlns:a16="http://schemas.microsoft.com/office/drawing/2014/main" val="1015817522"/>
                  </a:ext>
                </a:extLst>
              </a:tr>
            </a:tbl>
          </a:graphicData>
        </a:graphic>
      </p:graphicFrame>
      <p:sp>
        <p:nvSpPr>
          <p:cNvPr id="15" name="Rectangle 4">
            <a:extLst>
              <a:ext uri="{FF2B5EF4-FFF2-40B4-BE49-F238E27FC236}">
                <a16:creationId xmlns:a16="http://schemas.microsoft.com/office/drawing/2014/main" id="{70ABF84E-7D58-1C16-86C1-340697A1B751}"/>
              </a:ext>
            </a:extLst>
          </p:cNvPr>
          <p:cNvSpPr>
            <a:spLocks noChangeArrowheads="1"/>
          </p:cNvSpPr>
          <p:nvPr/>
        </p:nvSpPr>
        <p:spPr bwMode="auto">
          <a:xfrm>
            <a:off x="1451579" y="2539220"/>
            <a:ext cx="8095796" cy="6155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Nunito" pitchFamily="2" charset="0"/>
              </a:rPr>
              <a:t>Consider Table 1. Suppose we want columns B and C from Relation R.</a:t>
            </a:r>
            <a:endParaRPr kumimoji="0" lang="en-US" altLang="en-US" sz="2000" b="0" i="0" u="none" strike="noStrike" cap="none" normalizeH="0" baseline="0" dirty="0">
              <a:ln>
                <a:noFill/>
              </a:ln>
              <a:solidFill>
                <a:srgbClr val="273239"/>
              </a:solidFill>
              <a:effectLst/>
              <a:latin typeface="Consolas" panose="020B0609020204030204" pitchFamily="49"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π(B,C)R will show following columns.</a:t>
            </a:r>
            <a:endParaRPr kumimoji="0" lang="en-US" altLang="en-US" sz="1100" b="0" i="0" u="none" strike="noStrike" cap="none" normalizeH="0" baseline="0" dirty="0">
              <a:ln>
                <a:noFill/>
              </a:ln>
              <a:solidFill>
                <a:schemeClr val="tx1"/>
              </a:solidFill>
              <a:effectLst/>
            </a:endParaRPr>
          </a:p>
        </p:txBody>
      </p:sp>
      <p:sp>
        <p:nvSpPr>
          <p:cNvPr id="17" name="TextBox 16">
            <a:extLst>
              <a:ext uri="{FF2B5EF4-FFF2-40B4-BE49-F238E27FC236}">
                <a16:creationId xmlns:a16="http://schemas.microsoft.com/office/drawing/2014/main" id="{616C9904-25E8-9839-D0D3-D3971B4A2F3E}"/>
              </a:ext>
            </a:extLst>
          </p:cNvPr>
          <p:cNvSpPr txBox="1"/>
          <p:nvPr/>
        </p:nvSpPr>
        <p:spPr>
          <a:xfrm>
            <a:off x="3045279" y="5252748"/>
            <a:ext cx="6101442"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73239"/>
                </a:solidFill>
                <a:effectLst/>
                <a:latin typeface="Nunito" pitchFamily="2" charset="0"/>
              </a:rPr>
              <a:t>Note: </a:t>
            </a:r>
            <a:r>
              <a:rPr kumimoji="0" lang="en-US" altLang="en-US" sz="1800" b="0" i="0" u="none" strike="noStrike" cap="none" normalizeH="0" baseline="0" dirty="0">
                <a:ln>
                  <a:noFill/>
                </a:ln>
                <a:solidFill>
                  <a:srgbClr val="273239"/>
                </a:solidFill>
                <a:effectLst/>
                <a:latin typeface="Nunito" pitchFamily="2" charset="0"/>
              </a:rPr>
              <a:t>By Default, projection removes duplicate data.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01767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1A52D-0EAF-E126-97D9-36C680E748DE}"/>
              </a:ext>
            </a:extLst>
          </p:cNvPr>
          <p:cNvSpPr>
            <a:spLocks noGrp="1"/>
          </p:cNvSpPr>
          <p:nvPr>
            <p:ph type="title"/>
          </p:nvPr>
        </p:nvSpPr>
        <p:spPr/>
        <p:txBody>
          <a:bodyPr/>
          <a:lstStyle/>
          <a:p>
            <a:r>
              <a:rPr lang="en-US" sz="3200" b="0" i="0" u="none" strike="noStrike" baseline="0" dirty="0">
                <a:latin typeface="Arial Narrow" panose="020B0606020202030204" pitchFamily="34" charset="0"/>
              </a:rPr>
              <a:t>3. Union(U):</a:t>
            </a:r>
            <a:endParaRPr lang="en-IN" dirty="0"/>
          </a:p>
        </p:txBody>
      </p:sp>
      <p:sp>
        <p:nvSpPr>
          <p:cNvPr id="3" name="Content Placeholder 2">
            <a:extLst>
              <a:ext uri="{FF2B5EF4-FFF2-40B4-BE49-F238E27FC236}">
                <a16:creationId xmlns:a16="http://schemas.microsoft.com/office/drawing/2014/main" id="{9CD2E624-ED15-1D31-0F7B-2F001854F7B9}"/>
              </a:ext>
            </a:extLst>
          </p:cNvPr>
          <p:cNvSpPr>
            <a:spLocks noGrp="1"/>
          </p:cNvSpPr>
          <p:nvPr>
            <p:ph idx="1"/>
          </p:nvPr>
        </p:nvSpPr>
        <p:spPr>
          <a:xfrm>
            <a:off x="1451579" y="1858276"/>
            <a:ext cx="10347283" cy="3528688"/>
          </a:xfrm>
        </p:spPr>
        <p:txBody>
          <a:bodyPr>
            <a:normAutofit/>
          </a:bodyPr>
          <a:lstStyle/>
          <a:p>
            <a:pPr marL="0" indent="0">
              <a:buNone/>
            </a:pPr>
            <a:r>
              <a:rPr lang="en-US" sz="1800" b="0" i="0" u="none" strike="noStrike" baseline="0" dirty="0">
                <a:latin typeface="Arial Narrow" panose="020B0606020202030204" pitchFamily="34" charset="0"/>
              </a:rPr>
              <a:t>Union operation in relational algebra is the same as union operation in set theory.</a:t>
            </a:r>
            <a:endParaRPr lang="en-IN" dirty="0"/>
          </a:p>
        </p:txBody>
      </p:sp>
      <p:graphicFrame>
        <p:nvGraphicFramePr>
          <p:cNvPr id="4" name="Table 3">
            <a:extLst>
              <a:ext uri="{FF2B5EF4-FFF2-40B4-BE49-F238E27FC236}">
                <a16:creationId xmlns:a16="http://schemas.microsoft.com/office/drawing/2014/main" id="{D098C451-0BCC-3717-A16A-D1812F17A207}"/>
              </a:ext>
            </a:extLst>
          </p:cNvPr>
          <p:cNvGraphicFramePr>
            <a:graphicFrameLocks noGrp="1"/>
          </p:cNvGraphicFramePr>
          <p:nvPr>
            <p:extLst>
              <p:ext uri="{D42A27DB-BD31-4B8C-83A1-F6EECF244321}">
                <p14:modId xmlns:p14="http://schemas.microsoft.com/office/powerpoint/2010/main" val="3208082525"/>
              </p:ext>
            </p:extLst>
          </p:nvPr>
        </p:nvGraphicFramePr>
        <p:xfrm>
          <a:off x="1701346" y="2875189"/>
          <a:ext cx="3178630" cy="1813560"/>
        </p:xfrm>
        <a:graphic>
          <a:graphicData uri="http://schemas.openxmlformats.org/drawingml/2006/table">
            <a:tbl>
              <a:tblPr>
                <a:tableStyleId>{35758FB7-9AC5-4552-8A53-C91805E547FA}</a:tableStyleId>
              </a:tblPr>
              <a:tblGrid>
                <a:gridCol w="1589315">
                  <a:extLst>
                    <a:ext uri="{9D8B030D-6E8A-4147-A177-3AD203B41FA5}">
                      <a16:colId xmlns:a16="http://schemas.microsoft.com/office/drawing/2014/main" val="2395291608"/>
                    </a:ext>
                  </a:extLst>
                </a:gridCol>
                <a:gridCol w="1589315">
                  <a:extLst>
                    <a:ext uri="{9D8B030D-6E8A-4147-A177-3AD203B41FA5}">
                      <a16:colId xmlns:a16="http://schemas.microsoft.com/office/drawing/2014/main" val="3144496458"/>
                    </a:ext>
                  </a:extLst>
                </a:gridCol>
              </a:tblGrid>
              <a:tr h="340360">
                <a:tc>
                  <a:txBody>
                    <a:bodyPr/>
                    <a:lstStyle/>
                    <a:p>
                      <a:pPr algn="ctr" fontAlgn="base"/>
                      <a:r>
                        <a:rPr lang="en-IN" sz="1400" b="1" dirty="0" err="1">
                          <a:effectLst/>
                        </a:rPr>
                        <a:t>Student_Name</a:t>
                      </a:r>
                      <a:r>
                        <a:rPr lang="en-IN" sz="1400" b="1" dirty="0">
                          <a:effectLst/>
                        </a:rPr>
                        <a:t>    </a:t>
                      </a:r>
                    </a:p>
                  </a:txBody>
                  <a:tcPr marL="38100" marR="38100" marT="63500" marB="63500" anchor="ctr"/>
                </a:tc>
                <a:tc>
                  <a:txBody>
                    <a:bodyPr/>
                    <a:lstStyle/>
                    <a:p>
                      <a:pPr algn="ctr" fontAlgn="base"/>
                      <a:r>
                        <a:rPr lang="en-IN" sz="1400" b="1">
                          <a:effectLst/>
                        </a:rPr>
                        <a:t>Roll_Number    </a:t>
                      </a:r>
                    </a:p>
                  </a:txBody>
                  <a:tcPr marL="63500" marR="63500" marT="63500" marB="63500" anchor="ctr"/>
                </a:tc>
                <a:extLst>
                  <a:ext uri="{0D108BD9-81ED-4DB2-BD59-A6C34878D82A}">
                    <a16:rowId xmlns:a16="http://schemas.microsoft.com/office/drawing/2014/main" val="4159678624"/>
                  </a:ext>
                </a:extLst>
              </a:tr>
              <a:tr h="368300">
                <a:tc>
                  <a:txBody>
                    <a:bodyPr/>
                    <a:lstStyle/>
                    <a:p>
                      <a:pPr algn="ctr" fontAlgn="ctr"/>
                      <a:r>
                        <a:rPr lang="en-IN" sz="1200" b="0" dirty="0">
                          <a:effectLst/>
                        </a:rPr>
                        <a:t>Ram</a:t>
                      </a:r>
                    </a:p>
                  </a:txBody>
                  <a:tcPr marL="63500" marR="63500" marT="88900" marB="88900" anchor="ctr"/>
                </a:tc>
                <a:tc>
                  <a:txBody>
                    <a:bodyPr/>
                    <a:lstStyle/>
                    <a:p>
                      <a:pPr algn="ctr" fontAlgn="ctr"/>
                      <a:r>
                        <a:rPr lang="en-IN" sz="1200" b="0">
                          <a:effectLst/>
                        </a:rPr>
                        <a:t>01</a:t>
                      </a:r>
                    </a:p>
                  </a:txBody>
                  <a:tcPr marL="63500" marR="63500" marT="88900" marB="88900" anchor="ctr"/>
                </a:tc>
                <a:extLst>
                  <a:ext uri="{0D108BD9-81ED-4DB2-BD59-A6C34878D82A}">
                    <a16:rowId xmlns:a16="http://schemas.microsoft.com/office/drawing/2014/main" val="970516148"/>
                  </a:ext>
                </a:extLst>
              </a:tr>
              <a:tr h="368300">
                <a:tc>
                  <a:txBody>
                    <a:bodyPr/>
                    <a:lstStyle/>
                    <a:p>
                      <a:pPr algn="ctr" fontAlgn="ctr"/>
                      <a:r>
                        <a:rPr lang="en-IN" sz="1200" b="0">
                          <a:effectLst/>
                        </a:rPr>
                        <a:t>Mohan</a:t>
                      </a:r>
                    </a:p>
                  </a:txBody>
                  <a:tcPr marL="63500" marR="63500" marT="88900" marB="88900" anchor="ctr"/>
                </a:tc>
                <a:tc>
                  <a:txBody>
                    <a:bodyPr/>
                    <a:lstStyle/>
                    <a:p>
                      <a:pPr algn="ctr" fontAlgn="ctr"/>
                      <a:r>
                        <a:rPr lang="en-IN" sz="1200" b="0">
                          <a:effectLst/>
                        </a:rPr>
                        <a:t>02</a:t>
                      </a:r>
                    </a:p>
                  </a:txBody>
                  <a:tcPr marL="63500" marR="63500" marT="88900" marB="88900" anchor="ctr"/>
                </a:tc>
                <a:extLst>
                  <a:ext uri="{0D108BD9-81ED-4DB2-BD59-A6C34878D82A}">
                    <a16:rowId xmlns:a16="http://schemas.microsoft.com/office/drawing/2014/main" val="362405879"/>
                  </a:ext>
                </a:extLst>
              </a:tr>
              <a:tr h="368300">
                <a:tc>
                  <a:txBody>
                    <a:bodyPr/>
                    <a:lstStyle/>
                    <a:p>
                      <a:pPr algn="ctr" fontAlgn="ctr"/>
                      <a:r>
                        <a:rPr lang="en-IN" sz="1200" b="0">
                          <a:effectLst/>
                        </a:rPr>
                        <a:t>Vivek</a:t>
                      </a:r>
                    </a:p>
                  </a:txBody>
                  <a:tcPr marL="63500" marR="63500" marT="88900" marB="88900" anchor="ctr"/>
                </a:tc>
                <a:tc>
                  <a:txBody>
                    <a:bodyPr/>
                    <a:lstStyle/>
                    <a:p>
                      <a:pPr algn="ctr" fontAlgn="ctr"/>
                      <a:r>
                        <a:rPr lang="en-IN" sz="1200" b="0">
                          <a:effectLst/>
                        </a:rPr>
                        <a:t>13</a:t>
                      </a:r>
                    </a:p>
                  </a:txBody>
                  <a:tcPr marL="63500" marR="63500" marT="88900" marB="88900" anchor="ctr"/>
                </a:tc>
                <a:extLst>
                  <a:ext uri="{0D108BD9-81ED-4DB2-BD59-A6C34878D82A}">
                    <a16:rowId xmlns:a16="http://schemas.microsoft.com/office/drawing/2014/main" val="3024319013"/>
                  </a:ext>
                </a:extLst>
              </a:tr>
              <a:tr h="368300">
                <a:tc>
                  <a:txBody>
                    <a:bodyPr/>
                    <a:lstStyle/>
                    <a:p>
                      <a:pPr algn="ctr" fontAlgn="ctr"/>
                      <a:r>
                        <a:rPr lang="en-IN" sz="1200" b="0">
                          <a:effectLst/>
                        </a:rPr>
                        <a:t>Geeta</a:t>
                      </a:r>
                    </a:p>
                  </a:txBody>
                  <a:tcPr marL="63500" marR="63500" marT="88900" marB="88900" anchor="ctr"/>
                </a:tc>
                <a:tc>
                  <a:txBody>
                    <a:bodyPr/>
                    <a:lstStyle/>
                    <a:p>
                      <a:pPr algn="ctr" fontAlgn="ctr"/>
                      <a:r>
                        <a:rPr lang="en-IN" sz="1200" b="0" dirty="0">
                          <a:effectLst/>
                        </a:rPr>
                        <a:t>17</a:t>
                      </a:r>
                    </a:p>
                  </a:txBody>
                  <a:tcPr marL="63500" marR="63500" marT="88900" marB="88900" anchor="ctr"/>
                </a:tc>
                <a:extLst>
                  <a:ext uri="{0D108BD9-81ED-4DB2-BD59-A6C34878D82A}">
                    <a16:rowId xmlns:a16="http://schemas.microsoft.com/office/drawing/2014/main" val="3185185299"/>
                  </a:ext>
                </a:extLst>
              </a:tr>
            </a:tbl>
          </a:graphicData>
        </a:graphic>
      </p:graphicFrame>
      <p:graphicFrame>
        <p:nvGraphicFramePr>
          <p:cNvPr id="5" name="Table 4">
            <a:extLst>
              <a:ext uri="{FF2B5EF4-FFF2-40B4-BE49-F238E27FC236}">
                <a16:creationId xmlns:a16="http://schemas.microsoft.com/office/drawing/2014/main" id="{8D108BCF-9E8D-CB07-E9A7-5A67175F8B34}"/>
              </a:ext>
            </a:extLst>
          </p:cNvPr>
          <p:cNvGraphicFramePr>
            <a:graphicFrameLocks noGrp="1"/>
          </p:cNvGraphicFramePr>
          <p:nvPr>
            <p:extLst>
              <p:ext uri="{D42A27DB-BD31-4B8C-83A1-F6EECF244321}">
                <p14:modId xmlns:p14="http://schemas.microsoft.com/office/powerpoint/2010/main" val="890045664"/>
              </p:ext>
            </p:extLst>
          </p:nvPr>
        </p:nvGraphicFramePr>
        <p:xfrm>
          <a:off x="6378535" y="2867316"/>
          <a:ext cx="3435348" cy="1813560"/>
        </p:xfrm>
        <a:graphic>
          <a:graphicData uri="http://schemas.openxmlformats.org/drawingml/2006/table">
            <a:tbl>
              <a:tblPr>
                <a:tableStyleId>{35758FB7-9AC5-4552-8A53-C91805E547FA}</a:tableStyleId>
              </a:tblPr>
              <a:tblGrid>
                <a:gridCol w="1717674">
                  <a:extLst>
                    <a:ext uri="{9D8B030D-6E8A-4147-A177-3AD203B41FA5}">
                      <a16:colId xmlns:a16="http://schemas.microsoft.com/office/drawing/2014/main" val="2158990675"/>
                    </a:ext>
                  </a:extLst>
                </a:gridCol>
                <a:gridCol w="1717674">
                  <a:extLst>
                    <a:ext uri="{9D8B030D-6E8A-4147-A177-3AD203B41FA5}">
                      <a16:colId xmlns:a16="http://schemas.microsoft.com/office/drawing/2014/main" val="2794436986"/>
                    </a:ext>
                  </a:extLst>
                </a:gridCol>
              </a:tblGrid>
              <a:tr h="340360">
                <a:tc>
                  <a:txBody>
                    <a:bodyPr/>
                    <a:lstStyle/>
                    <a:p>
                      <a:pPr algn="ctr" fontAlgn="base"/>
                      <a:r>
                        <a:rPr lang="en-IN" sz="1400" b="1">
                          <a:effectLst/>
                        </a:rPr>
                        <a:t>Student_Name    </a:t>
                      </a:r>
                    </a:p>
                  </a:txBody>
                  <a:tcPr marL="38100" marR="38100" marT="63500" marB="63500" anchor="ctr"/>
                </a:tc>
                <a:tc>
                  <a:txBody>
                    <a:bodyPr/>
                    <a:lstStyle/>
                    <a:p>
                      <a:pPr algn="ctr" fontAlgn="base"/>
                      <a:r>
                        <a:rPr lang="en-IN" sz="1400" b="1">
                          <a:effectLst/>
                        </a:rPr>
                        <a:t>Roll_Number    </a:t>
                      </a:r>
                    </a:p>
                  </a:txBody>
                  <a:tcPr marL="63500" marR="63500" marT="63500" marB="63500" anchor="ctr"/>
                </a:tc>
                <a:extLst>
                  <a:ext uri="{0D108BD9-81ED-4DB2-BD59-A6C34878D82A}">
                    <a16:rowId xmlns:a16="http://schemas.microsoft.com/office/drawing/2014/main" val="1695380879"/>
                  </a:ext>
                </a:extLst>
              </a:tr>
              <a:tr h="368300">
                <a:tc>
                  <a:txBody>
                    <a:bodyPr/>
                    <a:lstStyle/>
                    <a:p>
                      <a:pPr algn="ctr" fontAlgn="ctr"/>
                      <a:r>
                        <a:rPr lang="en-IN" sz="1200" b="0" dirty="0">
                          <a:effectLst/>
                        </a:rPr>
                        <a:t>Vivek</a:t>
                      </a:r>
                    </a:p>
                  </a:txBody>
                  <a:tcPr marL="63500" marR="63500" marT="88900" marB="88900" anchor="ctr"/>
                </a:tc>
                <a:tc>
                  <a:txBody>
                    <a:bodyPr/>
                    <a:lstStyle/>
                    <a:p>
                      <a:pPr algn="ctr" fontAlgn="ctr"/>
                      <a:r>
                        <a:rPr lang="en-IN" sz="1200" b="0">
                          <a:effectLst/>
                        </a:rPr>
                        <a:t>13</a:t>
                      </a:r>
                    </a:p>
                  </a:txBody>
                  <a:tcPr marL="63500" marR="63500" marT="88900" marB="88900" anchor="ctr"/>
                </a:tc>
                <a:extLst>
                  <a:ext uri="{0D108BD9-81ED-4DB2-BD59-A6C34878D82A}">
                    <a16:rowId xmlns:a16="http://schemas.microsoft.com/office/drawing/2014/main" val="3786979464"/>
                  </a:ext>
                </a:extLst>
              </a:tr>
              <a:tr h="368300">
                <a:tc>
                  <a:txBody>
                    <a:bodyPr/>
                    <a:lstStyle/>
                    <a:p>
                      <a:pPr algn="ctr" fontAlgn="ctr"/>
                      <a:r>
                        <a:rPr lang="en-IN" sz="1200" b="0">
                          <a:effectLst/>
                        </a:rPr>
                        <a:t>Geeta</a:t>
                      </a:r>
                    </a:p>
                  </a:txBody>
                  <a:tcPr marL="63500" marR="63500" marT="88900" marB="88900" anchor="ctr"/>
                </a:tc>
                <a:tc>
                  <a:txBody>
                    <a:bodyPr/>
                    <a:lstStyle/>
                    <a:p>
                      <a:pPr algn="ctr" fontAlgn="ctr"/>
                      <a:r>
                        <a:rPr lang="en-IN" sz="1200" b="0" dirty="0">
                          <a:effectLst/>
                        </a:rPr>
                        <a:t>17</a:t>
                      </a:r>
                    </a:p>
                  </a:txBody>
                  <a:tcPr marL="63500" marR="63500" marT="88900" marB="88900" anchor="ctr"/>
                </a:tc>
                <a:extLst>
                  <a:ext uri="{0D108BD9-81ED-4DB2-BD59-A6C34878D82A}">
                    <a16:rowId xmlns:a16="http://schemas.microsoft.com/office/drawing/2014/main" val="2709693985"/>
                  </a:ext>
                </a:extLst>
              </a:tr>
              <a:tr h="368300">
                <a:tc>
                  <a:txBody>
                    <a:bodyPr/>
                    <a:lstStyle/>
                    <a:p>
                      <a:pPr algn="ctr" fontAlgn="ctr"/>
                      <a:r>
                        <a:rPr lang="en-IN" sz="1200" b="0">
                          <a:effectLst/>
                        </a:rPr>
                        <a:t>Shyam</a:t>
                      </a:r>
                    </a:p>
                  </a:txBody>
                  <a:tcPr marL="63500" marR="63500" marT="88900" marB="88900" anchor="ctr"/>
                </a:tc>
                <a:tc>
                  <a:txBody>
                    <a:bodyPr/>
                    <a:lstStyle/>
                    <a:p>
                      <a:pPr algn="ctr" fontAlgn="ctr"/>
                      <a:r>
                        <a:rPr lang="en-IN" sz="1200" b="0">
                          <a:effectLst/>
                        </a:rPr>
                        <a:t>21</a:t>
                      </a:r>
                    </a:p>
                  </a:txBody>
                  <a:tcPr marL="63500" marR="63500" marT="88900" marB="88900" anchor="ctr"/>
                </a:tc>
                <a:extLst>
                  <a:ext uri="{0D108BD9-81ED-4DB2-BD59-A6C34878D82A}">
                    <a16:rowId xmlns:a16="http://schemas.microsoft.com/office/drawing/2014/main" val="1665255250"/>
                  </a:ext>
                </a:extLst>
              </a:tr>
              <a:tr h="368300">
                <a:tc>
                  <a:txBody>
                    <a:bodyPr/>
                    <a:lstStyle/>
                    <a:p>
                      <a:pPr algn="ctr" fontAlgn="ctr"/>
                      <a:r>
                        <a:rPr lang="en-IN" sz="1200" b="0">
                          <a:effectLst/>
                        </a:rPr>
                        <a:t>Rohan</a:t>
                      </a:r>
                    </a:p>
                  </a:txBody>
                  <a:tcPr marL="63500" marR="63500" marT="88900" marB="88900" anchor="ctr"/>
                </a:tc>
                <a:tc>
                  <a:txBody>
                    <a:bodyPr/>
                    <a:lstStyle/>
                    <a:p>
                      <a:pPr algn="ctr" fontAlgn="ctr"/>
                      <a:r>
                        <a:rPr lang="en-IN" sz="1200" b="0" dirty="0">
                          <a:effectLst/>
                        </a:rPr>
                        <a:t>25</a:t>
                      </a:r>
                    </a:p>
                  </a:txBody>
                  <a:tcPr marL="63500" marR="63500" marT="88900" marB="88900" anchor="ctr"/>
                </a:tc>
                <a:extLst>
                  <a:ext uri="{0D108BD9-81ED-4DB2-BD59-A6C34878D82A}">
                    <a16:rowId xmlns:a16="http://schemas.microsoft.com/office/drawing/2014/main" val="378242568"/>
                  </a:ext>
                </a:extLst>
              </a:tr>
            </a:tbl>
          </a:graphicData>
        </a:graphic>
      </p:graphicFrame>
      <p:sp>
        <p:nvSpPr>
          <p:cNvPr id="6" name="Rectangle 1">
            <a:extLst>
              <a:ext uri="{FF2B5EF4-FFF2-40B4-BE49-F238E27FC236}">
                <a16:creationId xmlns:a16="http://schemas.microsoft.com/office/drawing/2014/main" id="{AD5DB417-C217-E47A-D318-6DD1C06909D0}"/>
              </a:ext>
            </a:extLst>
          </p:cNvPr>
          <p:cNvSpPr>
            <a:spLocks noChangeArrowheads="1"/>
          </p:cNvSpPr>
          <p:nvPr/>
        </p:nvSpPr>
        <p:spPr bwMode="auto">
          <a:xfrm>
            <a:off x="1701346" y="4985583"/>
            <a:ext cx="8834150" cy="8027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73239"/>
                </a:solidFill>
                <a:effectLst/>
                <a:latin typeface="Nunito" pitchFamily="2" charset="0"/>
              </a:rPr>
              <a:t> Consider the following table of Students having different optional subjects in their course.</a:t>
            </a:r>
            <a:endParaRPr kumimoji="0" lang="en-US" altLang="en-US" sz="1600" b="1" i="0" u="none" strike="noStrike" cap="none" normalizeH="0" baseline="0" dirty="0">
              <a:ln>
                <a:noFill/>
              </a:ln>
              <a:solidFill>
                <a:srgbClr val="273239"/>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rgbClr val="273239"/>
              </a:solidFill>
              <a:effectLst/>
              <a:latin typeface="Consolas" panose="020B0609020204030204" pitchFamily="49"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73239"/>
                </a:solidFill>
                <a:effectLst/>
                <a:latin typeface="Consolas" panose="020B0609020204030204" pitchFamily="49" charset="0"/>
              </a:rPr>
              <a:t>π(</a:t>
            </a:r>
            <a:r>
              <a:rPr kumimoji="0" lang="en-US" altLang="en-US" sz="1600" b="1" i="0" u="none" strike="noStrike" cap="none" normalizeH="0" baseline="0" dirty="0" err="1">
                <a:ln>
                  <a:noFill/>
                </a:ln>
                <a:solidFill>
                  <a:srgbClr val="273239"/>
                </a:solidFill>
                <a:effectLst/>
                <a:latin typeface="Consolas" panose="020B0609020204030204" pitchFamily="49" charset="0"/>
              </a:rPr>
              <a:t>Student_Name</a:t>
            </a:r>
            <a:r>
              <a:rPr kumimoji="0" lang="en-US" altLang="en-US" sz="1600" b="1" i="0" u="none" strike="noStrike" cap="none" normalizeH="0" baseline="0" dirty="0">
                <a:ln>
                  <a:noFill/>
                </a:ln>
                <a:solidFill>
                  <a:srgbClr val="273239"/>
                </a:solidFill>
                <a:effectLst/>
                <a:latin typeface="Consolas" panose="020B0609020204030204" pitchFamily="49" charset="0"/>
              </a:rPr>
              <a:t>)FRENCH U π(</a:t>
            </a:r>
            <a:r>
              <a:rPr kumimoji="0" lang="en-US" altLang="en-US" sz="1600" b="1" i="0" u="none" strike="noStrike" cap="none" normalizeH="0" baseline="0" dirty="0" err="1">
                <a:ln>
                  <a:noFill/>
                </a:ln>
                <a:solidFill>
                  <a:srgbClr val="273239"/>
                </a:solidFill>
                <a:effectLst/>
                <a:latin typeface="Consolas" panose="020B0609020204030204" pitchFamily="49" charset="0"/>
              </a:rPr>
              <a:t>Student_Name</a:t>
            </a:r>
            <a:r>
              <a:rPr kumimoji="0" lang="en-US" altLang="en-US" sz="1600" b="1" i="0" u="none" strike="noStrike" cap="none" normalizeH="0" baseline="0" dirty="0">
                <a:ln>
                  <a:noFill/>
                </a:ln>
                <a:solidFill>
                  <a:srgbClr val="273239"/>
                </a:solidFill>
                <a:effectLst/>
                <a:latin typeface="Consolas" panose="020B0609020204030204" pitchFamily="49" charset="0"/>
              </a:rPr>
              <a:t>)GERMAN</a:t>
            </a:r>
            <a:r>
              <a:rPr kumimoji="0" lang="en-US" altLang="en-US" sz="1000" b="1" i="0" u="none" strike="noStrike" cap="none" normalizeH="0" baseline="0" dirty="0">
                <a:ln>
                  <a:noFill/>
                </a:ln>
                <a:solidFill>
                  <a:schemeClr val="tx1"/>
                </a:solidFill>
                <a:effectLst/>
              </a:rPr>
              <a:t> </a:t>
            </a:r>
            <a:endParaRPr kumimoji="0" lang="en-US" altLang="en-US" sz="2400" b="1" i="0" u="none" strike="noStrike" cap="none" normalizeH="0" baseline="0" dirty="0">
              <a:ln>
                <a:noFill/>
              </a:ln>
              <a:solidFill>
                <a:schemeClr val="tx1"/>
              </a:solidFill>
              <a:effectLst/>
            </a:endParaRPr>
          </a:p>
        </p:txBody>
      </p:sp>
      <p:sp>
        <p:nvSpPr>
          <p:cNvPr id="8" name="TextBox 7">
            <a:extLst>
              <a:ext uri="{FF2B5EF4-FFF2-40B4-BE49-F238E27FC236}">
                <a16:creationId xmlns:a16="http://schemas.microsoft.com/office/drawing/2014/main" id="{A05F341D-5899-A4C6-409D-CF4CBBFDB96F}"/>
              </a:ext>
            </a:extLst>
          </p:cNvPr>
          <p:cNvSpPr txBox="1"/>
          <p:nvPr/>
        </p:nvSpPr>
        <p:spPr>
          <a:xfrm>
            <a:off x="1538664" y="2481959"/>
            <a:ext cx="6988628"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Nunito" pitchFamily="2" charset="0"/>
              </a:rPr>
              <a:t> </a:t>
            </a:r>
            <a:r>
              <a:rPr kumimoji="0" lang="en-US" altLang="en-US" sz="1800" b="1" i="0" u="none" strike="noStrike" cap="none" normalizeH="0" baseline="0" dirty="0">
                <a:ln>
                  <a:noFill/>
                </a:ln>
                <a:solidFill>
                  <a:srgbClr val="273239"/>
                </a:solidFill>
                <a:effectLst/>
                <a:latin typeface="Nunito" pitchFamily="2" charset="0"/>
              </a:rPr>
              <a:t>FRENCH</a:t>
            </a:r>
            <a:endParaRPr kumimoji="0" lang="en-US" altLang="en-US" sz="1050" b="0" i="0" u="none" strike="noStrike" cap="none" normalizeH="0" baseline="0" dirty="0">
              <a:ln>
                <a:noFill/>
              </a:ln>
              <a:solidFill>
                <a:schemeClr val="tx1"/>
              </a:solidFill>
              <a:effectLst/>
            </a:endParaRPr>
          </a:p>
        </p:txBody>
      </p:sp>
      <p:sp>
        <p:nvSpPr>
          <p:cNvPr id="10" name="TextBox 9">
            <a:extLst>
              <a:ext uri="{FF2B5EF4-FFF2-40B4-BE49-F238E27FC236}">
                <a16:creationId xmlns:a16="http://schemas.microsoft.com/office/drawing/2014/main" id="{8B18F9FA-FA49-E8DE-4A1F-0211C9658BB4}"/>
              </a:ext>
            </a:extLst>
          </p:cNvPr>
          <p:cNvSpPr txBox="1"/>
          <p:nvPr/>
        </p:nvSpPr>
        <p:spPr>
          <a:xfrm>
            <a:off x="6253216" y="2465933"/>
            <a:ext cx="6389914" cy="369332"/>
          </a:xfrm>
          <a:prstGeom prst="rect">
            <a:avLst/>
          </a:prstGeom>
          <a:noFill/>
        </p:spPr>
        <p:txBody>
          <a:bodyPr wrap="square">
            <a:spAutoFit/>
          </a:bodyPr>
          <a:lstStyle/>
          <a:p>
            <a:pPr marL="0" indent="0">
              <a:buNone/>
            </a:pPr>
            <a:r>
              <a:rPr kumimoji="0" lang="en-US" altLang="en-US" sz="1800" b="1" i="0" u="none" strike="noStrike" cap="none" normalizeH="0" baseline="0" dirty="0">
                <a:ln>
                  <a:noFill/>
                </a:ln>
                <a:solidFill>
                  <a:srgbClr val="273239"/>
                </a:solidFill>
                <a:effectLst/>
                <a:latin typeface="Nunito" pitchFamily="2" charset="0"/>
              </a:rPr>
              <a:t>GERMAN</a:t>
            </a:r>
            <a:endParaRPr kumimoji="0" lang="en-US" altLang="en-US" sz="105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824785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DC386E5-BCF0-94C4-1D2A-C0935B55C8F7}"/>
              </a:ext>
            </a:extLst>
          </p:cNvPr>
          <p:cNvGraphicFramePr>
            <a:graphicFrameLocks noGrp="1"/>
          </p:cNvGraphicFramePr>
          <p:nvPr>
            <p:ph idx="1"/>
            <p:extLst>
              <p:ext uri="{D42A27DB-BD31-4B8C-83A1-F6EECF244321}">
                <p14:modId xmlns:p14="http://schemas.microsoft.com/office/powerpoint/2010/main" val="1565966899"/>
              </p:ext>
            </p:extLst>
          </p:nvPr>
        </p:nvGraphicFramePr>
        <p:xfrm>
          <a:off x="5344886" y="2465864"/>
          <a:ext cx="2198914" cy="2550160"/>
        </p:xfrm>
        <a:graphic>
          <a:graphicData uri="http://schemas.openxmlformats.org/drawingml/2006/table">
            <a:tbl>
              <a:tblPr>
                <a:tableStyleId>{775DCB02-9BB8-47FD-8907-85C794F793BA}</a:tableStyleId>
              </a:tblPr>
              <a:tblGrid>
                <a:gridCol w="2198914">
                  <a:extLst>
                    <a:ext uri="{9D8B030D-6E8A-4147-A177-3AD203B41FA5}">
                      <a16:colId xmlns:a16="http://schemas.microsoft.com/office/drawing/2014/main" val="747879160"/>
                    </a:ext>
                  </a:extLst>
                </a:gridCol>
              </a:tblGrid>
              <a:tr h="0">
                <a:tc>
                  <a:txBody>
                    <a:bodyPr/>
                    <a:lstStyle/>
                    <a:p>
                      <a:pPr algn="ctr" fontAlgn="base"/>
                      <a:r>
                        <a:rPr lang="en-IN" sz="1400" b="1">
                          <a:effectLst/>
                        </a:rPr>
                        <a:t>Student_Name</a:t>
                      </a:r>
                    </a:p>
                  </a:txBody>
                  <a:tcPr marL="38100" marR="38100" marT="63500" marB="63500" anchor="ctr"/>
                </a:tc>
                <a:extLst>
                  <a:ext uri="{0D108BD9-81ED-4DB2-BD59-A6C34878D82A}">
                    <a16:rowId xmlns:a16="http://schemas.microsoft.com/office/drawing/2014/main" val="1614168041"/>
                  </a:ext>
                </a:extLst>
              </a:tr>
              <a:tr h="0">
                <a:tc>
                  <a:txBody>
                    <a:bodyPr/>
                    <a:lstStyle/>
                    <a:p>
                      <a:pPr algn="ctr" fontAlgn="ctr"/>
                      <a:r>
                        <a:rPr lang="en-IN" sz="1250" b="0">
                          <a:effectLst/>
                        </a:rPr>
                        <a:t>Ram</a:t>
                      </a:r>
                    </a:p>
                  </a:txBody>
                  <a:tcPr marL="63500" marR="63500" marT="88900" marB="88900" anchor="ctr"/>
                </a:tc>
                <a:extLst>
                  <a:ext uri="{0D108BD9-81ED-4DB2-BD59-A6C34878D82A}">
                    <a16:rowId xmlns:a16="http://schemas.microsoft.com/office/drawing/2014/main" val="805391768"/>
                  </a:ext>
                </a:extLst>
              </a:tr>
              <a:tr h="0">
                <a:tc>
                  <a:txBody>
                    <a:bodyPr/>
                    <a:lstStyle/>
                    <a:p>
                      <a:pPr algn="ctr" fontAlgn="ctr"/>
                      <a:r>
                        <a:rPr lang="en-IN" sz="1250" b="0">
                          <a:effectLst/>
                        </a:rPr>
                        <a:t>Mohan</a:t>
                      </a:r>
                    </a:p>
                  </a:txBody>
                  <a:tcPr marL="63500" marR="63500" marT="88900" marB="88900" anchor="ctr"/>
                </a:tc>
                <a:extLst>
                  <a:ext uri="{0D108BD9-81ED-4DB2-BD59-A6C34878D82A}">
                    <a16:rowId xmlns:a16="http://schemas.microsoft.com/office/drawing/2014/main" val="3945994882"/>
                  </a:ext>
                </a:extLst>
              </a:tr>
              <a:tr h="0">
                <a:tc>
                  <a:txBody>
                    <a:bodyPr/>
                    <a:lstStyle/>
                    <a:p>
                      <a:pPr algn="ctr" fontAlgn="ctr"/>
                      <a:r>
                        <a:rPr lang="en-IN" sz="1250" b="0">
                          <a:effectLst/>
                        </a:rPr>
                        <a:t>Vivek</a:t>
                      </a:r>
                    </a:p>
                  </a:txBody>
                  <a:tcPr marL="63500" marR="63500" marT="88900" marB="88900" anchor="ctr"/>
                </a:tc>
                <a:extLst>
                  <a:ext uri="{0D108BD9-81ED-4DB2-BD59-A6C34878D82A}">
                    <a16:rowId xmlns:a16="http://schemas.microsoft.com/office/drawing/2014/main" val="2985842104"/>
                  </a:ext>
                </a:extLst>
              </a:tr>
              <a:tr h="0">
                <a:tc>
                  <a:txBody>
                    <a:bodyPr/>
                    <a:lstStyle/>
                    <a:p>
                      <a:pPr algn="ctr" fontAlgn="ctr"/>
                      <a:r>
                        <a:rPr lang="en-IN" sz="1250" b="0">
                          <a:effectLst/>
                        </a:rPr>
                        <a:t>Geeta</a:t>
                      </a:r>
                    </a:p>
                  </a:txBody>
                  <a:tcPr marL="63500" marR="63500" marT="88900" marB="88900" anchor="ctr"/>
                </a:tc>
                <a:extLst>
                  <a:ext uri="{0D108BD9-81ED-4DB2-BD59-A6C34878D82A}">
                    <a16:rowId xmlns:a16="http://schemas.microsoft.com/office/drawing/2014/main" val="2366274743"/>
                  </a:ext>
                </a:extLst>
              </a:tr>
              <a:tr h="0">
                <a:tc>
                  <a:txBody>
                    <a:bodyPr/>
                    <a:lstStyle/>
                    <a:p>
                      <a:pPr algn="ctr" fontAlgn="ctr"/>
                      <a:r>
                        <a:rPr lang="en-IN" sz="1250" b="0">
                          <a:effectLst/>
                        </a:rPr>
                        <a:t>Shyam</a:t>
                      </a:r>
                    </a:p>
                  </a:txBody>
                  <a:tcPr marL="63500" marR="63500" marT="88900" marB="88900" anchor="ctr"/>
                </a:tc>
                <a:extLst>
                  <a:ext uri="{0D108BD9-81ED-4DB2-BD59-A6C34878D82A}">
                    <a16:rowId xmlns:a16="http://schemas.microsoft.com/office/drawing/2014/main" val="3200355159"/>
                  </a:ext>
                </a:extLst>
              </a:tr>
              <a:tr h="0">
                <a:tc>
                  <a:txBody>
                    <a:bodyPr/>
                    <a:lstStyle/>
                    <a:p>
                      <a:pPr algn="ctr" fontAlgn="ctr"/>
                      <a:r>
                        <a:rPr lang="en-IN" sz="1250" b="0" dirty="0">
                          <a:effectLst/>
                        </a:rPr>
                        <a:t>Rohan</a:t>
                      </a:r>
                    </a:p>
                  </a:txBody>
                  <a:tcPr marL="63500" marR="63500" marT="88900" marB="88900" anchor="ctr"/>
                </a:tc>
                <a:extLst>
                  <a:ext uri="{0D108BD9-81ED-4DB2-BD59-A6C34878D82A}">
                    <a16:rowId xmlns:a16="http://schemas.microsoft.com/office/drawing/2014/main" val="2436926967"/>
                  </a:ext>
                </a:extLst>
              </a:tr>
            </a:tbl>
          </a:graphicData>
        </a:graphic>
      </p:graphicFrame>
      <p:sp>
        <p:nvSpPr>
          <p:cNvPr id="6" name="TextBox 5">
            <a:extLst>
              <a:ext uri="{FF2B5EF4-FFF2-40B4-BE49-F238E27FC236}">
                <a16:creationId xmlns:a16="http://schemas.microsoft.com/office/drawing/2014/main" id="{A0A3D55A-8632-5057-5DB0-53F3861A6949}"/>
              </a:ext>
            </a:extLst>
          </p:cNvPr>
          <p:cNvSpPr txBox="1"/>
          <p:nvPr/>
        </p:nvSpPr>
        <p:spPr>
          <a:xfrm>
            <a:off x="1711778" y="5400292"/>
            <a:ext cx="10088335" cy="646331"/>
          </a:xfrm>
          <a:prstGeom prst="rect">
            <a:avLst/>
          </a:prstGeom>
          <a:noFill/>
        </p:spPr>
        <p:txBody>
          <a:bodyPr wrap="square">
            <a:spAutoFit/>
          </a:bodyPr>
          <a:lstStyle/>
          <a:p>
            <a:r>
              <a:rPr lang="en-US" b="1" i="0" dirty="0">
                <a:solidFill>
                  <a:srgbClr val="273239"/>
                </a:solidFill>
                <a:effectLst/>
                <a:latin typeface="Nunito" pitchFamily="2" charset="0"/>
              </a:rPr>
              <a:t>Note:</a:t>
            </a:r>
            <a:r>
              <a:rPr lang="en-US" b="0" i="0" dirty="0">
                <a:solidFill>
                  <a:srgbClr val="273239"/>
                </a:solidFill>
                <a:effectLst/>
                <a:latin typeface="Nunito" pitchFamily="2" charset="0"/>
              </a:rPr>
              <a:t> The only constraint in the union of two relations is that both relations must have the same set of Attributes.   </a:t>
            </a:r>
            <a:endParaRPr lang="en-IN" dirty="0"/>
          </a:p>
        </p:txBody>
      </p:sp>
    </p:spTree>
    <p:extLst>
      <p:ext uri="{BB962C8B-B14F-4D97-AF65-F5344CB8AC3E}">
        <p14:creationId xmlns:p14="http://schemas.microsoft.com/office/powerpoint/2010/main" val="2153770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F6C0D-3ABD-916C-6A9A-493064088DA1}"/>
              </a:ext>
            </a:extLst>
          </p:cNvPr>
          <p:cNvSpPr>
            <a:spLocks noGrp="1"/>
          </p:cNvSpPr>
          <p:nvPr>
            <p:ph type="title"/>
          </p:nvPr>
        </p:nvSpPr>
        <p:spPr/>
        <p:txBody>
          <a:bodyPr/>
          <a:lstStyle/>
          <a:p>
            <a:r>
              <a:rPr lang="en-US" sz="3200" b="0" i="0" u="none" strike="noStrike" baseline="0" dirty="0">
                <a:latin typeface="Arial Narrow" panose="020B0606020202030204" pitchFamily="34" charset="0"/>
              </a:rPr>
              <a:t>4. Set Difference(-):</a:t>
            </a:r>
            <a:endParaRPr lang="en-IN" dirty="0"/>
          </a:p>
        </p:txBody>
      </p:sp>
      <p:sp>
        <p:nvSpPr>
          <p:cNvPr id="3" name="Content Placeholder 2">
            <a:extLst>
              <a:ext uri="{FF2B5EF4-FFF2-40B4-BE49-F238E27FC236}">
                <a16:creationId xmlns:a16="http://schemas.microsoft.com/office/drawing/2014/main" id="{78E6D1F1-1D41-ED6B-644E-A4FE88F06B8F}"/>
              </a:ext>
            </a:extLst>
          </p:cNvPr>
          <p:cNvSpPr>
            <a:spLocks noGrp="1"/>
          </p:cNvSpPr>
          <p:nvPr>
            <p:ph idx="1"/>
          </p:nvPr>
        </p:nvSpPr>
        <p:spPr/>
        <p:txBody>
          <a:bodyPr>
            <a:normAutofit/>
          </a:bodyPr>
          <a:lstStyle/>
          <a:p>
            <a:pPr marL="0" indent="0" algn="l">
              <a:buNone/>
            </a:pPr>
            <a:r>
              <a:rPr lang="en-US" sz="1800" b="0" i="0" u="none" strike="noStrike" baseline="0" dirty="0">
                <a:latin typeface="Arial Narrow" panose="020B0606020202030204" pitchFamily="34" charset="0"/>
              </a:rPr>
              <a:t>Set Difference in relational algebra is the same set difference operation as in set theory.</a:t>
            </a:r>
            <a:endParaRPr lang="en-IN" dirty="0"/>
          </a:p>
        </p:txBody>
      </p:sp>
      <p:sp>
        <p:nvSpPr>
          <p:cNvPr id="6" name="Rectangle 1">
            <a:extLst>
              <a:ext uri="{FF2B5EF4-FFF2-40B4-BE49-F238E27FC236}">
                <a16:creationId xmlns:a16="http://schemas.microsoft.com/office/drawing/2014/main" id="{19C8CB2E-2850-204B-C4F9-BABF441B251A}"/>
              </a:ext>
            </a:extLst>
          </p:cNvPr>
          <p:cNvSpPr>
            <a:spLocks noChangeArrowheads="1"/>
          </p:cNvSpPr>
          <p:nvPr/>
        </p:nvSpPr>
        <p:spPr bwMode="auto">
          <a:xfrm>
            <a:off x="1545771" y="2552799"/>
            <a:ext cx="9648475" cy="1295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Nunito" pitchFamily="2" charset="0"/>
              </a:rPr>
              <a:t>From the </a:t>
            </a:r>
            <a:r>
              <a:rPr lang="en-US" altLang="en-US" sz="2000" dirty="0">
                <a:solidFill>
                  <a:srgbClr val="273239"/>
                </a:solidFill>
                <a:latin typeface="Nunito" pitchFamily="2" charset="0"/>
              </a:rPr>
              <a:t>previous</a:t>
            </a:r>
            <a:r>
              <a:rPr kumimoji="0" lang="en-US" altLang="en-US" sz="2000" b="0" i="0" u="none" strike="noStrike" cap="none" normalizeH="0" baseline="0" dirty="0">
                <a:ln>
                  <a:noFill/>
                </a:ln>
                <a:solidFill>
                  <a:srgbClr val="273239"/>
                </a:solidFill>
                <a:effectLst/>
                <a:latin typeface="Nunito" pitchFamily="2" charset="0"/>
              </a:rPr>
              <a:t> table of FRENCH and GERMAN, Set Difference is used as follows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rgbClr val="273239"/>
              </a:solidFill>
              <a:latin typeface="Nunito"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273239"/>
              </a:solidFill>
              <a:effectLst/>
              <a:latin typeface="Consolas" panose="020B0609020204030204" pitchFamily="49"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π(</a:t>
            </a:r>
            <a:r>
              <a:rPr kumimoji="0" lang="en-US" altLang="en-US" sz="2000" b="0" i="0" u="none" strike="noStrike" cap="none" normalizeH="0" baseline="0" dirty="0" err="1">
                <a:ln>
                  <a:noFill/>
                </a:ln>
                <a:solidFill>
                  <a:srgbClr val="273239"/>
                </a:solidFill>
                <a:effectLst/>
                <a:latin typeface="Consolas" panose="020B0609020204030204" pitchFamily="49" charset="0"/>
              </a:rPr>
              <a:t>Student_Name</a:t>
            </a:r>
            <a:r>
              <a:rPr kumimoji="0" lang="en-US" altLang="en-US" sz="2000" b="0" i="0" u="none" strike="noStrike" cap="none" normalizeH="0" baseline="0" dirty="0">
                <a:ln>
                  <a:noFill/>
                </a:ln>
                <a:solidFill>
                  <a:srgbClr val="273239"/>
                </a:solidFill>
                <a:effectLst/>
                <a:latin typeface="Consolas" panose="020B0609020204030204" pitchFamily="49" charset="0"/>
              </a:rPr>
              <a:t>)FRENCH - π(</a:t>
            </a:r>
            <a:r>
              <a:rPr kumimoji="0" lang="en-US" altLang="en-US" sz="2000" b="0" i="0" u="none" strike="noStrike" cap="none" normalizeH="0" baseline="0" dirty="0" err="1">
                <a:ln>
                  <a:noFill/>
                </a:ln>
                <a:solidFill>
                  <a:srgbClr val="273239"/>
                </a:solidFill>
                <a:effectLst/>
                <a:latin typeface="Consolas" panose="020B0609020204030204" pitchFamily="49" charset="0"/>
              </a:rPr>
              <a:t>Student_Name</a:t>
            </a:r>
            <a:r>
              <a:rPr kumimoji="0" lang="en-US" altLang="en-US" sz="2000" b="0" i="0" u="none" strike="noStrike" cap="none" normalizeH="0" baseline="0" dirty="0">
                <a:ln>
                  <a:noFill/>
                </a:ln>
                <a:solidFill>
                  <a:srgbClr val="273239"/>
                </a:solidFill>
                <a:effectLst/>
                <a:latin typeface="Consolas" panose="020B0609020204030204" pitchFamily="49" charset="0"/>
              </a:rPr>
              <a:t>)GERMAN</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graphicFrame>
        <p:nvGraphicFramePr>
          <p:cNvPr id="7" name="Table 6">
            <a:extLst>
              <a:ext uri="{FF2B5EF4-FFF2-40B4-BE49-F238E27FC236}">
                <a16:creationId xmlns:a16="http://schemas.microsoft.com/office/drawing/2014/main" id="{254727DB-B1BE-3CC0-3A95-933380BC689A}"/>
              </a:ext>
            </a:extLst>
          </p:cNvPr>
          <p:cNvGraphicFramePr>
            <a:graphicFrameLocks noGrp="1"/>
          </p:cNvGraphicFramePr>
          <p:nvPr>
            <p:extLst>
              <p:ext uri="{D42A27DB-BD31-4B8C-83A1-F6EECF244321}">
                <p14:modId xmlns:p14="http://schemas.microsoft.com/office/powerpoint/2010/main" val="365288540"/>
              </p:ext>
            </p:extLst>
          </p:nvPr>
        </p:nvGraphicFramePr>
        <p:xfrm>
          <a:off x="4878666" y="4257449"/>
          <a:ext cx="1513113" cy="1076960"/>
        </p:xfrm>
        <a:graphic>
          <a:graphicData uri="http://schemas.openxmlformats.org/drawingml/2006/table">
            <a:tbl>
              <a:tblPr>
                <a:tableStyleId>{775DCB02-9BB8-47FD-8907-85C794F793BA}</a:tableStyleId>
              </a:tblPr>
              <a:tblGrid>
                <a:gridCol w="1513113">
                  <a:extLst>
                    <a:ext uri="{9D8B030D-6E8A-4147-A177-3AD203B41FA5}">
                      <a16:colId xmlns:a16="http://schemas.microsoft.com/office/drawing/2014/main" val="3070001760"/>
                    </a:ext>
                  </a:extLst>
                </a:gridCol>
              </a:tblGrid>
              <a:tr h="0">
                <a:tc>
                  <a:txBody>
                    <a:bodyPr/>
                    <a:lstStyle/>
                    <a:p>
                      <a:pPr algn="ctr" fontAlgn="base"/>
                      <a:r>
                        <a:rPr lang="en-IN" sz="1400" b="1">
                          <a:effectLst/>
                        </a:rPr>
                        <a:t>Student_Name</a:t>
                      </a:r>
                    </a:p>
                  </a:txBody>
                  <a:tcPr marL="38100" marR="38100" marT="63500" marB="63500" anchor="ctr"/>
                </a:tc>
                <a:extLst>
                  <a:ext uri="{0D108BD9-81ED-4DB2-BD59-A6C34878D82A}">
                    <a16:rowId xmlns:a16="http://schemas.microsoft.com/office/drawing/2014/main" val="1687153895"/>
                  </a:ext>
                </a:extLst>
              </a:tr>
              <a:tr h="0">
                <a:tc>
                  <a:txBody>
                    <a:bodyPr/>
                    <a:lstStyle/>
                    <a:p>
                      <a:pPr algn="ctr" fontAlgn="ctr"/>
                      <a:r>
                        <a:rPr lang="en-IN" sz="1250" b="0">
                          <a:effectLst/>
                        </a:rPr>
                        <a:t>Ram</a:t>
                      </a:r>
                    </a:p>
                  </a:txBody>
                  <a:tcPr marL="63500" marR="63500" marT="88900" marB="88900" anchor="ctr"/>
                </a:tc>
                <a:extLst>
                  <a:ext uri="{0D108BD9-81ED-4DB2-BD59-A6C34878D82A}">
                    <a16:rowId xmlns:a16="http://schemas.microsoft.com/office/drawing/2014/main" val="2270530629"/>
                  </a:ext>
                </a:extLst>
              </a:tr>
              <a:tr h="0">
                <a:tc>
                  <a:txBody>
                    <a:bodyPr/>
                    <a:lstStyle/>
                    <a:p>
                      <a:pPr algn="ctr" fontAlgn="ctr"/>
                      <a:r>
                        <a:rPr lang="en-IN" sz="1250" b="0" dirty="0">
                          <a:effectLst/>
                        </a:rPr>
                        <a:t>Mohan</a:t>
                      </a:r>
                    </a:p>
                  </a:txBody>
                  <a:tcPr marL="63500" marR="63500" marT="88900" marB="88900" anchor="ctr"/>
                </a:tc>
                <a:extLst>
                  <a:ext uri="{0D108BD9-81ED-4DB2-BD59-A6C34878D82A}">
                    <a16:rowId xmlns:a16="http://schemas.microsoft.com/office/drawing/2014/main" val="3567212164"/>
                  </a:ext>
                </a:extLst>
              </a:tr>
            </a:tbl>
          </a:graphicData>
        </a:graphic>
      </p:graphicFrame>
      <p:sp>
        <p:nvSpPr>
          <p:cNvPr id="9" name="TextBox 8">
            <a:extLst>
              <a:ext uri="{FF2B5EF4-FFF2-40B4-BE49-F238E27FC236}">
                <a16:creationId xmlns:a16="http://schemas.microsoft.com/office/drawing/2014/main" id="{1253177F-95D8-A91A-8D34-0613A6852F5E}"/>
              </a:ext>
            </a:extLst>
          </p:cNvPr>
          <p:cNvSpPr txBox="1"/>
          <p:nvPr/>
        </p:nvSpPr>
        <p:spPr>
          <a:xfrm>
            <a:off x="1126260" y="5352185"/>
            <a:ext cx="10608540" cy="646331"/>
          </a:xfrm>
          <a:prstGeom prst="rect">
            <a:avLst/>
          </a:prstGeom>
          <a:noFill/>
        </p:spPr>
        <p:txBody>
          <a:bodyPr wrap="square">
            <a:spAutoFit/>
          </a:bodyPr>
          <a:lstStyle/>
          <a:p>
            <a:r>
              <a:rPr lang="en-US" b="1" i="0" dirty="0">
                <a:solidFill>
                  <a:srgbClr val="273239"/>
                </a:solidFill>
                <a:effectLst/>
                <a:latin typeface="Nunito" pitchFamily="2" charset="0"/>
              </a:rPr>
              <a:t>Note:</a:t>
            </a:r>
            <a:r>
              <a:rPr lang="en-US" b="0" i="0" dirty="0">
                <a:solidFill>
                  <a:srgbClr val="273239"/>
                </a:solidFill>
                <a:effectLst/>
                <a:latin typeface="Nunito" pitchFamily="2" charset="0"/>
              </a:rPr>
              <a:t> The only constraint in the Set Difference between two relations is that both relations must have the same set of Attributes.</a:t>
            </a:r>
            <a:endParaRPr lang="en-IN" dirty="0"/>
          </a:p>
        </p:txBody>
      </p:sp>
    </p:spTree>
    <p:extLst>
      <p:ext uri="{BB962C8B-B14F-4D97-AF65-F5344CB8AC3E}">
        <p14:creationId xmlns:p14="http://schemas.microsoft.com/office/powerpoint/2010/main" val="1789986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2B954C4-83A4-E704-4CD9-82622FAD5F8E}"/>
              </a:ext>
            </a:extLst>
          </p:cNvPr>
          <p:cNvSpPr txBox="1"/>
          <p:nvPr/>
        </p:nvSpPr>
        <p:spPr>
          <a:xfrm>
            <a:off x="1186542" y="2100945"/>
            <a:ext cx="10145485" cy="1815882"/>
          </a:xfrm>
          <a:prstGeom prst="rect">
            <a:avLst/>
          </a:prstGeom>
          <a:noFill/>
        </p:spPr>
        <p:txBody>
          <a:bodyPr wrap="square">
            <a:spAutoFit/>
          </a:bodyPr>
          <a:lstStyle/>
          <a:p>
            <a:r>
              <a:rPr lang="en-US" sz="2800" dirty="0"/>
              <a:t>5. Rename(ρ): Rename is a unary operation used for renaming attributes of a relation.</a:t>
            </a:r>
          </a:p>
          <a:p>
            <a:endParaRPr lang="en-US" sz="2800" dirty="0"/>
          </a:p>
          <a:p>
            <a:r>
              <a:rPr lang="en-US" sz="2800" dirty="0"/>
              <a:t> </a:t>
            </a:r>
            <a:r>
              <a:rPr lang="en-US" sz="2800" dirty="0" err="1"/>
              <a:t>ρ</a:t>
            </a:r>
            <a:r>
              <a:rPr lang="en-US" sz="1600" dirty="0" err="1"/>
              <a:t>b</a:t>
            </a:r>
            <a:r>
              <a:rPr lang="en-US" sz="2800" dirty="0"/>
              <a:t>(a)R will rename the attribute 'b' of the relation by 'a'. </a:t>
            </a:r>
            <a:endParaRPr lang="en-IN" sz="2800" dirty="0"/>
          </a:p>
        </p:txBody>
      </p:sp>
    </p:spTree>
    <p:extLst>
      <p:ext uri="{BB962C8B-B14F-4D97-AF65-F5344CB8AC3E}">
        <p14:creationId xmlns:p14="http://schemas.microsoft.com/office/powerpoint/2010/main" val="3304273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3E891B8-AAFB-6DCF-6C9A-EF63D5D103DE}"/>
              </a:ext>
            </a:extLst>
          </p:cNvPr>
          <p:cNvSpPr txBox="1"/>
          <p:nvPr/>
        </p:nvSpPr>
        <p:spPr>
          <a:xfrm>
            <a:off x="1144360" y="126751"/>
            <a:ext cx="9903279" cy="1815882"/>
          </a:xfrm>
          <a:prstGeom prst="rect">
            <a:avLst/>
          </a:prstGeom>
          <a:noFill/>
        </p:spPr>
        <p:txBody>
          <a:bodyPr wrap="square">
            <a:spAutoFit/>
          </a:bodyPr>
          <a:lstStyle/>
          <a:p>
            <a:pPr algn="just"/>
            <a:r>
              <a:rPr lang="en-US" sz="2800" b="1" dirty="0">
                <a:solidFill>
                  <a:srgbClr val="273239"/>
                </a:solidFill>
                <a:latin typeface="Nunito" pitchFamily="2" charset="0"/>
              </a:rPr>
              <a:t>6</a:t>
            </a:r>
            <a:r>
              <a:rPr lang="en-US" sz="2800" b="1" i="0" dirty="0">
                <a:solidFill>
                  <a:srgbClr val="273239"/>
                </a:solidFill>
                <a:effectLst/>
                <a:latin typeface="Nunito" pitchFamily="2" charset="0"/>
              </a:rPr>
              <a:t>. Cross Product(X):</a:t>
            </a:r>
            <a:r>
              <a:rPr lang="en-US" sz="2800" b="0" i="0" dirty="0">
                <a:solidFill>
                  <a:srgbClr val="273239"/>
                </a:solidFill>
                <a:effectLst/>
                <a:latin typeface="Nunito" pitchFamily="2" charset="0"/>
              </a:rPr>
              <a:t> Cross-product between two relations. Let’s say A and B, so the cross product between A X B will result in all the attributes of A followed by each attribute of B. Each record of A will pair with every record of B.</a:t>
            </a:r>
            <a:endParaRPr lang="en-IN" sz="2800" dirty="0"/>
          </a:p>
        </p:txBody>
      </p:sp>
      <p:graphicFrame>
        <p:nvGraphicFramePr>
          <p:cNvPr id="8" name="Table 7">
            <a:extLst>
              <a:ext uri="{FF2B5EF4-FFF2-40B4-BE49-F238E27FC236}">
                <a16:creationId xmlns:a16="http://schemas.microsoft.com/office/drawing/2014/main" id="{8BD9EBE6-4B75-2297-8DF5-330F578C8CCD}"/>
              </a:ext>
            </a:extLst>
          </p:cNvPr>
          <p:cNvGraphicFramePr>
            <a:graphicFrameLocks noGrp="1"/>
          </p:cNvGraphicFramePr>
          <p:nvPr>
            <p:extLst>
              <p:ext uri="{D42A27DB-BD31-4B8C-83A1-F6EECF244321}">
                <p14:modId xmlns:p14="http://schemas.microsoft.com/office/powerpoint/2010/main" val="3755033801"/>
              </p:ext>
            </p:extLst>
          </p:nvPr>
        </p:nvGraphicFramePr>
        <p:xfrm>
          <a:off x="2202089" y="2384221"/>
          <a:ext cx="2413455" cy="1658620"/>
        </p:xfrm>
        <a:graphic>
          <a:graphicData uri="http://schemas.openxmlformats.org/drawingml/2006/table">
            <a:tbl>
              <a:tblPr>
                <a:tableStyleId>{35758FB7-9AC5-4552-8A53-C91805E547FA}</a:tableStyleId>
              </a:tblPr>
              <a:tblGrid>
                <a:gridCol w="804485">
                  <a:extLst>
                    <a:ext uri="{9D8B030D-6E8A-4147-A177-3AD203B41FA5}">
                      <a16:colId xmlns:a16="http://schemas.microsoft.com/office/drawing/2014/main" val="3440469928"/>
                    </a:ext>
                  </a:extLst>
                </a:gridCol>
                <a:gridCol w="804485">
                  <a:extLst>
                    <a:ext uri="{9D8B030D-6E8A-4147-A177-3AD203B41FA5}">
                      <a16:colId xmlns:a16="http://schemas.microsoft.com/office/drawing/2014/main" val="2422799048"/>
                    </a:ext>
                  </a:extLst>
                </a:gridCol>
                <a:gridCol w="804485">
                  <a:extLst>
                    <a:ext uri="{9D8B030D-6E8A-4147-A177-3AD203B41FA5}">
                      <a16:colId xmlns:a16="http://schemas.microsoft.com/office/drawing/2014/main" val="1838596055"/>
                    </a:ext>
                  </a:extLst>
                </a:gridCol>
              </a:tblGrid>
              <a:tr h="0">
                <a:tc>
                  <a:txBody>
                    <a:bodyPr/>
                    <a:lstStyle/>
                    <a:p>
                      <a:pPr algn="ctr" fontAlgn="base"/>
                      <a:r>
                        <a:rPr lang="en-IN" sz="1400" b="1">
                          <a:effectLst/>
                        </a:rPr>
                        <a:t>Name     </a:t>
                      </a:r>
                    </a:p>
                  </a:txBody>
                  <a:tcPr marL="38100" marR="38100" marT="63500" marB="63500" anchor="ctr"/>
                </a:tc>
                <a:tc>
                  <a:txBody>
                    <a:bodyPr/>
                    <a:lstStyle/>
                    <a:p>
                      <a:pPr algn="ctr" fontAlgn="base"/>
                      <a:r>
                        <a:rPr lang="en-IN" sz="1400" b="1">
                          <a:effectLst/>
                        </a:rPr>
                        <a:t>Age     </a:t>
                      </a:r>
                    </a:p>
                  </a:txBody>
                  <a:tcPr marL="63500" marR="63500" marT="63500" marB="63500" anchor="ctr"/>
                </a:tc>
                <a:tc>
                  <a:txBody>
                    <a:bodyPr/>
                    <a:lstStyle/>
                    <a:p>
                      <a:pPr algn="ctr" fontAlgn="base"/>
                      <a:r>
                        <a:rPr lang="en-IN" sz="1400" b="1">
                          <a:effectLst/>
                        </a:rPr>
                        <a:t>Sex      </a:t>
                      </a:r>
                    </a:p>
                  </a:txBody>
                  <a:tcPr marL="63500" marR="63500" marT="63500" marB="63500" anchor="ctr"/>
                </a:tc>
                <a:extLst>
                  <a:ext uri="{0D108BD9-81ED-4DB2-BD59-A6C34878D82A}">
                    <a16:rowId xmlns:a16="http://schemas.microsoft.com/office/drawing/2014/main" val="667305320"/>
                  </a:ext>
                </a:extLst>
              </a:tr>
              <a:tr h="0">
                <a:tc>
                  <a:txBody>
                    <a:bodyPr/>
                    <a:lstStyle/>
                    <a:p>
                      <a:pPr algn="ctr" fontAlgn="ctr"/>
                      <a:r>
                        <a:rPr lang="en-IN" sz="1250" b="0">
                          <a:effectLst/>
                        </a:rPr>
                        <a:t>Ram</a:t>
                      </a:r>
                    </a:p>
                  </a:txBody>
                  <a:tcPr marL="63500" marR="63500" marT="88900" marB="88900" anchor="ctr"/>
                </a:tc>
                <a:tc>
                  <a:txBody>
                    <a:bodyPr/>
                    <a:lstStyle/>
                    <a:p>
                      <a:pPr algn="ctr" fontAlgn="ctr"/>
                      <a:r>
                        <a:rPr lang="en-IN" sz="1250" b="0" dirty="0">
                          <a:effectLst/>
                        </a:rPr>
                        <a:t>14</a:t>
                      </a:r>
                    </a:p>
                  </a:txBody>
                  <a:tcPr marL="63500" marR="63500" marT="88900" marB="88900" anchor="ctr"/>
                </a:tc>
                <a:tc>
                  <a:txBody>
                    <a:bodyPr/>
                    <a:lstStyle/>
                    <a:p>
                      <a:pPr algn="ctr" fontAlgn="ctr"/>
                      <a:r>
                        <a:rPr lang="en-IN" sz="1250" b="0">
                          <a:effectLst/>
                        </a:rPr>
                        <a:t>M</a:t>
                      </a:r>
                    </a:p>
                  </a:txBody>
                  <a:tcPr marL="63500" marR="63500" marT="88900" marB="88900" anchor="ctr"/>
                </a:tc>
                <a:extLst>
                  <a:ext uri="{0D108BD9-81ED-4DB2-BD59-A6C34878D82A}">
                    <a16:rowId xmlns:a16="http://schemas.microsoft.com/office/drawing/2014/main" val="1620750044"/>
                  </a:ext>
                </a:extLst>
              </a:tr>
              <a:tr h="0">
                <a:tc>
                  <a:txBody>
                    <a:bodyPr/>
                    <a:lstStyle/>
                    <a:p>
                      <a:pPr algn="ctr" fontAlgn="ctr"/>
                      <a:r>
                        <a:rPr lang="en-IN" sz="1250" b="0">
                          <a:effectLst/>
                        </a:rPr>
                        <a:t>Sona</a:t>
                      </a:r>
                    </a:p>
                  </a:txBody>
                  <a:tcPr marL="63500" marR="63500" marT="88900" marB="88900" anchor="ctr"/>
                </a:tc>
                <a:tc>
                  <a:txBody>
                    <a:bodyPr/>
                    <a:lstStyle/>
                    <a:p>
                      <a:pPr algn="ctr" fontAlgn="ctr"/>
                      <a:r>
                        <a:rPr lang="en-IN" sz="1250" b="0" dirty="0">
                          <a:effectLst/>
                        </a:rPr>
                        <a:t>15</a:t>
                      </a:r>
                    </a:p>
                  </a:txBody>
                  <a:tcPr marL="63500" marR="63500" marT="88900" marB="88900" anchor="ctr"/>
                </a:tc>
                <a:tc>
                  <a:txBody>
                    <a:bodyPr/>
                    <a:lstStyle/>
                    <a:p>
                      <a:pPr algn="ctr" fontAlgn="ctr"/>
                      <a:r>
                        <a:rPr lang="en-IN" sz="1250" b="0">
                          <a:effectLst/>
                        </a:rPr>
                        <a:t>F</a:t>
                      </a:r>
                    </a:p>
                  </a:txBody>
                  <a:tcPr marL="63500" marR="63500" marT="88900" marB="88900" anchor="ctr"/>
                </a:tc>
                <a:extLst>
                  <a:ext uri="{0D108BD9-81ED-4DB2-BD59-A6C34878D82A}">
                    <a16:rowId xmlns:a16="http://schemas.microsoft.com/office/drawing/2014/main" val="1682473000"/>
                  </a:ext>
                </a:extLst>
              </a:tr>
              <a:tr h="0">
                <a:tc>
                  <a:txBody>
                    <a:bodyPr/>
                    <a:lstStyle/>
                    <a:p>
                      <a:pPr algn="ctr" fontAlgn="ctr"/>
                      <a:r>
                        <a:rPr lang="en-IN" sz="1250" b="0">
                          <a:effectLst/>
                        </a:rPr>
                        <a:t>Kim</a:t>
                      </a:r>
                    </a:p>
                  </a:txBody>
                  <a:tcPr marL="63500" marR="63500" marT="88900" marB="88900" anchor="ctr"/>
                </a:tc>
                <a:tc>
                  <a:txBody>
                    <a:bodyPr/>
                    <a:lstStyle/>
                    <a:p>
                      <a:pPr algn="ctr" fontAlgn="ctr"/>
                      <a:r>
                        <a:rPr lang="en-IN" sz="1250" b="0">
                          <a:effectLst/>
                        </a:rPr>
                        <a:t>20</a:t>
                      </a:r>
                    </a:p>
                  </a:txBody>
                  <a:tcPr marL="63500" marR="63500" marT="88900" marB="88900" anchor="ctr"/>
                </a:tc>
                <a:tc>
                  <a:txBody>
                    <a:bodyPr/>
                    <a:lstStyle/>
                    <a:p>
                      <a:pPr algn="ctr" fontAlgn="ctr"/>
                      <a:r>
                        <a:rPr lang="en-IN" sz="1250" b="0" dirty="0">
                          <a:effectLst/>
                        </a:rPr>
                        <a:t>M</a:t>
                      </a:r>
                    </a:p>
                  </a:txBody>
                  <a:tcPr marL="63500" marR="63500" marT="88900" marB="88900" anchor="ctr"/>
                </a:tc>
                <a:extLst>
                  <a:ext uri="{0D108BD9-81ED-4DB2-BD59-A6C34878D82A}">
                    <a16:rowId xmlns:a16="http://schemas.microsoft.com/office/drawing/2014/main" val="4234577081"/>
                  </a:ext>
                </a:extLst>
              </a:tr>
            </a:tbl>
          </a:graphicData>
        </a:graphic>
      </p:graphicFrame>
      <p:graphicFrame>
        <p:nvGraphicFramePr>
          <p:cNvPr id="9" name="Table 8">
            <a:extLst>
              <a:ext uri="{FF2B5EF4-FFF2-40B4-BE49-F238E27FC236}">
                <a16:creationId xmlns:a16="http://schemas.microsoft.com/office/drawing/2014/main" id="{465142AF-A71A-F3E4-B00A-7C9380CADB86}"/>
              </a:ext>
            </a:extLst>
          </p:cNvPr>
          <p:cNvGraphicFramePr>
            <a:graphicFrameLocks noGrp="1"/>
          </p:cNvGraphicFramePr>
          <p:nvPr>
            <p:extLst>
              <p:ext uri="{D42A27DB-BD31-4B8C-83A1-F6EECF244321}">
                <p14:modId xmlns:p14="http://schemas.microsoft.com/office/powerpoint/2010/main" val="1132362651"/>
              </p:ext>
            </p:extLst>
          </p:nvPr>
        </p:nvGraphicFramePr>
        <p:xfrm>
          <a:off x="6095999" y="2551895"/>
          <a:ext cx="3512912" cy="1323272"/>
        </p:xfrm>
        <a:graphic>
          <a:graphicData uri="http://schemas.openxmlformats.org/drawingml/2006/table">
            <a:tbl>
              <a:tblPr>
                <a:tableStyleId>{775DCB02-9BB8-47FD-8907-85C794F793BA}</a:tableStyleId>
              </a:tblPr>
              <a:tblGrid>
                <a:gridCol w="1756456">
                  <a:extLst>
                    <a:ext uri="{9D8B030D-6E8A-4147-A177-3AD203B41FA5}">
                      <a16:colId xmlns:a16="http://schemas.microsoft.com/office/drawing/2014/main" val="2278317459"/>
                    </a:ext>
                  </a:extLst>
                </a:gridCol>
                <a:gridCol w="1756456">
                  <a:extLst>
                    <a:ext uri="{9D8B030D-6E8A-4147-A177-3AD203B41FA5}">
                      <a16:colId xmlns:a16="http://schemas.microsoft.com/office/drawing/2014/main" val="2138222966"/>
                    </a:ext>
                  </a:extLst>
                </a:gridCol>
              </a:tblGrid>
              <a:tr h="340360">
                <a:tc>
                  <a:txBody>
                    <a:bodyPr/>
                    <a:lstStyle/>
                    <a:p>
                      <a:pPr algn="ctr" fontAlgn="base"/>
                      <a:r>
                        <a:rPr lang="en-IN" sz="1400" b="1" dirty="0">
                          <a:effectLst/>
                        </a:rPr>
                        <a:t>ID     </a:t>
                      </a:r>
                    </a:p>
                  </a:txBody>
                  <a:tcPr marL="38100" marR="38100" marT="63500" marB="63500" anchor="ctr"/>
                </a:tc>
                <a:tc>
                  <a:txBody>
                    <a:bodyPr/>
                    <a:lstStyle/>
                    <a:p>
                      <a:pPr algn="ctr" fontAlgn="base"/>
                      <a:r>
                        <a:rPr lang="en-IN" sz="1400" b="1" dirty="0">
                          <a:effectLst/>
                        </a:rPr>
                        <a:t>Course     </a:t>
                      </a:r>
                    </a:p>
                  </a:txBody>
                  <a:tcPr marL="63500" marR="63500" marT="63500" marB="63500" anchor="ctr"/>
                </a:tc>
                <a:extLst>
                  <a:ext uri="{0D108BD9-81ED-4DB2-BD59-A6C34878D82A}">
                    <a16:rowId xmlns:a16="http://schemas.microsoft.com/office/drawing/2014/main" val="1156209527"/>
                  </a:ext>
                </a:extLst>
              </a:tr>
              <a:tr h="614612">
                <a:tc>
                  <a:txBody>
                    <a:bodyPr/>
                    <a:lstStyle/>
                    <a:p>
                      <a:pPr algn="ctr" fontAlgn="ctr"/>
                      <a:r>
                        <a:rPr lang="en-IN" sz="1200" b="0" dirty="0">
                          <a:effectLst/>
                        </a:rPr>
                        <a:t>1</a:t>
                      </a:r>
                    </a:p>
                  </a:txBody>
                  <a:tcPr marL="63500" marR="63500" marT="88900" marB="88900" anchor="ctr"/>
                </a:tc>
                <a:tc>
                  <a:txBody>
                    <a:bodyPr/>
                    <a:lstStyle/>
                    <a:p>
                      <a:pPr algn="ctr" fontAlgn="ctr"/>
                      <a:r>
                        <a:rPr lang="en-IN" sz="1200" b="0" dirty="0">
                          <a:effectLst/>
                        </a:rPr>
                        <a:t>DS</a:t>
                      </a:r>
                    </a:p>
                  </a:txBody>
                  <a:tcPr marL="63500" marR="63500" marT="88900" marB="88900" anchor="ctr"/>
                </a:tc>
                <a:extLst>
                  <a:ext uri="{0D108BD9-81ED-4DB2-BD59-A6C34878D82A}">
                    <a16:rowId xmlns:a16="http://schemas.microsoft.com/office/drawing/2014/main" val="2659854127"/>
                  </a:ext>
                </a:extLst>
              </a:tr>
              <a:tr h="368300">
                <a:tc>
                  <a:txBody>
                    <a:bodyPr/>
                    <a:lstStyle/>
                    <a:p>
                      <a:pPr algn="ctr" fontAlgn="ctr"/>
                      <a:r>
                        <a:rPr lang="en-IN" sz="1200" b="0">
                          <a:effectLst/>
                        </a:rPr>
                        <a:t>2</a:t>
                      </a:r>
                    </a:p>
                  </a:txBody>
                  <a:tcPr marL="63500" marR="63500" marT="88900" marB="88900" anchor="ctr"/>
                </a:tc>
                <a:tc>
                  <a:txBody>
                    <a:bodyPr/>
                    <a:lstStyle/>
                    <a:p>
                      <a:pPr algn="ctr" fontAlgn="ctr"/>
                      <a:r>
                        <a:rPr lang="en-IN" sz="1200" b="0" dirty="0">
                          <a:effectLst/>
                        </a:rPr>
                        <a:t>DBMS</a:t>
                      </a:r>
                    </a:p>
                  </a:txBody>
                  <a:tcPr marL="63500" marR="63500" marT="88900" marB="88900" anchor="ctr"/>
                </a:tc>
                <a:extLst>
                  <a:ext uri="{0D108BD9-81ED-4DB2-BD59-A6C34878D82A}">
                    <a16:rowId xmlns:a16="http://schemas.microsoft.com/office/drawing/2014/main" val="3849718453"/>
                  </a:ext>
                </a:extLst>
              </a:tr>
            </a:tbl>
          </a:graphicData>
        </a:graphic>
      </p:graphicFrame>
    </p:spTree>
    <p:extLst>
      <p:ext uri="{BB962C8B-B14F-4D97-AF65-F5344CB8AC3E}">
        <p14:creationId xmlns:p14="http://schemas.microsoft.com/office/powerpoint/2010/main" val="1318747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568FDCE-64E4-9A13-C556-E3E73A6BEE82}"/>
              </a:ext>
            </a:extLst>
          </p:cNvPr>
          <p:cNvGraphicFramePr>
            <a:graphicFrameLocks noGrp="1"/>
          </p:cNvGraphicFramePr>
          <p:nvPr>
            <p:ph idx="1"/>
            <p:extLst>
              <p:ext uri="{D42A27DB-BD31-4B8C-83A1-F6EECF244321}">
                <p14:modId xmlns:p14="http://schemas.microsoft.com/office/powerpoint/2010/main" val="3621290775"/>
              </p:ext>
            </p:extLst>
          </p:nvPr>
        </p:nvGraphicFramePr>
        <p:xfrm>
          <a:off x="1451579" y="2618264"/>
          <a:ext cx="9604375" cy="2550160"/>
        </p:xfrm>
        <a:graphic>
          <a:graphicData uri="http://schemas.openxmlformats.org/drawingml/2006/table">
            <a:tbl>
              <a:tblPr>
                <a:tableStyleId>{284E427A-3D55-4303-BF80-6455036E1DE7}</a:tableStyleId>
              </a:tblPr>
              <a:tblGrid>
                <a:gridCol w="1920875">
                  <a:extLst>
                    <a:ext uri="{9D8B030D-6E8A-4147-A177-3AD203B41FA5}">
                      <a16:colId xmlns:a16="http://schemas.microsoft.com/office/drawing/2014/main" val="1343594023"/>
                    </a:ext>
                  </a:extLst>
                </a:gridCol>
                <a:gridCol w="1920875">
                  <a:extLst>
                    <a:ext uri="{9D8B030D-6E8A-4147-A177-3AD203B41FA5}">
                      <a16:colId xmlns:a16="http://schemas.microsoft.com/office/drawing/2014/main" val="2224602062"/>
                    </a:ext>
                  </a:extLst>
                </a:gridCol>
                <a:gridCol w="1920875">
                  <a:extLst>
                    <a:ext uri="{9D8B030D-6E8A-4147-A177-3AD203B41FA5}">
                      <a16:colId xmlns:a16="http://schemas.microsoft.com/office/drawing/2014/main" val="3328477407"/>
                    </a:ext>
                  </a:extLst>
                </a:gridCol>
                <a:gridCol w="1920875">
                  <a:extLst>
                    <a:ext uri="{9D8B030D-6E8A-4147-A177-3AD203B41FA5}">
                      <a16:colId xmlns:a16="http://schemas.microsoft.com/office/drawing/2014/main" val="2882927969"/>
                    </a:ext>
                  </a:extLst>
                </a:gridCol>
                <a:gridCol w="1920875">
                  <a:extLst>
                    <a:ext uri="{9D8B030D-6E8A-4147-A177-3AD203B41FA5}">
                      <a16:colId xmlns:a16="http://schemas.microsoft.com/office/drawing/2014/main" val="4205034654"/>
                    </a:ext>
                  </a:extLst>
                </a:gridCol>
              </a:tblGrid>
              <a:tr h="0">
                <a:tc>
                  <a:txBody>
                    <a:bodyPr/>
                    <a:lstStyle/>
                    <a:p>
                      <a:pPr algn="ctr" fontAlgn="base"/>
                      <a:r>
                        <a:rPr lang="en-IN" sz="1400" b="1">
                          <a:effectLst/>
                        </a:rPr>
                        <a:t>Name     </a:t>
                      </a:r>
                    </a:p>
                  </a:txBody>
                  <a:tcPr marL="38100" marR="38100" marT="63500" marB="63500" anchor="ctr"/>
                </a:tc>
                <a:tc>
                  <a:txBody>
                    <a:bodyPr/>
                    <a:lstStyle/>
                    <a:p>
                      <a:pPr algn="ctr" fontAlgn="base"/>
                      <a:r>
                        <a:rPr lang="en-IN" sz="1400" b="1">
                          <a:effectLst/>
                        </a:rPr>
                        <a:t>Age     </a:t>
                      </a:r>
                    </a:p>
                  </a:txBody>
                  <a:tcPr marL="63500" marR="63500" marT="63500" marB="63500" anchor="ctr"/>
                </a:tc>
                <a:tc>
                  <a:txBody>
                    <a:bodyPr/>
                    <a:lstStyle/>
                    <a:p>
                      <a:pPr algn="ctr" fontAlgn="base"/>
                      <a:r>
                        <a:rPr lang="en-IN" sz="1400" b="1">
                          <a:effectLst/>
                        </a:rPr>
                        <a:t>Sex     </a:t>
                      </a:r>
                    </a:p>
                  </a:txBody>
                  <a:tcPr marL="63500" marR="63500" marT="63500" marB="63500" anchor="ctr"/>
                </a:tc>
                <a:tc>
                  <a:txBody>
                    <a:bodyPr/>
                    <a:lstStyle/>
                    <a:p>
                      <a:pPr algn="ctr" fontAlgn="base"/>
                      <a:r>
                        <a:rPr lang="en-IN" sz="1400" b="1">
                          <a:effectLst/>
                        </a:rPr>
                        <a:t>ID      </a:t>
                      </a:r>
                    </a:p>
                  </a:txBody>
                  <a:tcPr marL="63500" marR="63500" marT="63500" marB="63500" anchor="ctr"/>
                </a:tc>
                <a:tc>
                  <a:txBody>
                    <a:bodyPr/>
                    <a:lstStyle/>
                    <a:p>
                      <a:pPr algn="ctr" fontAlgn="base"/>
                      <a:r>
                        <a:rPr lang="en-IN" sz="1400" b="1">
                          <a:effectLst/>
                        </a:rPr>
                        <a:t>Course     </a:t>
                      </a:r>
                    </a:p>
                  </a:txBody>
                  <a:tcPr marL="63500" marR="63500" marT="63500" marB="63500" anchor="ctr"/>
                </a:tc>
                <a:extLst>
                  <a:ext uri="{0D108BD9-81ED-4DB2-BD59-A6C34878D82A}">
                    <a16:rowId xmlns:a16="http://schemas.microsoft.com/office/drawing/2014/main" val="3657168249"/>
                  </a:ext>
                </a:extLst>
              </a:tr>
              <a:tr h="0">
                <a:tc>
                  <a:txBody>
                    <a:bodyPr/>
                    <a:lstStyle/>
                    <a:p>
                      <a:pPr algn="ctr" fontAlgn="ctr"/>
                      <a:r>
                        <a:rPr lang="en-IN" sz="1250" b="0">
                          <a:effectLst/>
                        </a:rPr>
                        <a:t>Ram</a:t>
                      </a:r>
                    </a:p>
                  </a:txBody>
                  <a:tcPr marL="63500" marR="63500" marT="88900" marB="88900" anchor="ctr"/>
                </a:tc>
                <a:tc>
                  <a:txBody>
                    <a:bodyPr/>
                    <a:lstStyle/>
                    <a:p>
                      <a:pPr algn="ctr" fontAlgn="ctr"/>
                      <a:r>
                        <a:rPr lang="en-IN" sz="1250" b="0">
                          <a:effectLst/>
                        </a:rPr>
                        <a:t>14</a:t>
                      </a:r>
                    </a:p>
                  </a:txBody>
                  <a:tcPr marL="63500" marR="63500" marT="88900" marB="88900" anchor="ctr"/>
                </a:tc>
                <a:tc>
                  <a:txBody>
                    <a:bodyPr/>
                    <a:lstStyle/>
                    <a:p>
                      <a:pPr algn="ctr" fontAlgn="ctr"/>
                      <a:r>
                        <a:rPr lang="en-IN" sz="1250" b="0">
                          <a:effectLst/>
                        </a:rPr>
                        <a:t>M</a:t>
                      </a:r>
                    </a:p>
                  </a:txBody>
                  <a:tcPr marL="63500" marR="63500" marT="88900" marB="88900" anchor="ctr"/>
                </a:tc>
                <a:tc>
                  <a:txBody>
                    <a:bodyPr/>
                    <a:lstStyle/>
                    <a:p>
                      <a:pPr algn="ctr" fontAlgn="ctr"/>
                      <a:r>
                        <a:rPr lang="en-IN" sz="1250" b="0">
                          <a:effectLst/>
                        </a:rPr>
                        <a:t>1</a:t>
                      </a:r>
                    </a:p>
                  </a:txBody>
                  <a:tcPr marL="63500" marR="63500" marT="88900" marB="88900" anchor="ctr"/>
                </a:tc>
                <a:tc>
                  <a:txBody>
                    <a:bodyPr/>
                    <a:lstStyle/>
                    <a:p>
                      <a:pPr algn="ctr" fontAlgn="ctr"/>
                      <a:r>
                        <a:rPr lang="en-IN" sz="1250" b="0">
                          <a:effectLst/>
                        </a:rPr>
                        <a:t>DS</a:t>
                      </a:r>
                    </a:p>
                  </a:txBody>
                  <a:tcPr marL="63500" marR="63500" marT="88900" marB="88900" anchor="ctr"/>
                </a:tc>
                <a:extLst>
                  <a:ext uri="{0D108BD9-81ED-4DB2-BD59-A6C34878D82A}">
                    <a16:rowId xmlns:a16="http://schemas.microsoft.com/office/drawing/2014/main" val="729837719"/>
                  </a:ext>
                </a:extLst>
              </a:tr>
              <a:tr h="0">
                <a:tc>
                  <a:txBody>
                    <a:bodyPr/>
                    <a:lstStyle/>
                    <a:p>
                      <a:pPr algn="ctr" fontAlgn="ctr"/>
                      <a:r>
                        <a:rPr lang="en-IN" sz="1250" b="0">
                          <a:effectLst/>
                        </a:rPr>
                        <a:t>Ram</a:t>
                      </a:r>
                    </a:p>
                  </a:txBody>
                  <a:tcPr marL="63500" marR="63500" marT="88900" marB="88900" anchor="ctr"/>
                </a:tc>
                <a:tc>
                  <a:txBody>
                    <a:bodyPr/>
                    <a:lstStyle/>
                    <a:p>
                      <a:pPr algn="ctr" fontAlgn="ctr"/>
                      <a:r>
                        <a:rPr lang="en-IN" sz="1250" b="0">
                          <a:effectLst/>
                        </a:rPr>
                        <a:t>14</a:t>
                      </a:r>
                    </a:p>
                  </a:txBody>
                  <a:tcPr marL="63500" marR="63500" marT="88900" marB="88900" anchor="ctr"/>
                </a:tc>
                <a:tc>
                  <a:txBody>
                    <a:bodyPr/>
                    <a:lstStyle/>
                    <a:p>
                      <a:pPr algn="ctr" fontAlgn="ctr"/>
                      <a:r>
                        <a:rPr lang="en-IN" sz="1250" b="0">
                          <a:effectLst/>
                        </a:rPr>
                        <a:t>M</a:t>
                      </a:r>
                    </a:p>
                  </a:txBody>
                  <a:tcPr marL="63500" marR="63500" marT="88900" marB="88900" anchor="ctr"/>
                </a:tc>
                <a:tc>
                  <a:txBody>
                    <a:bodyPr/>
                    <a:lstStyle/>
                    <a:p>
                      <a:pPr algn="ctr" fontAlgn="ctr"/>
                      <a:r>
                        <a:rPr lang="en-IN" sz="1250" b="0">
                          <a:effectLst/>
                        </a:rPr>
                        <a:t>2</a:t>
                      </a:r>
                    </a:p>
                  </a:txBody>
                  <a:tcPr marL="63500" marR="63500" marT="88900" marB="88900" anchor="ctr"/>
                </a:tc>
                <a:tc>
                  <a:txBody>
                    <a:bodyPr/>
                    <a:lstStyle/>
                    <a:p>
                      <a:pPr algn="ctr" fontAlgn="ctr"/>
                      <a:r>
                        <a:rPr lang="en-IN" sz="1250" b="0">
                          <a:effectLst/>
                        </a:rPr>
                        <a:t>DBMS</a:t>
                      </a:r>
                    </a:p>
                  </a:txBody>
                  <a:tcPr marL="63500" marR="63500" marT="88900" marB="88900" anchor="ctr"/>
                </a:tc>
                <a:extLst>
                  <a:ext uri="{0D108BD9-81ED-4DB2-BD59-A6C34878D82A}">
                    <a16:rowId xmlns:a16="http://schemas.microsoft.com/office/drawing/2014/main" val="1763875599"/>
                  </a:ext>
                </a:extLst>
              </a:tr>
              <a:tr h="0">
                <a:tc>
                  <a:txBody>
                    <a:bodyPr/>
                    <a:lstStyle/>
                    <a:p>
                      <a:pPr algn="ctr" fontAlgn="ctr"/>
                      <a:r>
                        <a:rPr lang="en-IN" sz="1250" b="0">
                          <a:effectLst/>
                        </a:rPr>
                        <a:t>Sona</a:t>
                      </a:r>
                    </a:p>
                  </a:txBody>
                  <a:tcPr marL="63500" marR="63500" marT="88900" marB="88900" anchor="ctr"/>
                </a:tc>
                <a:tc>
                  <a:txBody>
                    <a:bodyPr/>
                    <a:lstStyle/>
                    <a:p>
                      <a:pPr algn="ctr" fontAlgn="ctr"/>
                      <a:r>
                        <a:rPr lang="en-IN" sz="1250" b="0">
                          <a:effectLst/>
                        </a:rPr>
                        <a:t>15</a:t>
                      </a:r>
                    </a:p>
                  </a:txBody>
                  <a:tcPr marL="63500" marR="63500" marT="88900" marB="88900" anchor="ctr"/>
                </a:tc>
                <a:tc>
                  <a:txBody>
                    <a:bodyPr/>
                    <a:lstStyle/>
                    <a:p>
                      <a:pPr algn="ctr" fontAlgn="ctr"/>
                      <a:r>
                        <a:rPr lang="en-IN" sz="1250" b="0">
                          <a:effectLst/>
                        </a:rPr>
                        <a:t>F</a:t>
                      </a:r>
                    </a:p>
                  </a:txBody>
                  <a:tcPr marL="63500" marR="63500" marT="88900" marB="88900" anchor="ctr"/>
                </a:tc>
                <a:tc>
                  <a:txBody>
                    <a:bodyPr/>
                    <a:lstStyle/>
                    <a:p>
                      <a:pPr algn="ctr" fontAlgn="ctr"/>
                      <a:r>
                        <a:rPr lang="en-IN" sz="1250" b="0">
                          <a:effectLst/>
                        </a:rPr>
                        <a:t>1</a:t>
                      </a:r>
                    </a:p>
                  </a:txBody>
                  <a:tcPr marL="63500" marR="63500" marT="88900" marB="88900" anchor="ctr"/>
                </a:tc>
                <a:tc>
                  <a:txBody>
                    <a:bodyPr/>
                    <a:lstStyle/>
                    <a:p>
                      <a:pPr algn="ctr" fontAlgn="ctr"/>
                      <a:r>
                        <a:rPr lang="en-IN" sz="1250" b="0">
                          <a:effectLst/>
                        </a:rPr>
                        <a:t>DS</a:t>
                      </a:r>
                    </a:p>
                  </a:txBody>
                  <a:tcPr marL="63500" marR="63500" marT="88900" marB="88900" anchor="ctr"/>
                </a:tc>
                <a:extLst>
                  <a:ext uri="{0D108BD9-81ED-4DB2-BD59-A6C34878D82A}">
                    <a16:rowId xmlns:a16="http://schemas.microsoft.com/office/drawing/2014/main" val="2240250604"/>
                  </a:ext>
                </a:extLst>
              </a:tr>
              <a:tr h="0">
                <a:tc>
                  <a:txBody>
                    <a:bodyPr/>
                    <a:lstStyle/>
                    <a:p>
                      <a:pPr algn="ctr" fontAlgn="ctr"/>
                      <a:r>
                        <a:rPr lang="en-IN" sz="1250" b="0">
                          <a:effectLst/>
                        </a:rPr>
                        <a:t>Sona</a:t>
                      </a:r>
                    </a:p>
                  </a:txBody>
                  <a:tcPr marL="63500" marR="63500" marT="88900" marB="88900" anchor="ctr"/>
                </a:tc>
                <a:tc>
                  <a:txBody>
                    <a:bodyPr/>
                    <a:lstStyle/>
                    <a:p>
                      <a:pPr algn="ctr" fontAlgn="ctr"/>
                      <a:r>
                        <a:rPr lang="en-IN" sz="1250" b="0">
                          <a:effectLst/>
                        </a:rPr>
                        <a:t>15</a:t>
                      </a:r>
                    </a:p>
                  </a:txBody>
                  <a:tcPr marL="63500" marR="63500" marT="88900" marB="88900" anchor="ctr"/>
                </a:tc>
                <a:tc>
                  <a:txBody>
                    <a:bodyPr/>
                    <a:lstStyle/>
                    <a:p>
                      <a:pPr algn="ctr" fontAlgn="ctr"/>
                      <a:r>
                        <a:rPr lang="en-IN" sz="1250" b="0">
                          <a:effectLst/>
                        </a:rPr>
                        <a:t>F</a:t>
                      </a:r>
                    </a:p>
                  </a:txBody>
                  <a:tcPr marL="63500" marR="63500" marT="88900" marB="88900" anchor="ctr"/>
                </a:tc>
                <a:tc>
                  <a:txBody>
                    <a:bodyPr/>
                    <a:lstStyle/>
                    <a:p>
                      <a:pPr algn="ctr" fontAlgn="ctr"/>
                      <a:r>
                        <a:rPr lang="en-IN" sz="1250" b="0">
                          <a:effectLst/>
                        </a:rPr>
                        <a:t>2</a:t>
                      </a:r>
                    </a:p>
                  </a:txBody>
                  <a:tcPr marL="63500" marR="63500" marT="88900" marB="88900" anchor="ctr"/>
                </a:tc>
                <a:tc>
                  <a:txBody>
                    <a:bodyPr/>
                    <a:lstStyle/>
                    <a:p>
                      <a:pPr algn="ctr" fontAlgn="ctr"/>
                      <a:r>
                        <a:rPr lang="en-IN" sz="1250" b="0">
                          <a:effectLst/>
                        </a:rPr>
                        <a:t>DBMS</a:t>
                      </a:r>
                    </a:p>
                  </a:txBody>
                  <a:tcPr marL="63500" marR="63500" marT="88900" marB="88900" anchor="ctr"/>
                </a:tc>
                <a:extLst>
                  <a:ext uri="{0D108BD9-81ED-4DB2-BD59-A6C34878D82A}">
                    <a16:rowId xmlns:a16="http://schemas.microsoft.com/office/drawing/2014/main" val="3764771192"/>
                  </a:ext>
                </a:extLst>
              </a:tr>
              <a:tr h="0">
                <a:tc>
                  <a:txBody>
                    <a:bodyPr/>
                    <a:lstStyle/>
                    <a:p>
                      <a:pPr algn="ctr" fontAlgn="ctr"/>
                      <a:r>
                        <a:rPr lang="en-IN" sz="1250" b="0">
                          <a:effectLst/>
                        </a:rPr>
                        <a:t>Kim</a:t>
                      </a:r>
                    </a:p>
                  </a:txBody>
                  <a:tcPr marL="63500" marR="63500" marT="88900" marB="88900" anchor="ctr"/>
                </a:tc>
                <a:tc>
                  <a:txBody>
                    <a:bodyPr/>
                    <a:lstStyle/>
                    <a:p>
                      <a:pPr algn="ctr" fontAlgn="ctr"/>
                      <a:r>
                        <a:rPr lang="en-IN" sz="1250" b="0">
                          <a:effectLst/>
                        </a:rPr>
                        <a:t>20</a:t>
                      </a:r>
                    </a:p>
                  </a:txBody>
                  <a:tcPr marL="63500" marR="63500" marT="88900" marB="88900" anchor="ctr"/>
                </a:tc>
                <a:tc>
                  <a:txBody>
                    <a:bodyPr/>
                    <a:lstStyle/>
                    <a:p>
                      <a:pPr algn="ctr" fontAlgn="ctr"/>
                      <a:r>
                        <a:rPr lang="en-IN" sz="1250" b="0">
                          <a:effectLst/>
                        </a:rPr>
                        <a:t>M</a:t>
                      </a:r>
                    </a:p>
                  </a:txBody>
                  <a:tcPr marL="63500" marR="63500" marT="88900" marB="88900" anchor="ctr"/>
                </a:tc>
                <a:tc>
                  <a:txBody>
                    <a:bodyPr/>
                    <a:lstStyle/>
                    <a:p>
                      <a:pPr algn="ctr" fontAlgn="ctr"/>
                      <a:r>
                        <a:rPr lang="en-IN" sz="1250" b="0">
                          <a:effectLst/>
                        </a:rPr>
                        <a:t>1</a:t>
                      </a:r>
                    </a:p>
                  </a:txBody>
                  <a:tcPr marL="63500" marR="63500" marT="88900" marB="88900" anchor="ctr"/>
                </a:tc>
                <a:tc>
                  <a:txBody>
                    <a:bodyPr/>
                    <a:lstStyle/>
                    <a:p>
                      <a:pPr algn="ctr" fontAlgn="ctr"/>
                      <a:r>
                        <a:rPr lang="en-IN" sz="1250" b="0">
                          <a:effectLst/>
                        </a:rPr>
                        <a:t>DS</a:t>
                      </a:r>
                    </a:p>
                  </a:txBody>
                  <a:tcPr marL="63500" marR="63500" marT="88900" marB="88900" anchor="ctr"/>
                </a:tc>
                <a:extLst>
                  <a:ext uri="{0D108BD9-81ED-4DB2-BD59-A6C34878D82A}">
                    <a16:rowId xmlns:a16="http://schemas.microsoft.com/office/drawing/2014/main" val="1056569538"/>
                  </a:ext>
                </a:extLst>
              </a:tr>
              <a:tr h="0">
                <a:tc>
                  <a:txBody>
                    <a:bodyPr/>
                    <a:lstStyle/>
                    <a:p>
                      <a:pPr algn="ctr" fontAlgn="ctr"/>
                      <a:r>
                        <a:rPr lang="en-IN" sz="1250" b="0">
                          <a:effectLst/>
                        </a:rPr>
                        <a:t>Kim</a:t>
                      </a:r>
                    </a:p>
                  </a:txBody>
                  <a:tcPr marL="63500" marR="63500" marT="88900" marB="88900" anchor="ctr"/>
                </a:tc>
                <a:tc>
                  <a:txBody>
                    <a:bodyPr/>
                    <a:lstStyle/>
                    <a:p>
                      <a:pPr algn="ctr" fontAlgn="ctr"/>
                      <a:r>
                        <a:rPr lang="en-IN" sz="1250" b="0">
                          <a:effectLst/>
                        </a:rPr>
                        <a:t>20</a:t>
                      </a:r>
                    </a:p>
                  </a:txBody>
                  <a:tcPr marL="63500" marR="63500" marT="88900" marB="88900" anchor="ctr"/>
                </a:tc>
                <a:tc>
                  <a:txBody>
                    <a:bodyPr/>
                    <a:lstStyle/>
                    <a:p>
                      <a:pPr algn="ctr" fontAlgn="ctr"/>
                      <a:r>
                        <a:rPr lang="en-IN" sz="1250" b="0">
                          <a:effectLst/>
                        </a:rPr>
                        <a:t>M</a:t>
                      </a:r>
                    </a:p>
                  </a:txBody>
                  <a:tcPr marL="63500" marR="63500" marT="88900" marB="88900" anchor="ctr"/>
                </a:tc>
                <a:tc>
                  <a:txBody>
                    <a:bodyPr/>
                    <a:lstStyle/>
                    <a:p>
                      <a:pPr algn="ctr" fontAlgn="ctr"/>
                      <a:r>
                        <a:rPr lang="en-IN" sz="1250" b="0">
                          <a:effectLst/>
                        </a:rPr>
                        <a:t>2</a:t>
                      </a:r>
                    </a:p>
                  </a:txBody>
                  <a:tcPr marL="63500" marR="63500" marT="88900" marB="88900" anchor="ctr"/>
                </a:tc>
                <a:tc>
                  <a:txBody>
                    <a:bodyPr/>
                    <a:lstStyle/>
                    <a:p>
                      <a:pPr algn="ctr" fontAlgn="ctr"/>
                      <a:r>
                        <a:rPr lang="en-IN" sz="1250" b="0" dirty="0">
                          <a:effectLst/>
                        </a:rPr>
                        <a:t>DBMS</a:t>
                      </a:r>
                    </a:p>
                  </a:txBody>
                  <a:tcPr marL="63500" marR="63500" marT="88900" marB="88900" anchor="ctr"/>
                </a:tc>
                <a:extLst>
                  <a:ext uri="{0D108BD9-81ED-4DB2-BD59-A6C34878D82A}">
                    <a16:rowId xmlns:a16="http://schemas.microsoft.com/office/drawing/2014/main" val="2886024165"/>
                  </a:ext>
                </a:extLst>
              </a:tr>
            </a:tbl>
          </a:graphicData>
        </a:graphic>
      </p:graphicFrame>
      <p:sp>
        <p:nvSpPr>
          <p:cNvPr id="5" name="Rectangle 1">
            <a:extLst>
              <a:ext uri="{FF2B5EF4-FFF2-40B4-BE49-F238E27FC236}">
                <a16:creationId xmlns:a16="http://schemas.microsoft.com/office/drawing/2014/main" id="{3997398F-4BF8-D686-8665-C3B20795D904}"/>
              </a:ext>
            </a:extLst>
          </p:cNvPr>
          <p:cNvSpPr>
            <a:spLocks noChangeArrowheads="1"/>
          </p:cNvSpPr>
          <p:nvPr/>
        </p:nvSpPr>
        <p:spPr bwMode="auto">
          <a:xfrm>
            <a:off x="1255636" y="2067644"/>
            <a:ext cx="1084793"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Nunito" pitchFamily="2" charset="0"/>
              </a:rPr>
              <a:t> </a:t>
            </a:r>
            <a:r>
              <a:rPr kumimoji="0" lang="en-US" altLang="en-US" sz="2400" b="1" i="0" u="none" strike="noStrike" cap="none" normalizeH="0" baseline="0" dirty="0">
                <a:ln>
                  <a:noFill/>
                </a:ln>
                <a:solidFill>
                  <a:srgbClr val="273239"/>
                </a:solidFill>
                <a:effectLst/>
                <a:latin typeface="Nunito" pitchFamily="2" charset="0"/>
              </a:rPr>
              <a:t>A X B</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09289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8651AC8-B698-F767-CEFE-A2848B44F094}"/>
              </a:ext>
            </a:extLst>
          </p:cNvPr>
          <p:cNvSpPr txBox="1"/>
          <p:nvPr/>
        </p:nvSpPr>
        <p:spPr>
          <a:xfrm>
            <a:off x="1415143" y="544285"/>
            <a:ext cx="9753600" cy="2677656"/>
          </a:xfrm>
          <a:prstGeom prst="rect">
            <a:avLst/>
          </a:prstGeom>
          <a:noFill/>
        </p:spPr>
        <p:txBody>
          <a:bodyPr wrap="square">
            <a:spAutoFit/>
          </a:bodyPr>
          <a:lstStyle/>
          <a:p>
            <a:r>
              <a:rPr lang="en-US" sz="2400" b="1" dirty="0"/>
              <a:t>Derived Operators</a:t>
            </a:r>
          </a:p>
          <a:p>
            <a:r>
              <a:rPr lang="en-US" sz="2400" dirty="0"/>
              <a:t>These are some of the derived operators, which are derived from the fundamental operators.</a:t>
            </a:r>
          </a:p>
          <a:p>
            <a:endParaRPr lang="en-US" sz="2400" dirty="0"/>
          </a:p>
          <a:p>
            <a:pPr marL="285750" indent="-285750">
              <a:buFont typeface="Arial" panose="020B0604020202020204" pitchFamily="34" charset="0"/>
              <a:buChar char="•"/>
            </a:pPr>
            <a:r>
              <a:rPr lang="en-US" sz="2400" b="1" dirty="0"/>
              <a:t>Natural Join(⋈)</a:t>
            </a:r>
          </a:p>
          <a:p>
            <a:pPr marL="285750" indent="-285750">
              <a:buFont typeface="Arial" panose="020B0604020202020204" pitchFamily="34" charset="0"/>
              <a:buChar char="•"/>
            </a:pPr>
            <a:r>
              <a:rPr lang="en-US" sz="2400" b="1" dirty="0"/>
              <a:t>Intersection</a:t>
            </a:r>
          </a:p>
          <a:p>
            <a:pPr marL="285750" indent="-285750">
              <a:buFont typeface="Arial" panose="020B0604020202020204" pitchFamily="34" charset="0"/>
              <a:buChar char="•"/>
            </a:pPr>
            <a:r>
              <a:rPr lang="en-US" sz="2400" b="1" dirty="0"/>
              <a:t>Conditional Join</a:t>
            </a:r>
            <a:endParaRPr lang="en-IN" sz="2400" b="1" dirty="0"/>
          </a:p>
        </p:txBody>
      </p:sp>
      <p:sp>
        <p:nvSpPr>
          <p:cNvPr id="10" name="TextBox 9">
            <a:extLst>
              <a:ext uri="{FF2B5EF4-FFF2-40B4-BE49-F238E27FC236}">
                <a16:creationId xmlns:a16="http://schemas.microsoft.com/office/drawing/2014/main" id="{3FF1B5A1-F0CA-FC15-3FD7-9283937ADB30}"/>
              </a:ext>
            </a:extLst>
          </p:cNvPr>
          <p:cNvSpPr txBox="1"/>
          <p:nvPr/>
        </p:nvSpPr>
        <p:spPr>
          <a:xfrm>
            <a:off x="1309007" y="3204393"/>
            <a:ext cx="9859736" cy="1200329"/>
          </a:xfrm>
          <a:prstGeom prst="rect">
            <a:avLst/>
          </a:prstGeom>
          <a:noFill/>
        </p:spPr>
        <p:txBody>
          <a:bodyPr wrap="square">
            <a:spAutoFit/>
          </a:bodyPr>
          <a:lstStyle/>
          <a:p>
            <a:pPr algn="just"/>
            <a:r>
              <a:rPr lang="en-US" sz="2400" b="1" i="0" dirty="0">
                <a:solidFill>
                  <a:srgbClr val="273239"/>
                </a:solidFill>
                <a:effectLst/>
                <a:latin typeface="Nunito" pitchFamily="2" charset="0"/>
              </a:rPr>
              <a:t>1. Natural Join(⋈): </a:t>
            </a:r>
            <a:r>
              <a:rPr lang="en-US" sz="2400" b="0" i="0" dirty="0">
                <a:solidFill>
                  <a:srgbClr val="273239"/>
                </a:solidFill>
                <a:effectLst/>
                <a:latin typeface="Nunito" pitchFamily="2" charset="0"/>
              </a:rPr>
              <a:t>Natural join is a binary operator. Natural join between two or more relations will result in a set of all combinations of tuples where they have an equal common attribute. </a:t>
            </a:r>
            <a:endParaRPr lang="en-IN" sz="2400" dirty="0"/>
          </a:p>
        </p:txBody>
      </p:sp>
    </p:spTree>
    <p:extLst>
      <p:ext uri="{BB962C8B-B14F-4D97-AF65-F5344CB8AC3E}">
        <p14:creationId xmlns:p14="http://schemas.microsoft.com/office/powerpoint/2010/main" val="1451106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275F8A0-8AB6-B4B3-0085-FABDF221B66C}"/>
              </a:ext>
            </a:extLst>
          </p:cNvPr>
          <p:cNvGraphicFramePr>
            <a:graphicFrameLocks noGrp="1"/>
          </p:cNvGraphicFramePr>
          <p:nvPr>
            <p:extLst>
              <p:ext uri="{D42A27DB-BD31-4B8C-83A1-F6EECF244321}">
                <p14:modId xmlns:p14="http://schemas.microsoft.com/office/powerpoint/2010/main" val="2580400326"/>
              </p:ext>
            </p:extLst>
          </p:nvPr>
        </p:nvGraphicFramePr>
        <p:xfrm>
          <a:off x="188234" y="2111534"/>
          <a:ext cx="5036910" cy="1813560"/>
        </p:xfrm>
        <a:graphic>
          <a:graphicData uri="http://schemas.openxmlformats.org/drawingml/2006/table">
            <a:tbl>
              <a:tblPr>
                <a:tableStyleId>{35758FB7-9AC5-4552-8A53-C91805E547FA}</a:tableStyleId>
              </a:tblPr>
              <a:tblGrid>
                <a:gridCol w="1678970">
                  <a:extLst>
                    <a:ext uri="{9D8B030D-6E8A-4147-A177-3AD203B41FA5}">
                      <a16:colId xmlns:a16="http://schemas.microsoft.com/office/drawing/2014/main" val="615975538"/>
                    </a:ext>
                  </a:extLst>
                </a:gridCol>
                <a:gridCol w="1678970">
                  <a:extLst>
                    <a:ext uri="{9D8B030D-6E8A-4147-A177-3AD203B41FA5}">
                      <a16:colId xmlns:a16="http://schemas.microsoft.com/office/drawing/2014/main" val="1583477003"/>
                    </a:ext>
                  </a:extLst>
                </a:gridCol>
                <a:gridCol w="1678970">
                  <a:extLst>
                    <a:ext uri="{9D8B030D-6E8A-4147-A177-3AD203B41FA5}">
                      <a16:colId xmlns:a16="http://schemas.microsoft.com/office/drawing/2014/main" val="849049150"/>
                    </a:ext>
                  </a:extLst>
                </a:gridCol>
              </a:tblGrid>
              <a:tr h="0">
                <a:tc>
                  <a:txBody>
                    <a:bodyPr/>
                    <a:lstStyle/>
                    <a:p>
                      <a:pPr algn="ctr" fontAlgn="base"/>
                      <a:r>
                        <a:rPr lang="en-IN" sz="1400" b="1">
                          <a:effectLst/>
                        </a:rPr>
                        <a:t>Name      </a:t>
                      </a:r>
                    </a:p>
                  </a:txBody>
                  <a:tcPr marL="38100" marR="38100" marT="63500" marB="63500" anchor="ctr"/>
                </a:tc>
                <a:tc>
                  <a:txBody>
                    <a:bodyPr/>
                    <a:lstStyle/>
                    <a:p>
                      <a:pPr algn="ctr" fontAlgn="base"/>
                      <a:r>
                        <a:rPr lang="en-IN" sz="1400" b="1" dirty="0">
                          <a:effectLst/>
                        </a:rPr>
                        <a:t>ID         </a:t>
                      </a:r>
                    </a:p>
                  </a:txBody>
                  <a:tcPr marL="63500" marR="63500" marT="63500" marB="63500" anchor="ctr"/>
                </a:tc>
                <a:tc>
                  <a:txBody>
                    <a:bodyPr/>
                    <a:lstStyle/>
                    <a:p>
                      <a:pPr algn="ctr" fontAlgn="base"/>
                      <a:r>
                        <a:rPr lang="en-IN" sz="1400" b="1">
                          <a:effectLst/>
                        </a:rPr>
                        <a:t>Dept_Name    </a:t>
                      </a:r>
                    </a:p>
                  </a:txBody>
                  <a:tcPr marL="63500" marR="63500" marT="63500" marB="63500" anchor="ctr"/>
                </a:tc>
                <a:extLst>
                  <a:ext uri="{0D108BD9-81ED-4DB2-BD59-A6C34878D82A}">
                    <a16:rowId xmlns:a16="http://schemas.microsoft.com/office/drawing/2014/main" val="3956252656"/>
                  </a:ext>
                </a:extLst>
              </a:tr>
              <a:tr h="0">
                <a:tc>
                  <a:txBody>
                    <a:bodyPr/>
                    <a:lstStyle/>
                    <a:p>
                      <a:pPr algn="ctr" fontAlgn="ctr"/>
                      <a:r>
                        <a:rPr lang="en-IN" sz="1250" b="0">
                          <a:effectLst/>
                        </a:rPr>
                        <a:t>A</a:t>
                      </a:r>
                    </a:p>
                  </a:txBody>
                  <a:tcPr marL="63500" marR="63500" marT="88900" marB="88900" anchor="ctr"/>
                </a:tc>
                <a:tc>
                  <a:txBody>
                    <a:bodyPr/>
                    <a:lstStyle/>
                    <a:p>
                      <a:pPr algn="ctr" fontAlgn="ctr"/>
                      <a:r>
                        <a:rPr lang="en-IN" sz="1250" b="0">
                          <a:effectLst/>
                        </a:rPr>
                        <a:t>120</a:t>
                      </a:r>
                    </a:p>
                  </a:txBody>
                  <a:tcPr marL="63500" marR="63500" marT="88900" marB="88900" anchor="ctr"/>
                </a:tc>
                <a:tc>
                  <a:txBody>
                    <a:bodyPr/>
                    <a:lstStyle/>
                    <a:p>
                      <a:pPr algn="ctr" fontAlgn="ctr"/>
                      <a:r>
                        <a:rPr lang="en-IN" sz="1250" b="0">
                          <a:effectLst/>
                        </a:rPr>
                        <a:t>IT</a:t>
                      </a:r>
                    </a:p>
                  </a:txBody>
                  <a:tcPr marL="63500" marR="63500" marT="88900" marB="88900" anchor="ctr"/>
                </a:tc>
                <a:extLst>
                  <a:ext uri="{0D108BD9-81ED-4DB2-BD59-A6C34878D82A}">
                    <a16:rowId xmlns:a16="http://schemas.microsoft.com/office/drawing/2014/main" val="1075060152"/>
                  </a:ext>
                </a:extLst>
              </a:tr>
              <a:tr h="0">
                <a:tc>
                  <a:txBody>
                    <a:bodyPr/>
                    <a:lstStyle/>
                    <a:p>
                      <a:pPr algn="ctr" fontAlgn="ctr"/>
                      <a:r>
                        <a:rPr lang="en-IN" sz="1250" b="0">
                          <a:effectLst/>
                        </a:rPr>
                        <a:t>B</a:t>
                      </a:r>
                    </a:p>
                  </a:txBody>
                  <a:tcPr marL="63500" marR="63500" marT="88900" marB="88900" anchor="ctr"/>
                </a:tc>
                <a:tc>
                  <a:txBody>
                    <a:bodyPr/>
                    <a:lstStyle/>
                    <a:p>
                      <a:pPr algn="ctr" fontAlgn="ctr"/>
                      <a:r>
                        <a:rPr lang="en-IN" sz="1250" b="0">
                          <a:effectLst/>
                        </a:rPr>
                        <a:t>125</a:t>
                      </a:r>
                    </a:p>
                  </a:txBody>
                  <a:tcPr marL="63500" marR="63500" marT="88900" marB="88900" anchor="ctr"/>
                </a:tc>
                <a:tc>
                  <a:txBody>
                    <a:bodyPr/>
                    <a:lstStyle/>
                    <a:p>
                      <a:pPr algn="ctr" fontAlgn="ctr"/>
                      <a:r>
                        <a:rPr lang="en-IN" sz="1250" b="0">
                          <a:effectLst/>
                        </a:rPr>
                        <a:t>HR</a:t>
                      </a:r>
                    </a:p>
                  </a:txBody>
                  <a:tcPr marL="63500" marR="63500" marT="88900" marB="88900" anchor="ctr"/>
                </a:tc>
                <a:extLst>
                  <a:ext uri="{0D108BD9-81ED-4DB2-BD59-A6C34878D82A}">
                    <a16:rowId xmlns:a16="http://schemas.microsoft.com/office/drawing/2014/main" val="1314194435"/>
                  </a:ext>
                </a:extLst>
              </a:tr>
              <a:tr h="0">
                <a:tc>
                  <a:txBody>
                    <a:bodyPr/>
                    <a:lstStyle/>
                    <a:p>
                      <a:pPr algn="ctr" fontAlgn="ctr"/>
                      <a:r>
                        <a:rPr lang="en-IN" sz="1250" b="0">
                          <a:effectLst/>
                        </a:rPr>
                        <a:t>C</a:t>
                      </a:r>
                    </a:p>
                  </a:txBody>
                  <a:tcPr marL="63500" marR="63500" marT="88900" marB="88900" anchor="ctr"/>
                </a:tc>
                <a:tc>
                  <a:txBody>
                    <a:bodyPr/>
                    <a:lstStyle/>
                    <a:p>
                      <a:pPr algn="ctr" fontAlgn="ctr"/>
                      <a:r>
                        <a:rPr lang="en-IN" sz="1250" b="0">
                          <a:effectLst/>
                        </a:rPr>
                        <a:t>110</a:t>
                      </a:r>
                    </a:p>
                  </a:txBody>
                  <a:tcPr marL="63500" marR="63500" marT="88900" marB="88900" anchor="ctr"/>
                </a:tc>
                <a:tc>
                  <a:txBody>
                    <a:bodyPr/>
                    <a:lstStyle/>
                    <a:p>
                      <a:pPr algn="ctr" fontAlgn="ctr"/>
                      <a:r>
                        <a:rPr lang="en-IN" sz="1250" b="0">
                          <a:effectLst/>
                        </a:rPr>
                        <a:t>Sales</a:t>
                      </a:r>
                    </a:p>
                  </a:txBody>
                  <a:tcPr marL="63500" marR="63500" marT="88900" marB="88900" anchor="ctr"/>
                </a:tc>
                <a:extLst>
                  <a:ext uri="{0D108BD9-81ED-4DB2-BD59-A6C34878D82A}">
                    <a16:rowId xmlns:a16="http://schemas.microsoft.com/office/drawing/2014/main" val="3025956149"/>
                  </a:ext>
                </a:extLst>
              </a:tr>
              <a:tr h="0">
                <a:tc>
                  <a:txBody>
                    <a:bodyPr/>
                    <a:lstStyle/>
                    <a:p>
                      <a:pPr algn="ctr" fontAlgn="ctr"/>
                      <a:r>
                        <a:rPr lang="en-IN" sz="1250" b="0">
                          <a:effectLst/>
                        </a:rPr>
                        <a:t>D</a:t>
                      </a:r>
                    </a:p>
                  </a:txBody>
                  <a:tcPr marL="63500" marR="63500" marT="88900" marB="88900" anchor="ctr"/>
                </a:tc>
                <a:tc>
                  <a:txBody>
                    <a:bodyPr/>
                    <a:lstStyle/>
                    <a:p>
                      <a:pPr algn="ctr" fontAlgn="ctr"/>
                      <a:r>
                        <a:rPr lang="en-IN" sz="1250" b="0">
                          <a:effectLst/>
                        </a:rPr>
                        <a:t>111</a:t>
                      </a:r>
                    </a:p>
                  </a:txBody>
                  <a:tcPr marL="63500" marR="63500" marT="88900" marB="88900" anchor="ctr"/>
                </a:tc>
                <a:tc>
                  <a:txBody>
                    <a:bodyPr/>
                    <a:lstStyle/>
                    <a:p>
                      <a:pPr algn="ctr" fontAlgn="ctr"/>
                      <a:r>
                        <a:rPr lang="en-IN" sz="1250" b="0" dirty="0">
                          <a:effectLst/>
                        </a:rPr>
                        <a:t>IT</a:t>
                      </a:r>
                    </a:p>
                  </a:txBody>
                  <a:tcPr marL="63500" marR="63500" marT="88900" marB="88900" anchor="ctr"/>
                </a:tc>
                <a:extLst>
                  <a:ext uri="{0D108BD9-81ED-4DB2-BD59-A6C34878D82A}">
                    <a16:rowId xmlns:a16="http://schemas.microsoft.com/office/drawing/2014/main" val="3744486020"/>
                  </a:ext>
                </a:extLst>
              </a:tr>
            </a:tbl>
          </a:graphicData>
        </a:graphic>
      </p:graphicFrame>
      <p:graphicFrame>
        <p:nvGraphicFramePr>
          <p:cNvPr id="3" name="Table 2">
            <a:extLst>
              <a:ext uri="{FF2B5EF4-FFF2-40B4-BE49-F238E27FC236}">
                <a16:creationId xmlns:a16="http://schemas.microsoft.com/office/drawing/2014/main" id="{7F23452E-7C0A-4B0E-901E-60F1B49E9F43}"/>
              </a:ext>
            </a:extLst>
          </p:cNvPr>
          <p:cNvGraphicFramePr>
            <a:graphicFrameLocks noGrp="1"/>
          </p:cNvGraphicFramePr>
          <p:nvPr>
            <p:extLst>
              <p:ext uri="{D42A27DB-BD31-4B8C-83A1-F6EECF244321}">
                <p14:modId xmlns:p14="http://schemas.microsoft.com/office/powerpoint/2010/main" val="2172475978"/>
              </p:ext>
            </p:extLst>
          </p:nvPr>
        </p:nvGraphicFramePr>
        <p:xfrm>
          <a:off x="6850290" y="2111534"/>
          <a:ext cx="4699454" cy="1445260"/>
        </p:xfrm>
        <a:graphic>
          <a:graphicData uri="http://schemas.openxmlformats.org/drawingml/2006/table">
            <a:tbl>
              <a:tblPr>
                <a:tableStyleId>{69C7853C-536D-4A76-A0AE-DD22124D55A5}</a:tableStyleId>
              </a:tblPr>
              <a:tblGrid>
                <a:gridCol w="2349727">
                  <a:extLst>
                    <a:ext uri="{9D8B030D-6E8A-4147-A177-3AD203B41FA5}">
                      <a16:colId xmlns:a16="http://schemas.microsoft.com/office/drawing/2014/main" val="1214923600"/>
                    </a:ext>
                  </a:extLst>
                </a:gridCol>
                <a:gridCol w="2349727">
                  <a:extLst>
                    <a:ext uri="{9D8B030D-6E8A-4147-A177-3AD203B41FA5}">
                      <a16:colId xmlns:a16="http://schemas.microsoft.com/office/drawing/2014/main" val="3523902162"/>
                    </a:ext>
                  </a:extLst>
                </a:gridCol>
              </a:tblGrid>
              <a:tr h="340360">
                <a:tc>
                  <a:txBody>
                    <a:bodyPr/>
                    <a:lstStyle/>
                    <a:p>
                      <a:pPr algn="ctr" fontAlgn="base"/>
                      <a:r>
                        <a:rPr lang="en-IN" sz="1400" b="1">
                          <a:effectLst/>
                        </a:rPr>
                        <a:t>Dept_Name     </a:t>
                      </a:r>
                    </a:p>
                  </a:txBody>
                  <a:tcPr marL="38100" marR="38100" marT="63500" marB="63500" anchor="ctr"/>
                </a:tc>
                <a:tc>
                  <a:txBody>
                    <a:bodyPr/>
                    <a:lstStyle/>
                    <a:p>
                      <a:pPr algn="ctr" fontAlgn="base"/>
                      <a:r>
                        <a:rPr lang="en-IN" sz="1400" b="1">
                          <a:effectLst/>
                        </a:rPr>
                        <a:t>Manager     </a:t>
                      </a:r>
                    </a:p>
                  </a:txBody>
                  <a:tcPr marL="63500" marR="63500" marT="63500" marB="63500" anchor="ctr"/>
                </a:tc>
                <a:extLst>
                  <a:ext uri="{0D108BD9-81ED-4DB2-BD59-A6C34878D82A}">
                    <a16:rowId xmlns:a16="http://schemas.microsoft.com/office/drawing/2014/main" val="3296012284"/>
                  </a:ext>
                </a:extLst>
              </a:tr>
              <a:tr h="368300">
                <a:tc>
                  <a:txBody>
                    <a:bodyPr/>
                    <a:lstStyle/>
                    <a:p>
                      <a:pPr algn="ctr" fontAlgn="ctr"/>
                      <a:r>
                        <a:rPr lang="en-IN" sz="1200" b="0">
                          <a:effectLst/>
                        </a:rPr>
                        <a:t>Sales</a:t>
                      </a:r>
                    </a:p>
                  </a:txBody>
                  <a:tcPr marL="63500" marR="63500" marT="88900" marB="88900" anchor="ctr"/>
                </a:tc>
                <a:tc>
                  <a:txBody>
                    <a:bodyPr/>
                    <a:lstStyle/>
                    <a:p>
                      <a:pPr algn="ctr" fontAlgn="ctr"/>
                      <a:r>
                        <a:rPr lang="en-IN" sz="1200" b="0">
                          <a:effectLst/>
                        </a:rPr>
                        <a:t>Y</a:t>
                      </a:r>
                    </a:p>
                  </a:txBody>
                  <a:tcPr marL="63500" marR="63500" marT="88900" marB="88900" anchor="ctr"/>
                </a:tc>
                <a:extLst>
                  <a:ext uri="{0D108BD9-81ED-4DB2-BD59-A6C34878D82A}">
                    <a16:rowId xmlns:a16="http://schemas.microsoft.com/office/drawing/2014/main" val="144666577"/>
                  </a:ext>
                </a:extLst>
              </a:tr>
              <a:tr h="368300">
                <a:tc>
                  <a:txBody>
                    <a:bodyPr/>
                    <a:lstStyle/>
                    <a:p>
                      <a:pPr algn="ctr" fontAlgn="ctr"/>
                      <a:r>
                        <a:rPr lang="en-IN" sz="1200" b="0">
                          <a:effectLst/>
                        </a:rPr>
                        <a:t>Production</a:t>
                      </a:r>
                    </a:p>
                  </a:txBody>
                  <a:tcPr marL="63500" marR="63500" marT="88900" marB="88900" anchor="ctr"/>
                </a:tc>
                <a:tc>
                  <a:txBody>
                    <a:bodyPr/>
                    <a:lstStyle/>
                    <a:p>
                      <a:pPr algn="ctr" fontAlgn="ctr"/>
                      <a:r>
                        <a:rPr lang="en-IN" sz="1200" b="0">
                          <a:effectLst/>
                        </a:rPr>
                        <a:t>Z</a:t>
                      </a:r>
                    </a:p>
                  </a:txBody>
                  <a:tcPr marL="63500" marR="63500" marT="88900" marB="88900" anchor="ctr"/>
                </a:tc>
                <a:extLst>
                  <a:ext uri="{0D108BD9-81ED-4DB2-BD59-A6C34878D82A}">
                    <a16:rowId xmlns:a16="http://schemas.microsoft.com/office/drawing/2014/main" val="3320112014"/>
                  </a:ext>
                </a:extLst>
              </a:tr>
              <a:tr h="368300">
                <a:tc>
                  <a:txBody>
                    <a:bodyPr/>
                    <a:lstStyle/>
                    <a:p>
                      <a:pPr algn="ctr" fontAlgn="ctr"/>
                      <a:r>
                        <a:rPr lang="en-IN" sz="1200" b="0">
                          <a:effectLst/>
                        </a:rPr>
                        <a:t>IT</a:t>
                      </a:r>
                    </a:p>
                  </a:txBody>
                  <a:tcPr marL="63500" marR="63500" marT="88900" marB="88900" anchor="ctr"/>
                </a:tc>
                <a:tc>
                  <a:txBody>
                    <a:bodyPr/>
                    <a:lstStyle/>
                    <a:p>
                      <a:pPr algn="ctr" fontAlgn="ctr"/>
                      <a:r>
                        <a:rPr lang="en-IN" sz="1200" b="0" dirty="0">
                          <a:effectLst/>
                        </a:rPr>
                        <a:t>A</a:t>
                      </a:r>
                    </a:p>
                  </a:txBody>
                  <a:tcPr marL="63500" marR="63500" marT="88900" marB="88900" anchor="ctr"/>
                </a:tc>
                <a:extLst>
                  <a:ext uri="{0D108BD9-81ED-4DB2-BD59-A6C34878D82A}">
                    <a16:rowId xmlns:a16="http://schemas.microsoft.com/office/drawing/2014/main" val="2128711285"/>
                  </a:ext>
                </a:extLst>
              </a:tr>
            </a:tbl>
          </a:graphicData>
        </a:graphic>
      </p:graphicFrame>
      <p:sp>
        <p:nvSpPr>
          <p:cNvPr id="8" name="TextBox 7">
            <a:extLst>
              <a:ext uri="{FF2B5EF4-FFF2-40B4-BE49-F238E27FC236}">
                <a16:creationId xmlns:a16="http://schemas.microsoft.com/office/drawing/2014/main" id="{1A3821AB-E365-C97F-C35F-2BF47FF0FFC0}"/>
              </a:ext>
            </a:extLst>
          </p:cNvPr>
          <p:cNvSpPr txBox="1"/>
          <p:nvPr/>
        </p:nvSpPr>
        <p:spPr>
          <a:xfrm>
            <a:off x="478971" y="1545771"/>
            <a:ext cx="1513115" cy="369332"/>
          </a:xfrm>
          <a:prstGeom prst="rect">
            <a:avLst/>
          </a:prstGeom>
          <a:noFill/>
        </p:spPr>
        <p:txBody>
          <a:bodyPr wrap="square" rtlCol="0">
            <a:spAutoFit/>
          </a:bodyPr>
          <a:lstStyle/>
          <a:p>
            <a:r>
              <a:rPr lang="en-US" dirty="0"/>
              <a:t>DEPT</a:t>
            </a:r>
            <a:endParaRPr lang="en-IN" dirty="0"/>
          </a:p>
        </p:txBody>
      </p:sp>
      <p:sp>
        <p:nvSpPr>
          <p:cNvPr id="9" name="TextBox 8">
            <a:extLst>
              <a:ext uri="{FF2B5EF4-FFF2-40B4-BE49-F238E27FC236}">
                <a16:creationId xmlns:a16="http://schemas.microsoft.com/office/drawing/2014/main" id="{3D89E1E3-A4FC-6FCF-D03D-ACCBC7CC6471}"/>
              </a:ext>
            </a:extLst>
          </p:cNvPr>
          <p:cNvSpPr txBox="1"/>
          <p:nvPr/>
        </p:nvSpPr>
        <p:spPr>
          <a:xfrm>
            <a:off x="6850290" y="1523608"/>
            <a:ext cx="1513115" cy="369332"/>
          </a:xfrm>
          <a:prstGeom prst="rect">
            <a:avLst/>
          </a:prstGeom>
          <a:noFill/>
        </p:spPr>
        <p:txBody>
          <a:bodyPr wrap="square" rtlCol="0">
            <a:spAutoFit/>
          </a:bodyPr>
          <a:lstStyle/>
          <a:p>
            <a:r>
              <a:rPr lang="en-US" dirty="0"/>
              <a:t>EMP</a:t>
            </a:r>
            <a:endParaRPr lang="en-IN" dirty="0"/>
          </a:p>
        </p:txBody>
      </p:sp>
    </p:spTree>
    <p:extLst>
      <p:ext uri="{BB962C8B-B14F-4D97-AF65-F5344CB8AC3E}">
        <p14:creationId xmlns:p14="http://schemas.microsoft.com/office/powerpoint/2010/main" val="36448141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FADADC7-F15D-C18E-3C53-C3FC8DD445C4}"/>
              </a:ext>
            </a:extLst>
          </p:cNvPr>
          <p:cNvGraphicFramePr>
            <a:graphicFrameLocks noGrp="1"/>
          </p:cNvGraphicFramePr>
          <p:nvPr>
            <p:extLst>
              <p:ext uri="{D42A27DB-BD31-4B8C-83A1-F6EECF244321}">
                <p14:modId xmlns:p14="http://schemas.microsoft.com/office/powerpoint/2010/main" val="3535339452"/>
              </p:ext>
            </p:extLst>
          </p:nvPr>
        </p:nvGraphicFramePr>
        <p:xfrm>
          <a:off x="2985858" y="2212771"/>
          <a:ext cx="5211084" cy="1658620"/>
        </p:xfrm>
        <a:graphic>
          <a:graphicData uri="http://schemas.openxmlformats.org/drawingml/2006/table">
            <a:tbl>
              <a:tblPr>
                <a:tableStyleId>{284E427A-3D55-4303-BF80-6455036E1DE7}</a:tableStyleId>
              </a:tblPr>
              <a:tblGrid>
                <a:gridCol w="1302771">
                  <a:extLst>
                    <a:ext uri="{9D8B030D-6E8A-4147-A177-3AD203B41FA5}">
                      <a16:colId xmlns:a16="http://schemas.microsoft.com/office/drawing/2014/main" val="3751807555"/>
                    </a:ext>
                  </a:extLst>
                </a:gridCol>
                <a:gridCol w="1302771">
                  <a:extLst>
                    <a:ext uri="{9D8B030D-6E8A-4147-A177-3AD203B41FA5}">
                      <a16:colId xmlns:a16="http://schemas.microsoft.com/office/drawing/2014/main" val="3839276466"/>
                    </a:ext>
                  </a:extLst>
                </a:gridCol>
                <a:gridCol w="1302771">
                  <a:extLst>
                    <a:ext uri="{9D8B030D-6E8A-4147-A177-3AD203B41FA5}">
                      <a16:colId xmlns:a16="http://schemas.microsoft.com/office/drawing/2014/main" val="1119785837"/>
                    </a:ext>
                  </a:extLst>
                </a:gridCol>
                <a:gridCol w="1302771">
                  <a:extLst>
                    <a:ext uri="{9D8B030D-6E8A-4147-A177-3AD203B41FA5}">
                      <a16:colId xmlns:a16="http://schemas.microsoft.com/office/drawing/2014/main" val="3631052000"/>
                    </a:ext>
                  </a:extLst>
                </a:gridCol>
              </a:tblGrid>
              <a:tr h="340360">
                <a:tc>
                  <a:txBody>
                    <a:bodyPr/>
                    <a:lstStyle/>
                    <a:p>
                      <a:pPr algn="ctr" fontAlgn="base"/>
                      <a:r>
                        <a:rPr lang="en-IN" sz="1400" b="1">
                          <a:effectLst/>
                        </a:rPr>
                        <a:t>Name     </a:t>
                      </a:r>
                    </a:p>
                  </a:txBody>
                  <a:tcPr marL="38100" marR="38100" marT="63500" marB="63500" anchor="ctr"/>
                </a:tc>
                <a:tc>
                  <a:txBody>
                    <a:bodyPr/>
                    <a:lstStyle/>
                    <a:p>
                      <a:pPr algn="ctr" fontAlgn="base"/>
                      <a:r>
                        <a:rPr lang="en-IN" sz="1400" b="1">
                          <a:effectLst/>
                        </a:rPr>
                        <a:t>ID         </a:t>
                      </a:r>
                    </a:p>
                  </a:txBody>
                  <a:tcPr marL="63500" marR="63500" marT="63500" marB="63500" anchor="ctr"/>
                </a:tc>
                <a:tc>
                  <a:txBody>
                    <a:bodyPr/>
                    <a:lstStyle/>
                    <a:p>
                      <a:pPr algn="ctr" fontAlgn="base"/>
                      <a:r>
                        <a:rPr lang="en-IN" sz="1400" b="1">
                          <a:effectLst/>
                        </a:rPr>
                        <a:t>Dept_Name     </a:t>
                      </a:r>
                    </a:p>
                  </a:txBody>
                  <a:tcPr marL="63500" marR="63500" marT="63500" marB="63500" anchor="ctr"/>
                </a:tc>
                <a:tc>
                  <a:txBody>
                    <a:bodyPr/>
                    <a:lstStyle/>
                    <a:p>
                      <a:pPr algn="ctr" fontAlgn="base"/>
                      <a:r>
                        <a:rPr lang="en-IN" sz="1400" b="1">
                          <a:effectLst/>
                        </a:rPr>
                        <a:t>Manager     </a:t>
                      </a:r>
                    </a:p>
                  </a:txBody>
                  <a:tcPr marL="63500" marR="63500" marT="63500" marB="63500" anchor="ctr"/>
                </a:tc>
                <a:extLst>
                  <a:ext uri="{0D108BD9-81ED-4DB2-BD59-A6C34878D82A}">
                    <a16:rowId xmlns:a16="http://schemas.microsoft.com/office/drawing/2014/main" val="606759340"/>
                  </a:ext>
                </a:extLst>
              </a:tr>
              <a:tr h="368300">
                <a:tc>
                  <a:txBody>
                    <a:bodyPr/>
                    <a:lstStyle/>
                    <a:p>
                      <a:pPr algn="ctr" fontAlgn="ctr"/>
                      <a:r>
                        <a:rPr lang="en-IN" sz="1200" b="0">
                          <a:effectLst/>
                        </a:rPr>
                        <a:t>A</a:t>
                      </a:r>
                    </a:p>
                  </a:txBody>
                  <a:tcPr marL="63500" marR="63500" marT="88900" marB="88900" anchor="ctr"/>
                </a:tc>
                <a:tc>
                  <a:txBody>
                    <a:bodyPr/>
                    <a:lstStyle/>
                    <a:p>
                      <a:pPr algn="ctr" fontAlgn="ctr"/>
                      <a:r>
                        <a:rPr lang="en-IN" sz="1200" b="0" dirty="0">
                          <a:effectLst/>
                        </a:rPr>
                        <a:t>120</a:t>
                      </a:r>
                    </a:p>
                  </a:txBody>
                  <a:tcPr marL="63500" marR="63500" marT="88900" marB="88900" anchor="ctr"/>
                </a:tc>
                <a:tc>
                  <a:txBody>
                    <a:bodyPr/>
                    <a:lstStyle/>
                    <a:p>
                      <a:pPr algn="ctr" fontAlgn="ctr"/>
                      <a:r>
                        <a:rPr lang="en-IN" sz="1200" b="0">
                          <a:effectLst/>
                        </a:rPr>
                        <a:t>IT</a:t>
                      </a:r>
                    </a:p>
                  </a:txBody>
                  <a:tcPr marL="63500" marR="63500" marT="88900" marB="88900" anchor="ctr"/>
                </a:tc>
                <a:tc>
                  <a:txBody>
                    <a:bodyPr/>
                    <a:lstStyle/>
                    <a:p>
                      <a:pPr algn="ctr" fontAlgn="ctr"/>
                      <a:r>
                        <a:rPr lang="en-IN" sz="1200" b="0">
                          <a:effectLst/>
                        </a:rPr>
                        <a:t>A</a:t>
                      </a:r>
                    </a:p>
                  </a:txBody>
                  <a:tcPr marL="63500" marR="63500" marT="88900" marB="88900" anchor="ctr"/>
                </a:tc>
                <a:extLst>
                  <a:ext uri="{0D108BD9-81ED-4DB2-BD59-A6C34878D82A}">
                    <a16:rowId xmlns:a16="http://schemas.microsoft.com/office/drawing/2014/main" val="1854147554"/>
                  </a:ext>
                </a:extLst>
              </a:tr>
              <a:tr h="368300">
                <a:tc>
                  <a:txBody>
                    <a:bodyPr/>
                    <a:lstStyle/>
                    <a:p>
                      <a:pPr algn="ctr" fontAlgn="ctr"/>
                      <a:r>
                        <a:rPr lang="en-IN" sz="1200" b="0">
                          <a:effectLst/>
                        </a:rPr>
                        <a:t>C</a:t>
                      </a:r>
                    </a:p>
                  </a:txBody>
                  <a:tcPr marL="63500" marR="63500" marT="88900" marB="88900" anchor="ctr"/>
                </a:tc>
                <a:tc>
                  <a:txBody>
                    <a:bodyPr/>
                    <a:lstStyle/>
                    <a:p>
                      <a:pPr algn="ctr" fontAlgn="ctr"/>
                      <a:r>
                        <a:rPr lang="en-IN" sz="1200" b="0">
                          <a:effectLst/>
                        </a:rPr>
                        <a:t>110</a:t>
                      </a:r>
                    </a:p>
                  </a:txBody>
                  <a:tcPr marL="63500" marR="63500" marT="88900" marB="88900" anchor="ctr"/>
                </a:tc>
                <a:tc>
                  <a:txBody>
                    <a:bodyPr/>
                    <a:lstStyle/>
                    <a:p>
                      <a:pPr algn="ctr" fontAlgn="ctr"/>
                      <a:r>
                        <a:rPr lang="en-IN" sz="1200" b="0">
                          <a:effectLst/>
                        </a:rPr>
                        <a:t>Sales</a:t>
                      </a:r>
                    </a:p>
                  </a:txBody>
                  <a:tcPr marL="63500" marR="63500" marT="88900" marB="88900" anchor="ctr"/>
                </a:tc>
                <a:tc>
                  <a:txBody>
                    <a:bodyPr/>
                    <a:lstStyle/>
                    <a:p>
                      <a:pPr algn="ctr" fontAlgn="ctr"/>
                      <a:r>
                        <a:rPr lang="en-IN" sz="1200" b="0">
                          <a:effectLst/>
                        </a:rPr>
                        <a:t>Y</a:t>
                      </a:r>
                    </a:p>
                  </a:txBody>
                  <a:tcPr marL="63500" marR="63500" marT="88900" marB="88900" anchor="ctr"/>
                </a:tc>
                <a:extLst>
                  <a:ext uri="{0D108BD9-81ED-4DB2-BD59-A6C34878D82A}">
                    <a16:rowId xmlns:a16="http://schemas.microsoft.com/office/drawing/2014/main" val="2671417758"/>
                  </a:ext>
                </a:extLst>
              </a:tr>
              <a:tr h="368300">
                <a:tc>
                  <a:txBody>
                    <a:bodyPr/>
                    <a:lstStyle/>
                    <a:p>
                      <a:pPr algn="ctr" fontAlgn="ctr"/>
                      <a:r>
                        <a:rPr lang="en-IN" sz="1200" b="0">
                          <a:effectLst/>
                        </a:rPr>
                        <a:t>D</a:t>
                      </a:r>
                    </a:p>
                  </a:txBody>
                  <a:tcPr marL="63500" marR="63500" marT="88900" marB="88900" anchor="ctr"/>
                </a:tc>
                <a:tc>
                  <a:txBody>
                    <a:bodyPr/>
                    <a:lstStyle/>
                    <a:p>
                      <a:pPr algn="ctr" fontAlgn="ctr"/>
                      <a:r>
                        <a:rPr lang="en-IN" sz="1200" b="0">
                          <a:effectLst/>
                        </a:rPr>
                        <a:t>111</a:t>
                      </a:r>
                    </a:p>
                  </a:txBody>
                  <a:tcPr marL="63500" marR="63500" marT="88900" marB="88900" anchor="ctr"/>
                </a:tc>
                <a:tc>
                  <a:txBody>
                    <a:bodyPr/>
                    <a:lstStyle/>
                    <a:p>
                      <a:pPr algn="ctr" fontAlgn="ctr"/>
                      <a:r>
                        <a:rPr lang="en-IN" sz="1200" b="0">
                          <a:effectLst/>
                        </a:rPr>
                        <a:t>IT</a:t>
                      </a:r>
                    </a:p>
                  </a:txBody>
                  <a:tcPr marL="63500" marR="63500" marT="88900" marB="88900" anchor="ctr"/>
                </a:tc>
                <a:tc>
                  <a:txBody>
                    <a:bodyPr/>
                    <a:lstStyle/>
                    <a:p>
                      <a:pPr algn="ctr" fontAlgn="ctr"/>
                      <a:r>
                        <a:rPr lang="en-IN" sz="1200" b="0" dirty="0">
                          <a:effectLst/>
                        </a:rPr>
                        <a:t>A</a:t>
                      </a:r>
                    </a:p>
                  </a:txBody>
                  <a:tcPr marL="63500" marR="63500" marT="88900" marB="88900" anchor="ctr"/>
                </a:tc>
                <a:extLst>
                  <a:ext uri="{0D108BD9-81ED-4DB2-BD59-A6C34878D82A}">
                    <a16:rowId xmlns:a16="http://schemas.microsoft.com/office/drawing/2014/main" val="436087883"/>
                  </a:ext>
                </a:extLst>
              </a:tr>
            </a:tbl>
          </a:graphicData>
        </a:graphic>
      </p:graphicFrame>
      <p:sp>
        <p:nvSpPr>
          <p:cNvPr id="3" name="Rectangle 1">
            <a:extLst>
              <a:ext uri="{FF2B5EF4-FFF2-40B4-BE49-F238E27FC236}">
                <a16:creationId xmlns:a16="http://schemas.microsoft.com/office/drawing/2014/main" id="{5731B2A1-4069-B274-3598-3049B351E5D8}"/>
              </a:ext>
            </a:extLst>
          </p:cNvPr>
          <p:cNvSpPr>
            <a:spLocks noChangeArrowheads="1"/>
          </p:cNvSpPr>
          <p:nvPr/>
        </p:nvSpPr>
        <p:spPr bwMode="auto">
          <a:xfrm>
            <a:off x="884916" y="816822"/>
            <a:ext cx="9412969" cy="11079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Nunito" pitchFamily="2" charset="0"/>
              </a:rPr>
              <a:t>Natural join between EMP and DEPT with condition :</a:t>
            </a:r>
            <a:endParaRPr kumimoji="0" lang="en-US" altLang="en-US" sz="105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rgbClr val="273239"/>
                </a:solidFill>
                <a:effectLst/>
                <a:latin typeface="Nunito" pitchFamily="2" charset="0"/>
              </a:rPr>
              <a:t>EMP.Dept_Name</a:t>
            </a:r>
            <a:r>
              <a:rPr kumimoji="0" lang="en-US" altLang="en-US" b="1" i="0" u="none" strike="noStrike" cap="none" normalizeH="0" baseline="0" dirty="0">
                <a:ln>
                  <a:noFill/>
                </a:ln>
                <a:solidFill>
                  <a:srgbClr val="273239"/>
                </a:solidFill>
                <a:effectLst/>
                <a:latin typeface="Nunito" pitchFamily="2" charset="0"/>
              </a:rPr>
              <a:t> = </a:t>
            </a:r>
            <a:r>
              <a:rPr kumimoji="0" lang="en-US" altLang="en-US" b="1" i="0" u="none" strike="noStrike" cap="none" normalizeH="0" baseline="0" dirty="0" err="1">
                <a:ln>
                  <a:noFill/>
                </a:ln>
                <a:solidFill>
                  <a:srgbClr val="273239"/>
                </a:solidFill>
                <a:effectLst/>
                <a:latin typeface="Nunito" pitchFamily="2" charset="0"/>
              </a:rPr>
              <a:t>DEPT.Dept_Name</a:t>
            </a:r>
            <a:r>
              <a:rPr kumimoji="0" lang="en-US" altLang="en-US" b="0" i="0" u="none" strike="noStrike" cap="none" normalizeH="0" baseline="0" dirty="0">
                <a:ln>
                  <a:noFill/>
                </a:ln>
                <a:solidFill>
                  <a:srgbClr val="273239"/>
                </a:solidFill>
                <a:effectLst/>
                <a:latin typeface="Nunito" pitchFamily="2" charset="0"/>
              </a:rPr>
              <a:t>           </a:t>
            </a:r>
            <a:endParaRPr kumimoji="0" lang="en-US" altLang="en-US" sz="105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Nunito" pitchFamily="2"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Nunito" pitchFamily="2" charset="0"/>
              </a:rPr>
              <a:t>  </a:t>
            </a:r>
            <a:r>
              <a:rPr kumimoji="0" lang="en-US" altLang="en-US" b="1" i="0" u="none" strike="noStrike" cap="none" normalizeH="0" baseline="0" dirty="0">
                <a:ln>
                  <a:noFill/>
                </a:ln>
                <a:solidFill>
                  <a:srgbClr val="273239"/>
                </a:solidFill>
                <a:effectLst/>
                <a:latin typeface="Nunito" pitchFamily="2" charset="0"/>
              </a:rPr>
              <a:t>EMP ⋈ DEPT</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016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1D32DBC-15C1-0C5D-8404-7052888FFF48}"/>
              </a:ext>
            </a:extLst>
          </p:cNvPr>
          <p:cNvSpPr txBox="1"/>
          <p:nvPr/>
        </p:nvSpPr>
        <p:spPr>
          <a:xfrm>
            <a:off x="1371598" y="1001486"/>
            <a:ext cx="9786257" cy="2677656"/>
          </a:xfrm>
          <a:prstGeom prst="rect">
            <a:avLst/>
          </a:prstGeom>
          <a:noFill/>
        </p:spPr>
        <p:txBody>
          <a:bodyPr wrap="square">
            <a:spAutoFit/>
          </a:bodyPr>
          <a:lstStyle/>
          <a:p>
            <a:r>
              <a:rPr lang="en-US" sz="2400" dirty="0"/>
              <a:t> </a:t>
            </a:r>
            <a:r>
              <a:rPr lang="en-US" sz="2400" b="1" dirty="0"/>
              <a:t>Set Intersection(∩): </a:t>
            </a:r>
            <a:r>
              <a:rPr lang="en-US" sz="2400" dirty="0"/>
              <a:t>Set Intersection in relational algebra is the same set intersection operation in set theory.</a:t>
            </a:r>
          </a:p>
          <a:p>
            <a:endParaRPr lang="en-US" sz="2400" dirty="0"/>
          </a:p>
          <a:p>
            <a:r>
              <a:rPr lang="en-US" sz="2400" dirty="0"/>
              <a:t>Example: From the above table of FRENCH and GERMAN, the Set Intersection is used as follows</a:t>
            </a:r>
          </a:p>
          <a:p>
            <a:endParaRPr lang="en-US" sz="2400" dirty="0"/>
          </a:p>
          <a:p>
            <a:r>
              <a:rPr lang="en-US" sz="2400" dirty="0"/>
              <a:t>π(</a:t>
            </a:r>
            <a:r>
              <a:rPr lang="en-US" sz="2400" dirty="0" err="1"/>
              <a:t>Student_Name</a:t>
            </a:r>
            <a:r>
              <a:rPr lang="en-US" sz="2400" dirty="0"/>
              <a:t>)FRENCH ∩ π(</a:t>
            </a:r>
            <a:r>
              <a:rPr lang="en-US" sz="2400" dirty="0" err="1"/>
              <a:t>Student_Name</a:t>
            </a:r>
            <a:r>
              <a:rPr lang="en-US" sz="2400" dirty="0"/>
              <a:t>)GERMAN</a:t>
            </a:r>
            <a:endParaRPr lang="en-IN" sz="2400" dirty="0"/>
          </a:p>
        </p:txBody>
      </p:sp>
      <p:graphicFrame>
        <p:nvGraphicFramePr>
          <p:cNvPr id="10" name="Table 9">
            <a:extLst>
              <a:ext uri="{FF2B5EF4-FFF2-40B4-BE49-F238E27FC236}">
                <a16:creationId xmlns:a16="http://schemas.microsoft.com/office/drawing/2014/main" id="{00570B96-3A2F-7AA3-4779-1B8AE99FE2DF}"/>
              </a:ext>
            </a:extLst>
          </p:cNvPr>
          <p:cNvGraphicFramePr>
            <a:graphicFrameLocks noGrp="1"/>
          </p:cNvGraphicFramePr>
          <p:nvPr/>
        </p:nvGraphicFramePr>
        <p:xfrm>
          <a:off x="5203371" y="3888264"/>
          <a:ext cx="1393372" cy="1076960"/>
        </p:xfrm>
        <a:graphic>
          <a:graphicData uri="http://schemas.openxmlformats.org/drawingml/2006/table">
            <a:tbl>
              <a:tblPr>
                <a:tableStyleId>{775DCB02-9BB8-47FD-8907-85C794F793BA}</a:tableStyleId>
              </a:tblPr>
              <a:tblGrid>
                <a:gridCol w="1393372">
                  <a:extLst>
                    <a:ext uri="{9D8B030D-6E8A-4147-A177-3AD203B41FA5}">
                      <a16:colId xmlns:a16="http://schemas.microsoft.com/office/drawing/2014/main" val="4239640444"/>
                    </a:ext>
                  </a:extLst>
                </a:gridCol>
              </a:tblGrid>
              <a:tr h="0">
                <a:tc>
                  <a:txBody>
                    <a:bodyPr/>
                    <a:lstStyle/>
                    <a:p>
                      <a:pPr algn="ctr" fontAlgn="base"/>
                      <a:r>
                        <a:rPr lang="en-IN" sz="1400" b="1">
                          <a:effectLst/>
                        </a:rPr>
                        <a:t>Student_Name</a:t>
                      </a:r>
                    </a:p>
                  </a:txBody>
                  <a:tcPr marL="38100" marR="38100" marT="63500" marB="63500" anchor="ctr"/>
                </a:tc>
                <a:extLst>
                  <a:ext uri="{0D108BD9-81ED-4DB2-BD59-A6C34878D82A}">
                    <a16:rowId xmlns:a16="http://schemas.microsoft.com/office/drawing/2014/main" val="2244820426"/>
                  </a:ext>
                </a:extLst>
              </a:tr>
              <a:tr h="0">
                <a:tc>
                  <a:txBody>
                    <a:bodyPr/>
                    <a:lstStyle/>
                    <a:p>
                      <a:pPr algn="ctr" fontAlgn="ctr"/>
                      <a:r>
                        <a:rPr lang="en-IN" sz="1250" b="0">
                          <a:effectLst/>
                        </a:rPr>
                        <a:t>Vivek</a:t>
                      </a:r>
                    </a:p>
                  </a:txBody>
                  <a:tcPr marL="63500" marR="63500" marT="88900" marB="88900" anchor="ctr"/>
                </a:tc>
                <a:extLst>
                  <a:ext uri="{0D108BD9-81ED-4DB2-BD59-A6C34878D82A}">
                    <a16:rowId xmlns:a16="http://schemas.microsoft.com/office/drawing/2014/main" val="1100059991"/>
                  </a:ext>
                </a:extLst>
              </a:tr>
              <a:tr h="0">
                <a:tc>
                  <a:txBody>
                    <a:bodyPr/>
                    <a:lstStyle/>
                    <a:p>
                      <a:pPr algn="ctr" fontAlgn="ctr"/>
                      <a:r>
                        <a:rPr lang="en-IN" sz="1250" b="0" dirty="0">
                          <a:effectLst/>
                        </a:rPr>
                        <a:t>Geeta</a:t>
                      </a:r>
                    </a:p>
                  </a:txBody>
                  <a:tcPr marL="63500" marR="63500" marT="88900" marB="88900" anchor="ctr"/>
                </a:tc>
                <a:extLst>
                  <a:ext uri="{0D108BD9-81ED-4DB2-BD59-A6C34878D82A}">
                    <a16:rowId xmlns:a16="http://schemas.microsoft.com/office/drawing/2014/main" val="1207329441"/>
                  </a:ext>
                </a:extLst>
              </a:tr>
            </a:tbl>
          </a:graphicData>
        </a:graphic>
      </p:graphicFrame>
      <p:sp>
        <p:nvSpPr>
          <p:cNvPr id="13" name="TextBox 12">
            <a:extLst>
              <a:ext uri="{FF2B5EF4-FFF2-40B4-BE49-F238E27FC236}">
                <a16:creationId xmlns:a16="http://schemas.microsoft.com/office/drawing/2014/main" id="{ED492DD0-DEC9-ED73-6A90-3311520E1CA0}"/>
              </a:ext>
            </a:extLst>
          </p:cNvPr>
          <p:cNvSpPr txBox="1"/>
          <p:nvPr/>
        </p:nvSpPr>
        <p:spPr>
          <a:xfrm>
            <a:off x="1371597" y="5174346"/>
            <a:ext cx="10101945" cy="646331"/>
          </a:xfrm>
          <a:prstGeom prst="rect">
            <a:avLst/>
          </a:prstGeom>
          <a:noFill/>
        </p:spPr>
        <p:txBody>
          <a:bodyPr wrap="square">
            <a:spAutoFit/>
          </a:bodyPr>
          <a:lstStyle/>
          <a:p>
            <a:r>
              <a:rPr lang="en-US" b="1" i="0" dirty="0">
                <a:solidFill>
                  <a:srgbClr val="273239"/>
                </a:solidFill>
                <a:effectLst/>
                <a:latin typeface="Nunito" pitchFamily="2" charset="0"/>
              </a:rPr>
              <a:t>Note:</a:t>
            </a:r>
            <a:r>
              <a:rPr lang="en-US" b="0" i="0" dirty="0">
                <a:solidFill>
                  <a:srgbClr val="273239"/>
                </a:solidFill>
                <a:effectLst/>
                <a:latin typeface="Nunito" pitchFamily="2" charset="0"/>
              </a:rPr>
              <a:t> The only constraint in the Set Difference between two relations is that both relations must have the same set of Attributes.</a:t>
            </a:r>
            <a:endParaRPr lang="en-IN" dirty="0"/>
          </a:p>
        </p:txBody>
      </p:sp>
    </p:spTree>
    <p:extLst>
      <p:ext uri="{BB962C8B-B14F-4D97-AF65-F5344CB8AC3E}">
        <p14:creationId xmlns:p14="http://schemas.microsoft.com/office/powerpoint/2010/main" val="2269609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A839CE-127F-748A-A174-3825055DB652}"/>
              </a:ext>
            </a:extLst>
          </p:cNvPr>
          <p:cNvSpPr txBox="1"/>
          <p:nvPr/>
        </p:nvSpPr>
        <p:spPr>
          <a:xfrm>
            <a:off x="1436914" y="359230"/>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5" name="TextBox 4">
            <a:extLst>
              <a:ext uri="{FF2B5EF4-FFF2-40B4-BE49-F238E27FC236}">
                <a16:creationId xmlns:a16="http://schemas.microsoft.com/office/drawing/2014/main" id="{6F9ADA5E-B548-2CC4-3858-D72D001798EC}"/>
              </a:ext>
            </a:extLst>
          </p:cNvPr>
          <p:cNvSpPr txBox="1"/>
          <p:nvPr/>
        </p:nvSpPr>
        <p:spPr>
          <a:xfrm>
            <a:off x="710294" y="3513338"/>
            <a:ext cx="6101442" cy="369332"/>
          </a:xfrm>
          <a:prstGeom prst="rect">
            <a:avLst/>
          </a:prstGeom>
          <a:noFill/>
        </p:spPr>
        <p:txBody>
          <a:bodyPr wrap="square">
            <a:spAutoFit/>
          </a:bodyPr>
          <a:lstStyle/>
          <a:p>
            <a:r>
              <a:rPr lang="en-US" sz="1800" b="1" i="0" dirty="0">
                <a:solidFill>
                  <a:srgbClr val="800080"/>
                </a:solidFill>
                <a:effectLst/>
                <a:latin typeface="book antiqua" panose="02040602050305030304" pitchFamily="18" charset="0"/>
              </a:rPr>
              <a:t>a) Get the complete details of all flights to New Delhi.</a:t>
            </a:r>
            <a:endParaRPr lang="en-IN" dirty="0"/>
          </a:p>
        </p:txBody>
      </p:sp>
    </p:spTree>
    <p:extLst>
      <p:ext uri="{BB962C8B-B14F-4D97-AF65-F5344CB8AC3E}">
        <p14:creationId xmlns:p14="http://schemas.microsoft.com/office/powerpoint/2010/main" val="34848882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A839CE-127F-748A-A174-3825055DB652}"/>
              </a:ext>
            </a:extLst>
          </p:cNvPr>
          <p:cNvSpPr txBox="1"/>
          <p:nvPr/>
        </p:nvSpPr>
        <p:spPr>
          <a:xfrm>
            <a:off x="1436914" y="359230"/>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5" name="TextBox 4">
            <a:extLst>
              <a:ext uri="{FF2B5EF4-FFF2-40B4-BE49-F238E27FC236}">
                <a16:creationId xmlns:a16="http://schemas.microsoft.com/office/drawing/2014/main" id="{6F9ADA5E-B548-2CC4-3858-D72D001798EC}"/>
              </a:ext>
            </a:extLst>
          </p:cNvPr>
          <p:cNvSpPr txBox="1"/>
          <p:nvPr/>
        </p:nvSpPr>
        <p:spPr>
          <a:xfrm>
            <a:off x="710294" y="3513338"/>
            <a:ext cx="6101442" cy="369332"/>
          </a:xfrm>
          <a:prstGeom prst="rect">
            <a:avLst/>
          </a:prstGeom>
          <a:noFill/>
        </p:spPr>
        <p:txBody>
          <a:bodyPr wrap="square">
            <a:spAutoFit/>
          </a:bodyPr>
          <a:lstStyle/>
          <a:p>
            <a:r>
              <a:rPr lang="en-US" sz="1800" b="1" i="0" dirty="0">
                <a:solidFill>
                  <a:srgbClr val="800080"/>
                </a:solidFill>
                <a:effectLst/>
                <a:latin typeface="book antiqua" panose="02040602050305030304" pitchFamily="18" charset="0"/>
              </a:rPr>
              <a:t>a) Get the complete details of all flights to New Delhi.</a:t>
            </a:r>
            <a:endParaRPr lang="en-IN" dirty="0"/>
          </a:p>
        </p:txBody>
      </p:sp>
      <p:sp>
        <p:nvSpPr>
          <p:cNvPr id="7" name="TextBox 6">
            <a:extLst>
              <a:ext uri="{FF2B5EF4-FFF2-40B4-BE49-F238E27FC236}">
                <a16:creationId xmlns:a16="http://schemas.microsoft.com/office/drawing/2014/main" id="{EDCAF935-27B0-5798-7E07-A4E629D9CFEE}"/>
              </a:ext>
            </a:extLst>
          </p:cNvPr>
          <p:cNvSpPr txBox="1"/>
          <p:nvPr/>
        </p:nvSpPr>
        <p:spPr>
          <a:xfrm>
            <a:off x="3170465" y="4044434"/>
            <a:ext cx="6101442" cy="584775"/>
          </a:xfrm>
          <a:prstGeom prst="rect">
            <a:avLst/>
          </a:prstGeom>
          <a:noFill/>
        </p:spPr>
        <p:txBody>
          <a:bodyPr wrap="square">
            <a:spAutoFit/>
          </a:bodyPr>
          <a:lstStyle/>
          <a:p>
            <a:r>
              <a:rPr lang="en-US" sz="3200" b="0" i="0" dirty="0">
                <a:solidFill>
                  <a:srgbClr val="222222"/>
                </a:solidFill>
                <a:effectLst/>
                <a:latin typeface="book antiqua" panose="02040602050305030304" pitchFamily="18" charset="0"/>
              </a:rPr>
              <a:t>σ </a:t>
            </a:r>
            <a:r>
              <a:rPr lang="en-US" sz="3200" b="0" i="1" baseline="-25000" dirty="0">
                <a:solidFill>
                  <a:srgbClr val="222222"/>
                </a:solidFill>
                <a:effectLst/>
                <a:latin typeface="book antiqua" panose="02040602050305030304" pitchFamily="18" charset="0"/>
              </a:rPr>
              <a:t>destination = “New Delhi”</a:t>
            </a:r>
            <a:r>
              <a:rPr lang="en-US" sz="3200" b="0" i="0" baseline="-25000" dirty="0">
                <a:solidFill>
                  <a:srgbClr val="222222"/>
                </a:solidFill>
                <a:effectLst/>
                <a:latin typeface="book antiqua" panose="02040602050305030304" pitchFamily="18" charset="0"/>
              </a:rPr>
              <a:t> </a:t>
            </a:r>
            <a:r>
              <a:rPr lang="en-US" sz="3200" b="0" i="0" dirty="0">
                <a:solidFill>
                  <a:srgbClr val="222222"/>
                </a:solidFill>
                <a:effectLst/>
                <a:latin typeface="book antiqua" panose="02040602050305030304" pitchFamily="18" charset="0"/>
              </a:rPr>
              <a:t>(flight)</a:t>
            </a:r>
            <a:endParaRPr lang="en-IN" sz="3200" dirty="0"/>
          </a:p>
        </p:txBody>
      </p:sp>
    </p:spTree>
    <p:extLst>
      <p:ext uri="{BB962C8B-B14F-4D97-AF65-F5344CB8AC3E}">
        <p14:creationId xmlns:p14="http://schemas.microsoft.com/office/powerpoint/2010/main" val="232315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A8F38-56C3-8CC3-3F03-764B20C1450B}"/>
              </a:ext>
            </a:extLst>
          </p:cNvPr>
          <p:cNvSpPr txBox="1"/>
          <p:nvPr/>
        </p:nvSpPr>
        <p:spPr>
          <a:xfrm>
            <a:off x="569542" y="3875326"/>
            <a:ext cx="10621735" cy="369332"/>
          </a:xfrm>
          <a:prstGeom prst="rect">
            <a:avLst/>
          </a:prstGeom>
          <a:noFill/>
        </p:spPr>
        <p:txBody>
          <a:bodyPr wrap="square">
            <a:spAutoFit/>
          </a:bodyPr>
          <a:lstStyle/>
          <a:p>
            <a:r>
              <a:rPr lang="en-US" sz="1800" b="1" i="0" dirty="0">
                <a:solidFill>
                  <a:srgbClr val="800080"/>
                </a:solidFill>
                <a:effectLst/>
                <a:latin typeface="book antiqua" panose="02040602050305030304" pitchFamily="18" charset="0"/>
              </a:rPr>
              <a:t>b) Get the details about all flights from Chennai to New Delhi.</a:t>
            </a:r>
            <a:endParaRPr lang="en-IN" dirty="0"/>
          </a:p>
        </p:txBody>
      </p:sp>
      <p:sp>
        <p:nvSpPr>
          <p:cNvPr id="8" name="TextBox 7">
            <a:extLst>
              <a:ext uri="{FF2B5EF4-FFF2-40B4-BE49-F238E27FC236}">
                <a16:creationId xmlns:a16="http://schemas.microsoft.com/office/drawing/2014/main"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156727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A8F38-56C3-8CC3-3F03-764B20C1450B}"/>
              </a:ext>
            </a:extLst>
          </p:cNvPr>
          <p:cNvSpPr txBox="1"/>
          <p:nvPr/>
        </p:nvSpPr>
        <p:spPr>
          <a:xfrm>
            <a:off x="569542" y="3875326"/>
            <a:ext cx="10621735" cy="369332"/>
          </a:xfrm>
          <a:prstGeom prst="rect">
            <a:avLst/>
          </a:prstGeom>
          <a:noFill/>
        </p:spPr>
        <p:txBody>
          <a:bodyPr wrap="square">
            <a:spAutoFit/>
          </a:bodyPr>
          <a:lstStyle/>
          <a:p>
            <a:r>
              <a:rPr lang="en-US" sz="1800" b="1" i="0" dirty="0">
                <a:solidFill>
                  <a:srgbClr val="800080"/>
                </a:solidFill>
                <a:effectLst/>
                <a:latin typeface="book antiqua" panose="02040602050305030304" pitchFamily="18" charset="0"/>
              </a:rPr>
              <a:t>b) Get the details about all flights from Chennai to New Delhi.</a:t>
            </a:r>
            <a:endParaRPr lang="en-IN" dirty="0"/>
          </a:p>
        </p:txBody>
      </p:sp>
      <p:sp>
        <p:nvSpPr>
          <p:cNvPr id="5" name="TextBox 4">
            <a:extLst>
              <a:ext uri="{FF2B5EF4-FFF2-40B4-BE49-F238E27FC236}">
                <a16:creationId xmlns:a16="http://schemas.microsoft.com/office/drawing/2014/main" id="{42BDC7C2-365C-5855-E3BC-4C8FF081FADA}"/>
              </a:ext>
            </a:extLst>
          </p:cNvPr>
          <p:cNvSpPr txBox="1"/>
          <p:nvPr/>
        </p:nvSpPr>
        <p:spPr>
          <a:xfrm>
            <a:off x="2414571" y="4524732"/>
            <a:ext cx="6101442" cy="523220"/>
          </a:xfrm>
          <a:prstGeom prst="rect">
            <a:avLst/>
          </a:prstGeom>
          <a:noFill/>
        </p:spPr>
        <p:txBody>
          <a:bodyPr wrap="square">
            <a:spAutoFit/>
          </a:bodyPr>
          <a:lstStyle/>
          <a:p>
            <a:r>
              <a:rPr lang="en-US" sz="2800" b="0" i="0" dirty="0">
                <a:solidFill>
                  <a:srgbClr val="222222"/>
                </a:solidFill>
                <a:effectLst/>
                <a:latin typeface="book antiqua" panose="02040602050305030304" pitchFamily="18" charset="0"/>
              </a:rPr>
              <a:t>σ </a:t>
            </a:r>
            <a:r>
              <a:rPr lang="en-US" sz="2800" b="0" i="1" baseline="-25000" dirty="0" err="1">
                <a:solidFill>
                  <a:srgbClr val="222222"/>
                </a:solidFill>
                <a:effectLst/>
                <a:latin typeface="book antiqua" panose="02040602050305030304" pitchFamily="18" charset="0"/>
              </a:rPr>
              <a:t>src</a:t>
            </a:r>
            <a:r>
              <a:rPr lang="en-US" sz="2800" b="0" i="1" baseline="-25000" dirty="0">
                <a:solidFill>
                  <a:srgbClr val="222222"/>
                </a:solidFill>
                <a:effectLst/>
                <a:latin typeface="book antiqua" panose="02040602050305030304" pitchFamily="18" charset="0"/>
              </a:rPr>
              <a:t> = “Chennai” ^ </a:t>
            </a:r>
            <a:r>
              <a:rPr lang="en-US" sz="2800" b="0" i="1" baseline="-25000" dirty="0" err="1">
                <a:solidFill>
                  <a:srgbClr val="222222"/>
                </a:solidFill>
                <a:effectLst/>
                <a:latin typeface="book antiqua" panose="02040602050305030304" pitchFamily="18" charset="0"/>
              </a:rPr>
              <a:t>dest</a:t>
            </a:r>
            <a:r>
              <a:rPr lang="en-US" sz="2800" b="0" i="1" baseline="-25000" dirty="0">
                <a:solidFill>
                  <a:srgbClr val="222222"/>
                </a:solidFill>
                <a:effectLst/>
                <a:latin typeface="book antiqua" panose="02040602050305030304" pitchFamily="18" charset="0"/>
              </a:rPr>
              <a:t> = “New Delhi”</a:t>
            </a:r>
            <a:r>
              <a:rPr lang="en-US" sz="2800" b="0" i="0" dirty="0">
                <a:solidFill>
                  <a:srgbClr val="222222"/>
                </a:solidFill>
                <a:effectLst/>
                <a:latin typeface="book antiqua" panose="02040602050305030304" pitchFamily="18" charset="0"/>
              </a:rPr>
              <a:t> (flight)</a:t>
            </a:r>
            <a:endParaRPr lang="en-IN" sz="2800" dirty="0"/>
          </a:p>
        </p:txBody>
      </p:sp>
      <p:sp>
        <p:nvSpPr>
          <p:cNvPr id="8" name="TextBox 7">
            <a:extLst>
              <a:ext uri="{FF2B5EF4-FFF2-40B4-BE49-F238E27FC236}">
                <a16:creationId xmlns:a16="http://schemas.microsoft.com/office/drawing/2014/main"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2694833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A8F38-56C3-8CC3-3F03-764B20C1450B}"/>
              </a:ext>
            </a:extLst>
          </p:cNvPr>
          <p:cNvSpPr txBox="1"/>
          <p:nvPr/>
        </p:nvSpPr>
        <p:spPr>
          <a:xfrm>
            <a:off x="569542" y="3875326"/>
            <a:ext cx="10621735" cy="707886"/>
          </a:xfrm>
          <a:prstGeom prst="rect">
            <a:avLst/>
          </a:prstGeom>
          <a:noFill/>
        </p:spPr>
        <p:txBody>
          <a:bodyPr wrap="square">
            <a:spAutoFit/>
          </a:bodyPr>
          <a:lstStyle/>
          <a:p>
            <a:r>
              <a:rPr lang="en-US" sz="2000" b="1" i="0" dirty="0">
                <a:solidFill>
                  <a:srgbClr val="800080"/>
                </a:solidFill>
                <a:effectLst/>
                <a:latin typeface="book antiqua" panose="02040602050305030304" pitchFamily="18" charset="0"/>
              </a:rPr>
              <a:t>c) Find only the flight numbers for passenger with </a:t>
            </a:r>
            <a:r>
              <a:rPr lang="en-US" sz="2000" b="1" i="0" dirty="0" err="1">
                <a:solidFill>
                  <a:srgbClr val="800080"/>
                </a:solidFill>
                <a:effectLst/>
                <a:latin typeface="book antiqua" panose="02040602050305030304" pitchFamily="18" charset="0"/>
              </a:rPr>
              <a:t>pid</a:t>
            </a:r>
            <a:r>
              <a:rPr lang="en-US" sz="2000" b="1" i="0" dirty="0">
                <a:solidFill>
                  <a:srgbClr val="800080"/>
                </a:solidFill>
                <a:effectLst/>
                <a:latin typeface="book antiqua" panose="02040602050305030304" pitchFamily="18" charset="0"/>
              </a:rPr>
              <a:t> 123 for flights to Chennai before 06/11/2020.</a:t>
            </a:r>
            <a:endParaRPr lang="en-IN" sz="2000" dirty="0"/>
          </a:p>
        </p:txBody>
      </p:sp>
      <p:sp>
        <p:nvSpPr>
          <p:cNvPr id="8" name="TextBox 7">
            <a:extLst>
              <a:ext uri="{FF2B5EF4-FFF2-40B4-BE49-F238E27FC236}">
                <a16:creationId xmlns:a16="http://schemas.microsoft.com/office/drawing/2014/main"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29459970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A8F38-56C3-8CC3-3F03-764B20C1450B}"/>
              </a:ext>
            </a:extLst>
          </p:cNvPr>
          <p:cNvSpPr txBox="1"/>
          <p:nvPr/>
        </p:nvSpPr>
        <p:spPr>
          <a:xfrm>
            <a:off x="569542" y="3875326"/>
            <a:ext cx="10621735" cy="707886"/>
          </a:xfrm>
          <a:prstGeom prst="rect">
            <a:avLst/>
          </a:prstGeom>
          <a:noFill/>
        </p:spPr>
        <p:txBody>
          <a:bodyPr wrap="square">
            <a:spAutoFit/>
          </a:bodyPr>
          <a:lstStyle/>
          <a:p>
            <a:r>
              <a:rPr lang="en-US" sz="2000" b="1" i="0" dirty="0">
                <a:solidFill>
                  <a:srgbClr val="800080"/>
                </a:solidFill>
                <a:effectLst/>
                <a:latin typeface="book antiqua" panose="02040602050305030304" pitchFamily="18" charset="0"/>
              </a:rPr>
              <a:t>c) Find only the flight numbers for passenger with </a:t>
            </a:r>
            <a:r>
              <a:rPr lang="en-US" sz="2000" b="1" i="0" dirty="0" err="1">
                <a:solidFill>
                  <a:srgbClr val="800080"/>
                </a:solidFill>
                <a:effectLst/>
                <a:latin typeface="book antiqua" panose="02040602050305030304" pitchFamily="18" charset="0"/>
              </a:rPr>
              <a:t>pid</a:t>
            </a:r>
            <a:r>
              <a:rPr lang="en-US" sz="2000" b="1" i="0" dirty="0">
                <a:solidFill>
                  <a:srgbClr val="800080"/>
                </a:solidFill>
                <a:effectLst/>
                <a:latin typeface="book antiqua" panose="02040602050305030304" pitchFamily="18" charset="0"/>
              </a:rPr>
              <a:t> 123 for flights to Chennai before 06/11/2020.</a:t>
            </a:r>
            <a:endParaRPr lang="en-IN" sz="2000" dirty="0"/>
          </a:p>
        </p:txBody>
      </p:sp>
      <p:sp>
        <p:nvSpPr>
          <p:cNvPr id="8" name="TextBox 7">
            <a:extLst>
              <a:ext uri="{FF2B5EF4-FFF2-40B4-BE49-F238E27FC236}">
                <a16:creationId xmlns:a16="http://schemas.microsoft.com/office/drawing/2014/main"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id="{F76CB967-BF62-01C8-0138-4EF43D6F217C}"/>
              </a:ext>
            </a:extLst>
          </p:cNvPr>
          <p:cNvSpPr txBox="1"/>
          <p:nvPr/>
        </p:nvSpPr>
        <p:spPr>
          <a:xfrm>
            <a:off x="1265464" y="4932006"/>
            <a:ext cx="10621735" cy="523220"/>
          </a:xfrm>
          <a:prstGeom prst="rect">
            <a:avLst/>
          </a:prstGeom>
          <a:noFill/>
        </p:spPr>
        <p:txBody>
          <a:bodyPr wrap="square">
            <a:spAutoFit/>
          </a:bodyPr>
          <a:lstStyle/>
          <a:p>
            <a:r>
              <a:rPr lang="el-GR" sz="2800" b="0" i="0" dirty="0">
                <a:effectLst/>
                <a:latin typeface="book antiqua" panose="02040602050305030304" pitchFamily="18" charset="0"/>
              </a:rPr>
              <a:t>Π</a:t>
            </a:r>
            <a:r>
              <a:rPr lang="el-GR" sz="2800" b="0" i="0" baseline="-25000" dirty="0">
                <a:effectLst/>
                <a:latin typeface="book antiqua" panose="02040602050305030304" pitchFamily="18" charset="0"/>
              </a:rPr>
              <a:t> </a:t>
            </a:r>
            <a:r>
              <a:rPr lang="en-IN" sz="2800" b="0" i="1" baseline="-25000" dirty="0">
                <a:effectLst/>
                <a:latin typeface="book antiqua" panose="02040602050305030304" pitchFamily="18" charset="0"/>
              </a:rPr>
              <a:t>fid</a:t>
            </a:r>
            <a:r>
              <a:rPr lang="en-IN" sz="2800" b="0" i="0" baseline="-25000" dirty="0">
                <a:effectLst/>
                <a:latin typeface="book antiqua" panose="02040602050305030304" pitchFamily="18" charset="0"/>
              </a:rPr>
              <a:t> </a:t>
            </a:r>
            <a:r>
              <a:rPr lang="en-IN" sz="2800" b="0" i="0" dirty="0">
                <a:effectLst/>
                <a:latin typeface="book antiqua" panose="02040602050305030304" pitchFamily="18" charset="0"/>
              </a:rPr>
              <a:t>(</a:t>
            </a:r>
            <a:r>
              <a:rPr lang="el-GR" sz="2800" b="0" i="0" dirty="0">
                <a:effectLst/>
                <a:latin typeface="book antiqua" panose="02040602050305030304" pitchFamily="18" charset="0"/>
              </a:rPr>
              <a:t>σ</a:t>
            </a:r>
            <a:r>
              <a:rPr lang="el-GR" sz="2800" b="0" i="0" baseline="-25000" dirty="0">
                <a:effectLst/>
                <a:latin typeface="book antiqua" panose="02040602050305030304" pitchFamily="18" charset="0"/>
              </a:rPr>
              <a:t> </a:t>
            </a:r>
            <a:r>
              <a:rPr lang="en-IN" sz="2800" b="0" i="1" baseline="-25000" dirty="0" err="1">
                <a:effectLst/>
                <a:latin typeface="book antiqua" panose="02040602050305030304" pitchFamily="18" charset="0"/>
              </a:rPr>
              <a:t>pid</a:t>
            </a:r>
            <a:r>
              <a:rPr lang="en-IN" sz="2800" b="0" i="1" baseline="-25000" dirty="0">
                <a:effectLst/>
                <a:latin typeface="book antiqua" panose="02040602050305030304" pitchFamily="18" charset="0"/>
              </a:rPr>
              <a:t> = 123</a:t>
            </a:r>
            <a:r>
              <a:rPr lang="en-IN" sz="2800" b="0" i="0" baseline="-25000" dirty="0">
                <a:effectLst/>
                <a:latin typeface="book antiqua" panose="02040602050305030304" pitchFamily="18" charset="0"/>
              </a:rPr>
              <a:t> </a:t>
            </a:r>
            <a:r>
              <a:rPr lang="en-IN" sz="2800" b="0" i="0" dirty="0">
                <a:effectLst/>
                <a:latin typeface="book antiqua" panose="02040602050305030304" pitchFamily="18" charset="0"/>
              </a:rPr>
              <a:t>(booking) </a:t>
            </a:r>
            <a:r>
              <a:rPr lang="en-IN" sz="2800" b="0" i="0" dirty="0">
                <a:effectLst/>
                <a:latin typeface="cambria math" panose="02040503050406030204" pitchFamily="18" charset="0"/>
              </a:rPr>
              <a:t>⨝</a:t>
            </a:r>
            <a:r>
              <a:rPr lang="en-IN" sz="2800" b="0" i="0" dirty="0">
                <a:effectLst/>
                <a:latin typeface="book antiqua" panose="02040602050305030304" pitchFamily="18" charset="0"/>
              </a:rPr>
              <a:t> </a:t>
            </a:r>
            <a:r>
              <a:rPr lang="el-GR" sz="2800" b="0" i="0" dirty="0">
                <a:effectLst/>
                <a:latin typeface="book antiqua" panose="02040602050305030304" pitchFamily="18" charset="0"/>
              </a:rPr>
              <a:t>σ</a:t>
            </a:r>
            <a:r>
              <a:rPr lang="el-GR" sz="2800" b="0" i="0" baseline="-25000" dirty="0">
                <a:effectLst/>
                <a:latin typeface="book antiqua" panose="02040602050305030304" pitchFamily="18" charset="0"/>
              </a:rPr>
              <a:t> </a:t>
            </a:r>
            <a:r>
              <a:rPr lang="en-IN" sz="2800" b="0" i="1" baseline="-25000" dirty="0" err="1">
                <a:effectLst/>
                <a:latin typeface="book antiqua" panose="02040602050305030304" pitchFamily="18" charset="0"/>
              </a:rPr>
              <a:t>dest</a:t>
            </a:r>
            <a:r>
              <a:rPr lang="en-IN" sz="2800" b="0" i="1" baseline="-25000" dirty="0">
                <a:effectLst/>
                <a:latin typeface="book antiqua" panose="02040602050305030304" pitchFamily="18" charset="0"/>
              </a:rPr>
              <a:t> = “Chennai” ^ </a:t>
            </a:r>
            <a:r>
              <a:rPr lang="en-IN" sz="2800" b="0" i="1" baseline="-25000" dirty="0" err="1">
                <a:effectLst/>
                <a:latin typeface="book antiqua" panose="02040602050305030304" pitchFamily="18" charset="0"/>
              </a:rPr>
              <a:t>fdate</a:t>
            </a:r>
            <a:r>
              <a:rPr lang="en-IN" sz="2800" b="0" i="1" baseline="-25000" dirty="0">
                <a:effectLst/>
                <a:latin typeface="book antiqua" panose="02040602050305030304" pitchFamily="18" charset="0"/>
              </a:rPr>
              <a:t> &lt; 06/11/2020</a:t>
            </a:r>
            <a:r>
              <a:rPr lang="en-IN" sz="2800" b="0" i="0" baseline="-25000" dirty="0">
                <a:effectLst/>
                <a:latin typeface="book antiqua" panose="02040602050305030304" pitchFamily="18" charset="0"/>
              </a:rPr>
              <a:t> </a:t>
            </a:r>
            <a:r>
              <a:rPr lang="en-IN" sz="2800" b="0" i="0" dirty="0">
                <a:effectLst/>
                <a:latin typeface="book antiqua" panose="02040602050305030304" pitchFamily="18" charset="0"/>
              </a:rPr>
              <a:t>(flight))</a:t>
            </a:r>
            <a:endParaRPr lang="en-IN" sz="2800" dirty="0"/>
          </a:p>
        </p:txBody>
      </p:sp>
    </p:spTree>
    <p:extLst>
      <p:ext uri="{BB962C8B-B14F-4D97-AF65-F5344CB8AC3E}">
        <p14:creationId xmlns:p14="http://schemas.microsoft.com/office/powerpoint/2010/main" val="614633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A8F38-56C3-8CC3-3F03-764B20C1450B}"/>
              </a:ext>
            </a:extLst>
          </p:cNvPr>
          <p:cNvSpPr txBox="1"/>
          <p:nvPr/>
        </p:nvSpPr>
        <p:spPr>
          <a:xfrm>
            <a:off x="569542" y="3875326"/>
            <a:ext cx="10621735" cy="830997"/>
          </a:xfrm>
          <a:prstGeom prst="rect">
            <a:avLst/>
          </a:prstGeom>
          <a:noFill/>
        </p:spPr>
        <p:txBody>
          <a:bodyPr wrap="square">
            <a:spAutoFit/>
          </a:bodyPr>
          <a:lstStyle/>
          <a:p>
            <a:r>
              <a:rPr lang="en-US" sz="2400" b="1" i="0" dirty="0">
                <a:solidFill>
                  <a:srgbClr val="800080"/>
                </a:solidFill>
                <a:effectLst/>
                <a:latin typeface="book antiqua" panose="02040602050305030304" pitchFamily="18" charset="0"/>
              </a:rPr>
              <a:t>d) Find the passenger names for passengers who have bookings on at least one flight.</a:t>
            </a:r>
            <a:endParaRPr lang="en-IN" sz="2800" dirty="0"/>
          </a:p>
        </p:txBody>
      </p:sp>
      <p:sp>
        <p:nvSpPr>
          <p:cNvPr id="8" name="TextBox 7">
            <a:extLst>
              <a:ext uri="{FF2B5EF4-FFF2-40B4-BE49-F238E27FC236}">
                <a16:creationId xmlns:a16="http://schemas.microsoft.com/office/drawing/2014/main"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2035465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A8F38-56C3-8CC3-3F03-764B20C1450B}"/>
              </a:ext>
            </a:extLst>
          </p:cNvPr>
          <p:cNvSpPr txBox="1"/>
          <p:nvPr/>
        </p:nvSpPr>
        <p:spPr>
          <a:xfrm>
            <a:off x="569542" y="3875326"/>
            <a:ext cx="10621735" cy="830997"/>
          </a:xfrm>
          <a:prstGeom prst="rect">
            <a:avLst/>
          </a:prstGeom>
          <a:noFill/>
        </p:spPr>
        <p:txBody>
          <a:bodyPr wrap="square">
            <a:spAutoFit/>
          </a:bodyPr>
          <a:lstStyle/>
          <a:p>
            <a:r>
              <a:rPr lang="en-US" sz="2400" b="1" i="0" dirty="0">
                <a:solidFill>
                  <a:srgbClr val="800080"/>
                </a:solidFill>
                <a:effectLst/>
                <a:latin typeface="book antiqua" panose="02040602050305030304" pitchFamily="18" charset="0"/>
              </a:rPr>
              <a:t>d) Find the passenger names for passengers who have bookings on at least one flight.</a:t>
            </a:r>
            <a:endParaRPr lang="en-IN" sz="2800" dirty="0"/>
          </a:p>
        </p:txBody>
      </p:sp>
      <p:sp>
        <p:nvSpPr>
          <p:cNvPr id="8" name="TextBox 7">
            <a:extLst>
              <a:ext uri="{FF2B5EF4-FFF2-40B4-BE49-F238E27FC236}">
                <a16:creationId xmlns:a16="http://schemas.microsoft.com/office/drawing/2014/main"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id="{01F02033-12F3-69C4-D293-A4D6B8072C3B}"/>
              </a:ext>
            </a:extLst>
          </p:cNvPr>
          <p:cNvSpPr txBox="1"/>
          <p:nvPr/>
        </p:nvSpPr>
        <p:spPr>
          <a:xfrm>
            <a:off x="3148693" y="5008951"/>
            <a:ext cx="6101442" cy="461665"/>
          </a:xfrm>
          <a:prstGeom prst="rect">
            <a:avLst/>
          </a:prstGeom>
          <a:noFill/>
        </p:spPr>
        <p:txBody>
          <a:bodyPr wrap="square">
            <a:spAutoFit/>
          </a:bodyPr>
          <a:lstStyle/>
          <a:p>
            <a:r>
              <a:rPr lang="el-GR" sz="2400" b="1" i="0" dirty="0">
                <a:solidFill>
                  <a:srgbClr val="222222"/>
                </a:solidFill>
                <a:effectLst/>
                <a:latin typeface="book antiqua" panose="02040602050305030304" pitchFamily="18" charset="0"/>
              </a:rPr>
              <a:t>Π</a:t>
            </a:r>
            <a:r>
              <a:rPr lang="el-GR" sz="2400" b="1" i="0" baseline="-25000" dirty="0">
                <a:solidFill>
                  <a:srgbClr val="222222"/>
                </a:solidFill>
                <a:effectLst/>
                <a:latin typeface="book antiqua" panose="02040602050305030304" pitchFamily="18" charset="0"/>
              </a:rPr>
              <a:t> </a:t>
            </a:r>
            <a:r>
              <a:rPr lang="en-IN" sz="2400" b="1" i="1" baseline="-25000" dirty="0" err="1">
                <a:solidFill>
                  <a:srgbClr val="222222"/>
                </a:solidFill>
                <a:effectLst/>
                <a:latin typeface="book antiqua" panose="02040602050305030304" pitchFamily="18" charset="0"/>
              </a:rPr>
              <a:t>pname</a:t>
            </a:r>
            <a:r>
              <a:rPr lang="en-IN" sz="2400" b="1" i="0" baseline="-25000" dirty="0">
                <a:solidFill>
                  <a:srgbClr val="222222"/>
                </a:solidFill>
                <a:effectLst/>
                <a:latin typeface="book antiqua" panose="02040602050305030304" pitchFamily="18" charset="0"/>
              </a:rPr>
              <a:t> </a:t>
            </a:r>
            <a:r>
              <a:rPr lang="en-IN" sz="2400" b="1" i="0" dirty="0">
                <a:solidFill>
                  <a:srgbClr val="222222"/>
                </a:solidFill>
                <a:effectLst/>
                <a:latin typeface="book antiqua" panose="02040602050305030304" pitchFamily="18" charset="0"/>
              </a:rPr>
              <a:t>(passenger </a:t>
            </a:r>
            <a:r>
              <a:rPr lang="en-IN" sz="2400" b="1" i="0" dirty="0">
                <a:solidFill>
                  <a:srgbClr val="222222"/>
                </a:solidFill>
                <a:effectLst/>
                <a:latin typeface="cambria math" panose="02040503050406030204" pitchFamily="18" charset="0"/>
              </a:rPr>
              <a:t>⨝</a:t>
            </a:r>
            <a:r>
              <a:rPr lang="en-IN" sz="2400" b="1" i="0" dirty="0">
                <a:solidFill>
                  <a:srgbClr val="222222"/>
                </a:solidFill>
                <a:effectLst/>
                <a:latin typeface="book antiqua" panose="02040602050305030304" pitchFamily="18" charset="0"/>
              </a:rPr>
              <a:t> booking)</a:t>
            </a:r>
            <a:endParaRPr lang="en-IN" sz="2400" b="1" dirty="0"/>
          </a:p>
        </p:txBody>
      </p:sp>
    </p:spTree>
    <p:extLst>
      <p:ext uri="{BB962C8B-B14F-4D97-AF65-F5344CB8AC3E}">
        <p14:creationId xmlns:p14="http://schemas.microsoft.com/office/powerpoint/2010/main" val="27372557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A8F38-56C3-8CC3-3F03-764B20C1450B}"/>
              </a:ext>
            </a:extLst>
          </p:cNvPr>
          <p:cNvSpPr txBox="1"/>
          <p:nvPr/>
        </p:nvSpPr>
        <p:spPr>
          <a:xfrm>
            <a:off x="569542" y="3875326"/>
            <a:ext cx="10621735" cy="1954381"/>
          </a:xfrm>
          <a:prstGeom prst="rect">
            <a:avLst/>
          </a:prstGeom>
          <a:noFill/>
        </p:spPr>
        <p:txBody>
          <a:bodyPr wrap="square">
            <a:spAutoFit/>
          </a:bodyPr>
          <a:lstStyle/>
          <a:p>
            <a:pPr marL="0" marR="0" algn="just">
              <a:spcBef>
                <a:spcPts val="600"/>
              </a:spcBef>
              <a:spcAft>
                <a:spcPts val="600"/>
              </a:spcAft>
            </a:pPr>
            <a:r>
              <a:rPr lang="en-US" sz="2400" b="1" i="0" dirty="0">
                <a:solidFill>
                  <a:srgbClr val="800080"/>
                </a:solidFill>
                <a:effectLst/>
                <a:latin typeface="book antiqua" panose="02040602050305030304" pitchFamily="18" charset="0"/>
              </a:rPr>
              <a:t>e) Find the passenger names for those who do not have any bookings in any flights.</a:t>
            </a:r>
            <a:endParaRPr lang="en-US" sz="3200" b="0" i="0" dirty="0">
              <a:solidFill>
                <a:srgbClr val="222222"/>
              </a:solidFill>
              <a:effectLst/>
              <a:latin typeface="Arial" panose="020B0604020202020204" pitchFamily="34" charset="0"/>
            </a:endParaRPr>
          </a:p>
          <a:p>
            <a:br>
              <a:rPr lang="en-US" sz="3200" dirty="0"/>
            </a:br>
            <a:endParaRPr lang="en-IN" sz="3600" dirty="0"/>
          </a:p>
        </p:txBody>
      </p:sp>
      <p:sp>
        <p:nvSpPr>
          <p:cNvPr id="8" name="TextBox 7">
            <a:extLst>
              <a:ext uri="{FF2B5EF4-FFF2-40B4-BE49-F238E27FC236}">
                <a16:creationId xmlns:a16="http://schemas.microsoft.com/office/drawing/2014/main"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3988634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A8F38-56C3-8CC3-3F03-764B20C1450B}"/>
              </a:ext>
            </a:extLst>
          </p:cNvPr>
          <p:cNvSpPr txBox="1"/>
          <p:nvPr/>
        </p:nvSpPr>
        <p:spPr>
          <a:xfrm>
            <a:off x="569542" y="3875326"/>
            <a:ext cx="10621735" cy="1954381"/>
          </a:xfrm>
          <a:prstGeom prst="rect">
            <a:avLst/>
          </a:prstGeom>
          <a:noFill/>
        </p:spPr>
        <p:txBody>
          <a:bodyPr wrap="square">
            <a:spAutoFit/>
          </a:bodyPr>
          <a:lstStyle/>
          <a:p>
            <a:pPr marL="0" marR="0" algn="just">
              <a:spcBef>
                <a:spcPts val="600"/>
              </a:spcBef>
              <a:spcAft>
                <a:spcPts val="600"/>
              </a:spcAft>
            </a:pPr>
            <a:r>
              <a:rPr lang="en-US" sz="2400" b="1" i="0" dirty="0">
                <a:solidFill>
                  <a:srgbClr val="800080"/>
                </a:solidFill>
                <a:effectLst/>
                <a:latin typeface="book antiqua" panose="02040602050305030304" pitchFamily="18" charset="0"/>
              </a:rPr>
              <a:t>e) Find the passenger names for those who do not have any bookings in any flights.</a:t>
            </a:r>
            <a:endParaRPr lang="en-US" sz="3200" b="0" i="0" dirty="0">
              <a:solidFill>
                <a:srgbClr val="222222"/>
              </a:solidFill>
              <a:effectLst/>
              <a:latin typeface="Arial" panose="020B0604020202020204" pitchFamily="34" charset="0"/>
            </a:endParaRPr>
          </a:p>
          <a:p>
            <a:br>
              <a:rPr lang="en-US" sz="3200" dirty="0"/>
            </a:br>
            <a:endParaRPr lang="en-IN" sz="3600" dirty="0"/>
          </a:p>
        </p:txBody>
      </p:sp>
      <p:sp>
        <p:nvSpPr>
          <p:cNvPr id="8" name="TextBox 7">
            <a:extLst>
              <a:ext uri="{FF2B5EF4-FFF2-40B4-BE49-F238E27FC236}">
                <a16:creationId xmlns:a16="http://schemas.microsoft.com/office/drawing/2014/main"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id="{294A9E39-32C7-1236-A9BE-EDADD610A9AF}"/>
              </a:ext>
            </a:extLst>
          </p:cNvPr>
          <p:cNvSpPr txBox="1"/>
          <p:nvPr/>
        </p:nvSpPr>
        <p:spPr>
          <a:xfrm>
            <a:off x="1905000" y="5111235"/>
            <a:ext cx="8403771" cy="461665"/>
          </a:xfrm>
          <a:prstGeom prst="rect">
            <a:avLst/>
          </a:prstGeom>
          <a:noFill/>
        </p:spPr>
        <p:txBody>
          <a:bodyPr wrap="square">
            <a:spAutoFit/>
          </a:bodyPr>
          <a:lstStyle/>
          <a:p>
            <a:r>
              <a:rPr lang="el-GR" sz="2400" b="0" i="0" dirty="0">
                <a:effectLst/>
                <a:latin typeface="book antiqua" panose="02040602050305030304" pitchFamily="18" charset="0"/>
              </a:rPr>
              <a:t>Π</a:t>
            </a:r>
            <a:r>
              <a:rPr lang="el-GR" sz="2400" b="0" i="0" baseline="-25000" dirty="0">
                <a:effectLst/>
                <a:latin typeface="book antiqua" panose="02040602050305030304" pitchFamily="18" charset="0"/>
              </a:rPr>
              <a:t> </a:t>
            </a:r>
            <a:r>
              <a:rPr lang="en-IN" sz="2400" b="0" i="1" baseline="-25000" dirty="0" err="1">
                <a:effectLst/>
                <a:latin typeface="book antiqua" panose="02040602050305030304" pitchFamily="18" charset="0"/>
              </a:rPr>
              <a:t>pname</a:t>
            </a:r>
            <a:r>
              <a:rPr lang="en-IN" sz="2400" b="0" i="1" baseline="-25000" dirty="0">
                <a:effectLst/>
                <a:latin typeface="book antiqua" panose="02040602050305030304" pitchFamily="18" charset="0"/>
              </a:rPr>
              <a:t> </a:t>
            </a:r>
            <a:r>
              <a:rPr lang="en-IN" sz="2400" b="0" i="0" dirty="0">
                <a:effectLst/>
                <a:latin typeface="book antiqua" panose="02040602050305030304" pitchFamily="18" charset="0"/>
              </a:rPr>
              <a:t>((</a:t>
            </a:r>
            <a:r>
              <a:rPr lang="el-GR" sz="2400" b="0" i="0" dirty="0">
                <a:effectLst/>
                <a:latin typeface="book antiqua" panose="02040602050305030304" pitchFamily="18" charset="0"/>
              </a:rPr>
              <a:t>Π</a:t>
            </a:r>
            <a:r>
              <a:rPr lang="el-GR" sz="2400" b="0" i="1" baseline="-25000" dirty="0">
                <a:effectLst/>
                <a:latin typeface="book antiqua" panose="02040602050305030304" pitchFamily="18" charset="0"/>
              </a:rPr>
              <a:t> </a:t>
            </a:r>
            <a:r>
              <a:rPr lang="en-IN" sz="2400" b="0" i="1" baseline="-25000" dirty="0" err="1">
                <a:effectLst/>
                <a:latin typeface="book antiqua" panose="02040602050305030304" pitchFamily="18" charset="0"/>
              </a:rPr>
              <a:t>pid</a:t>
            </a:r>
            <a:r>
              <a:rPr lang="en-IN" sz="2400" b="0" i="1" baseline="-25000" dirty="0">
                <a:effectLst/>
                <a:latin typeface="book antiqua" panose="02040602050305030304" pitchFamily="18" charset="0"/>
              </a:rPr>
              <a:t> </a:t>
            </a:r>
            <a:r>
              <a:rPr lang="en-IN" sz="2400" b="0" i="0" dirty="0">
                <a:effectLst/>
                <a:latin typeface="book antiqua" panose="02040602050305030304" pitchFamily="18" charset="0"/>
              </a:rPr>
              <a:t>(passenger) - </a:t>
            </a:r>
            <a:r>
              <a:rPr lang="el-GR" sz="2400" b="0" i="0" dirty="0">
                <a:effectLst/>
                <a:latin typeface="book antiqua" panose="02040602050305030304" pitchFamily="18" charset="0"/>
              </a:rPr>
              <a:t>Π</a:t>
            </a:r>
            <a:r>
              <a:rPr lang="el-GR" sz="2400" b="0" i="1" baseline="-25000" dirty="0">
                <a:effectLst/>
                <a:latin typeface="book antiqua" panose="02040602050305030304" pitchFamily="18" charset="0"/>
              </a:rPr>
              <a:t> </a:t>
            </a:r>
            <a:r>
              <a:rPr lang="en-IN" sz="2400" b="0" i="1" baseline="-25000" dirty="0" err="1">
                <a:effectLst/>
                <a:latin typeface="book antiqua" panose="02040602050305030304" pitchFamily="18" charset="0"/>
              </a:rPr>
              <a:t>pid</a:t>
            </a:r>
            <a:r>
              <a:rPr lang="en-IN" sz="2400" b="0" i="1" baseline="-25000" dirty="0">
                <a:effectLst/>
                <a:latin typeface="book antiqua" panose="02040602050305030304" pitchFamily="18" charset="0"/>
              </a:rPr>
              <a:t> </a:t>
            </a:r>
            <a:r>
              <a:rPr lang="en-IN" sz="2400" b="0" i="0" dirty="0">
                <a:effectLst/>
                <a:latin typeface="book antiqua" panose="02040602050305030304" pitchFamily="18" charset="0"/>
              </a:rPr>
              <a:t>(booking)) </a:t>
            </a:r>
            <a:r>
              <a:rPr lang="en-IN" sz="2400" b="0" i="0" dirty="0">
                <a:effectLst/>
                <a:latin typeface="cambria math" panose="02040503050406030204" pitchFamily="18" charset="0"/>
              </a:rPr>
              <a:t>⨝</a:t>
            </a:r>
            <a:r>
              <a:rPr lang="en-IN" sz="2400" b="0" i="0" dirty="0">
                <a:effectLst/>
                <a:latin typeface="book antiqua" panose="02040602050305030304" pitchFamily="18" charset="0"/>
              </a:rPr>
              <a:t> passenger)</a:t>
            </a:r>
            <a:endParaRPr lang="en-IN" sz="2400" dirty="0"/>
          </a:p>
        </p:txBody>
      </p:sp>
    </p:spTree>
    <p:extLst>
      <p:ext uri="{BB962C8B-B14F-4D97-AF65-F5344CB8AC3E}">
        <p14:creationId xmlns:p14="http://schemas.microsoft.com/office/powerpoint/2010/main" val="3383993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A8F38-56C3-8CC3-3F03-764B20C1450B}"/>
              </a:ext>
            </a:extLst>
          </p:cNvPr>
          <p:cNvSpPr txBox="1"/>
          <p:nvPr/>
        </p:nvSpPr>
        <p:spPr>
          <a:xfrm>
            <a:off x="569542" y="3973286"/>
            <a:ext cx="10163771" cy="1384995"/>
          </a:xfrm>
          <a:prstGeom prst="rect">
            <a:avLst/>
          </a:prstGeom>
          <a:noFill/>
        </p:spPr>
        <p:txBody>
          <a:bodyPr wrap="square">
            <a:spAutoFit/>
          </a:bodyPr>
          <a:lstStyle/>
          <a:p>
            <a:pPr marL="0" marR="0" algn="ctr">
              <a:spcBef>
                <a:spcPts val="600"/>
              </a:spcBef>
              <a:spcAft>
                <a:spcPts val="600"/>
              </a:spcAft>
            </a:pPr>
            <a:r>
              <a:rPr lang="en-US" sz="2400" b="1" i="0" dirty="0">
                <a:solidFill>
                  <a:srgbClr val="800080"/>
                </a:solidFill>
                <a:effectLst/>
                <a:latin typeface="book antiqua" panose="02040602050305030304" pitchFamily="18" charset="0"/>
              </a:rPr>
              <a:t>f) Find the agency names for agencies that located in the same city as passenger with passenger id 123.</a:t>
            </a:r>
            <a:br>
              <a:rPr lang="en-US" sz="3200" dirty="0"/>
            </a:br>
            <a:endParaRPr lang="en-IN" sz="3600" dirty="0"/>
          </a:p>
        </p:txBody>
      </p:sp>
      <p:sp>
        <p:nvSpPr>
          <p:cNvPr id="8" name="TextBox 7">
            <a:extLst>
              <a:ext uri="{FF2B5EF4-FFF2-40B4-BE49-F238E27FC236}">
                <a16:creationId xmlns:a16="http://schemas.microsoft.com/office/drawing/2014/main"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34996936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A8F38-56C3-8CC3-3F03-764B20C1450B}"/>
              </a:ext>
            </a:extLst>
          </p:cNvPr>
          <p:cNvSpPr txBox="1"/>
          <p:nvPr/>
        </p:nvSpPr>
        <p:spPr>
          <a:xfrm>
            <a:off x="569542" y="3973286"/>
            <a:ext cx="10163771" cy="1384995"/>
          </a:xfrm>
          <a:prstGeom prst="rect">
            <a:avLst/>
          </a:prstGeom>
          <a:noFill/>
        </p:spPr>
        <p:txBody>
          <a:bodyPr wrap="square">
            <a:spAutoFit/>
          </a:bodyPr>
          <a:lstStyle/>
          <a:p>
            <a:pPr marL="0" marR="0" algn="ctr">
              <a:spcBef>
                <a:spcPts val="600"/>
              </a:spcBef>
              <a:spcAft>
                <a:spcPts val="600"/>
              </a:spcAft>
            </a:pPr>
            <a:r>
              <a:rPr lang="en-US" sz="2400" b="1" i="0" dirty="0">
                <a:solidFill>
                  <a:srgbClr val="800080"/>
                </a:solidFill>
                <a:effectLst/>
                <a:latin typeface="book antiqua" panose="02040602050305030304" pitchFamily="18" charset="0"/>
              </a:rPr>
              <a:t>f) Find the agency names for agencies that located in the same city as passenger with passenger id 123.</a:t>
            </a:r>
            <a:br>
              <a:rPr lang="en-US" sz="3200" dirty="0"/>
            </a:br>
            <a:endParaRPr lang="en-IN" sz="3600" dirty="0"/>
          </a:p>
        </p:txBody>
      </p:sp>
      <p:sp>
        <p:nvSpPr>
          <p:cNvPr id="8" name="TextBox 7">
            <a:extLst>
              <a:ext uri="{FF2B5EF4-FFF2-40B4-BE49-F238E27FC236}">
                <a16:creationId xmlns:a16="http://schemas.microsoft.com/office/drawing/2014/main"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id="{DD474691-13C7-F598-DD72-7EBE92C5C668}"/>
              </a:ext>
            </a:extLst>
          </p:cNvPr>
          <p:cNvSpPr txBox="1"/>
          <p:nvPr/>
        </p:nvSpPr>
        <p:spPr>
          <a:xfrm>
            <a:off x="2951157" y="4988949"/>
            <a:ext cx="7074585" cy="461665"/>
          </a:xfrm>
          <a:prstGeom prst="rect">
            <a:avLst/>
          </a:prstGeom>
          <a:noFill/>
        </p:spPr>
        <p:txBody>
          <a:bodyPr wrap="square">
            <a:spAutoFit/>
          </a:bodyPr>
          <a:lstStyle/>
          <a:p>
            <a:r>
              <a:rPr lang="en-US" sz="2400" b="0" i="0" dirty="0">
                <a:effectLst/>
                <a:latin typeface="book antiqua" panose="02040602050305030304" pitchFamily="18" charset="0"/>
              </a:rPr>
              <a:t>Π</a:t>
            </a:r>
            <a:r>
              <a:rPr lang="en-US" sz="2400" b="0" i="1" baseline="-25000" dirty="0">
                <a:effectLst/>
                <a:latin typeface="book antiqua" panose="02040602050305030304" pitchFamily="18" charset="0"/>
              </a:rPr>
              <a:t> </a:t>
            </a:r>
            <a:r>
              <a:rPr lang="en-US" sz="2400" b="0" i="1" baseline="-25000" dirty="0" err="1">
                <a:effectLst/>
                <a:latin typeface="book antiqua" panose="02040602050305030304" pitchFamily="18" charset="0"/>
              </a:rPr>
              <a:t>aname</a:t>
            </a:r>
            <a:r>
              <a:rPr lang="en-US" sz="2400" b="0" i="1" baseline="-25000" dirty="0">
                <a:effectLst/>
                <a:latin typeface="book antiqua" panose="02040602050305030304" pitchFamily="18" charset="0"/>
              </a:rPr>
              <a:t> </a:t>
            </a:r>
            <a:r>
              <a:rPr lang="en-US" sz="2400" b="0" i="0" dirty="0">
                <a:effectLst/>
                <a:latin typeface="book antiqua" panose="02040602050305030304" pitchFamily="18" charset="0"/>
              </a:rPr>
              <a:t>(agency </a:t>
            </a:r>
            <a:r>
              <a:rPr lang="en-US" sz="2400" b="0" i="0" dirty="0">
                <a:effectLst/>
                <a:latin typeface="cambria math" panose="02040503050406030204" pitchFamily="18" charset="0"/>
              </a:rPr>
              <a:t>⨝</a:t>
            </a:r>
            <a:r>
              <a:rPr lang="en-US" sz="2400" b="0" i="1" baseline="-25000" dirty="0">
                <a:effectLst/>
                <a:latin typeface="book antiqua" panose="02040602050305030304" pitchFamily="18" charset="0"/>
              </a:rPr>
              <a:t> </a:t>
            </a:r>
            <a:r>
              <a:rPr lang="en-US" sz="2400" b="0" i="1" baseline="-25000" dirty="0" err="1">
                <a:effectLst/>
                <a:latin typeface="book antiqua" panose="02040602050305030304" pitchFamily="18" charset="0"/>
              </a:rPr>
              <a:t>acity</a:t>
            </a:r>
            <a:r>
              <a:rPr lang="en-US" sz="2400" b="0" i="1" baseline="-25000" dirty="0">
                <a:effectLst/>
                <a:latin typeface="book antiqua" panose="02040602050305030304" pitchFamily="18" charset="0"/>
              </a:rPr>
              <a:t> = </a:t>
            </a:r>
            <a:r>
              <a:rPr lang="en-US" sz="2400" b="0" i="1" baseline="-25000" dirty="0" err="1">
                <a:effectLst/>
                <a:latin typeface="book antiqua" panose="02040602050305030304" pitchFamily="18" charset="0"/>
              </a:rPr>
              <a:t>pcity</a:t>
            </a:r>
            <a:r>
              <a:rPr lang="en-US" sz="2400" b="0" i="1" baseline="-25000" dirty="0">
                <a:effectLst/>
                <a:latin typeface="book antiqua" panose="02040602050305030304" pitchFamily="18" charset="0"/>
              </a:rPr>
              <a:t> </a:t>
            </a:r>
            <a:r>
              <a:rPr lang="en-US" sz="2400" b="0" i="0" dirty="0">
                <a:effectLst/>
                <a:latin typeface="book antiqua" panose="02040602050305030304" pitchFamily="18" charset="0"/>
              </a:rPr>
              <a:t>(σ</a:t>
            </a:r>
            <a:r>
              <a:rPr lang="en-US" sz="2400" b="0" i="1" baseline="-25000" dirty="0">
                <a:effectLst/>
                <a:latin typeface="book antiqua" panose="02040602050305030304" pitchFamily="18" charset="0"/>
              </a:rPr>
              <a:t> </a:t>
            </a:r>
            <a:r>
              <a:rPr lang="en-US" sz="2400" b="0" i="1" baseline="-25000" dirty="0" err="1">
                <a:effectLst/>
                <a:latin typeface="book antiqua" panose="02040602050305030304" pitchFamily="18" charset="0"/>
              </a:rPr>
              <a:t>pid</a:t>
            </a:r>
            <a:r>
              <a:rPr lang="en-US" sz="2400" b="0" i="1" baseline="-25000" dirty="0">
                <a:effectLst/>
                <a:latin typeface="book antiqua" panose="02040602050305030304" pitchFamily="18" charset="0"/>
              </a:rPr>
              <a:t> = 123 </a:t>
            </a:r>
            <a:r>
              <a:rPr lang="en-US" sz="2400" b="0" i="0" dirty="0">
                <a:effectLst/>
                <a:latin typeface="book antiqua" panose="02040602050305030304" pitchFamily="18" charset="0"/>
              </a:rPr>
              <a:t>(passenger)))</a:t>
            </a:r>
            <a:endParaRPr lang="en-IN" sz="2400" dirty="0"/>
          </a:p>
        </p:txBody>
      </p:sp>
    </p:spTree>
    <p:extLst>
      <p:ext uri="{BB962C8B-B14F-4D97-AF65-F5344CB8AC3E}">
        <p14:creationId xmlns:p14="http://schemas.microsoft.com/office/powerpoint/2010/main" val="20183255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A8F38-56C3-8CC3-3F03-764B20C1450B}"/>
              </a:ext>
            </a:extLst>
          </p:cNvPr>
          <p:cNvSpPr txBox="1"/>
          <p:nvPr/>
        </p:nvSpPr>
        <p:spPr>
          <a:xfrm>
            <a:off x="569542" y="3973286"/>
            <a:ext cx="10163771" cy="830997"/>
          </a:xfrm>
          <a:prstGeom prst="rect">
            <a:avLst/>
          </a:prstGeom>
          <a:noFill/>
        </p:spPr>
        <p:txBody>
          <a:bodyPr wrap="square">
            <a:spAutoFit/>
          </a:bodyPr>
          <a:lstStyle/>
          <a:p>
            <a:pPr marL="0" marR="0" algn="ctr">
              <a:spcBef>
                <a:spcPts val="600"/>
              </a:spcBef>
              <a:spcAft>
                <a:spcPts val="600"/>
              </a:spcAft>
            </a:pPr>
            <a:r>
              <a:rPr lang="en-US" sz="2400" b="1" i="0" dirty="0">
                <a:solidFill>
                  <a:srgbClr val="800080"/>
                </a:solidFill>
                <a:effectLst/>
                <a:latin typeface="book antiqua" panose="02040602050305030304" pitchFamily="18" charset="0"/>
              </a:rPr>
              <a:t>g) Get the details of flights that are scheduled on both dates 01/12/2020 and 02/12/2020 at 16:00 hours.</a:t>
            </a:r>
            <a:endParaRPr lang="en-IN" sz="3600" dirty="0"/>
          </a:p>
        </p:txBody>
      </p:sp>
      <p:sp>
        <p:nvSpPr>
          <p:cNvPr id="8" name="TextBox 7">
            <a:extLst>
              <a:ext uri="{FF2B5EF4-FFF2-40B4-BE49-F238E27FC236}">
                <a16:creationId xmlns:a16="http://schemas.microsoft.com/office/drawing/2014/main"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29589064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A8F38-56C3-8CC3-3F03-764B20C1450B}"/>
              </a:ext>
            </a:extLst>
          </p:cNvPr>
          <p:cNvSpPr txBox="1"/>
          <p:nvPr/>
        </p:nvSpPr>
        <p:spPr>
          <a:xfrm>
            <a:off x="569542" y="3973286"/>
            <a:ext cx="10163771" cy="830997"/>
          </a:xfrm>
          <a:prstGeom prst="rect">
            <a:avLst/>
          </a:prstGeom>
          <a:noFill/>
        </p:spPr>
        <p:txBody>
          <a:bodyPr wrap="square">
            <a:spAutoFit/>
          </a:bodyPr>
          <a:lstStyle/>
          <a:p>
            <a:pPr marL="0" marR="0" algn="ctr">
              <a:spcBef>
                <a:spcPts val="600"/>
              </a:spcBef>
              <a:spcAft>
                <a:spcPts val="600"/>
              </a:spcAft>
            </a:pPr>
            <a:r>
              <a:rPr lang="en-US" sz="2400" b="1" i="0" dirty="0">
                <a:solidFill>
                  <a:srgbClr val="800080"/>
                </a:solidFill>
                <a:effectLst/>
                <a:latin typeface="book antiqua" panose="02040602050305030304" pitchFamily="18" charset="0"/>
              </a:rPr>
              <a:t>g) Get the details of flights that are scheduled on both dates 01/12/2020 and 02/12/2020 at 16:00 hours.</a:t>
            </a:r>
            <a:endParaRPr lang="en-IN" sz="3600" dirty="0"/>
          </a:p>
        </p:txBody>
      </p:sp>
      <p:sp>
        <p:nvSpPr>
          <p:cNvPr id="8" name="TextBox 7">
            <a:extLst>
              <a:ext uri="{FF2B5EF4-FFF2-40B4-BE49-F238E27FC236}">
                <a16:creationId xmlns:a16="http://schemas.microsoft.com/office/drawing/2014/main"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id="{9BF6C7F0-8CA2-BD4F-E2F3-155EE065F15D}"/>
              </a:ext>
            </a:extLst>
          </p:cNvPr>
          <p:cNvSpPr txBox="1"/>
          <p:nvPr/>
        </p:nvSpPr>
        <p:spPr>
          <a:xfrm>
            <a:off x="1034143" y="5125135"/>
            <a:ext cx="10896600" cy="523220"/>
          </a:xfrm>
          <a:prstGeom prst="rect">
            <a:avLst/>
          </a:prstGeom>
          <a:noFill/>
        </p:spPr>
        <p:txBody>
          <a:bodyPr wrap="square">
            <a:spAutoFit/>
          </a:bodyPr>
          <a:lstStyle/>
          <a:p>
            <a:r>
              <a:rPr lang="en-US" sz="2800" b="0" i="0" dirty="0">
                <a:effectLst/>
                <a:latin typeface="book antiqua" panose="02040602050305030304" pitchFamily="18" charset="0"/>
              </a:rPr>
              <a:t>(σ</a:t>
            </a:r>
            <a:r>
              <a:rPr lang="en-US" sz="2800" b="0" i="1" baseline="-25000" dirty="0">
                <a:effectLst/>
                <a:latin typeface="book antiqua" panose="02040602050305030304" pitchFamily="18" charset="0"/>
              </a:rPr>
              <a:t> </a:t>
            </a:r>
            <a:r>
              <a:rPr lang="en-US" sz="2800" b="0" i="1" baseline="-25000" dirty="0" err="1">
                <a:effectLst/>
                <a:latin typeface="book antiqua" panose="02040602050305030304" pitchFamily="18" charset="0"/>
              </a:rPr>
              <a:t>fdate</a:t>
            </a:r>
            <a:r>
              <a:rPr lang="en-US" sz="2800" b="0" i="1" baseline="-25000" dirty="0">
                <a:effectLst/>
                <a:latin typeface="book antiqua" panose="02040602050305030304" pitchFamily="18" charset="0"/>
              </a:rPr>
              <a:t> = 01/12/2020 ^ time = 16:00 </a:t>
            </a:r>
            <a:r>
              <a:rPr lang="en-US" sz="2800" b="0" i="0" dirty="0">
                <a:effectLst/>
                <a:latin typeface="book antiqua" panose="02040602050305030304" pitchFamily="18" charset="0"/>
              </a:rPr>
              <a:t>(flight)) </a:t>
            </a:r>
            <a:r>
              <a:rPr lang="en-US" sz="2800" b="0" i="0" dirty="0">
                <a:effectLst/>
                <a:latin typeface="Arial" panose="020B0604020202020204" pitchFamily="34" charset="0"/>
              </a:rPr>
              <a:t>∩</a:t>
            </a:r>
            <a:r>
              <a:rPr lang="en-US" sz="2800" b="0" i="0" dirty="0">
                <a:effectLst/>
                <a:latin typeface="book antiqua" panose="02040602050305030304" pitchFamily="18" charset="0"/>
              </a:rPr>
              <a:t> (σ</a:t>
            </a:r>
            <a:r>
              <a:rPr lang="en-US" sz="2800" b="0" i="1" baseline="-25000" dirty="0">
                <a:effectLst/>
                <a:latin typeface="book antiqua" panose="02040602050305030304" pitchFamily="18" charset="0"/>
              </a:rPr>
              <a:t> </a:t>
            </a:r>
            <a:r>
              <a:rPr lang="en-US" sz="2800" b="0" i="1" baseline="-25000" dirty="0" err="1">
                <a:effectLst/>
                <a:latin typeface="book antiqua" panose="02040602050305030304" pitchFamily="18" charset="0"/>
              </a:rPr>
              <a:t>fdate</a:t>
            </a:r>
            <a:r>
              <a:rPr lang="en-US" sz="2800" b="0" i="1" baseline="-25000" dirty="0">
                <a:effectLst/>
                <a:latin typeface="book antiqua" panose="02040602050305030304" pitchFamily="18" charset="0"/>
              </a:rPr>
              <a:t> = 02/12/2020 ^ time = 16:00 </a:t>
            </a:r>
            <a:r>
              <a:rPr lang="en-US" sz="2800" b="0" i="0" dirty="0">
                <a:effectLst/>
                <a:latin typeface="book antiqua" panose="02040602050305030304" pitchFamily="18" charset="0"/>
              </a:rPr>
              <a:t>(flight))</a:t>
            </a:r>
            <a:endParaRPr lang="en-IN" sz="2800" dirty="0"/>
          </a:p>
        </p:txBody>
      </p:sp>
    </p:spTree>
    <p:extLst>
      <p:ext uri="{BB962C8B-B14F-4D97-AF65-F5344CB8AC3E}">
        <p14:creationId xmlns:p14="http://schemas.microsoft.com/office/powerpoint/2010/main" val="42883553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A8F38-56C3-8CC3-3F03-764B20C1450B}"/>
              </a:ext>
            </a:extLst>
          </p:cNvPr>
          <p:cNvSpPr txBox="1"/>
          <p:nvPr/>
        </p:nvSpPr>
        <p:spPr>
          <a:xfrm>
            <a:off x="569542" y="3973286"/>
            <a:ext cx="10163771" cy="830997"/>
          </a:xfrm>
          <a:prstGeom prst="rect">
            <a:avLst/>
          </a:prstGeom>
          <a:noFill/>
        </p:spPr>
        <p:txBody>
          <a:bodyPr wrap="square">
            <a:spAutoFit/>
          </a:bodyPr>
          <a:lstStyle/>
          <a:p>
            <a:pPr marL="0" marR="0" algn="ctr">
              <a:spcBef>
                <a:spcPts val="600"/>
              </a:spcBef>
              <a:spcAft>
                <a:spcPts val="600"/>
              </a:spcAft>
            </a:pPr>
            <a:r>
              <a:rPr lang="en-US" sz="2400" b="1" i="0" dirty="0">
                <a:solidFill>
                  <a:srgbClr val="800080"/>
                </a:solidFill>
                <a:effectLst/>
                <a:latin typeface="book antiqua" panose="02040602050305030304" pitchFamily="18" charset="0"/>
              </a:rPr>
              <a:t>h) Get the details of flights that are scheduled on either of the dates 01/12/2020 or 02/12/2020 or both at 16:00 hours.</a:t>
            </a:r>
            <a:endParaRPr lang="en-IN" sz="3600" dirty="0"/>
          </a:p>
        </p:txBody>
      </p:sp>
      <p:sp>
        <p:nvSpPr>
          <p:cNvPr id="8" name="TextBox 7">
            <a:extLst>
              <a:ext uri="{FF2B5EF4-FFF2-40B4-BE49-F238E27FC236}">
                <a16:creationId xmlns:a16="http://schemas.microsoft.com/office/drawing/2014/main"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1653321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A8F38-56C3-8CC3-3F03-764B20C1450B}"/>
              </a:ext>
            </a:extLst>
          </p:cNvPr>
          <p:cNvSpPr txBox="1"/>
          <p:nvPr/>
        </p:nvSpPr>
        <p:spPr>
          <a:xfrm>
            <a:off x="569542" y="3973286"/>
            <a:ext cx="10163771" cy="830997"/>
          </a:xfrm>
          <a:prstGeom prst="rect">
            <a:avLst/>
          </a:prstGeom>
          <a:noFill/>
        </p:spPr>
        <p:txBody>
          <a:bodyPr wrap="square">
            <a:spAutoFit/>
          </a:bodyPr>
          <a:lstStyle/>
          <a:p>
            <a:pPr marL="0" marR="0" algn="ctr">
              <a:spcBef>
                <a:spcPts val="600"/>
              </a:spcBef>
              <a:spcAft>
                <a:spcPts val="600"/>
              </a:spcAft>
            </a:pPr>
            <a:r>
              <a:rPr lang="en-US" sz="2400" b="1" i="0" dirty="0">
                <a:solidFill>
                  <a:srgbClr val="800080"/>
                </a:solidFill>
                <a:effectLst/>
                <a:latin typeface="book antiqua" panose="02040602050305030304" pitchFamily="18" charset="0"/>
              </a:rPr>
              <a:t>h) Get the details of flights that are scheduled on either of the dates 01/12/2020 or 02/12/2020 or both at 16:00 hours.</a:t>
            </a:r>
            <a:endParaRPr lang="en-IN" sz="3600" dirty="0"/>
          </a:p>
        </p:txBody>
      </p:sp>
      <p:sp>
        <p:nvSpPr>
          <p:cNvPr id="8" name="TextBox 7">
            <a:extLst>
              <a:ext uri="{FF2B5EF4-FFF2-40B4-BE49-F238E27FC236}">
                <a16:creationId xmlns:a16="http://schemas.microsoft.com/office/drawing/2014/main"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id="{46F1B93A-1AFC-F6A0-D9BE-12C3332523C6}"/>
              </a:ext>
            </a:extLst>
          </p:cNvPr>
          <p:cNvSpPr txBox="1"/>
          <p:nvPr/>
        </p:nvSpPr>
        <p:spPr>
          <a:xfrm>
            <a:off x="664029" y="5070706"/>
            <a:ext cx="11059885" cy="523220"/>
          </a:xfrm>
          <a:prstGeom prst="rect">
            <a:avLst/>
          </a:prstGeom>
          <a:noFill/>
        </p:spPr>
        <p:txBody>
          <a:bodyPr wrap="square">
            <a:spAutoFit/>
          </a:bodyPr>
          <a:lstStyle/>
          <a:p>
            <a:r>
              <a:rPr lang="en-US" sz="2800" b="0" i="0" dirty="0">
                <a:solidFill>
                  <a:srgbClr val="222222"/>
                </a:solidFill>
                <a:effectLst/>
                <a:latin typeface="book antiqua" panose="02040602050305030304" pitchFamily="18" charset="0"/>
              </a:rPr>
              <a:t>(σ</a:t>
            </a:r>
            <a:r>
              <a:rPr lang="en-US" sz="2800" b="0" i="1" baseline="-25000" dirty="0">
                <a:solidFill>
                  <a:srgbClr val="222222"/>
                </a:solidFill>
                <a:effectLst/>
                <a:latin typeface="book antiqua" panose="02040602050305030304" pitchFamily="18" charset="0"/>
              </a:rPr>
              <a:t> </a:t>
            </a:r>
            <a:r>
              <a:rPr lang="en-US" sz="2800" b="0" i="1" baseline="-25000" dirty="0" err="1">
                <a:solidFill>
                  <a:srgbClr val="222222"/>
                </a:solidFill>
                <a:effectLst/>
                <a:latin typeface="book antiqua" panose="02040602050305030304" pitchFamily="18" charset="0"/>
              </a:rPr>
              <a:t>fdate</a:t>
            </a:r>
            <a:r>
              <a:rPr lang="en-US" sz="2800" b="0" i="1" baseline="-25000" dirty="0">
                <a:solidFill>
                  <a:srgbClr val="222222"/>
                </a:solidFill>
                <a:effectLst/>
                <a:latin typeface="book antiqua" panose="02040602050305030304" pitchFamily="18" charset="0"/>
              </a:rPr>
              <a:t> = 01/12/2020 ^ time = 16:00 </a:t>
            </a:r>
            <a:r>
              <a:rPr lang="en-US" sz="2800" b="0" i="0" dirty="0">
                <a:solidFill>
                  <a:srgbClr val="222222"/>
                </a:solidFill>
                <a:effectLst/>
                <a:latin typeface="book antiqua" panose="02040602050305030304" pitchFamily="18" charset="0"/>
              </a:rPr>
              <a:t>(flight)) </a:t>
            </a:r>
            <a:r>
              <a:rPr lang="en-US" sz="2800" b="0" i="0" dirty="0">
                <a:solidFill>
                  <a:srgbClr val="222222"/>
                </a:solidFill>
                <a:effectLst/>
                <a:latin typeface="Arial" panose="020B0604020202020204" pitchFamily="34" charset="0"/>
              </a:rPr>
              <a:t>∪</a:t>
            </a:r>
            <a:r>
              <a:rPr lang="en-US" sz="2800" b="0" i="0" dirty="0">
                <a:solidFill>
                  <a:srgbClr val="222222"/>
                </a:solidFill>
                <a:effectLst/>
                <a:latin typeface="book antiqua" panose="02040602050305030304" pitchFamily="18" charset="0"/>
              </a:rPr>
              <a:t> (σ</a:t>
            </a:r>
            <a:r>
              <a:rPr lang="en-US" sz="2800" b="0" i="1" baseline="-25000" dirty="0">
                <a:solidFill>
                  <a:srgbClr val="222222"/>
                </a:solidFill>
                <a:effectLst/>
                <a:latin typeface="book antiqua" panose="02040602050305030304" pitchFamily="18" charset="0"/>
              </a:rPr>
              <a:t> </a:t>
            </a:r>
            <a:r>
              <a:rPr lang="en-US" sz="2800" b="0" i="1" baseline="-25000" dirty="0" err="1">
                <a:solidFill>
                  <a:srgbClr val="222222"/>
                </a:solidFill>
                <a:effectLst/>
                <a:latin typeface="book antiqua" panose="02040602050305030304" pitchFamily="18" charset="0"/>
              </a:rPr>
              <a:t>fdate</a:t>
            </a:r>
            <a:r>
              <a:rPr lang="en-US" sz="2800" b="0" i="1" baseline="-25000" dirty="0">
                <a:solidFill>
                  <a:srgbClr val="222222"/>
                </a:solidFill>
                <a:effectLst/>
                <a:latin typeface="book antiqua" panose="02040602050305030304" pitchFamily="18" charset="0"/>
              </a:rPr>
              <a:t> = 02/12/2020 ^ time = 16:00 </a:t>
            </a:r>
            <a:r>
              <a:rPr lang="en-US" sz="2800" b="0" i="0" dirty="0">
                <a:solidFill>
                  <a:srgbClr val="222222"/>
                </a:solidFill>
                <a:effectLst/>
                <a:latin typeface="book antiqua" panose="02040602050305030304" pitchFamily="18" charset="0"/>
              </a:rPr>
              <a:t>(flight))</a:t>
            </a:r>
            <a:endParaRPr lang="en-IN" sz="2800" dirty="0"/>
          </a:p>
        </p:txBody>
      </p:sp>
    </p:spTree>
    <p:extLst>
      <p:ext uri="{BB962C8B-B14F-4D97-AF65-F5344CB8AC3E}">
        <p14:creationId xmlns:p14="http://schemas.microsoft.com/office/powerpoint/2010/main" val="16647752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A8F38-56C3-8CC3-3F03-764B20C1450B}"/>
              </a:ext>
            </a:extLst>
          </p:cNvPr>
          <p:cNvSpPr txBox="1"/>
          <p:nvPr/>
        </p:nvSpPr>
        <p:spPr>
          <a:xfrm>
            <a:off x="569542" y="3973286"/>
            <a:ext cx="10163771" cy="830997"/>
          </a:xfrm>
          <a:prstGeom prst="rect">
            <a:avLst/>
          </a:prstGeom>
          <a:noFill/>
        </p:spPr>
        <p:txBody>
          <a:bodyPr wrap="square">
            <a:spAutoFit/>
          </a:bodyPr>
          <a:lstStyle/>
          <a:p>
            <a:pPr marL="0" marR="0" algn="ctr">
              <a:spcBef>
                <a:spcPts val="600"/>
              </a:spcBef>
              <a:spcAft>
                <a:spcPts val="600"/>
              </a:spcAft>
            </a:pPr>
            <a:r>
              <a:rPr lang="en-US" sz="2400" b="1" i="0">
                <a:solidFill>
                  <a:srgbClr val="800080"/>
                </a:solidFill>
                <a:effectLst/>
                <a:latin typeface="book antiqua" panose="02040602050305030304" pitchFamily="18" charset="0"/>
              </a:rPr>
              <a:t>i) Find the agency names for agencies who do not have any bookings for passenger with id 123.</a:t>
            </a:r>
            <a:endParaRPr lang="en-IN" sz="4400" dirty="0"/>
          </a:p>
        </p:txBody>
      </p:sp>
      <p:sp>
        <p:nvSpPr>
          <p:cNvPr id="8" name="TextBox 7">
            <a:extLst>
              <a:ext uri="{FF2B5EF4-FFF2-40B4-BE49-F238E27FC236}">
                <a16:creationId xmlns:a16="http://schemas.microsoft.com/office/drawing/2014/main"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41949551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A8F38-56C3-8CC3-3F03-764B20C1450B}"/>
              </a:ext>
            </a:extLst>
          </p:cNvPr>
          <p:cNvSpPr txBox="1"/>
          <p:nvPr/>
        </p:nvSpPr>
        <p:spPr>
          <a:xfrm>
            <a:off x="569542" y="3973286"/>
            <a:ext cx="10163771" cy="830997"/>
          </a:xfrm>
          <a:prstGeom prst="rect">
            <a:avLst/>
          </a:prstGeom>
          <a:noFill/>
        </p:spPr>
        <p:txBody>
          <a:bodyPr wrap="square">
            <a:spAutoFit/>
          </a:bodyPr>
          <a:lstStyle/>
          <a:p>
            <a:pPr marL="0" marR="0" algn="ctr">
              <a:spcBef>
                <a:spcPts val="600"/>
              </a:spcBef>
              <a:spcAft>
                <a:spcPts val="600"/>
              </a:spcAft>
            </a:pPr>
            <a:r>
              <a:rPr lang="en-US" sz="2400" b="1" i="0">
                <a:solidFill>
                  <a:srgbClr val="800080"/>
                </a:solidFill>
                <a:effectLst/>
                <a:latin typeface="book antiqua" panose="02040602050305030304" pitchFamily="18" charset="0"/>
              </a:rPr>
              <a:t>i) Find the agency names for agencies who do not have any bookings for passenger with id 123.</a:t>
            </a:r>
            <a:endParaRPr lang="en-IN" sz="4400" dirty="0"/>
          </a:p>
        </p:txBody>
      </p:sp>
      <p:sp>
        <p:nvSpPr>
          <p:cNvPr id="8" name="TextBox 7">
            <a:extLst>
              <a:ext uri="{FF2B5EF4-FFF2-40B4-BE49-F238E27FC236}">
                <a16:creationId xmlns:a16="http://schemas.microsoft.com/office/drawing/2014/main"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5" name="TextBox 4">
            <a:extLst>
              <a:ext uri="{FF2B5EF4-FFF2-40B4-BE49-F238E27FC236}">
                <a16:creationId xmlns:a16="http://schemas.microsoft.com/office/drawing/2014/main" id="{8B92A27C-A7A6-03CC-0E98-02DCA0C684A7}"/>
              </a:ext>
            </a:extLst>
          </p:cNvPr>
          <p:cNvSpPr txBox="1"/>
          <p:nvPr/>
        </p:nvSpPr>
        <p:spPr>
          <a:xfrm>
            <a:off x="1990493" y="5112538"/>
            <a:ext cx="9189136" cy="461665"/>
          </a:xfrm>
          <a:prstGeom prst="rect">
            <a:avLst/>
          </a:prstGeom>
          <a:noFill/>
        </p:spPr>
        <p:txBody>
          <a:bodyPr wrap="square">
            <a:spAutoFit/>
          </a:bodyPr>
          <a:lstStyle/>
          <a:p>
            <a:r>
              <a:rPr lang="en-US" sz="2400" b="0" i="0" dirty="0">
                <a:effectLst/>
                <a:latin typeface="book antiqua" panose="02040602050305030304" pitchFamily="18" charset="0"/>
              </a:rPr>
              <a:t>Π</a:t>
            </a:r>
            <a:r>
              <a:rPr lang="en-US" sz="2400" b="0" i="1" baseline="-25000" dirty="0">
                <a:effectLst/>
                <a:latin typeface="book antiqua" panose="02040602050305030304" pitchFamily="18" charset="0"/>
              </a:rPr>
              <a:t> </a:t>
            </a:r>
            <a:r>
              <a:rPr lang="en-US" sz="2400" b="0" i="1" baseline="-25000" dirty="0" err="1">
                <a:effectLst/>
                <a:latin typeface="book antiqua" panose="02040602050305030304" pitchFamily="18" charset="0"/>
              </a:rPr>
              <a:t>aname</a:t>
            </a:r>
            <a:r>
              <a:rPr lang="en-US" sz="2400" b="0" i="1" baseline="-25000" dirty="0">
                <a:effectLst/>
                <a:latin typeface="book antiqua" panose="02040602050305030304" pitchFamily="18" charset="0"/>
              </a:rPr>
              <a:t> </a:t>
            </a:r>
            <a:r>
              <a:rPr lang="en-US" sz="2400" b="0" i="0" dirty="0">
                <a:effectLst/>
                <a:latin typeface="book antiqua" panose="02040602050305030304" pitchFamily="18" charset="0"/>
              </a:rPr>
              <a:t>(agency </a:t>
            </a:r>
            <a:r>
              <a:rPr lang="en-US" sz="2400" b="0" i="0" dirty="0">
                <a:effectLst/>
                <a:latin typeface="cambria math" panose="02040503050406030204" pitchFamily="18" charset="0"/>
              </a:rPr>
              <a:t>⨝</a:t>
            </a:r>
            <a:r>
              <a:rPr lang="en-US" sz="2400" b="0" i="0" dirty="0">
                <a:effectLst/>
                <a:latin typeface="book antiqua" panose="02040602050305030304" pitchFamily="18" charset="0"/>
              </a:rPr>
              <a:t> (Π</a:t>
            </a:r>
            <a:r>
              <a:rPr lang="en-US" sz="2400" b="0" i="0" baseline="-25000" dirty="0">
                <a:effectLst/>
                <a:latin typeface="book antiqua" panose="02040602050305030304" pitchFamily="18" charset="0"/>
              </a:rPr>
              <a:t> aid </a:t>
            </a:r>
            <a:r>
              <a:rPr lang="en-US" sz="2400" b="0" i="0" dirty="0">
                <a:effectLst/>
                <a:latin typeface="book antiqua" panose="02040602050305030304" pitchFamily="18" charset="0"/>
              </a:rPr>
              <a:t>(agency) – Π</a:t>
            </a:r>
            <a:r>
              <a:rPr lang="en-US" sz="2400" b="0" i="0" baseline="-25000" dirty="0">
                <a:effectLst/>
                <a:latin typeface="book antiqua" panose="02040602050305030304" pitchFamily="18" charset="0"/>
              </a:rPr>
              <a:t> aid </a:t>
            </a:r>
            <a:r>
              <a:rPr lang="en-US" sz="2400" b="0" i="0" dirty="0">
                <a:effectLst/>
                <a:latin typeface="book antiqua" panose="02040602050305030304" pitchFamily="18" charset="0"/>
              </a:rPr>
              <a:t>(σ</a:t>
            </a:r>
            <a:r>
              <a:rPr lang="en-US" sz="2400" b="0" i="1" baseline="-25000" dirty="0">
                <a:effectLst/>
                <a:latin typeface="book antiqua" panose="02040602050305030304" pitchFamily="18" charset="0"/>
              </a:rPr>
              <a:t> </a:t>
            </a:r>
            <a:r>
              <a:rPr lang="en-US" sz="2400" b="0" i="1" baseline="-25000" dirty="0" err="1">
                <a:effectLst/>
                <a:latin typeface="book antiqua" panose="02040602050305030304" pitchFamily="18" charset="0"/>
              </a:rPr>
              <a:t>pid</a:t>
            </a:r>
            <a:r>
              <a:rPr lang="en-US" sz="2400" b="0" i="1" baseline="-25000" dirty="0">
                <a:effectLst/>
                <a:latin typeface="book antiqua" panose="02040602050305030304" pitchFamily="18" charset="0"/>
              </a:rPr>
              <a:t> = 123 </a:t>
            </a:r>
            <a:r>
              <a:rPr lang="en-US" sz="2400" b="0" i="0" dirty="0">
                <a:effectLst/>
                <a:latin typeface="book antiqua" panose="02040602050305030304" pitchFamily="18" charset="0"/>
              </a:rPr>
              <a:t>(booking)))</a:t>
            </a:r>
            <a:endParaRPr lang="en-IN" sz="2400" dirty="0"/>
          </a:p>
        </p:txBody>
      </p:sp>
    </p:spTree>
    <p:extLst>
      <p:ext uri="{BB962C8B-B14F-4D97-AF65-F5344CB8AC3E}">
        <p14:creationId xmlns:p14="http://schemas.microsoft.com/office/powerpoint/2010/main" val="7579491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A8F38-56C3-8CC3-3F03-764B20C1450B}"/>
              </a:ext>
            </a:extLst>
          </p:cNvPr>
          <p:cNvSpPr txBox="1"/>
          <p:nvPr/>
        </p:nvSpPr>
        <p:spPr>
          <a:xfrm>
            <a:off x="569542" y="3973286"/>
            <a:ext cx="10163771" cy="830997"/>
          </a:xfrm>
          <a:prstGeom prst="rect">
            <a:avLst/>
          </a:prstGeom>
          <a:noFill/>
        </p:spPr>
        <p:txBody>
          <a:bodyPr wrap="square">
            <a:spAutoFit/>
          </a:bodyPr>
          <a:lstStyle/>
          <a:p>
            <a:pPr marL="0" marR="0" algn="ctr">
              <a:spcBef>
                <a:spcPts val="600"/>
              </a:spcBef>
              <a:spcAft>
                <a:spcPts val="600"/>
              </a:spcAft>
            </a:pPr>
            <a:r>
              <a:rPr lang="en-US" sz="2400" b="1" i="0">
                <a:solidFill>
                  <a:srgbClr val="800080"/>
                </a:solidFill>
                <a:effectLst/>
                <a:latin typeface="book antiqua" panose="02040602050305030304" pitchFamily="18" charset="0"/>
              </a:rPr>
              <a:t>j) Find the details of all male passengers who are associated with Jet agency.</a:t>
            </a:r>
            <a:endParaRPr lang="en-IN" sz="5400" dirty="0"/>
          </a:p>
        </p:txBody>
      </p:sp>
      <p:sp>
        <p:nvSpPr>
          <p:cNvPr id="8" name="TextBox 7">
            <a:extLst>
              <a:ext uri="{FF2B5EF4-FFF2-40B4-BE49-F238E27FC236}">
                <a16:creationId xmlns:a16="http://schemas.microsoft.com/office/drawing/2014/main"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19419216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A8F38-56C3-8CC3-3F03-764B20C1450B}"/>
              </a:ext>
            </a:extLst>
          </p:cNvPr>
          <p:cNvSpPr txBox="1"/>
          <p:nvPr/>
        </p:nvSpPr>
        <p:spPr>
          <a:xfrm>
            <a:off x="569542" y="3973286"/>
            <a:ext cx="10163771" cy="830997"/>
          </a:xfrm>
          <a:prstGeom prst="rect">
            <a:avLst/>
          </a:prstGeom>
          <a:noFill/>
        </p:spPr>
        <p:txBody>
          <a:bodyPr wrap="square">
            <a:spAutoFit/>
          </a:bodyPr>
          <a:lstStyle/>
          <a:p>
            <a:pPr marL="0" marR="0" algn="ctr">
              <a:spcBef>
                <a:spcPts val="600"/>
              </a:spcBef>
              <a:spcAft>
                <a:spcPts val="600"/>
              </a:spcAft>
            </a:pPr>
            <a:r>
              <a:rPr lang="en-US" sz="2400" b="1" i="0">
                <a:solidFill>
                  <a:srgbClr val="800080"/>
                </a:solidFill>
                <a:effectLst/>
                <a:latin typeface="book antiqua" panose="02040602050305030304" pitchFamily="18" charset="0"/>
              </a:rPr>
              <a:t>j) Find the details of all male passengers who are associated with Jet agency.</a:t>
            </a:r>
            <a:endParaRPr lang="en-IN" sz="5400" dirty="0"/>
          </a:p>
        </p:txBody>
      </p:sp>
      <p:sp>
        <p:nvSpPr>
          <p:cNvPr id="8" name="TextBox 7">
            <a:extLst>
              <a:ext uri="{FF2B5EF4-FFF2-40B4-BE49-F238E27FC236}">
                <a16:creationId xmlns:a16="http://schemas.microsoft.com/office/drawing/2014/main" id="{71625461-909F-C397-75E4-A9C6FECB004A}"/>
              </a:ext>
            </a:extLst>
          </p:cNvPr>
          <p:cNvSpPr txBox="1"/>
          <p:nvPr/>
        </p:nvSpPr>
        <p:spPr>
          <a:xfrm>
            <a:off x="1337350" y="402599"/>
            <a:ext cx="7715250" cy="2800767"/>
          </a:xfrm>
          <a:prstGeom prst="rect">
            <a:avLst/>
          </a:prstGeom>
          <a:noFill/>
        </p:spPr>
        <p:txBody>
          <a:bodyPr wrap="square">
            <a:spAutoFit/>
          </a:bodyPr>
          <a:lstStyle/>
          <a:p>
            <a:pPr marL="0" marR="0" algn="just">
              <a:spcBef>
                <a:spcPts val="600"/>
              </a:spcBef>
              <a:spcAft>
                <a:spcPts val="600"/>
              </a:spcAft>
            </a:pPr>
            <a:r>
              <a:rPr lang="en-IN" sz="1800" b="1" i="0" u="sng" dirty="0">
                <a:solidFill>
                  <a:srgbClr val="222222"/>
                </a:solidFill>
                <a:effectLst/>
                <a:latin typeface="book antiqua" panose="02040602050305030304" pitchFamily="18" charset="0"/>
              </a:rPr>
              <a:t>Question:</a:t>
            </a:r>
            <a:endParaRPr lang="en-IN" b="0" i="0" dirty="0">
              <a:solidFill>
                <a:srgbClr val="222222"/>
              </a:solidFill>
              <a:effectLst/>
              <a:latin typeface="Arial" panose="020B0604020202020204" pitchFamily="34" charset="0"/>
            </a:endParaRPr>
          </a:p>
          <a:p>
            <a:pPr marL="0" marR="0" algn="just">
              <a:spcBef>
                <a:spcPts val="600"/>
              </a:spcBef>
              <a:spcAft>
                <a:spcPts val="600"/>
              </a:spcAft>
            </a:pPr>
            <a:r>
              <a:rPr lang="en-IN" sz="1800" b="0" i="0" dirty="0">
                <a:solidFill>
                  <a:srgbClr val="222222"/>
                </a:solidFill>
                <a:effectLst/>
                <a:latin typeface="book antiqua" panose="02040602050305030304" pitchFamily="18" charset="0"/>
              </a:rPr>
              <a:t>Consider the following relational database schema consisting of the four relation schemas:</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passenger </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pgender</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pcity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agency </a:t>
            </a:r>
            <a:r>
              <a:rPr lang="en-IN" sz="1800" b="0" i="0" dirty="0">
                <a:solidFill>
                  <a:srgbClr val="222222"/>
                </a:solidFill>
                <a:effectLst/>
                <a:latin typeface="book antiqua" panose="02040602050305030304" pitchFamily="18" charset="0"/>
              </a:rPr>
              <a:t>( aid, </a:t>
            </a:r>
            <a:r>
              <a:rPr lang="en-IN" sz="1800" b="0" i="0" dirty="0" err="1">
                <a:solidFill>
                  <a:srgbClr val="222222"/>
                </a:solidFill>
                <a:effectLst/>
                <a:latin typeface="book antiqua" panose="02040602050305030304" pitchFamily="18" charset="0"/>
              </a:rPr>
              <a:t>aname</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acity</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flight </a:t>
            </a:r>
            <a:r>
              <a:rPr lang="en-IN" sz="1800" b="0" i="0" dirty="0">
                <a:solidFill>
                  <a:srgbClr val="222222"/>
                </a:solidFill>
                <a:effectLst/>
                <a:latin typeface="book antiqua" panose="02040602050305030304" pitchFamily="18" charset="0"/>
              </a:rPr>
              <a:t>(fid,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 time, </a:t>
            </a:r>
            <a:r>
              <a:rPr lang="en-IN" sz="1800" b="0" i="0" dirty="0" err="1">
                <a:solidFill>
                  <a:srgbClr val="222222"/>
                </a:solidFill>
                <a:effectLst/>
                <a:latin typeface="book antiqua" panose="02040602050305030304" pitchFamily="18" charset="0"/>
              </a:rPr>
              <a:t>src</a:t>
            </a:r>
            <a:r>
              <a:rPr lang="en-IN" sz="1800" b="0" i="0" dirty="0">
                <a:solidFill>
                  <a:srgbClr val="222222"/>
                </a:solidFill>
                <a:effectLst/>
                <a:latin typeface="book antiqua" panose="02040602050305030304" pitchFamily="18" charset="0"/>
              </a:rPr>
              <a:t>, </a:t>
            </a:r>
            <a:r>
              <a:rPr lang="en-IN" sz="1800" b="0" i="0" dirty="0" err="1">
                <a:solidFill>
                  <a:srgbClr val="222222"/>
                </a:solidFill>
                <a:effectLst/>
                <a:latin typeface="book antiqua" panose="02040602050305030304" pitchFamily="18" charset="0"/>
              </a:rPr>
              <a:t>dest</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a:p>
            <a:pPr marL="457200" marR="0" algn="just">
              <a:spcBef>
                <a:spcPts val="600"/>
              </a:spcBef>
              <a:spcAft>
                <a:spcPts val="600"/>
              </a:spcAft>
            </a:pPr>
            <a:r>
              <a:rPr lang="en-IN" sz="1800" b="1" i="0" dirty="0">
                <a:solidFill>
                  <a:srgbClr val="222222"/>
                </a:solidFill>
                <a:effectLst/>
                <a:latin typeface="book antiqua" panose="02040602050305030304" pitchFamily="18" charset="0"/>
              </a:rPr>
              <a:t>booking </a:t>
            </a:r>
            <a:r>
              <a:rPr lang="en-IN" sz="1800" b="0" i="0" dirty="0">
                <a:solidFill>
                  <a:srgbClr val="222222"/>
                </a:solidFill>
                <a:effectLst/>
                <a:latin typeface="book antiqua" panose="02040602050305030304" pitchFamily="18" charset="0"/>
              </a:rPr>
              <a:t>(</a:t>
            </a:r>
            <a:r>
              <a:rPr lang="en-IN" sz="1800" b="0" i="0" dirty="0" err="1">
                <a:solidFill>
                  <a:srgbClr val="222222"/>
                </a:solidFill>
                <a:effectLst/>
                <a:latin typeface="book antiqua" panose="02040602050305030304" pitchFamily="18" charset="0"/>
              </a:rPr>
              <a:t>pid</a:t>
            </a:r>
            <a:r>
              <a:rPr lang="en-IN" sz="1800" b="0" i="0" dirty="0">
                <a:solidFill>
                  <a:srgbClr val="222222"/>
                </a:solidFill>
                <a:effectLst/>
                <a:latin typeface="book antiqua" panose="02040602050305030304" pitchFamily="18" charset="0"/>
              </a:rPr>
              <a:t>, aid, fid, </a:t>
            </a:r>
            <a:r>
              <a:rPr lang="en-IN" sz="1800" b="0" i="0" dirty="0" err="1">
                <a:solidFill>
                  <a:srgbClr val="222222"/>
                </a:solidFill>
                <a:effectLst/>
                <a:latin typeface="book antiqua" panose="02040602050305030304" pitchFamily="18" charset="0"/>
              </a:rPr>
              <a:t>fdate</a:t>
            </a:r>
            <a:r>
              <a:rPr lang="en-IN" sz="1800" b="0" i="0" dirty="0">
                <a:solidFill>
                  <a:srgbClr val="222222"/>
                </a:solidFill>
                <a:effectLst/>
                <a:latin typeface="book antiqua" panose="02040602050305030304" pitchFamily="18" charset="0"/>
              </a:rPr>
              <a:t>)</a:t>
            </a:r>
            <a:endParaRPr lang="en-IN" b="0" i="0" dirty="0">
              <a:solidFill>
                <a:srgbClr val="222222"/>
              </a:solidFill>
              <a:effectLst/>
              <a:latin typeface="Arial" panose="020B0604020202020204" pitchFamily="34" charset="0"/>
            </a:endParaRPr>
          </a:p>
        </p:txBody>
      </p:sp>
      <p:sp>
        <p:nvSpPr>
          <p:cNvPr id="4" name="TextBox 3">
            <a:extLst>
              <a:ext uri="{FF2B5EF4-FFF2-40B4-BE49-F238E27FC236}">
                <a16:creationId xmlns:a16="http://schemas.microsoft.com/office/drawing/2014/main" id="{D74052FC-E9CC-0DF3-62C2-73D7C8936E99}"/>
              </a:ext>
            </a:extLst>
          </p:cNvPr>
          <p:cNvSpPr txBox="1"/>
          <p:nvPr/>
        </p:nvSpPr>
        <p:spPr>
          <a:xfrm>
            <a:off x="569543" y="5038049"/>
            <a:ext cx="11491828" cy="461665"/>
          </a:xfrm>
          <a:prstGeom prst="rect">
            <a:avLst/>
          </a:prstGeom>
          <a:noFill/>
        </p:spPr>
        <p:txBody>
          <a:bodyPr wrap="square">
            <a:spAutoFit/>
          </a:bodyPr>
          <a:lstStyle/>
          <a:p>
            <a:r>
              <a:rPr lang="el-GR" sz="2400" b="0" i="0" dirty="0">
                <a:effectLst/>
                <a:latin typeface="Arial" panose="020B0604020202020204" pitchFamily="34" charset="0"/>
              </a:rPr>
              <a:t>Π</a:t>
            </a:r>
            <a:r>
              <a:rPr lang="el-GR" sz="2400" b="0" i="1" baseline="-25000" dirty="0">
                <a:effectLst/>
                <a:latin typeface="Arial" panose="020B0604020202020204" pitchFamily="34" charset="0"/>
              </a:rPr>
              <a:t> </a:t>
            </a:r>
            <a:r>
              <a:rPr lang="en-IN" sz="2400" b="0" i="1" baseline="-25000" dirty="0" err="1">
                <a:effectLst/>
                <a:latin typeface="Arial" panose="020B0604020202020204" pitchFamily="34" charset="0"/>
              </a:rPr>
              <a:t>passengers.pid</a:t>
            </a:r>
            <a:r>
              <a:rPr lang="en-IN" sz="2400" b="0" i="1" baseline="-25000" dirty="0">
                <a:effectLst/>
                <a:latin typeface="Arial" panose="020B0604020202020204" pitchFamily="34" charset="0"/>
              </a:rPr>
              <a:t>, </a:t>
            </a:r>
            <a:r>
              <a:rPr lang="en-IN" sz="2400" b="0" i="1" baseline="-25000" dirty="0" err="1">
                <a:effectLst/>
                <a:latin typeface="Arial" panose="020B0604020202020204" pitchFamily="34" charset="0"/>
              </a:rPr>
              <a:t>pname</a:t>
            </a:r>
            <a:r>
              <a:rPr lang="en-IN" sz="2400" b="0" i="1" baseline="-25000" dirty="0">
                <a:effectLst/>
                <a:latin typeface="Arial" panose="020B0604020202020204" pitchFamily="34" charset="0"/>
              </a:rPr>
              <a:t>, </a:t>
            </a:r>
            <a:r>
              <a:rPr lang="en-IN" sz="2400" b="0" i="1" baseline="-25000" dirty="0" err="1">
                <a:effectLst/>
                <a:latin typeface="Arial" panose="020B0604020202020204" pitchFamily="34" charset="0"/>
              </a:rPr>
              <a:t>pcity</a:t>
            </a:r>
            <a:r>
              <a:rPr lang="en-IN" sz="2400" b="0" i="1" baseline="-25000" dirty="0">
                <a:effectLst/>
                <a:latin typeface="Arial" panose="020B0604020202020204" pitchFamily="34" charset="0"/>
              </a:rPr>
              <a:t> </a:t>
            </a:r>
            <a:r>
              <a:rPr lang="en-IN" sz="2400" b="0" i="0" dirty="0">
                <a:effectLst/>
                <a:latin typeface="Arial" panose="020B0604020202020204" pitchFamily="34" charset="0"/>
              </a:rPr>
              <a:t>(</a:t>
            </a:r>
            <a:r>
              <a:rPr lang="el-GR" sz="2400" b="0" i="0" dirty="0">
                <a:effectLst/>
                <a:latin typeface="Arial" panose="020B0604020202020204" pitchFamily="34" charset="0"/>
              </a:rPr>
              <a:t>σ</a:t>
            </a:r>
            <a:r>
              <a:rPr lang="el-GR" sz="2400" b="0" i="1" baseline="-25000" dirty="0">
                <a:effectLst/>
                <a:latin typeface="Arial" panose="020B0604020202020204" pitchFamily="34" charset="0"/>
              </a:rPr>
              <a:t> </a:t>
            </a:r>
            <a:r>
              <a:rPr lang="en-IN" sz="2400" b="0" i="1" baseline="-25000" dirty="0" err="1">
                <a:effectLst/>
                <a:latin typeface="Arial" panose="020B0604020202020204" pitchFamily="34" charset="0"/>
              </a:rPr>
              <a:t>pgender</a:t>
            </a:r>
            <a:r>
              <a:rPr lang="en-IN" sz="2400" b="0" i="1" baseline="-25000" dirty="0">
                <a:effectLst/>
                <a:latin typeface="Arial" panose="020B0604020202020204" pitchFamily="34" charset="0"/>
              </a:rPr>
              <a:t> = “Male” ^ </a:t>
            </a:r>
            <a:r>
              <a:rPr lang="en-IN" sz="2400" b="0" i="1" baseline="-25000" dirty="0" err="1">
                <a:effectLst/>
                <a:latin typeface="Arial" panose="020B0604020202020204" pitchFamily="34" charset="0"/>
              </a:rPr>
              <a:t>aname</a:t>
            </a:r>
            <a:r>
              <a:rPr lang="en-IN" sz="2400" b="0" i="1" baseline="-25000" dirty="0">
                <a:effectLst/>
                <a:latin typeface="Arial" panose="020B0604020202020204" pitchFamily="34" charset="0"/>
              </a:rPr>
              <a:t> = ‘Jet’ </a:t>
            </a:r>
            <a:r>
              <a:rPr lang="en-IN" sz="2400" b="0" i="0" dirty="0">
                <a:effectLst/>
                <a:latin typeface="Arial" panose="020B0604020202020204" pitchFamily="34" charset="0"/>
              </a:rPr>
              <a:t>(passengers </a:t>
            </a:r>
            <a:r>
              <a:rPr lang="en-IN" sz="2400" b="0" i="0" dirty="0">
                <a:effectLst/>
                <a:latin typeface="Cambria Math" panose="02040503050406030204" pitchFamily="18" charset="0"/>
              </a:rPr>
              <a:t>⨝</a:t>
            </a:r>
            <a:r>
              <a:rPr lang="en-IN" sz="2400" b="0" i="0" dirty="0">
                <a:effectLst/>
                <a:latin typeface="Arial" panose="020B0604020202020204" pitchFamily="34" charset="0"/>
              </a:rPr>
              <a:t> booking </a:t>
            </a:r>
            <a:r>
              <a:rPr lang="en-IN" sz="2400" b="0" i="0" dirty="0">
                <a:effectLst/>
                <a:latin typeface="Cambria Math" panose="02040503050406030204" pitchFamily="18" charset="0"/>
              </a:rPr>
              <a:t>⨝</a:t>
            </a:r>
            <a:r>
              <a:rPr lang="en-IN" sz="2400" b="0" i="0" dirty="0">
                <a:effectLst/>
                <a:latin typeface="Arial" panose="020B0604020202020204" pitchFamily="34" charset="0"/>
              </a:rPr>
              <a:t> agency))</a:t>
            </a:r>
            <a:endParaRPr lang="en-IN" sz="2400" dirty="0"/>
          </a:p>
        </p:txBody>
      </p:sp>
    </p:spTree>
    <p:extLst>
      <p:ext uri="{BB962C8B-B14F-4D97-AF65-F5344CB8AC3E}">
        <p14:creationId xmlns:p14="http://schemas.microsoft.com/office/powerpoint/2010/main" val="37295575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AA397A-1929-A803-6655-F605D711DE9F}"/>
              </a:ext>
            </a:extLst>
          </p:cNvPr>
          <p:cNvSpPr txBox="1"/>
          <p:nvPr/>
        </p:nvSpPr>
        <p:spPr>
          <a:xfrm>
            <a:off x="1175657" y="762000"/>
            <a:ext cx="10646229" cy="2246769"/>
          </a:xfrm>
          <a:prstGeom prst="rect">
            <a:avLst/>
          </a:prstGeom>
          <a:noFill/>
        </p:spPr>
        <p:txBody>
          <a:bodyPr wrap="square">
            <a:spAutoFit/>
          </a:bodyPr>
          <a:lstStyle/>
          <a:p>
            <a:pPr algn="just" fontAlgn="base"/>
            <a:r>
              <a:rPr lang="en-US" sz="2800" b="1" i="0" dirty="0">
                <a:effectLst/>
                <a:latin typeface="Nunito" pitchFamily="2" charset="0"/>
              </a:rPr>
              <a:t>Relational Calculus</a:t>
            </a:r>
          </a:p>
          <a:p>
            <a:pPr algn="just" fontAlgn="base"/>
            <a:r>
              <a:rPr lang="en-US" sz="2800" b="0" i="0" dirty="0">
                <a:effectLst/>
                <a:latin typeface="Nunito" pitchFamily="2" charset="0"/>
              </a:rPr>
              <a:t>As Relational Algebra is a procedural query language, </a:t>
            </a:r>
            <a:r>
              <a:rPr lang="en-US" sz="2800" b="0" i="0" u="sng" dirty="0">
                <a:effectLst/>
                <a:latin typeface="Nunito" pitchFamily="2" charset="0"/>
                <a:hlinkClick r:id="rId2">
                  <a:extLst>
                    <a:ext uri="{A12FA001-AC4F-418D-AE19-62706E023703}">
                      <ahyp:hlinkClr xmlns:ahyp="http://schemas.microsoft.com/office/drawing/2018/hyperlinkcolor" val="tx"/>
                    </a:ext>
                  </a:extLst>
                </a:hlinkClick>
              </a:rPr>
              <a:t>Relational Calculus</a:t>
            </a:r>
            <a:r>
              <a:rPr lang="en-US" sz="2800" b="0" i="0" dirty="0">
                <a:effectLst/>
                <a:latin typeface="Nunito" pitchFamily="2" charset="0"/>
              </a:rPr>
              <a:t> is a non-procedural query language. It basically deals with the end results. It always tells me what to do but never tells me how to do it.</a:t>
            </a:r>
          </a:p>
        </p:txBody>
      </p:sp>
      <p:sp>
        <p:nvSpPr>
          <p:cNvPr id="7" name="TextBox 6">
            <a:extLst>
              <a:ext uri="{FF2B5EF4-FFF2-40B4-BE49-F238E27FC236}">
                <a16:creationId xmlns:a16="http://schemas.microsoft.com/office/drawing/2014/main" id="{C20D5F93-EDD8-EF68-5344-10FC53DD10E9}"/>
              </a:ext>
            </a:extLst>
          </p:cNvPr>
          <p:cNvSpPr txBox="1"/>
          <p:nvPr/>
        </p:nvSpPr>
        <p:spPr>
          <a:xfrm>
            <a:off x="1175657" y="3387567"/>
            <a:ext cx="6101442" cy="1200329"/>
          </a:xfrm>
          <a:prstGeom prst="rect">
            <a:avLst/>
          </a:prstGeom>
          <a:noFill/>
        </p:spPr>
        <p:txBody>
          <a:bodyPr wrap="square">
            <a:spAutoFit/>
          </a:bodyPr>
          <a:lstStyle/>
          <a:p>
            <a:pPr algn="just" fontAlgn="base"/>
            <a:r>
              <a:rPr lang="en-US" sz="2400" b="0" i="0" dirty="0">
                <a:effectLst/>
                <a:latin typeface="Nunito" pitchFamily="2" charset="0"/>
              </a:rPr>
              <a:t>There are two types of Relational Calculus</a:t>
            </a:r>
          </a:p>
          <a:p>
            <a:pPr algn="just" fontAlgn="base">
              <a:buFont typeface="+mj-lt"/>
              <a:buAutoNum type="arabicPeriod"/>
            </a:pPr>
            <a:r>
              <a:rPr lang="en-US" sz="2400" b="0" i="0" u="sng" dirty="0">
                <a:effectLst/>
                <a:latin typeface="Nunito" pitchFamily="2" charset="0"/>
                <a:hlinkClick r:id="rId3">
                  <a:extLst>
                    <a:ext uri="{A12FA001-AC4F-418D-AE19-62706E023703}">
                      <ahyp:hlinkClr xmlns:ahyp="http://schemas.microsoft.com/office/drawing/2018/hyperlinkcolor" val="tx"/>
                    </a:ext>
                  </a:extLst>
                </a:hlinkClick>
              </a:rPr>
              <a:t>Tuple Relational Calculus(TRC)</a:t>
            </a:r>
            <a:endParaRPr lang="en-US" sz="2400" b="0" i="0" dirty="0">
              <a:effectLst/>
              <a:latin typeface="Nunito" pitchFamily="2" charset="0"/>
            </a:endParaRPr>
          </a:p>
          <a:p>
            <a:pPr algn="just" fontAlgn="base">
              <a:buFont typeface="+mj-lt"/>
              <a:buAutoNum type="arabicPeriod"/>
            </a:pPr>
            <a:r>
              <a:rPr lang="en-US" sz="2400" b="0" i="0" u="sng" dirty="0">
                <a:effectLst/>
                <a:latin typeface="Nunito" pitchFamily="2" charset="0"/>
                <a:hlinkClick r:id="rId4">
                  <a:extLst>
                    <a:ext uri="{A12FA001-AC4F-418D-AE19-62706E023703}">
                      <ahyp:hlinkClr xmlns:ahyp="http://schemas.microsoft.com/office/drawing/2018/hyperlinkcolor" val="tx"/>
                    </a:ext>
                  </a:extLst>
                </a:hlinkClick>
              </a:rPr>
              <a:t>Domain Relational Calculus(DRC)</a:t>
            </a:r>
            <a:endParaRPr lang="en-US" sz="2400" b="0" i="0" dirty="0">
              <a:effectLst/>
              <a:latin typeface="Nunito" pitchFamily="2" charset="0"/>
            </a:endParaRPr>
          </a:p>
        </p:txBody>
      </p:sp>
    </p:spTree>
    <p:extLst>
      <p:ext uri="{BB962C8B-B14F-4D97-AF65-F5344CB8AC3E}">
        <p14:creationId xmlns:p14="http://schemas.microsoft.com/office/powerpoint/2010/main" val="22926510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78357C-FB1F-AE3A-A538-A42B5B7C277B}"/>
              </a:ext>
            </a:extLst>
          </p:cNvPr>
          <p:cNvSpPr txBox="1"/>
          <p:nvPr/>
        </p:nvSpPr>
        <p:spPr>
          <a:xfrm>
            <a:off x="401245" y="139225"/>
            <a:ext cx="11389510" cy="6001643"/>
          </a:xfrm>
          <a:prstGeom prst="rect">
            <a:avLst/>
          </a:prstGeom>
          <a:noFill/>
        </p:spPr>
        <p:txBody>
          <a:bodyPr wrap="square">
            <a:spAutoFit/>
          </a:bodyPr>
          <a:lstStyle/>
          <a:p>
            <a:pPr algn="just"/>
            <a:r>
              <a:rPr lang="en-US" sz="2400" b="1" dirty="0"/>
              <a:t>Tuple Relational Calculus (TRC) </a:t>
            </a:r>
            <a:r>
              <a:rPr lang="en-US" sz="2400" dirty="0"/>
              <a:t>is a non-procedural query language used in relational database management systems (RDBMS) to retrieve data from tables. TRC is based on the concept of tuples, which are ordered sets of attribute values that represent a single row or record in a database table.</a:t>
            </a:r>
          </a:p>
          <a:p>
            <a:pPr algn="just"/>
            <a:endParaRPr lang="en-US" sz="2400" dirty="0"/>
          </a:p>
          <a:p>
            <a:pPr algn="just"/>
            <a:r>
              <a:rPr lang="en-US" sz="2400" b="1" dirty="0"/>
              <a:t>TRC</a:t>
            </a:r>
            <a:r>
              <a:rPr lang="en-US" sz="2400" dirty="0"/>
              <a:t> is a declarative language, meaning that it specifies what data is required from the database, rather than how to retrieve it. TRC queries are expressed as logical formulas that describe the desired tuples.</a:t>
            </a:r>
          </a:p>
          <a:p>
            <a:pPr algn="just"/>
            <a:endParaRPr lang="en-US" sz="2400" dirty="0"/>
          </a:p>
          <a:p>
            <a:pPr algn="just"/>
            <a:r>
              <a:rPr lang="en-US" sz="2400" b="1" dirty="0"/>
              <a:t>Syntax: </a:t>
            </a:r>
            <a:r>
              <a:rPr lang="en-US" sz="2400" dirty="0"/>
              <a:t>The basic syntax of TRC is as follows:</a:t>
            </a:r>
          </a:p>
          <a:p>
            <a:pPr algn="just"/>
            <a:endParaRPr lang="en-US" sz="2400" dirty="0"/>
          </a:p>
          <a:p>
            <a:pPr algn="ctr"/>
            <a:r>
              <a:rPr lang="en-US" sz="2400" b="1" dirty="0"/>
              <a:t>{ t | P(t) }</a:t>
            </a:r>
          </a:p>
          <a:p>
            <a:pPr algn="ctr"/>
            <a:endParaRPr lang="en-US" sz="2400" dirty="0"/>
          </a:p>
          <a:p>
            <a:pPr algn="just"/>
            <a:r>
              <a:rPr lang="en-US" sz="2400" dirty="0"/>
              <a:t>where t is a tuple variable and P(t) is a logical formula that describes the conditions that the tuples in the result must satisfy. The curly braces {} are used to indicate that the expression is a set of tuples.</a:t>
            </a:r>
            <a:endParaRPr lang="en-IN" sz="2400" dirty="0"/>
          </a:p>
        </p:txBody>
      </p:sp>
    </p:spTree>
    <p:extLst>
      <p:ext uri="{BB962C8B-B14F-4D97-AF65-F5344CB8AC3E}">
        <p14:creationId xmlns:p14="http://schemas.microsoft.com/office/powerpoint/2010/main" val="28650276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FD93D3B4-2CFB-E6CC-4066-EF1EB39F45C1}"/>
              </a:ext>
            </a:extLst>
          </p:cNvPr>
          <p:cNvGraphicFramePr>
            <a:graphicFrameLocks noGrp="1"/>
          </p:cNvGraphicFramePr>
          <p:nvPr>
            <p:extLst>
              <p:ext uri="{D42A27DB-BD31-4B8C-83A1-F6EECF244321}">
                <p14:modId xmlns:p14="http://schemas.microsoft.com/office/powerpoint/2010/main" val="3440065996"/>
              </p:ext>
            </p:extLst>
          </p:nvPr>
        </p:nvGraphicFramePr>
        <p:xfrm>
          <a:off x="1505404" y="272030"/>
          <a:ext cx="2086882" cy="1473200"/>
        </p:xfrm>
        <a:graphic>
          <a:graphicData uri="http://schemas.openxmlformats.org/drawingml/2006/table">
            <a:tbl>
              <a:tblPr>
                <a:tableStyleId>{69C7853C-536D-4A76-A0AE-DD22124D55A5}</a:tableStyleId>
              </a:tblPr>
              <a:tblGrid>
                <a:gridCol w="2086882">
                  <a:extLst>
                    <a:ext uri="{9D8B030D-6E8A-4147-A177-3AD203B41FA5}">
                      <a16:colId xmlns:a16="http://schemas.microsoft.com/office/drawing/2014/main" val="3244779712"/>
                    </a:ext>
                  </a:extLst>
                </a:gridCol>
              </a:tblGrid>
              <a:tr h="0">
                <a:tc>
                  <a:txBody>
                    <a:bodyPr/>
                    <a:lstStyle/>
                    <a:p>
                      <a:pPr algn="ctr" fontAlgn="ctr"/>
                      <a:r>
                        <a:rPr lang="en-IN" sz="1250" b="0" dirty="0">
                          <a:effectLst/>
                        </a:rPr>
                        <a:t>Employee ID</a:t>
                      </a:r>
                    </a:p>
                  </a:txBody>
                  <a:tcPr marL="63500" marR="63500" marT="88900" marB="88900" anchor="ctr"/>
                </a:tc>
                <a:extLst>
                  <a:ext uri="{0D108BD9-81ED-4DB2-BD59-A6C34878D82A}">
                    <a16:rowId xmlns:a16="http://schemas.microsoft.com/office/drawing/2014/main" val="1082456249"/>
                  </a:ext>
                </a:extLst>
              </a:tr>
              <a:tr h="0">
                <a:tc>
                  <a:txBody>
                    <a:bodyPr/>
                    <a:lstStyle/>
                    <a:p>
                      <a:pPr algn="ctr" fontAlgn="ctr"/>
                      <a:r>
                        <a:rPr lang="en-IN" sz="1250" b="0">
                          <a:effectLst/>
                        </a:rPr>
                        <a:t>Name</a:t>
                      </a:r>
                    </a:p>
                  </a:txBody>
                  <a:tcPr marL="63500" marR="63500" marT="88900" marB="88900" anchor="ctr"/>
                </a:tc>
                <a:extLst>
                  <a:ext uri="{0D108BD9-81ED-4DB2-BD59-A6C34878D82A}">
                    <a16:rowId xmlns:a16="http://schemas.microsoft.com/office/drawing/2014/main" val="167930266"/>
                  </a:ext>
                </a:extLst>
              </a:tr>
              <a:tr h="0">
                <a:tc>
                  <a:txBody>
                    <a:bodyPr/>
                    <a:lstStyle/>
                    <a:p>
                      <a:pPr algn="ctr" fontAlgn="ctr"/>
                      <a:r>
                        <a:rPr lang="en-IN" sz="1250" b="0">
                          <a:effectLst/>
                        </a:rPr>
                        <a:t>Salary</a:t>
                      </a:r>
                    </a:p>
                  </a:txBody>
                  <a:tcPr marL="63500" marR="63500" marT="88900" marB="88900" anchor="ctr"/>
                </a:tc>
                <a:extLst>
                  <a:ext uri="{0D108BD9-81ED-4DB2-BD59-A6C34878D82A}">
                    <a16:rowId xmlns:a16="http://schemas.microsoft.com/office/drawing/2014/main" val="2074556526"/>
                  </a:ext>
                </a:extLst>
              </a:tr>
              <a:tr h="0">
                <a:tc>
                  <a:txBody>
                    <a:bodyPr/>
                    <a:lstStyle/>
                    <a:p>
                      <a:pPr algn="ctr" fontAlgn="ctr"/>
                      <a:r>
                        <a:rPr lang="en-IN" sz="1250" b="0" dirty="0">
                          <a:effectLst/>
                        </a:rPr>
                        <a:t>Department ID</a:t>
                      </a:r>
                    </a:p>
                  </a:txBody>
                  <a:tcPr marL="63500" marR="63500" marT="88900" marB="88900" anchor="ctr"/>
                </a:tc>
                <a:extLst>
                  <a:ext uri="{0D108BD9-81ED-4DB2-BD59-A6C34878D82A}">
                    <a16:rowId xmlns:a16="http://schemas.microsoft.com/office/drawing/2014/main" val="3723962427"/>
                  </a:ext>
                </a:extLst>
              </a:tr>
            </a:tbl>
          </a:graphicData>
        </a:graphic>
      </p:graphicFrame>
      <p:sp>
        <p:nvSpPr>
          <p:cNvPr id="8" name="TextBox 7">
            <a:extLst>
              <a:ext uri="{FF2B5EF4-FFF2-40B4-BE49-F238E27FC236}">
                <a16:creationId xmlns:a16="http://schemas.microsoft.com/office/drawing/2014/main" id="{B2E8D860-D159-56B7-A964-99836937E28E}"/>
              </a:ext>
            </a:extLst>
          </p:cNvPr>
          <p:cNvSpPr txBox="1"/>
          <p:nvPr/>
        </p:nvSpPr>
        <p:spPr>
          <a:xfrm>
            <a:off x="881743" y="1985194"/>
            <a:ext cx="9797143" cy="1569660"/>
          </a:xfrm>
          <a:prstGeom prst="rect">
            <a:avLst/>
          </a:prstGeom>
          <a:noFill/>
        </p:spPr>
        <p:txBody>
          <a:bodyPr wrap="square">
            <a:spAutoFit/>
          </a:bodyPr>
          <a:lstStyle/>
          <a:p>
            <a:pPr algn="just" fontAlgn="base"/>
            <a:r>
              <a:rPr lang="en-US" sz="2400" b="0" i="0" dirty="0">
                <a:solidFill>
                  <a:srgbClr val="273239"/>
                </a:solidFill>
                <a:effectLst/>
                <a:latin typeface="Nunito" pitchFamily="2" charset="0"/>
              </a:rPr>
              <a:t>To retrieve the names of all employees who earn more than $50,000 per year, we can use the following TRC query:</a:t>
            </a:r>
          </a:p>
          <a:p>
            <a:pPr algn="just" fontAlgn="base"/>
            <a:endParaRPr lang="en-US" sz="2400" b="0" i="0" dirty="0">
              <a:solidFill>
                <a:srgbClr val="273239"/>
              </a:solidFill>
              <a:effectLst/>
              <a:latin typeface="Nunito" pitchFamily="2" charset="0"/>
            </a:endParaRPr>
          </a:p>
          <a:p>
            <a:pPr algn="ctr" fontAlgn="base"/>
            <a:r>
              <a:rPr lang="en-US" sz="2400" b="0" i="0" dirty="0">
                <a:solidFill>
                  <a:srgbClr val="273239"/>
                </a:solidFill>
                <a:effectLst/>
                <a:latin typeface="Nunito" pitchFamily="2" charset="0"/>
              </a:rPr>
              <a:t>{ t | Employees(t) ∧ </a:t>
            </a:r>
            <a:r>
              <a:rPr lang="en-US" sz="2400" b="0" i="0" dirty="0" err="1">
                <a:solidFill>
                  <a:srgbClr val="273239"/>
                </a:solidFill>
                <a:effectLst/>
                <a:latin typeface="Nunito" pitchFamily="2" charset="0"/>
              </a:rPr>
              <a:t>t.Salary</a:t>
            </a:r>
            <a:r>
              <a:rPr lang="en-US" sz="2400" b="0" i="0" dirty="0">
                <a:solidFill>
                  <a:srgbClr val="273239"/>
                </a:solidFill>
                <a:effectLst/>
                <a:latin typeface="Nunito" pitchFamily="2" charset="0"/>
              </a:rPr>
              <a:t> &gt; 50000 }</a:t>
            </a:r>
          </a:p>
        </p:txBody>
      </p:sp>
      <p:sp>
        <p:nvSpPr>
          <p:cNvPr id="10" name="TextBox 9">
            <a:extLst>
              <a:ext uri="{FF2B5EF4-FFF2-40B4-BE49-F238E27FC236}">
                <a16:creationId xmlns:a16="http://schemas.microsoft.com/office/drawing/2014/main" id="{04102345-7D5B-BD1F-906E-40A7E0547BEF}"/>
              </a:ext>
            </a:extLst>
          </p:cNvPr>
          <p:cNvSpPr txBox="1"/>
          <p:nvPr/>
        </p:nvSpPr>
        <p:spPr>
          <a:xfrm>
            <a:off x="881743" y="4089151"/>
            <a:ext cx="10036629" cy="1323439"/>
          </a:xfrm>
          <a:prstGeom prst="rect">
            <a:avLst/>
          </a:prstGeom>
          <a:noFill/>
        </p:spPr>
        <p:txBody>
          <a:bodyPr wrap="square">
            <a:spAutoFit/>
          </a:bodyPr>
          <a:lstStyle/>
          <a:p>
            <a:pPr algn="just"/>
            <a:r>
              <a:rPr lang="en-US" sz="2000" b="0" i="0" dirty="0">
                <a:solidFill>
                  <a:srgbClr val="273239"/>
                </a:solidFill>
                <a:effectLst/>
                <a:latin typeface="Nunito" pitchFamily="2" charset="0"/>
              </a:rPr>
              <a:t>In this query, the “Employees(t)” expression specifies that the tuple variable t represents a row in the “Employees” table. The “∧” symbol is the logical AND operator, which is used to combine the condition “</a:t>
            </a:r>
            <a:r>
              <a:rPr lang="en-US" sz="2000" b="0" i="0" dirty="0" err="1">
                <a:solidFill>
                  <a:srgbClr val="273239"/>
                </a:solidFill>
                <a:effectLst/>
                <a:latin typeface="Nunito" pitchFamily="2" charset="0"/>
              </a:rPr>
              <a:t>t.Salary</a:t>
            </a:r>
            <a:r>
              <a:rPr lang="en-US" sz="2000" b="0" i="0" dirty="0">
                <a:solidFill>
                  <a:srgbClr val="273239"/>
                </a:solidFill>
                <a:effectLst/>
                <a:latin typeface="Nunito" pitchFamily="2" charset="0"/>
              </a:rPr>
              <a:t> &gt; 50000” with the table selection.</a:t>
            </a:r>
            <a:endParaRPr lang="en-IN" sz="2000" dirty="0"/>
          </a:p>
        </p:txBody>
      </p:sp>
    </p:spTree>
    <p:extLst>
      <p:ext uri="{BB962C8B-B14F-4D97-AF65-F5344CB8AC3E}">
        <p14:creationId xmlns:p14="http://schemas.microsoft.com/office/powerpoint/2010/main" val="41574215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96B6A2A-8A74-960A-DCEE-1CCF7CB5E000}"/>
              </a:ext>
            </a:extLst>
          </p:cNvPr>
          <p:cNvSpPr txBox="1"/>
          <p:nvPr/>
        </p:nvSpPr>
        <p:spPr>
          <a:xfrm>
            <a:off x="696686" y="502226"/>
            <a:ext cx="9960428" cy="5632311"/>
          </a:xfrm>
          <a:prstGeom prst="rect">
            <a:avLst/>
          </a:prstGeom>
          <a:noFill/>
        </p:spPr>
        <p:txBody>
          <a:bodyPr wrap="square">
            <a:spAutoFit/>
          </a:bodyPr>
          <a:lstStyle/>
          <a:p>
            <a:r>
              <a:rPr lang="en-US" sz="2400" dirty="0"/>
              <a:t>In Tuple Calculus, a query is expressed as</a:t>
            </a:r>
          </a:p>
          <a:p>
            <a:endParaRPr lang="en-US" sz="2400" dirty="0"/>
          </a:p>
          <a:p>
            <a:pPr algn="ctr"/>
            <a:r>
              <a:rPr lang="en-US" sz="2400" dirty="0"/>
              <a:t>{t| P(t)}</a:t>
            </a:r>
          </a:p>
          <a:p>
            <a:pPr algn="ctr"/>
            <a:endParaRPr lang="en-US" sz="2400" dirty="0"/>
          </a:p>
          <a:p>
            <a:r>
              <a:rPr lang="en-US" sz="2400" dirty="0"/>
              <a:t>where t = resulting tuples, </a:t>
            </a:r>
          </a:p>
          <a:p>
            <a:r>
              <a:rPr lang="en-US" sz="2400" dirty="0"/>
              <a:t>P(t) = known as Predicate and these are the conditions that are used to fetch t. Thus, it generates a set of all tuples t, such that Predicate P(t) is true for t.</a:t>
            </a:r>
          </a:p>
          <a:p>
            <a:endParaRPr lang="en-US" sz="2400" dirty="0"/>
          </a:p>
          <a:p>
            <a:r>
              <a:rPr lang="en-US" sz="2400" dirty="0"/>
              <a:t>P(t) may have various conditions logically combined with OR (∨), AND (∧), NOT(¬). </a:t>
            </a:r>
          </a:p>
          <a:p>
            <a:endParaRPr lang="en-US" sz="2400" dirty="0"/>
          </a:p>
          <a:p>
            <a:r>
              <a:rPr lang="en-US" sz="2400" dirty="0"/>
              <a:t>It also uses quantifiers:</a:t>
            </a:r>
          </a:p>
          <a:p>
            <a:r>
              <a:rPr lang="en-US" sz="2400" dirty="0"/>
              <a:t>∃ t ∈ r (Q(t)) = ”there exists” a tuple in t in relation r such that predicate Q(t) is true. </a:t>
            </a:r>
          </a:p>
          <a:p>
            <a:r>
              <a:rPr lang="en-US" sz="2400" dirty="0"/>
              <a:t>∀ t ∈ r (Q(t)) = Q(t) is true “for all” tuples in relation r.</a:t>
            </a:r>
            <a:endParaRPr lang="en-IN" sz="2400" dirty="0"/>
          </a:p>
        </p:txBody>
      </p:sp>
    </p:spTree>
    <p:extLst>
      <p:ext uri="{BB962C8B-B14F-4D97-AF65-F5344CB8AC3E}">
        <p14:creationId xmlns:p14="http://schemas.microsoft.com/office/powerpoint/2010/main" val="11469728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34EE89F-CB3A-D54A-F27A-93E298DDAA9D}"/>
              </a:ext>
            </a:extLst>
          </p:cNvPr>
          <p:cNvGraphicFramePr>
            <a:graphicFrameLocks noGrp="1"/>
          </p:cNvGraphicFramePr>
          <p:nvPr>
            <p:extLst>
              <p:ext uri="{D42A27DB-BD31-4B8C-83A1-F6EECF244321}">
                <p14:modId xmlns:p14="http://schemas.microsoft.com/office/powerpoint/2010/main" val="3943951980"/>
              </p:ext>
            </p:extLst>
          </p:nvPr>
        </p:nvGraphicFramePr>
        <p:xfrm>
          <a:off x="351518" y="1059793"/>
          <a:ext cx="4644573" cy="1813560"/>
        </p:xfrm>
        <a:graphic>
          <a:graphicData uri="http://schemas.openxmlformats.org/drawingml/2006/table">
            <a:tbl>
              <a:tblPr>
                <a:tableStyleId>{69C7853C-536D-4A76-A0AE-DD22124D55A5}</a:tableStyleId>
              </a:tblPr>
              <a:tblGrid>
                <a:gridCol w="1548191">
                  <a:extLst>
                    <a:ext uri="{9D8B030D-6E8A-4147-A177-3AD203B41FA5}">
                      <a16:colId xmlns:a16="http://schemas.microsoft.com/office/drawing/2014/main" val="1798656869"/>
                    </a:ext>
                  </a:extLst>
                </a:gridCol>
                <a:gridCol w="1548191">
                  <a:extLst>
                    <a:ext uri="{9D8B030D-6E8A-4147-A177-3AD203B41FA5}">
                      <a16:colId xmlns:a16="http://schemas.microsoft.com/office/drawing/2014/main" val="3136490565"/>
                    </a:ext>
                  </a:extLst>
                </a:gridCol>
                <a:gridCol w="1548191">
                  <a:extLst>
                    <a:ext uri="{9D8B030D-6E8A-4147-A177-3AD203B41FA5}">
                      <a16:colId xmlns:a16="http://schemas.microsoft.com/office/drawing/2014/main" val="754916772"/>
                    </a:ext>
                  </a:extLst>
                </a:gridCol>
              </a:tblGrid>
              <a:tr h="0">
                <a:tc>
                  <a:txBody>
                    <a:bodyPr/>
                    <a:lstStyle/>
                    <a:p>
                      <a:pPr algn="ctr" fontAlgn="base"/>
                      <a:r>
                        <a:rPr lang="en-IN" sz="1400" b="1">
                          <a:effectLst/>
                        </a:rPr>
                        <a:t>Customer name</a:t>
                      </a:r>
                    </a:p>
                  </a:txBody>
                  <a:tcPr marL="38100" marR="38100" marT="63500" marB="63500" anchor="ctr"/>
                </a:tc>
                <a:tc>
                  <a:txBody>
                    <a:bodyPr/>
                    <a:lstStyle/>
                    <a:p>
                      <a:pPr algn="ctr" fontAlgn="base"/>
                      <a:r>
                        <a:rPr lang="en-IN" sz="1400" b="1">
                          <a:effectLst/>
                        </a:rPr>
                        <a:t>Street</a:t>
                      </a:r>
                    </a:p>
                  </a:txBody>
                  <a:tcPr marL="63500" marR="63500" marT="63500" marB="63500" anchor="ctr"/>
                </a:tc>
                <a:tc>
                  <a:txBody>
                    <a:bodyPr/>
                    <a:lstStyle/>
                    <a:p>
                      <a:pPr algn="ctr" fontAlgn="base"/>
                      <a:r>
                        <a:rPr lang="en-IN" sz="1400" b="1">
                          <a:effectLst/>
                        </a:rPr>
                        <a:t>City</a:t>
                      </a:r>
                    </a:p>
                  </a:txBody>
                  <a:tcPr marL="63500" marR="63500" marT="63500" marB="63500" anchor="ctr"/>
                </a:tc>
                <a:extLst>
                  <a:ext uri="{0D108BD9-81ED-4DB2-BD59-A6C34878D82A}">
                    <a16:rowId xmlns:a16="http://schemas.microsoft.com/office/drawing/2014/main" val="904766944"/>
                  </a:ext>
                </a:extLst>
              </a:tr>
              <a:tr h="0">
                <a:tc>
                  <a:txBody>
                    <a:bodyPr/>
                    <a:lstStyle/>
                    <a:p>
                      <a:pPr algn="ctr" fontAlgn="ctr"/>
                      <a:r>
                        <a:rPr lang="en-IN" sz="1250" b="0">
                          <a:effectLst/>
                        </a:rPr>
                        <a:t>Saurabh</a:t>
                      </a:r>
                    </a:p>
                  </a:txBody>
                  <a:tcPr marL="63500" marR="63500" marT="88900" marB="88900" anchor="ctr"/>
                </a:tc>
                <a:tc>
                  <a:txBody>
                    <a:bodyPr/>
                    <a:lstStyle/>
                    <a:p>
                      <a:pPr algn="ctr" fontAlgn="ctr"/>
                      <a:r>
                        <a:rPr lang="en-IN" sz="1250" b="0">
                          <a:effectLst/>
                        </a:rPr>
                        <a:t>A7</a:t>
                      </a:r>
                    </a:p>
                  </a:txBody>
                  <a:tcPr marL="63500" marR="63500" marT="88900" marB="88900" anchor="ctr"/>
                </a:tc>
                <a:tc>
                  <a:txBody>
                    <a:bodyPr/>
                    <a:lstStyle/>
                    <a:p>
                      <a:pPr algn="ctr" fontAlgn="ctr"/>
                      <a:r>
                        <a:rPr lang="en-IN" sz="1250" b="0">
                          <a:effectLst/>
                        </a:rPr>
                        <a:t>Patiala</a:t>
                      </a:r>
                    </a:p>
                  </a:txBody>
                  <a:tcPr marL="63500" marR="63500" marT="88900" marB="88900" anchor="ctr"/>
                </a:tc>
                <a:extLst>
                  <a:ext uri="{0D108BD9-81ED-4DB2-BD59-A6C34878D82A}">
                    <a16:rowId xmlns:a16="http://schemas.microsoft.com/office/drawing/2014/main" val="2146380242"/>
                  </a:ext>
                </a:extLst>
              </a:tr>
              <a:tr h="0">
                <a:tc>
                  <a:txBody>
                    <a:bodyPr/>
                    <a:lstStyle/>
                    <a:p>
                      <a:pPr algn="ctr" fontAlgn="ctr"/>
                      <a:r>
                        <a:rPr lang="en-IN" sz="1250" b="0">
                          <a:effectLst/>
                        </a:rPr>
                        <a:t>Mehak</a:t>
                      </a:r>
                    </a:p>
                  </a:txBody>
                  <a:tcPr marL="63500" marR="63500" marT="88900" marB="88900" anchor="ctr"/>
                </a:tc>
                <a:tc>
                  <a:txBody>
                    <a:bodyPr/>
                    <a:lstStyle/>
                    <a:p>
                      <a:pPr algn="ctr" fontAlgn="ctr"/>
                      <a:r>
                        <a:rPr lang="en-IN" sz="1250" b="0">
                          <a:effectLst/>
                        </a:rPr>
                        <a:t>B6</a:t>
                      </a:r>
                    </a:p>
                  </a:txBody>
                  <a:tcPr marL="63500" marR="63500" marT="88900" marB="88900" anchor="ctr"/>
                </a:tc>
                <a:tc>
                  <a:txBody>
                    <a:bodyPr/>
                    <a:lstStyle/>
                    <a:p>
                      <a:pPr algn="ctr" fontAlgn="ctr"/>
                      <a:r>
                        <a:rPr lang="en-IN" sz="1250" b="0" dirty="0">
                          <a:effectLst/>
                        </a:rPr>
                        <a:t>Jalandhar</a:t>
                      </a:r>
                    </a:p>
                  </a:txBody>
                  <a:tcPr marL="63500" marR="63500" marT="88900" marB="88900" anchor="ctr"/>
                </a:tc>
                <a:extLst>
                  <a:ext uri="{0D108BD9-81ED-4DB2-BD59-A6C34878D82A}">
                    <a16:rowId xmlns:a16="http://schemas.microsoft.com/office/drawing/2014/main" val="4235396142"/>
                  </a:ext>
                </a:extLst>
              </a:tr>
              <a:tr h="0">
                <a:tc>
                  <a:txBody>
                    <a:bodyPr/>
                    <a:lstStyle/>
                    <a:p>
                      <a:pPr algn="ctr" fontAlgn="ctr"/>
                      <a:r>
                        <a:rPr lang="en-IN" sz="1250" b="0">
                          <a:effectLst/>
                        </a:rPr>
                        <a:t>Sumiti</a:t>
                      </a:r>
                    </a:p>
                  </a:txBody>
                  <a:tcPr marL="63500" marR="63500" marT="88900" marB="88900" anchor="ctr"/>
                </a:tc>
                <a:tc>
                  <a:txBody>
                    <a:bodyPr/>
                    <a:lstStyle/>
                    <a:p>
                      <a:pPr algn="ctr" fontAlgn="ctr"/>
                      <a:r>
                        <a:rPr lang="en-IN" sz="1250" b="0">
                          <a:effectLst/>
                        </a:rPr>
                        <a:t>D9</a:t>
                      </a:r>
                    </a:p>
                  </a:txBody>
                  <a:tcPr marL="63500" marR="63500" marT="88900" marB="88900" anchor="ctr"/>
                </a:tc>
                <a:tc>
                  <a:txBody>
                    <a:bodyPr/>
                    <a:lstStyle/>
                    <a:p>
                      <a:pPr algn="ctr" fontAlgn="ctr"/>
                      <a:r>
                        <a:rPr lang="en-IN" sz="1250" b="0">
                          <a:effectLst/>
                        </a:rPr>
                        <a:t>Ludhiana</a:t>
                      </a:r>
                    </a:p>
                  </a:txBody>
                  <a:tcPr marL="63500" marR="63500" marT="88900" marB="88900" anchor="ctr"/>
                </a:tc>
                <a:extLst>
                  <a:ext uri="{0D108BD9-81ED-4DB2-BD59-A6C34878D82A}">
                    <a16:rowId xmlns:a16="http://schemas.microsoft.com/office/drawing/2014/main" val="956792902"/>
                  </a:ext>
                </a:extLst>
              </a:tr>
              <a:tr h="0">
                <a:tc>
                  <a:txBody>
                    <a:bodyPr/>
                    <a:lstStyle/>
                    <a:p>
                      <a:pPr algn="ctr" fontAlgn="ctr"/>
                      <a:r>
                        <a:rPr lang="en-IN" sz="1250" b="0">
                          <a:effectLst/>
                        </a:rPr>
                        <a:t>Ria</a:t>
                      </a:r>
                    </a:p>
                  </a:txBody>
                  <a:tcPr marL="63500" marR="63500" marT="88900" marB="88900" anchor="ctr"/>
                </a:tc>
                <a:tc>
                  <a:txBody>
                    <a:bodyPr/>
                    <a:lstStyle/>
                    <a:p>
                      <a:pPr algn="ctr" fontAlgn="ctr"/>
                      <a:r>
                        <a:rPr lang="en-IN" sz="1250" b="0">
                          <a:effectLst/>
                        </a:rPr>
                        <a:t>A5</a:t>
                      </a:r>
                    </a:p>
                  </a:txBody>
                  <a:tcPr marL="63500" marR="63500" marT="88900" marB="88900" anchor="ctr"/>
                </a:tc>
                <a:tc>
                  <a:txBody>
                    <a:bodyPr/>
                    <a:lstStyle/>
                    <a:p>
                      <a:pPr algn="ctr" fontAlgn="ctr"/>
                      <a:r>
                        <a:rPr lang="en-IN" sz="1250" b="0" dirty="0">
                          <a:effectLst/>
                        </a:rPr>
                        <a:t>Patiala</a:t>
                      </a:r>
                    </a:p>
                  </a:txBody>
                  <a:tcPr marL="63500" marR="63500" marT="88900" marB="88900" anchor="ctr"/>
                </a:tc>
                <a:extLst>
                  <a:ext uri="{0D108BD9-81ED-4DB2-BD59-A6C34878D82A}">
                    <a16:rowId xmlns:a16="http://schemas.microsoft.com/office/drawing/2014/main" val="2382357328"/>
                  </a:ext>
                </a:extLst>
              </a:tr>
            </a:tbl>
          </a:graphicData>
        </a:graphic>
      </p:graphicFrame>
      <p:sp>
        <p:nvSpPr>
          <p:cNvPr id="5" name="TextBox 4">
            <a:extLst>
              <a:ext uri="{FF2B5EF4-FFF2-40B4-BE49-F238E27FC236}">
                <a16:creationId xmlns:a16="http://schemas.microsoft.com/office/drawing/2014/main" id="{6AE40555-BDDB-5ECB-E4C1-450CD63AEEEA}"/>
              </a:ext>
            </a:extLst>
          </p:cNvPr>
          <p:cNvSpPr txBox="1"/>
          <p:nvPr/>
        </p:nvSpPr>
        <p:spPr>
          <a:xfrm>
            <a:off x="274865" y="690461"/>
            <a:ext cx="6101442" cy="369332"/>
          </a:xfrm>
          <a:prstGeom prst="rect">
            <a:avLst/>
          </a:prstGeom>
          <a:noFill/>
        </p:spPr>
        <p:txBody>
          <a:bodyPr wrap="square">
            <a:spAutoFit/>
          </a:bodyPr>
          <a:lstStyle/>
          <a:p>
            <a:r>
              <a:rPr lang="en-IN" b="1" i="0" dirty="0">
                <a:solidFill>
                  <a:srgbClr val="273239"/>
                </a:solidFill>
                <a:effectLst/>
                <a:latin typeface="Nunito" pitchFamily="2" charset="0"/>
              </a:rPr>
              <a:t>Table Customer</a:t>
            </a:r>
            <a:r>
              <a:rPr lang="en-IN" b="0" i="0" dirty="0">
                <a:solidFill>
                  <a:srgbClr val="273239"/>
                </a:solidFill>
                <a:effectLst/>
                <a:latin typeface="Nunito" pitchFamily="2" charset="0"/>
              </a:rPr>
              <a:t> </a:t>
            </a:r>
            <a:endParaRPr lang="en-IN" dirty="0"/>
          </a:p>
        </p:txBody>
      </p:sp>
      <p:graphicFrame>
        <p:nvGraphicFramePr>
          <p:cNvPr id="6" name="Table 5">
            <a:extLst>
              <a:ext uri="{FF2B5EF4-FFF2-40B4-BE49-F238E27FC236}">
                <a16:creationId xmlns:a16="http://schemas.microsoft.com/office/drawing/2014/main" id="{F3BB3E68-8B7F-FA04-04C5-F2A5C4C77D73}"/>
              </a:ext>
            </a:extLst>
          </p:cNvPr>
          <p:cNvGraphicFramePr>
            <a:graphicFrameLocks noGrp="1"/>
          </p:cNvGraphicFramePr>
          <p:nvPr>
            <p:extLst>
              <p:ext uri="{D42A27DB-BD31-4B8C-83A1-F6EECF244321}">
                <p14:modId xmlns:p14="http://schemas.microsoft.com/office/powerpoint/2010/main" val="4102406622"/>
              </p:ext>
            </p:extLst>
          </p:nvPr>
        </p:nvGraphicFramePr>
        <p:xfrm>
          <a:off x="5206546" y="1106295"/>
          <a:ext cx="3012168" cy="1445260"/>
        </p:xfrm>
        <a:graphic>
          <a:graphicData uri="http://schemas.openxmlformats.org/drawingml/2006/table">
            <a:tbl>
              <a:tblPr>
                <a:tableStyleId>{284E427A-3D55-4303-BF80-6455036E1DE7}</a:tableStyleId>
              </a:tblPr>
              <a:tblGrid>
                <a:gridCol w="1506084">
                  <a:extLst>
                    <a:ext uri="{9D8B030D-6E8A-4147-A177-3AD203B41FA5}">
                      <a16:colId xmlns:a16="http://schemas.microsoft.com/office/drawing/2014/main" val="1533270050"/>
                    </a:ext>
                  </a:extLst>
                </a:gridCol>
                <a:gridCol w="1506084">
                  <a:extLst>
                    <a:ext uri="{9D8B030D-6E8A-4147-A177-3AD203B41FA5}">
                      <a16:colId xmlns:a16="http://schemas.microsoft.com/office/drawing/2014/main" val="44979720"/>
                    </a:ext>
                  </a:extLst>
                </a:gridCol>
              </a:tblGrid>
              <a:tr h="340360">
                <a:tc>
                  <a:txBody>
                    <a:bodyPr/>
                    <a:lstStyle/>
                    <a:p>
                      <a:pPr algn="ctr" fontAlgn="base"/>
                      <a:r>
                        <a:rPr lang="en-IN" sz="1400" b="1">
                          <a:effectLst/>
                        </a:rPr>
                        <a:t>Branch name</a:t>
                      </a:r>
                    </a:p>
                  </a:txBody>
                  <a:tcPr marL="38100" marR="38100" marT="63500" marB="63500" anchor="ctr"/>
                </a:tc>
                <a:tc>
                  <a:txBody>
                    <a:bodyPr/>
                    <a:lstStyle/>
                    <a:p>
                      <a:pPr algn="ctr" fontAlgn="base"/>
                      <a:r>
                        <a:rPr lang="en-IN" sz="1400" b="1">
                          <a:effectLst/>
                        </a:rPr>
                        <a:t>Branch City</a:t>
                      </a:r>
                    </a:p>
                  </a:txBody>
                  <a:tcPr marL="63500" marR="63500" marT="63500" marB="63500" anchor="ctr"/>
                </a:tc>
                <a:extLst>
                  <a:ext uri="{0D108BD9-81ED-4DB2-BD59-A6C34878D82A}">
                    <a16:rowId xmlns:a16="http://schemas.microsoft.com/office/drawing/2014/main" val="2998621931"/>
                  </a:ext>
                </a:extLst>
              </a:tr>
              <a:tr h="368300">
                <a:tc>
                  <a:txBody>
                    <a:bodyPr/>
                    <a:lstStyle/>
                    <a:p>
                      <a:pPr algn="ctr" fontAlgn="ctr"/>
                      <a:r>
                        <a:rPr lang="en-IN" sz="1200" b="0" dirty="0">
                          <a:effectLst/>
                        </a:rPr>
                        <a:t>ABC</a:t>
                      </a:r>
                    </a:p>
                  </a:txBody>
                  <a:tcPr marL="63500" marR="63500" marT="88900" marB="88900" anchor="ctr"/>
                </a:tc>
                <a:tc>
                  <a:txBody>
                    <a:bodyPr/>
                    <a:lstStyle/>
                    <a:p>
                      <a:pPr algn="ctr" fontAlgn="ctr"/>
                      <a:r>
                        <a:rPr lang="en-IN" sz="1200" b="0">
                          <a:effectLst/>
                        </a:rPr>
                        <a:t>Patiala</a:t>
                      </a:r>
                    </a:p>
                  </a:txBody>
                  <a:tcPr marL="63500" marR="63500" marT="88900" marB="88900" anchor="ctr"/>
                </a:tc>
                <a:extLst>
                  <a:ext uri="{0D108BD9-81ED-4DB2-BD59-A6C34878D82A}">
                    <a16:rowId xmlns:a16="http://schemas.microsoft.com/office/drawing/2014/main" val="2922653623"/>
                  </a:ext>
                </a:extLst>
              </a:tr>
              <a:tr h="368300">
                <a:tc>
                  <a:txBody>
                    <a:bodyPr/>
                    <a:lstStyle/>
                    <a:p>
                      <a:pPr algn="ctr" fontAlgn="ctr"/>
                      <a:r>
                        <a:rPr lang="en-IN" sz="1200" b="0">
                          <a:effectLst/>
                        </a:rPr>
                        <a:t>DEF</a:t>
                      </a:r>
                    </a:p>
                  </a:txBody>
                  <a:tcPr marL="63500" marR="63500" marT="88900" marB="88900" anchor="ctr"/>
                </a:tc>
                <a:tc>
                  <a:txBody>
                    <a:bodyPr/>
                    <a:lstStyle/>
                    <a:p>
                      <a:pPr algn="ctr" fontAlgn="ctr"/>
                      <a:r>
                        <a:rPr lang="en-IN" sz="1200" b="0">
                          <a:effectLst/>
                        </a:rPr>
                        <a:t>Ludhiana</a:t>
                      </a:r>
                    </a:p>
                  </a:txBody>
                  <a:tcPr marL="63500" marR="63500" marT="88900" marB="88900" anchor="ctr"/>
                </a:tc>
                <a:extLst>
                  <a:ext uri="{0D108BD9-81ED-4DB2-BD59-A6C34878D82A}">
                    <a16:rowId xmlns:a16="http://schemas.microsoft.com/office/drawing/2014/main" val="3402378808"/>
                  </a:ext>
                </a:extLst>
              </a:tr>
              <a:tr h="368300">
                <a:tc>
                  <a:txBody>
                    <a:bodyPr/>
                    <a:lstStyle/>
                    <a:p>
                      <a:pPr algn="ctr" fontAlgn="ctr"/>
                      <a:r>
                        <a:rPr lang="en-IN" sz="1200" b="0">
                          <a:effectLst/>
                        </a:rPr>
                        <a:t>GHI</a:t>
                      </a:r>
                    </a:p>
                  </a:txBody>
                  <a:tcPr marL="63500" marR="63500" marT="88900" marB="88900" anchor="ctr"/>
                </a:tc>
                <a:tc>
                  <a:txBody>
                    <a:bodyPr/>
                    <a:lstStyle/>
                    <a:p>
                      <a:pPr algn="ctr" fontAlgn="ctr"/>
                      <a:r>
                        <a:rPr lang="en-IN" sz="1200" b="0" dirty="0">
                          <a:effectLst/>
                        </a:rPr>
                        <a:t>Jalandhar</a:t>
                      </a:r>
                    </a:p>
                  </a:txBody>
                  <a:tcPr marL="63500" marR="63500" marT="88900" marB="88900" anchor="ctr"/>
                </a:tc>
                <a:extLst>
                  <a:ext uri="{0D108BD9-81ED-4DB2-BD59-A6C34878D82A}">
                    <a16:rowId xmlns:a16="http://schemas.microsoft.com/office/drawing/2014/main" val="2709075863"/>
                  </a:ext>
                </a:extLst>
              </a:tr>
            </a:tbl>
          </a:graphicData>
        </a:graphic>
      </p:graphicFrame>
      <p:sp>
        <p:nvSpPr>
          <p:cNvPr id="8" name="TextBox 7">
            <a:extLst>
              <a:ext uri="{FF2B5EF4-FFF2-40B4-BE49-F238E27FC236}">
                <a16:creationId xmlns:a16="http://schemas.microsoft.com/office/drawing/2014/main" id="{59B70DBC-448C-515D-16B9-5C87B79CCC97}"/>
              </a:ext>
            </a:extLst>
          </p:cNvPr>
          <p:cNvSpPr txBox="1"/>
          <p:nvPr/>
        </p:nvSpPr>
        <p:spPr>
          <a:xfrm>
            <a:off x="4996091" y="597456"/>
            <a:ext cx="6101442" cy="369332"/>
          </a:xfrm>
          <a:prstGeom prst="rect">
            <a:avLst/>
          </a:prstGeom>
          <a:noFill/>
        </p:spPr>
        <p:txBody>
          <a:bodyPr wrap="square">
            <a:spAutoFit/>
          </a:bodyPr>
          <a:lstStyle/>
          <a:p>
            <a:r>
              <a:rPr lang="en-IN" b="1" i="0" dirty="0">
                <a:solidFill>
                  <a:srgbClr val="273239"/>
                </a:solidFill>
                <a:effectLst/>
                <a:latin typeface="Nunito" pitchFamily="2" charset="0"/>
              </a:rPr>
              <a:t>Table Branch</a:t>
            </a:r>
            <a:r>
              <a:rPr lang="en-IN" b="0" i="0" dirty="0">
                <a:solidFill>
                  <a:srgbClr val="273239"/>
                </a:solidFill>
                <a:effectLst/>
                <a:latin typeface="Nunito" pitchFamily="2" charset="0"/>
              </a:rPr>
              <a:t> </a:t>
            </a:r>
            <a:endParaRPr lang="en-IN" dirty="0"/>
          </a:p>
        </p:txBody>
      </p:sp>
      <p:graphicFrame>
        <p:nvGraphicFramePr>
          <p:cNvPr id="11" name="Table 10">
            <a:extLst>
              <a:ext uri="{FF2B5EF4-FFF2-40B4-BE49-F238E27FC236}">
                <a16:creationId xmlns:a16="http://schemas.microsoft.com/office/drawing/2014/main" id="{E67CDA3D-A0C0-F1F1-61BC-582F772EFB42}"/>
              </a:ext>
            </a:extLst>
          </p:cNvPr>
          <p:cNvGraphicFramePr>
            <a:graphicFrameLocks noGrp="1"/>
          </p:cNvGraphicFramePr>
          <p:nvPr>
            <p:extLst>
              <p:ext uri="{D42A27DB-BD31-4B8C-83A1-F6EECF244321}">
                <p14:modId xmlns:p14="http://schemas.microsoft.com/office/powerpoint/2010/main" val="1159015739"/>
              </p:ext>
            </p:extLst>
          </p:nvPr>
        </p:nvGraphicFramePr>
        <p:xfrm>
          <a:off x="274865" y="3705022"/>
          <a:ext cx="2881992" cy="2026920"/>
        </p:xfrm>
        <a:graphic>
          <a:graphicData uri="http://schemas.openxmlformats.org/drawingml/2006/table">
            <a:tbl>
              <a:tblPr>
                <a:tableStyleId>{69C7853C-536D-4A76-A0AE-DD22124D55A5}</a:tableStyleId>
              </a:tblPr>
              <a:tblGrid>
                <a:gridCol w="960664">
                  <a:extLst>
                    <a:ext uri="{9D8B030D-6E8A-4147-A177-3AD203B41FA5}">
                      <a16:colId xmlns:a16="http://schemas.microsoft.com/office/drawing/2014/main" val="2981089061"/>
                    </a:ext>
                  </a:extLst>
                </a:gridCol>
                <a:gridCol w="960664">
                  <a:extLst>
                    <a:ext uri="{9D8B030D-6E8A-4147-A177-3AD203B41FA5}">
                      <a16:colId xmlns:a16="http://schemas.microsoft.com/office/drawing/2014/main" val="3874938397"/>
                    </a:ext>
                  </a:extLst>
                </a:gridCol>
                <a:gridCol w="960664">
                  <a:extLst>
                    <a:ext uri="{9D8B030D-6E8A-4147-A177-3AD203B41FA5}">
                      <a16:colId xmlns:a16="http://schemas.microsoft.com/office/drawing/2014/main" val="3746049345"/>
                    </a:ext>
                  </a:extLst>
                </a:gridCol>
              </a:tblGrid>
              <a:tr h="0">
                <a:tc>
                  <a:txBody>
                    <a:bodyPr/>
                    <a:lstStyle/>
                    <a:p>
                      <a:pPr algn="ctr" fontAlgn="base"/>
                      <a:r>
                        <a:rPr lang="en-IN" sz="1400" b="1">
                          <a:effectLst/>
                        </a:rPr>
                        <a:t>Account number</a:t>
                      </a:r>
                    </a:p>
                  </a:txBody>
                  <a:tcPr marL="38100" marR="38100" marT="63500" marB="63500" anchor="ctr"/>
                </a:tc>
                <a:tc>
                  <a:txBody>
                    <a:bodyPr/>
                    <a:lstStyle/>
                    <a:p>
                      <a:pPr algn="ctr" fontAlgn="base"/>
                      <a:r>
                        <a:rPr lang="en-IN" sz="1400" b="1" dirty="0">
                          <a:effectLst/>
                        </a:rPr>
                        <a:t>Branch name</a:t>
                      </a:r>
                    </a:p>
                  </a:txBody>
                  <a:tcPr marL="63500" marR="63500" marT="63500" marB="63500" anchor="ctr"/>
                </a:tc>
                <a:tc>
                  <a:txBody>
                    <a:bodyPr/>
                    <a:lstStyle/>
                    <a:p>
                      <a:pPr algn="ctr" fontAlgn="base"/>
                      <a:r>
                        <a:rPr lang="en-IN" sz="1400" b="1" dirty="0">
                          <a:effectLst/>
                        </a:rPr>
                        <a:t>Balance</a:t>
                      </a:r>
                    </a:p>
                  </a:txBody>
                  <a:tcPr marL="63500" marR="63500" marT="63500" marB="63500" anchor="ctr"/>
                </a:tc>
                <a:extLst>
                  <a:ext uri="{0D108BD9-81ED-4DB2-BD59-A6C34878D82A}">
                    <a16:rowId xmlns:a16="http://schemas.microsoft.com/office/drawing/2014/main" val="2586714468"/>
                  </a:ext>
                </a:extLst>
              </a:tr>
              <a:tr h="0">
                <a:tc>
                  <a:txBody>
                    <a:bodyPr/>
                    <a:lstStyle/>
                    <a:p>
                      <a:pPr algn="ctr" fontAlgn="ctr"/>
                      <a:r>
                        <a:rPr lang="en-IN" sz="1250" b="0">
                          <a:effectLst/>
                        </a:rPr>
                        <a:t>1111</a:t>
                      </a:r>
                    </a:p>
                  </a:txBody>
                  <a:tcPr marL="63500" marR="63500" marT="88900" marB="88900" anchor="ctr"/>
                </a:tc>
                <a:tc>
                  <a:txBody>
                    <a:bodyPr/>
                    <a:lstStyle/>
                    <a:p>
                      <a:pPr algn="ctr" fontAlgn="ctr"/>
                      <a:r>
                        <a:rPr lang="en-IN" sz="1250" b="0">
                          <a:effectLst/>
                        </a:rPr>
                        <a:t>ABC</a:t>
                      </a:r>
                    </a:p>
                  </a:txBody>
                  <a:tcPr marL="63500" marR="63500" marT="88900" marB="88900" anchor="ctr"/>
                </a:tc>
                <a:tc>
                  <a:txBody>
                    <a:bodyPr/>
                    <a:lstStyle/>
                    <a:p>
                      <a:pPr algn="ctr" fontAlgn="ctr"/>
                      <a:r>
                        <a:rPr lang="en-IN" sz="1250" b="0">
                          <a:effectLst/>
                        </a:rPr>
                        <a:t>50000</a:t>
                      </a:r>
                    </a:p>
                  </a:txBody>
                  <a:tcPr marL="63500" marR="63500" marT="88900" marB="88900" anchor="ctr"/>
                </a:tc>
                <a:extLst>
                  <a:ext uri="{0D108BD9-81ED-4DB2-BD59-A6C34878D82A}">
                    <a16:rowId xmlns:a16="http://schemas.microsoft.com/office/drawing/2014/main" val="1259786920"/>
                  </a:ext>
                </a:extLst>
              </a:tr>
              <a:tr h="0">
                <a:tc>
                  <a:txBody>
                    <a:bodyPr/>
                    <a:lstStyle/>
                    <a:p>
                      <a:pPr algn="ctr" fontAlgn="ctr"/>
                      <a:r>
                        <a:rPr lang="en-IN" sz="1250" b="0">
                          <a:effectLst/>
                        </a:rPr>
                        <a:t>1112</a:t>
                      </a:r>
                    </a:p>
                  </a:txBody>
                  <a:tcPr marL="63500" marR="63500" marT="88900" marB="88900" anchor="ctr"/>
                </a:tc>
                <a:tc>
                  <a:txBody>
                    <a:bodyPr/>
                    <a:lstStyle/>
                    <a:p>
                      <a:pPr algn="ctr" fontAlgn="ctr"/>
                      <a:r>
                        <a:rPr lang="en-IN" sz="1250" b="0">
                          <a:effectLst/>
                        </a:rPr>
                        <a:t>DEF</a:t>
                      </a:r>
                    </a:p>
                  </a:txBody>
                  <a:tcPr marL="63500" marR="63500" marT="88900" marB="88900" anchor="ctr"/>
                </a:tc>
                <a:tc>
                  <a:txBody>
                    <a:bodyPr/>
                    <a:lstStyle/>
                    <a:p>
                      <a:pPr algn="ctr" fontAlgn="ctr"/>
                      <a:r>
                        <a:rPr lang="en-IN" sz="1250" b="0">
                          <a:effectLst/>
                        </a:rPr>
                        <a:t>10000</a:t>
                      </a:r>
                    </a:p>
                  </a:txBody>
                  <a:tcPr marL="63500" marR="63500" marT="88900" marB="88900" anchor="ctr"/>
                </a:tc>
                <a:extLst>
                  <a:ext uri="{0D108BD9-81ED-4DB2-BD59-A6C34878D82A}">
                    <a16:rowId xmlns:a16="http://schemas.microsoft.com/office/drawing/2014/main" val="2863903874"/>
                  </a:ext>
                </a:extLst>
              </a:tr>
              <a:tr h="0">
                <a:tc>
                  <a:txBody>
                    <a:bodyPr/>
                    <a:lstStyle/>
                    <a:p>
                      <a:pPr algn="ctr" fontAlgn="ctr"/>
                      <a:r>
                        <a:rPr lang="en-IN" sz="1250" b="0">
                          <a:effectLst/>
                        </a:rPr>
                        <a:t>1113</a:t>
                      </a:r>
                    </a:p>
                  </a:txBody>
                  <a:tcPr marL="63500" marR="63500" marT="88900" marB="88900" anchor="ctr"/>
                </a:tc>
                <a:tc>
                  <a:txBody>
                    <a:bodyPr/>
                    <a:lstStyle/>
                    <a:p>
                      <a:pPr algn="ctr" fontAlgn="ctr"/>
                      <a:r>
                        <a:rPr lang="en-IN" sz="1250" b="0">
                          <a:effectLst/>
                        </a:rPr>
                        <a:t>GHI</a:t>
                      </a:r>
                    </a:p>
                  </a:txBody>
                  <a:tcPr marL="63500" marR="63500" marT="88900" marB="88900" anchor="ctr"/>
                </a:tc>
                <a:tc>
                  <a:txBody>
                    <a:bodyPr/>
                    <a:lstStyle/>
                    <a:p>
                      <a:pPr algn="ctr" fontAlgn="ctr"/>
                      <a:r>
                        <a:rPr lang="en-IN" sz="1250" b="0">
                          <a:effectLst/>
                        </a:rPr>
                        <a:t>9000</a:t>
                      </a:r>
                    </a:p>
                  </a:txBody>
                  <a:tcPr marL="63500" marR="63500" marT="88900" marB="88900" anchor="ctr"/>
                </a:tc>
                <a:extLst>
                  <a:ext uri="{0D108BD9-81ED-4DB2-BD59-A6C34878D82A}">
                    <a16:rowId xmlns:a16="http://schemas.microsoft.com/office/drawing/2014/main" val="407934876"/>
                  </a:ext>
                </a:extLst>
              </a:tr>
              <a:tr h="0">
                <a:tc>
                  <a:txBody>
                    <a:bodyPr/>
                    <a:lstStyle/>
                    <a:p>
                      <a:pPr algn="ctr" fontAlgn="ctr"/>
                      <a:r>
                        <a:rPr lang="en-IN" sz="1250" b="0">
                          <a:effectLst/>
                        </a:rPr>
                        <a:t>1114</a:t>
                      </a:r>
                    </a:p>
                  </a:txBody>
                  <a:tcPr marL="63500" marR="63500" marT="88900" marB="88900" anchor="ctr"/>
                </a:tc>
                <a:tc>
                  <a:txBody>
                    <a:bodyPr/>
                    <a:lstStyle/>
                    <a:p>
                      <a:pPr algn="ctr" fontAlgn="ctr"/>
                      <a:r>
                        <a:rPr lang="en-IN" sz="1250" b="0">
                          <a:effectLst/>
                        </a:rPr>
                        <a:t>ABC</a:t>
                      </a:r>
                    </a:p>
                  </a:txBody>
                  <a:tcPr marL="63500" marR="63500" marT="88900" marB="88900" anchor="ctr"/>
                </a:tc>
                <a:tc>
                  <a:txBody>
                    <a:bodyPr/>
                    <a:lstStyle/>
                    <a:p>
                      <a:pPr algn="ctr" fontAlgn="ctr"/>
                      <a:r>
                        <a:rPr lang="en-IN" sz="1250" b="0" dirty="0">
                          <a:effectLst/>
                        </a:rPr>
                        <a:t>7000</a:t>
                      </a:r>
                    </a:p>
                  </a:txBody>
                  <a:tcPr marL="63500" marR="63500" marT="88900" marB="88900" anchor="ctr"/>
                </a:tc>
                <a:extLst>
                  <a:ext uri="{0D108BD9-81ED-4DB2-BD59-A6C34878D82A}">
                    <a16:rowId xmlns:a16="http://schemas.microsoft.com/office/drawing/2014/main" val="3296624464"/>
                  </a:ext>
                </a:extLst>
              </a:tr>
            </a:tbl>
          </a:graphicData>
        </a:graphic>
      </p:graphicFrame>
      <p:sp>
        <p:nvSpPr>
          <p:cNvPr id="14" name="TextBox 13">
            <a:extLst>
              <a:ext uri="{FF2B5EF4-FFF2-40B4-BE49-F238E27FC236}">
                <a16:creationId xmlns:a16="http://schemas.microsoft.com/office/drawing/2014/main" id="{95844E50-D660-6CEC-AC66-635A563188ED}"/>
              </a:ext>
            </a:extLst>
          </p:cNvPr>
          <p:cNvSpPr txBox="1"/>
          <p:nvPr/>
        </p:nvSpPr>
        <p:spPr>
          <a:xfrm>
            <a:off x="149680" y="3335690"/>
            <a:ext cx="6291942" cy="369332"/>
          </a:xfrm>
          <a:prstGeom prst="rect">
            <a:avLst/>
          </a:prstGeom>
          <a:noFill/>
        </p:spPr>
        <p:txBody>
          <a:bodyPr wrap="square">
            <a:spAutoFit/>
          </a:bodyPr>
          <a:lstStyle/>
          <a:p>
            <a:r>
              <a:rPr lang="en-IN" b="1" i="0" dirty="0">
                <a:solidFill>
                  <a:srgbClr val="273239"/>
                </a:solidFill>
                <a:effectLst/>
                <a:latin typeface="Nunito" pitchFamily="2" charset="0"/>
              </a:rPr>
              <a:t>Table Account</a:t>
            </a:r>
            <a:endParaRPr lang="en-IN" dirty="0"/>
          </a:p>
        </p:txBody>
      </p:sp>
      <p:graphicFrame>
        <p:nvGraphicFramePr>
          <p:cNvPr id="17" name="Table 16">
            <a:extLst>
              <a:ext uri="{FF2B5EF4-FFF2-40B4-BE49-F238E27FC236}">
                <a16:creationId xmlns:a16="http://schemas.microsoft.com/office/drawing/2014/main" id="{44042883-5994-EB1F-E61C-4CEA19F6892D}"/>
              </a:ext>
            </a:extLst>
          </p:cNvPr>
          <p:cNvGraphicFramePr>
            <a:graphicFrameLocks noGrp="1"/>
          </p:cNvGraphicFramePr>
          <p:nvPr>
            <p:extLst>
              <p:ext uri="{D42A27DB-BD31-4B8C-83A1-F6EECF244321}">
                <p14:modId xmlns:p14="http://schemas.microsoft.com/office/powerpoint/2010/main" val="453212759"/>
              </p:ext>
            </p:extLst>
          </p:nvPr>
        </p:nvGraphicFramePr>
        <p:xfrm>
          <a:off x="3453947" y="3826467"/>
          <a:ext cx="3708855" cy="1813560"/>
        </p:xfrm>
        <a:graphic>
          <a:graphicData uri="http://schemas.openxmlformats.org/drawingml/2006/table">
            <a:tbl>
              <a:tblPr>
                <a:tableStyleId>{35758FB7-9AC5-4552-8A53-C91805E547FA}</a:tableStyleId>
              </a:tblPr>
              <a:tblGrid>
                <a:gridCol w="1236285">
                  <a:extLst>
                    <a:ext uri="{9D8B030D-6E8A-4147-A177-3AD203B41FA5}">
                      <a16:colId xmlns:a16="http://schemas.microsoft.com/office/drawing/2014/main" val="2373149452"/>
                    </a:ext>
                  </a:extLst>
                </a:gridCol>
                <a:gridCol w="1236285">
                  <a:extLst>
                    <a:ext uri="{9D8B030D-6E8A-4147-A177-3AD203B41FA5}">
                      <a16:colId xmlns:a16="http://schemas.microsoft.com/office/drawing/2014/main" val="1244965000"/>
                    </a:ext>
                  </a:extLst>
                </a:gridCol>
                <a:gridCol w="1236285">
                  <a:extLst>
                    <a:ext uri="{9D8B030D-6E8A-4147-A177-3AD203B41FA5}">
                      <a16:colId xmlns:a16="http://schemas.microsoft.com/office/drawing/2014/main" val="4008836904"/>
                    </a:ext>
                  </a:extLst>
                </a:gridCol>
              </a:tblGrid>
              <a:tr h="0">
                <a:tc>
                  <a:txBody>
                    <a:bodyPr/>
                    <a:lstStyle/>
                    <a:p>
                      <a:pPr algn="ctr" fontAlgn="base"/>
                      <a:r>
                        <a:rPr lang="en-IN" sz="1400" b="1">
                          <a:effectLst/>
                        </a:rPr>
                        <a:t>Loan number</a:t>
                      </a:r>
                    </a:p>
                  </a:txBody>
                  <a:tcPr marL="38100" marR="38100" marT="63500" marB="63500" anchor="ctr"/>
                </a:tc>
                <a:tc>
                  <a:txBody>
                    <a:bodyPr/>
                    <a:lstStyle/>
                    <a:p>
                      <a:pPr algn="ctr" fontAlgn="base"/>
                      <a:r>
                        <a:rPr lang="en-IN" sz="1400" b="1">
                          <a:effectLst/>
                        </a:rPr>
                        <a:t>Branch name</a:t>
                      </a:r>
                    </a:p>
                  </a:txBody>
                  <a:tcPr marL="63500" marR="63500" marT="63500" marB="63500" anchor="ctr"/>
                </a:tc>
                <a:tc>
                  <a:txBody>
                    <a:bodyPr/>
                    <a:lstStyle/>
                    <a:p>
                      <a:pPr algn="ctr" fontAlgn="base"/>
                      <a:r>
                        <a:rPr lang="en-IN" sz="1400" b="1">
                          <a:effectLst/>
                        </a:rPr>
                        <a:t>Amount</a:t>
                      </a:r>
                    </a:p>
                  </a:txBody>
                  <a:tcPr marL="63500" marR="63500" marT="63500" marB="63500" anchor="ctr"/>
                </a:tc>
                <a:extLst>
                  <a:ext uri="{0D108BD9-81ED-4DB2-BD59-A6C34878D82A}">
                    <a16:rowId xmlns:a16="http://schemas.microsoft.com/office/drawing/2014/main" val="2206519453"/>
                  </a:ext>
                </a:extLst>
              </a:tr>
              <a:tr h="0">
                <a:tc>
                  <a:txBody>
                    <a:bodyPr/>
                    <a:lstStyle/>
                    <a:p>
                      <a:pPr algn="ctr" fontAlgn="ctr"/>
                      <a:r>
                        <a:rPr lang="en-IN" sz="1250" b="0">
                          <a:effectLst/>
                        </a:rPr>
                        <a:t>L33</a:t>
                      </a:r>
                    </a:p>
                  </a:txBody>
                  <a:tcPr marL="63500" marR="63500" marT="88900" marB="88900" anchor="ctr"/>
                </a:tc>
                <a:tc>
                  <a:txBody>
                    <a:bodyPr/>
                    <a:lstStyle/>
                    <a:p>
                      <a:pPr algn="ctr" fontAlgn="ctr"/>
                      <a:r>
                        <a:rPr lang="en-IN" sz="1250" b="0">
                          <a:effectLst/>
                        </a:rPr>
                        <a:t>ABC</a:t>
                      </a:r>
                    </a:p>
                  </a:txBody>
                  <a:tcPr marL="63500" marR="63500" marT="88900" marB="88900" anchor="ctr"/>
                </a:tc>
                <a:tc>
                  <a:txBody>
                    <a:bodyPr/>
                    <a:lstStyle/>
                    <a:p>
                      <a:pPr algn="ctr" fontAlgn="ctr"/>
                      <a:r>
                        <a:rPr lang="en-IN" sz="1250" b="0">
                          <a:effectLst/>
                        </a:rPr>
                        <a:t>10000</a:t>
                      </a:r>
                    </a:p>
                  </a:txBody>
                  <a:tcPr marL="63500" marR="63500" marT="88900" marB="88900" anchor="ctr"/>
                </a:tc>
                <a:extLst>
                  <a:ext uri="{0D108BD9-81ED-4DB2-BD59-A6C34878D82A}">
                    <a16:rowId xmlns:a16="http://schemas.microsoft.com/office/drawing/2014/main" val="2748103442"/>
                  </a:ext>
                </a:extLst>
              </a:tr>
              <a:tr h="0">
                <a:tc>
                  <a:txBody>
                    <a:bodyPr/>
                    <a:lstStyle/>
                    <a:p>
                      <a:pPr algn="ctr" fontAlgn="ctr"/>
                      <a:r>
                        <a:rPr lang="en-IN" sz="1250" b="0">
                          <a:effectLst/>
                        </a:rPr>
                        <a:t>L35</a:t>
                      </a:r>
                    </a:p>
                  </a:txBody>
                  <a:tcPr marL="63500" marR="63500" marT="88900" marB="88900" anchor="ctr"/>
                </a:tc>
                <a:tc>
                  <a:txBody>
                    <a:bodyPr/>
                    <a:lstStyle/>
                    <a:p>
                      <a:pPr algn="ctr" fontAlgn="ctr"/>
                      <a:r>
                        <a:rPr lang="en-IN" sz="1250" b="0">
                          <a:effectLst/>
                        </a:rPr>
                        <a:t>DEF</a:t>
                      </a:r>
                    </a:p>
                  </a:txBody>
                  <a:tcPr marL="63500" marR="63500" marT="88900" marB="88900" anchor="ctr"/>
                </a:tc>
                <a:tc>
                  <a:txBody>
                    <a:bodyPr/>
                    <a:lstStyle/>
                    <a:p>
                      <a:pPr algn="ctr" fontAlgn="ctr"/>
                      <a:r>
                        <a:rPr lang="en-IN" sz="1250" b="0" dirty="0">
                          <a:effectLst/>
                        </a:rPr>
                        <a:t>15000</a:t>
                      </a:r>
                    </a:p>
                  </a:txBody>
                  <a:tcPr marL="63500" marR="63500" marT="88900" marB="88900" anchor="ctr"/>
                </a:tc>
                <a:extLst>
                  <a:ext uri="{0D108BD9-81ED-4DB2-BD59-A6C34878D82A}">
                    <a16:rowId xmlns:a16="http://schemas.microsoft.com/office/drawing/2014/main" val="1306429768"/>
                  </a:ext>
                </a:extLst>
              </a:tr>
              <a:tr h="0">
                <a:tc>
                  <a:txBody>
                    <a:bodyPr/>
                    <a:lstStyle/>
                    <a:p>
                      <a:pPr algn="ctr" fontAlgn="ctr"/>
                      <a:r>
                        <a:rPr lang="en-IN" sz="1250" b="0">
                          <a:effectLst/>
                        </a:rPr>
                        <a:t>L49</a:t>
                      </a:r>
                    </a:p>
                  </a:txBody>
                  <a:tcPr marL="63500" marR="63500" marT="88900" marB="88900" anchor="ctr"/>
                </a:tc>
                <a:tc>
                  <a:txBody>
                    <a:bodyPr/>
                    <a:lstStyle/>
                    <a:p>
                      <a:pPr algn="ctr" fontAlgn="ctr"/>
                      <a:r>
                        <a:rPr lang="en-IN" sz="1250" b="0">
                          <a:effectLst/>
                        </a:rPr>
                        <a:t>GHI</a:t>
                      </a:r>
                    </a:p>
                  </a:txBody>
                  <a:tcPr marL="63500" marR="63500" marT="88900" marB="88900" anchor="ctr"/>
                </a:tc>
                <a:tc>
                  <a:txBody>
                    <a:bodyPr/>
                    <a:lstStyle/>
                    <a:p>
                      <a:pPr algn="ctr" fontAlgn="ctr"/>
                      <a:r>
                        <a:rPr lang="en-IN" sz="1250" b="0">
                          <a:effectLst/>
                        </a:rPr>
                        <a:t>9000</a:t>
                      </a:r>
                    </a:p>
                  </a:txBody>
                  <a:tcPr marL="63500" marR="63500" marT="88900" marB="88900" anchor="ctr"/>
                </a:tc>
                <a:extLst>
                  <a:ext uri="{0D108BD9-81ED-4DB2-BD59-A6C34878D82A}">
                    <a16:rowId xmlns:a16="http://schemas.microsoft.com/office/drawing/2014/main" val="2370682780"/>
                  </a:ext>
                </a:extLst>
              </a:tr>
              <a:tr h="0">
                <a:tc>
                  <a:txBody>
                    <a:bodyPr/>
                    <a:lstStyle/>
                    <a:p>
                      <a:pPr algn="ctr" fontAlgn="ctr"/>
                      <a:r>
                        <a:rPr lang="en-IN" sz="1250" b="0">
                          <a:effectLst/>
                        </a:rPr>
                        <a:t>L98</a:t>
                      </a:r>
                    </a:p>
                  </a:txBody>
                  <a:tcPr marL="63500" marR="63500" marT="88900" marB="88900" anchor="ctr"/>
                </a:tc>
                <a:tc>
                  <a:txBody>
                    <a:bodyPr/>
                    <a:lstStyle/>
                    <a:p>
                      <a:pPr algn="ctr" fontAlgn="ctr"/>
                      <a:r>
                        <a:rPr lang="en-IN" sz="1250" b="0">
                          <a:effectLst/>
                        </a:rPr>
                        <a:t>DEF</a:t>
                      </a:r>
                    </a:p>
                  </a:txBody>
                  <a:tcPr marL="63500" marR="63500" marT="88900" marB="88900" anchor="ctr"/>
                </a:tc>
                <a:tc>
                  <a:txBody>
                    <a:bodyPr/>
                    <a:lstStyle/>
                    <a:p>
                      <a:pPr algn="ctr" fontAlgn="ctr"/>
                      <a:r>
                        <a:rPr lang="en-IN" sz="1250" b="0" dirty="0">
                          <a:effectLst/>
                        </a:rPr>
                        <a:t>65000</a:t>
                      </a:r>
                    </a:p>
                  </a:txBody>
                  <a:tcPr marL="63500" marR="63500" marT="88900" marB="88900" anchor="ctr"/>
                </a:tc>
                <a:extLst>
                  <a:ext uri="{0D108BD9-81ED-4DB2-BD59-A6C34878D82A}">
                    <a16:rowId xmlns:a16="http://schemas.microsoft.com/office/drawing/2014/main" val="3415220327"/>
                  </a:ext>
                </a:extLst>
              </a:tr>
            </a:tbl>
          </a:graphicData>
        </a:graphic>
      </p:graphicFrame>
      <p:sp>
        <p:nvSpPr>
          <p:cNvPr id="20" name="TextBox 19">
            <a:extLst>
              <a:ext uri="{FF2B5EF4-FFF2-40B4-BE49-F238E27FC236}">
                <a16:creationId xmlns:a16="http://schemas.microsoft.com/office/drawing/2014/main" id="{378BA11C-DEE8-698B-C69D-47697C75859A}"/>
              </a:ext>
            </a:extLst>
          </p:cNvPr>
          <p:cNvSpPr txBox="1"/>
          <p:nvPr/>
        </p:nvSpPr>
        <p:spPr>
          <a:xfrm>
            <a:off x="3325586" y="3348654"/>
            <a:ext cx="6291942" cy="369332"/>
          </a:xfrm>
          <a:prstGeom prst="rect">
            <a:avLst/>
          </a:prstGeom>
          <a:noFill/>
        </p:spPr>
        <p:txBody>
          <a:bodyPr wrap="square">
            <a:spAutoFit/>
          </a:bodyPr>
          <a:lstStyle/>
          <a:p>
            <a:r>
              <a:rPr lang="en-IN" b="1" i="0" dirty="0">
                <a:solidFill>
                  <a:srgbClr val="273239"/>
                </a:solidFill>
                <a:effectLst/>
                <a:latin typeface="Nunito" pitchFamily="2" charset="0"/>
              </a:rPr>
              <a:t>Table Loan</a:t>
            </a:r>
            <a:r>
              <a:rPr lang="en-IN" b="0" i="0" dirty="0">
                <a:solidFill>
                  <a:srgbClr val="273239"/>
                </a:solidFill>
                <a:effectLst/>
                <a:latin typeface="Nunito" pitchFamily="2" charset="0"/>
              </a:rPr>
              <a:t> </a:t>
            </a:r>
            <a:endParaRPr lang="en-IN" dirty="0"/>
          </a:p>
        </p:txBody>
      </p:sp>
      <p:graphicFrame>
        <p:nvGraphicFramePr>
          <p:cNvPr id="21" name="Table 20">
            <a:extLst>
              <a:ext uri="{FF2B5EF4-FFF2-40B4-BE49-F238E27FC236}">
                <a16:creationId xmlns:a16="http://schemas.microsoft.com/office/drawing/2014/main" id="{EEA3050A-746D-389D-88B9-EE1176D79296}"/>
              </a:ext>
            </a:extLst>
          </p:cNvPr>
          <p:cNvGraphicFramePr>
            <a:graphicFrameLocks noGrp="1"/>
          </p:cNvGraphicFramePr>
          <p:nvPr>
            <p:extLst>
              <p:ext uri="{D42A27DB-BD31-4B8C-83A1-F6EECF244321}">
                <p14:modId xmlns:p14="http://schemas.microsoft.com/office/powerpoint/2010/main" val="1848584904"/>
              </p:ext>
            </p:extLst>
          </p:nvPr>
        </p:nvGraphicFramePr>
        <p:xfrm>
          <a:off x="8599714" y="1086869"/>
          <a:ext cx="3240768" cy="1445260"/>
        </p:xfrm>
        <a:graphic>
          <a:graphicData uri="http://schemas.openxmlformats.org/drawingml/2006/table">
            <a:tbl>
              <a:tblPr>
                <a:tableStyleId>{284E427A-3D55-4303-BF80-6455036E1DE7}</a:tableStyleId>
              </a:tblPr>
              <a:tblGrid>
                <a:gridCol w="1620384">
                  <a:extLst>
                    <a:ext uri="{9D8B030D-6E8A-4147-A177-3AD203B41FA5}">
                      <a16:colId xmlns:a16="http://schemas.microsoft.com/office/drawing/2014/main" val="2981858679"/>
                    </a:ext>
                  </a:extLst>
                </a:gridCol>
                <a:gridCol w="1620384">
                  <a:extLst>
                    <a:ext uri="{9D8B030D-6E8A-4147-A177-3AD203B41FA5}">
                      <a16:colId xmlns:a16="http://schemas.microsoft.com/office/drawing/2014/main" val="2602677144"/>
                    </a:ext>
                  </a:extLst>
                </a:gridCol>
              </a:tblGrid>
              <a:tr h="340360">
                <a:tc>
                  <a:txBody>
                    <a:bodyPr/>
                    <a:lstStyle/>
                    <a:p>
                      <a:pPr algn="ctr" fontAlgn="base"/>
                      <a:r>
                        <a:rPr lang="en-IN" sz="1400" b="1">
                          <a:effectLst/>
                        </a:rPr>
                        <a:t>Customer name</a:t>
                      </a:r>
                    </a:p>
                  </a:txBody>
                  <a:tcPr marL="38100" marR="38100" marT="63500" marB="63500" anchor="ctr"/>
                </a:tc>
                <a:tc>
                  <a:txBody>
                    <a:bodyPr/>
                    <a:lstStyle/>
                    <a:p>
                      <a:pPr algn="ctr" fontAlgn="base"/>
                      <a:r>
                        <a:rPr lang="en-IN" sz="1400" b="1">
                          <a:effectLst/>
                        </a:rPr>
                        <a:t>Loan number</a:t>
                      </a:r>
                    </a:p>
                  </a:txBody>
                  <a:tcPr marL="63500" marR="63500" marT="63500" marB="63500" anchor="ctr"/>
                </a:tc>
                <a:extLst>
                  <a:ext uri="{0D108BD9-81ED-4DB2-BD59-A6C34878D82A}">
                    <a16:rowId xmlns:a16="http://schemas.microsoft.com/office/drawing/2014/main" val="4040689181"/>
                  </a:ext>
                </a:extLst>
              </a:tr>
              <a:tr h="368300">
                <a:tc>
                  <a:txBody>
                    <a:bodyPr/>
                    <a:lstStyle/>
                    <a:p>
                      <a:pPr algn="ctr" fontAlgn="ctr"/>
                      <a:r>
                        <a:rPr lang="en-IN" sz="1200" b="0">
                          <a:effectLst/>
                        </a:rPr>
                        <a:t>Saurabh</a:t>
                      </a:r>
                    </a:p>
                  </a:txBody>
                  <a:tcPr marL="63500" marR="63500" marT="88900" marB="88900" anchor="ctr"/>
                </a:tc>
                <a:tc>
                  <a:txBody>
                    <a:bodyPr/>
                    <a:lstStyle/>
                    <a:p>
                      <a:pPr algn="ctr" fontAlgn="ctr"/>
                      <a:r>
                        <a:rPr lang="en-IN" sz="1200" b="0" dirty="0">
                          <a:effectLst/>
                        </a:rPr>
                        <a:t>L33</a:t>
                      </a:r>
                    </a:p>
                  </a:txBody>
                  <a:tcPr marL="63500" marR="63500" marT="88900" marB="88900" anchor="ctr"/>
                </a:tc>
                <a:extLst>
                  <a:ext uri="{0D108BD9-81ED-4DB2-BD59-A6C34878D82A}">
                    <a16:rowId xmlns:a16="http://schemas.microsoft.com/office/drawing/2014/main" val="2997759738"/>
                  </a:ext>
                </a:extLst>
              </a:tr>
              <a:tr h="368300">
                <a:tc>
                  <a:txBody>
                    <a:bodyPr/>
                    <a:lstStyle/>
                    <a:p>
                      <a:pPr algn="ctr" fontAlgn="ctr"/>
                      <a:r>
                        <a:rPr lang="en-IN" sz="1200" b="0">
                          <a:effectLst/>
                        </a:rPr>
                        <a:t>Mehak</a:t>
                      </a:r>
                    </a:p>
                  </a:txBody>
                  <a:tcPr marL="63500" marR="63500" marT="88900" marB="88900" anchor="ctr"/>
                </a:tc>
                <a:tc>
                  <a:txBody>
                    <a:bodyPr/>
                    <a:lstStyle/>
                    <a:p>
                      <a:pPr algn="ctr" fontAlgn="ctr"/>
                      <a:r>
                        <a:rPr lang="en-IN" sz="1200" b="0">
                          <a:effectLst/>
                        </a:rPr>
                        <a:t>L49</a:t>
                      </a:r>
                    </a:p>
                  </a:txBody>
                  <a:tcPr marL="63500" marR="63500" marT="88900" marB="88900" anchor="ctr"/>
                </a:tc>
                <a:extLst>
                  <a:ext uri="{0D108BD9-81ED-4DB2-BD59-A6C34878D82A}">
                    <a16:rowId xmlns:a16="http://schemas.microsoft.com/office/drawing/2014/main" val="394779568"/>
                  </a:ext>
                </a:extLst>
              </a:tr>
              <a:tr h="368300">
                <a:tc>
                  <a:txBody>
                    <a:bodyPr/>
                    <a:lstStyle/>
                    <a:p>
                      <a:pPr algn="ctr" fontAlgn="ctr"/>
                      <a:r>
                        <a:rPr lang="en-IN" sz="1200" b="0">
                          <a:effectLst/>
                        </a:rPr>
                        <a:t>Ria</a:t>
                      </a:r>
                    </a:p>
                  </a:txBody>
                  <a:tcPr marL="63500" marR="63500" marT="88900" marB="88900" anchor="ctr"/>
                </a:tc>
                <a:tc>
                  <a:txBody>
                    <a:bodyPr/>
                    <a:lstStyle/>
                    <a:p>
                      <a:pPr algn="ctr" fontAlgn="ctr"/>
                      <a:r>
                        <a:rPr lang="en-IN" sz="1200" b="0" dirty="0">
                          <a:effectLst/>
                        </a:rPr>
                        <a:t>L98</a:t>
                      </a:r>
                    </a:p>
                  </a:txBody>
                  <a:tcPr marL="63500" marR="63500" marT="88900" marB="88900" anchor="ctr"/>
                </a:tc>
                <a:extLst>
                  <a:ext uri="{0D108BD9-81ED-4DB2-BD59-A6C34878D82A}">
                    <a16:rowId xmlns:a16="http://schemas.microsoft.com/office/drawing/2014/main" val="1007540081"/>
                  </a:ext>
                </a:extLst>
              </a:tr>
            </a:tbl>
          </a:graphicData>
        </a:graphic>
      </p:graphicFrame>
      <p:sp>
        <p:nvSpPr>
          <p:cNvPr id="24" name="TextBox 23">
            <a:extLst>
              <a:ext uri="{FF2B5EF4-FFF2-40B4-BE49-F238E27FC236}">
                <a16:creationId xmlns:a16="http://schemas.microsoft.com/office/drawing/2014/main" id="{57F6701F-F24E-5E05-65EC-C36FD26EB68D}"/>
              </a:ext>
            </a:extLst>
          </p:cNvPr>
          <p:cNvSpPr txBox="1"/>
          <p:nvPr/>
        </p:nvSpPr>
        <p:spPr>
          <a:xfrm>
            <a:off x="8482693" y="597456"/>
            <a:ext cx="6101442" cy="369332"/>
          </a:xfrm>
          <a:prstGeom prst="rect">
            <a:avLst/>
          </a:prstGeom>
          <a:noFill/>
        </p:spPr>
        <p:txBody>
          <a:bodyPr wrap="square">
            <a:spAutoFit/>
          </a:bodyPr>
          <a:lstStyle/>
          <a:p>
            <a:r>
              <a:rPr lang="en-IN" b="1" i="0" dirty="0">
                <a:solidFill>
                  <a:srgbClr val="273239"/>
                </a:solidFill>
                <a:effectLst/>
                <a:latin typeface="Nunito" pitchFamily="2" charset="0"/>
              </a:rPr>
              <a:t>Table Borrower</a:t>
            </a:r>
            <a:r>
              <a:rPr lang="en-IN" b="0" i="0" dirty="0">
                <a:solidFill>
                  <a:srgbClr val="273239"/>
                </a:solidFill>
                <a:effectLst/>
                <a:latin typeface="Nunito" pitchFamily="2" charset="0"/>
              </a:rPr>
              <a:t> </a:t>
            </a:r>
            <a:endParaRPr lang="en-IN" dirty="0"/>
          </a:p>
        </p:txBody>
      </p:sp>
      <p:graphicFrame>
        <p:nvGraphicFramePr>
          <p:cNvPr id="25" name="Table 24">
            <a:extLst>
              <a:ext uri="{FF2B5EF4-FFF2-40B4-BE49-F238E27FC236}">
                <a16:creationId xmlns:a16="http://schemas.microsoft.com/office/drawing/2014/main" id="{8F0534AA-2279-63AB-A8EF-92EAFC5B0789}"/>
              </a:ext>
            </a:extLst>
          </p:cNvPr>
          <p:cNvGraphicFramePr>
            <a:graphicFrameLocks noGrp="1"/>
          </p:cNvGraphicFramePr>
          <p:nvPr>
            <p:extLst>
              <p:ext uri="{D42A27DB-BD31-4B8C-83A1-F6EECF244321}">
                <p14:modId xmlns:p14="http://schemas.microsoft.com/office/powerpoint/2010/main" val="3170240416"/>
              </p:ext>
            </p:extLst>
          </p:nvPr>
        </p:nvGraphicFramePr>
        <p:xfrm>
          <a:off x="7844970" y="3826467"/>
          <a:ext cx="3545116" cy="1445260"/>
        </p:xfrm>
        <a:graphic>
          <a:graphicData uri="http://schemas.openxmlformats.org/drawingml/2006/table">
            <a:tbl>
              <a:tblPr>
                <a:tableStyleId>{08FB837D-C827-4EFA-A057-4D05807E0F7C}</a:tableStyleId>
              </a:tblPr>
              <a:tblGrid>
                <a:gridCol w="1772558">
                  <a:extLst>
                    <a:ext uri="{9D8B030D-6E8A-4147-A177-3AD203B41FA5}">
                      <a16:colId xmlns:a16="http://schemas.microsoft.com/office/drawing/2014/main" val="1291574892"/>
                    </a:ext>
                  </a:extLst>
                </a:gridCol>
                <a:gridCol w="1772558">
                  <a:extLst>
                    <a:ext uri="{9D8B030D-6E8A-4147-A177-3AD203B41FA5}">
                      <a16:colId xmlns:a16="http://schemas.microsoft.com/office/drawing/2014/main" val="527926021"/>
                    </a:ext>
                  </a:extLst>
                </a:gridCol>
              </a:tblGrid>
              <a:tr h="340360">
                <a:tc>
                  <a:txBody>
                    <a:bodyPr/>
                    <a:lstStyle/>
                    <a:p>
                      <a:pPr algn="ctr" fontAlgn="base"/>
                      <a:r>
                        <a:rPr lang="en-IN" sz="1400" b="1">
                          <a:effectLst/>
                        </a:rPr>
                        <a:t>Customer name</a:t>
                      </a:r>
                    </a:p>
                  </a:txBody>
                  <a:tcPr marL="38100" marR="38100" marT="63500" marB="63500" anchor="ctr"/>
                </a:tc>
                <a:tc>
                  <a:txBody>
                    <a:bodyPr/>
                    <a:lstStyle/>
                    <a:p>
                      <a:pPr algn="ctr" fontAlgn="base"/>
                      <a:r>
                        <a:rPr lang="en-IN" sz="1400" b="1">
                          <a:effectLst/>
                        </a:rPr>
                        <a:t>Account number</a:t>
                      </a:r>
                    </a:p>
                  </a:txBody>
                  <a:tcPr marL="63500" marR="63500" marT="63500" marB="63500" anchor="ctr"/>
                </a:tc>
                <a:extLst>
                  <a:ext uri="{0D108BD9-81ED-4DB2-BD59-A6C34878D82A}">
                    <a16:rowId xmlns:a16="http://schemas.microsoft.com/office/drawing/2014/main" val="288483595"/>
                  </a:ext>
                </a:extLst>
              </a:tr>
              <a:tr h="368300">
                <a:tc>
                  <a:txBody>
                    <a:bodyPr/>
                    <a:lstStyle/>
                    <a:p>
                      <a:pPr algn="ctr" fontAlgn="ctr"/>
                      <a:r>
                        <a:rPr lang="en-IN" sz="1200" b="0">
                          <a:effectLst/>
                        </a:rPr>
                        <a:t>Saurabh</a:t>
                      </a:r>
                    </a:p>
                  </a:txBody>
                  <a:tcPr marL="63500" marR="63500" marT="88900" marB="88900" anchor="ctr"/>
                </a:tc>
                <a:tc>
                  <a:txBody>
                    <a:bodyPr/>
                    <a:lstStyle/>
                    <a:p>
                      <a:pPr algn="ctr" fontAlgn="ctr"/>
                      <a:r>
                        <a:rPr lang="en-IN" sz="1200" b="0">
                          <a:effectLst/>
                        </a:rPr>
                        <a:t>1111</a:t>
                      </a:r>
                    </a:p>
                  </a:txBody>
                  <a:tcPr marL="63500" marR="63500" marT="88900" marB="88900" anchor="ctr"/>
                </a:tc>
                <a:extLst>
                  <a:ext uri="{0D108BD9-81ED-4DB2-BD59-A6C34878D82A}">
                    <a16:rowId xmlns:a16="http://schemas.microsoft.com/office/drawing/2014/main" val="272622709"/>
                  </a:ext>
                </a:extLst>
              </a:tr>
              <a:tr h="368300">
                <a:tc>
                  <a:txBody>
                    <a:bodyPr/>
                    <a:lstStyle/>
                    <a:p>
                      <a:pPr algn="ctr" fontAlgn="ctr"/>
                      <a:r>
                        <a:rPr lang="en-IN" sz="1200" b="0">
                          <a:effectLst/>
                        </a:rPr>
                        <a:t>Mehak</a:t>
                      </a:r>
                    </a:p>
                  </a:txBody>
                  <a:tcPr marL="63500" marR="63500" marT="88900" marB="88900" anchor="ctr"/>
                </a:tc>
                <a:tc>
                  <a:txBody>
                    <a:bodyPr/>
                    <a:lstStyle/>
                    <a:p>
                      <a:pPr algn="ctr" fontAlgn="ctr"/>
                      <a:r>
                        <a:rPr lang="en-IN" sz="1200" b="0">
                          <a:effectLst/>
                        </a:rPr>
                        <a:t>1113</a:t>
                      </a:r>
                    </a:p>
                  </a:txBody>
                  <a:tcPr marL="63500" marR="63500" marT="88900" marB="88900" anchor="ctr"/>
                </a:tc>
                <a:extLst>
                  <a:ext uri="{0D108BD9-81ED-4DB2-BD59-A6C34878D82A}">
                    <a16:rowId xmlns:a16="http://schemas.microsoft.com/office/drawing/2014/main" val="4023108577"/>
                  </a:ext>
                </a:extLst>
              </a:tr>
              <a:tr h="368300">
                <a:tc>
                  <a:txBody>
                    <a:bodyPr/>
                    <a:lstStyle/>
                    <a:p>
                      <a:pPr algn="ctr" fontAlgn="ctr"/>
                      <a:r>
                        <a:rPr lang="en-IN" sz="1200" b="0">
                          <a:effectLst/>
                        </a:rPr>
                        <a:t>Suniti</a:t>
                      </a:r>
                    </a:p>
                  </a:txBody>
                  <a:tcPr marL="63500" marR="63500" marT="88900" marB="88900" anchor="ctr"/>
                </a:tc>
                <a:tc>
                  <a:txBody>
                    <a:bodyPr/>
                    <a:lstStyle/>
                    <a:p>
                      <a:pPr algn="ctr" fontAlgn="ctr"/>
                      <a:r>
                        <a:rPr lang="en-IN" sz="1200" b="0" dirty="0">
                          <a:effectLst/>
                        </a:rPr>
                        <a:t>1114</a:t>
                      </a:r>
                    </a:p>
                  </a:txBody>
                  <a:tcPr marL="63500" marR="63500" marT="88900" marB="88900" anchor="ctr"/>
                </a:tc>
                <a:extLst>
                  <a:ext uri="{0D108BD9-81ED-4DB2-BD59-A6C34878D82A}">
                    <a16:rowId xmlns:a16="http://schemas.microsoft.com/office/drawing/2014/main" val="1297238864"/>
                  </a:ext>
                </a:extLst>
              </a:tr>
            </a:tbl>
          </a:graphicData>
        </a:graphic>
      </p:graphicFrame>
      <p:sp>
        <p:nvSpPr>
          <p:cNvPr id="27" name="TextBox 26">
            <a:extLst>
              <a:ext uri="{FF2B5EF4-FFF2-40B4-BE49-F238E27FC236}">
                <a16:creationId xmlns:a16="http://schemas.microsoft.com/office/drawing/2014/main" id="{8F44E2F6-DA40-2EF2-4084-67EB63D8DC23}"/>
              </a:ext>
            </a:extLst>
          </p:cNvPr>
          <p:cNvSpPr txBox="1"/>
          <p:nvPr/>
        </p:nvSpPr>
        <p:spPr>
          <a:xfrm>
            <a:off x="7743372" y="3457135"/>
            <a:ext cx="7293428" cy="369332"/>
          </a:xfrm>
          <a:prstGeom prst="rect">
            <a:avLst/>
          </a:prstGeom>
          <a:noFill/>
        </p:spPr>
        <p:txBody>
          <a:bodyPr wrap="square">
            <a:spAutoFit/>
          </a:bodyPr>
          <a:lstStyle/>
          <a:p>
            <a:r>
              <a:rPr lang="en-IN" b="1" i="0" dirty="0">
                <a:solidFill>
                  <a:srgbClr val="273239"/>
                </a:solidFill>
                <a:effectLst/>
                <a:latin typeface="Nunito" pitchFamily="2" charset="0"/>
              </a:rPr>
              <a:t>Table Depositor</a:t>
            </a:r>
            <a:r>
              <a:rPr lang="en-IN" b="0" i="0" dirty="0">
                <a:solidFill>
                  <a:srgbClr val="273239"/>
                </a:solidFill>
                <a:effectLst/>
                <a:latin typeface="Nunito" pitchFamily="2" charset="0"/>
              </a:rPr>
              <a:t> </a:t>
            </a:r>
            <a:endParaRPr lang="en-IN" dirty="0"/>
          </a:p>
        </p:txBody>
      </p:sp>
    </p:spTree>
    <p:extLst>
      <p:ext uri="{BB962C8B-B14F-4D97-AF65-F5344CB8AC3E}">
        <p14:creationId xmlns:p14="http://schemas.microsoft.com/office/powerpoint/2010/main" val="29747130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243D3C3-A746-FE47-8372-7A94610096F8}"/>
              </a:ext>
            </a:extLst>
          </p:cNvPr>
          <p:cNvSpPr txBox="1"/>
          <p:nvPr/>
        </p:nvSpPr>
        <p:spPr>
          <a:xfrm>
            <a:off x="228600" y="482964"/>
            <a:ext cx="11734800" cy="1200329"/>
          </a:xfrm>
          <a:prstGeom prst="rect">
            <a:avLst/>
          </a:prstGeom>
          <a:noFill/>
        </p:spPr>
        <p:txBody>
          <a:bodyPr wrap="square">
            <a:spAutoFit/>
          </a:bodyPr>
          <a:lstStyle/>
          <a:p>
            <a:r>
              <a:rPr lang="en-US" sz="2400" dirty="0"/>
              <a:t>Find the loan number, branch, and amount of loans greater than or equal to 10000 amount.</a:t>
            </a:r>
          </a:p>
          <a:p>
            <a:endParaRPr lang="en-US" sz="2400" dirty="0"/>
          </a:p>
          <a:p>
            <a:r>
              <a:rPr lang="en-US" sz="2400" dirty="0"/>
              <a:t>{t| t ∈ loan  ∧ t[amount]&gt;=10000}</a:t>
            </a:r>
            <a:endParaRPr lang="en-IN" sz="2400" dirty="0"/>
          </a:p>
        </p:txBody>
      </p:sp>
      <p:graphicFrame>
        <p:nvGraphicFramePr>
          <p:cNvPr id="7" name="Table 6">
            <a:extLst>
              <a:ext uri="{FF2B5EF4-FFF2-40B4-BE49-F238E27FC236}">
                <a16:creationId xmlns:a16="http://schemas.microsoft.com/office/drawing/2014/main" id="{E10545EC-7521-3B4B-D293-D18ECB3A6D23}"/>
              </a:ext>
            </a:extLst>
          </p:cNvPr>
          <p:cNvGraphicFramePr>
            <a:graphicFrameLocks noGrp="1"/>
          </p:cNvGraphicFramePr>
          <p:nvPr>
            <p:extLst>
              <p:ext uri="{D42A27DB-BD31-4B8C-83A1-F6EECF244321}">
                <p14:modId xmlns:p14="http://schemas.microsoft.com/office/powerpoint/2010/main" val="308908014"/>
              </p:ext>
            </p:extLst>
          </p:nvPr>
        </p:nvGraphicFramePr>
        <p:xfrm>
          <a:off x="2321832" y="2256314"/>
          <a:ext cx="6081939" cy="1445260"/>
        </p:xfrm>
        <a:graphic>
          <a:graphicData uri="http://schemas.openxmlformats.org/drawingml/2006/table">
            <a:tbl>
              <a:tblPr>
                <a:tableStyleId>{284E427A-3D55-4303-BF80-6455036E1DE7}</a:tableStyleId>
              </a:tblPr>
              <a:tblGrid>
                <a:gridCol w="2027313">
                  <a:extLst>
                    <a:ext uri="{9D8B030D-6E8A-4147-A177-3AD203B41FA5}">
                      <a16:colId xmlns:a16="http://schemas.microsoft.com/office/drawing/2014/main" val="2098494781"/>
                    </a:ext>
                  </a:extLst>
                </a:gridCol>
                <a:gridCol w="2027313">
                  <a:extLst>
                    <a:ext uri="{9D8B030D-6E8A-4147-A177-3AD203B41FA5}">
                      <a16:colId xmlns:a16="http://schemas.microsoft.com/office/drawing/2014/main" val="804663925"/>
                    </a:ext>
                  </a:extLst>
                </a:gridCol>
                <a:gridCol w="2027313">
                  <a:extLst>
                    <a:ext uri="{9D8B030D-6E8A-4147-A177-3AD203B41FA5}">
                      <a16:colId xmlns:a16="http://schemas.microsoft.com/office/drawing/2014/main" val="980752536"/>
                    </a:ext>
                  </a:extLst>
                </a:gridCol>
              </a:tblGrid>
              <a:tr h="0">
                <a:tc>
                  <a:txBody>
                    <a:bodyPr/>
                    <a:lstStyle/>
                    <a:p>
                      <a:pPr algn="ctr" fontAlgn="base"/>
                      <a:r>
                        <a:rPr lang="en-IN" sz="1400" b="1">
                          <a:effectLst/>
                        </a:rPr>
                        <a:t>Loan number</a:t>
                      </a:r>
                    </a:p>
                  </a:txBody>
                  <a:tcPr marL="38100" marR="38100" marT="63500" marB="63500" anchor="ctr"/>
                </a:tc>
                <a:tc>
                  <a:txBody>
                    <a:bodyPr/>
                    <a:lstStyle/>
                    <a:p>
                      <a:pPr algn="ctr" fontAlgn="base"/>
                      <a:r>
                        <a:rPr lang="en-IN" sz="1400" b="1">
                          <a:effectLst/>
                        </a:rPr>
                        <a:t>Branch name</a:t>
                      </a:r>
                    </a:p>
                  </a:txBody>
                  <a:tcPr marL="63500" marR="63500" marT="63500" marB="63500" anchor="ctr"/>
                </a:tc>
                <a:tc>
                  <a:txBody>
                    <a:bodyPr/>
                    <a:lstStyle/>
                    <a:p>
                      <a:pPr algn="ctr" fontAlgn="base"/>
                      <a:r>
                        <a:rPr lang="en-IN" sz="1400" b="1">
                          <a:effectLst/>
                        </a:rPr>
                        <a:t>Amount</a:t>
                      </a:r>
                    </a:p>
                  </a:txBody>
                  <a:tcPr marL="63500" marR="63500" marT="63500" marB="63500" anchor="ctr"/>
                </a:tc>
                <a:extLst>
                  <a:ext uri="{0D108BD9-81ED-4DB2-BD59-A6C34878D82A}">
                    <a16:rowId xmlns:a16="http://schemas.microsoft.com/office/drawing/2014/main" val="747303756"/>
                  </a:ext>
                </a:extLst>
              </a:tr>
              <a:tr h="0">
                <a:tc>
                  <a:txBody>
                    <a:bodyPr/>
                    <a:lstStyle/>
                    <a:p>
                      <a:pPr algn="ctr" fontAlgn="ctr"/>
                      <a:r>
                        <a:rPr lang="en-IN" sz="1250" b="0">
                          <a:effectLst/>
                        </a:rPr>
                        <a:t>L33</a:t>
                      </a:r>
                    </a:p>
                  </a:txBody>
                  <a:tcPr marL="63500" marR="63500" marT="88900" marB="88900" anchor="ctr"/>
                </a:tc>
                <a:tc>
                  <a:txBody>
                    <a:bodyPr/>
                    <a:lstStyle/>
                    <a:p>
                      <a:pPr algn="ctr" fontAlgn="ctr"/>
                      <a:r>
                        <a:rPr lang="en-IN" sz="1250" b="0">
                          <a:effectLst/>
                        </a:rPr>
                        <a:t>ABC</a:t>
                      </a:r>
                    </a:p>
                  </a:txBody>
                  <a:tcPr marL="63500" marR="63500" marT="88900" marB="88900" anchor="ctr"/>
                </a:tc>
                <a:tc>
                  <a:txBody>
                    <a:bodyPr/>
                    <a:lstStyle/>
                    <a:p>
                      <a:pPr algn="ctr" fontAlgn="ctr"/>
                      <a:r>
                        <a:rPr lang="en-IN" sz="1250" b="0">
                          <a:effectLst/>
                        </a:rPr>
                        <a:t>10000</a:t>
                      </a:r>
                    </a:p>
                  </a:txBody>
                  <a:tcPr marL="63500" marR="63500" marT="88900" marB="88900" anchor="ctr"/>
                </a:tc>
                <a:extLst>
                  <a:ext uri="{0D108BD9-81ED-4DB2-BD59-A6C34878D82A}">
                    <a16:rowId xmlns:a16="http://schemas.microsoft.com/office/drawing/2014/main" val="4155460285"/>
                  </a:ext>
                </a:extLst>
              </a:tr>
              <a:tr h="0">
                <a:tc>
                  <a:txBody>
                    <a:bodyPr/>
                    <a:lstStyle/>
                    <a:p>
                      <a:pPr algn="ctr" fontAlgn="ctr"/>
                      <a:r>
                        <a:rPr lang="en-IN" sz="1250" b="0">
                          <a:effectLst/>
                        </a:rPr>
                        <a:t>L35</a:t>
                      </a:r>
                    </a:p>
                  </a:txBody>
                  <a:tcPr marL="63500" marR="63500" marT="88900" marB="88900" anchor="ctr"/>
                </a:tc>
                <a:tc>
                  <a:txBody>
                    <a:bodyPr/>
                    <a:lstStyle/>
                    <a:p>
                      <a:pPr algn="ctr" fontAlgn="ctr"/>
                      <a:r>
                        <a:rPr lang="en-IN" sz="1250" b="0">
                          <a:effectLst/>
                        </a:rPr>
                        <a:t>DEF</a:t>
                      </a:r>
                    </a:p>
                  </a:txBody>
                  <a:tcPr marL="63500" marR="63500" marT="88900" marB="88900" anchor="ctr"/>
                </a:tc>
                <a:tc>
                  <a:txBody>
                    <a:bodyPr/>
                    <a:lstStyle/>
                    <a:p>
                      <a:pPr algn="ctr" fontAlgn="ctr"/>
                      <a:r>
                        <a:rPr lang="en-IN" sz="1250" b="0">
                          <a:effectLst/>
                        </a:rPr>
                        <a:t>15000</a:t>
                      </a:r>
                    </a:p>
                  </a:txBody>
                  <a:tcPr marL="63500" marR="63500" marT="88900" marB="88900" anchor="ctr"/>
                </a:tc>
                <a:extLst>
                  <a:ext uri="{0D108BD9-81ED-4DB2-BD59-A6C34878D82A}">
                    <a16:rowId xmlns:a16="http://schemas.microsoft.com/office/drawing/2014/main" val="3128828174"/>
                  </a:ext>
                </a:extLst>
              </a:tr>
              <a:tr h="0">
                <a:tc>
                  <a:txBody>
                    <a:bodyPr/>
                    <a:lstStyle/>
                    <a:p>
                      <a:pPr algn="ctr" fontAlgn="ctr"/>
                      <a:r>
                        <a:rPr lang="en-IN" sz="1250" b="0">
                          <a:effectLst/>
                        </a:rPr>
                        <a:t>L98</a:t>
                      </a:r>
                    </a:p>
                  </a:txBody>
                  <a:tcPr marL="63500" marR="63500" marT="88900" marB="88900" anchor="ctr"/>
                </a:tc>
                <a:tc>
                  <a:txBody>
                    <a:bodyPr/>
                    <a:lstStyle/>
                    <a:p>
                      <a:pPr algn="ctr" fontAlgn="ctr"/>
                      <a:r>
                        <a:rPr lang="en-IN" sz="1250" b="0">
                          <a:effectLst/>
                        </a:rPr>
                        <a:t>DEF</a:t>
                      </a:r>
                    </a:p>
                  </a:txBody>
                  <a:tcPr marL="63500" marR="63500" marT="88900" marB="88900" anchor="ctr"/>
                </a:tc>
                <a:tc>
                  <a:txBody>
                    <a:bodyPr/>
                    <a:lstStyle/>
                    <a:p>
                      <a:pPr algn="ctr" fontAlgn="ctr"/>
                      <a:r>
                        <a:rPr lang="en-IN" sz="1250" b="0" dirty="0">
                          <a:effectLst/>
                        </a:rPr>
                        <a:t>65000</a:t>
                      </a:r>
                    </a:p>
                  </a:txBody>
                  <a:tcPr marL="63500" marR="63500" marT="88900" marB="88900" anchor="ctr"/>
                </a:tc>
                <a:extLst>
                  <a:ext uri="{0D108BD9-81ED-4DB2-BD59-A6C34878D82A}">
                    <a16:rowId xmlns:a16="http://schemas.microsoft.com/office/drawing/2014/main" val="1455897625"/>
                  </a:ext>
                </a:extLst>
              </a:tr>
            </a:tbl>
          </a:graphicData>
        </a:graphic>
      </p:graphicFrame>
    </p:spTree>
    <p:extLst>
      <p:ext uri="{BB962C8B-B14F-4D97-AF65-F5344CB8AC3E}">
        <p14:creationId xmlns:p14="http://schemas.microsoft.com/office/powerpoint/2010/main" val="21839150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A3E6AB-1B19-56F7-4256-AEC81105A178}"/>
              </a:ext>
            </a:extLst>
          </p:cNvPr>
          <p:cNvSpPr txBox="1"/>
          <p:nvPr/>
        </p:nvSpPr>
        <p:spPr>
          <a:xfrm>
            <a:off x="533400" y="290035"/>
            <a:ext cx="9198428" cy="1938992"/>
          </a:xfrm>
          <a:prstGeom prst="rect">
            <a:avLst/>
          </a:prstGeom>
          <a:noFill/>
        </p:spPr>
        <p:txBody>
          <a:bodyPr wrap="square">
            <a:spAutoFit/>
          </a:bodyPr>
          <a:lstStyle/>
          <a:p>
            <a:r>
              <a:rPr lang="en-US" sz="2400" dirty="0"/>
              <a:t>Find the loan number for each loan of an amount greater or equal to 10000.  </a:t>
            </a:r>
          </a:p>
          <a:p>
            <a:endParaRPr lang="en-US" sz="2400" dirty="0"/>
          </a:p>
          <a:p>
            <a:r>
              <a:rPr lang="en-US" sz="2400" dirty="0"/>
              <a:t>{t| ∃ s ∈ loan(t[loan number] = s[loan number]  </a:t>
            </a:r>
          </a:p>
          <a:p>
            <a:r>
              <a:rPr lang="en-US" sz="2400" dirty="0"/>
              <a:t>                   ∧ s[amount]&gt;=10000)}</a:t>
            </a:r>
            <a:endParaRPr lang="en-IN" sz="2400" dirty="0"/>
          </a:p>
        </p:txBody>
      </p:sp>
      <p:graphicFrame>
        <p:nvGraphicFramePr>
          <p:cNvPr id="6" name="Table 5">
            <a:extLst>
              <a:ext uri="{FF2B5EF4-FFF2-40B4-BE49-F238E27FC236}">
                <a16:creationId xmlns:a16="http://schemas.microsoft.com/office/drawing/2014/main" id="{3EF94C06-CDB9-FF60-C9E6-7FC80AB0AA96}"/>
              </a:ext>
            </a:extLst>
          </p:cNvPr>
          <p:cNvGraphicFramePr>
            <a:graphicFrameLocks noGrp="1"/>
          </p:cNvGraphicFramePr>
          <p:nvPr>
            <p:extLst>
              <p:ext uri="{D42A27DB-BD31-4B8C-83A1-F6EECF244321}">
                <p14:modId xmlns:p14="http://schemas.microsoft.com/office/powerpoint/2010/main" val="4036429485"/>
              </p:ext>
            </p:extLst>
          </p:nvPr>
        </p:nvGraphicFramePr>
        <p:xfrm>
          <a:off x="3617233" y="2822371"/>
          <a:ext cx="3599996" cy="1445260"/>
        </p:xfrm>
        <a:graphic>
          <a:graphicData uri="http://schemas.openxmlformats.org/drawingml/2006/table">
            <a:tbl>
              <a:tblPr>
                <a:tableStyleId>{69C7853C-536D-4A76-A0AE-DD22124D55A5}</a:tableStyleId>
              </a:tblPr>
              <a:tblGrid>
                <a:gridCol w="3599996">
                  <a:extLst>
                    <a:ext uri="{9D8B030D-6E8A-4147-A177-3AD203B41FA5}">
                      <a16:colId xmlns:a16="http://schemas.microsoft.com/office/drawing/2014/main" val="1968259785"/>
                    </a:ext>
                  </a:extLst>
                </a:gridCol>
              </a:tblGrid>
              <a:tr h="0">
                <a:tc>
                  <a:txBody>
                    <a:bodyPr/>
                    <a:lstStyle/>
                    <a:p>
                      <a:pPr algn="ctr" fontAlgn="base"/>
                      <a:r>
                        <a:rPr lang="en-IN" sz="1400" b="1">
                          <a:effectLst/>
                        </a:rPr>
                        <a:t>Loan number</a:t>
                      </a:r>
                    </a:p>
                  </a:txBody>
                  <a:tcPr marL="38100" marR="38100" marT="63500" marB="63500" anchor="ctr"/>
                </a:tc>
                <a:extLst>
                  <a:ext uri="{0D108BD9-81ED-4DB2-BD59-A6C34878D82A}">
                    <a16:rowId xmlns:a16="http://schemas.microsoft.com/office/drawing/2014/main" val="1544383235"/>
                  </a:ext>
                </a:extLst>
              </a:tr>
              <a:tr h="0">
                <a:tc>
                  <a:txBody>
                    <a:bodyPr/>
                    <a:lstStyle/>
                    <a:p>
                      <a:pPr algn="ctr" fontAlgn="ctr"/>
                      <a:r>
                        <a:rPr lang="en-IN" sz="1250" b="0">
                          <a:effectLst/>
                        </a:rPr>
                        <a:t>L33</a:t>
                      </a:r>
                    </a:p>
                  </a:txBody>
                  <a:tcPr marL="63500" marR="63500" marT="88900" marB="88900" anchor="ctr"/>
                </a:tc>
                <a:extLst>
                  <a:ext uri="{0D108BD9-81ED-4DB2-BD59-A6C34878D82A}">
                    <a16:rowId xmlns:a16="http://schemas.microsoft.com/office/drawing/2014/main" val="1659763568"/>
                  </a:ext>
                </a:extLst>
              </a:tr>
              <a:tr h="0">
                <a:tc>
                  <a:txBody>
                    <a:bodyPr/>
                    <a:lstStyle/>
                    <a:p>
                      <a:pPr algn="ctr" fontAlgn="ctr"/>
                      <a:r>
                        <a:rPr lang="en-IN" sz="1250" b="0">
                          <a:effectLst/>
                        </a:rPr>
                        <a:t>L35</a:t>
                      </a:r>
                    </a:p>
                  </a:txBody>
                  <a:tcPr marL="63500" marR="63500" marT="88900" marB="88900" anchor="ctr"/>
                </a:tc>
                <a:extLst>
                  <a:ext uri="{0D108BD9-81ED-4DB2-BD59-A6C34878D82A}">
                    <a16:rowId xmlns:a16="http://schemas.microsoft.com/office/drawing/2014/main" val="2927626854"/>
                  </a:ext>
                </a:extLst>
              </a:tr>
              <a:tr h="0">
                <a:tc>
                  <a:txBody>
                    <a:bodyPr/>
                    <a:lstStyle/>
                    <a:p>
                      <a:pPr algn="ctr" fontAlgn="ctr"/>
                      <a:r>
                        <a:rPr lang="en-IN" sz="1250" b="0" dirty="0">
                          <a:effectLst/>
                        </a:rPr>
                        <a:t>L98</a:t>
                      </a:r>
                    </a:p>
                  </a:txBody>
                  <a:tcPr marL="63500" marR="63500" marT="88900" marB="88900" anchor="ctr"/>
                </a:tc>
                <a:extLst>
                  <a:ext uri="{0D108BD9-81ED-4DB2-BD59-A6C34878D82A}">
                    <a16:rowId xmlns:a16="http://schemas.microsoft.com/office/drawing/2014/main" val="2794087971"/>
                  </a:ext>
                </a:extLst>
              </a:tr>
            </a:tbl>
          </a:graphicData>
        </a:graphic>
      </p:graphicFrame>
    </p:spTree>
    <p:extLst>
      <p:ext uri="{BB962C8B-B14F-4D97-AF65-F5344CB8AC3E}">
        <p14:creationId xmlns:p14="http://schemas.microsoft.com/office/powerpoint/2010/main" val="23137452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22291DF-AC7F-259F-8332-435FCBCC003A}"/>
              </a:ext>
            </a:extLst>
          </p:cNvPr>
          <p:cNvSpPr txBox="1"/>
          <p:nvPr/>
        </p:nvSpPr>
        <p:spPr>
          <a:xfrm>
            <a:off x="1273629" y="290036"/>
            <a:ext cx="8730342" cy="1938992"/>
          </a:xfrm>
          <a:prstGeom prst="rect">
            <a:avLst/>
          </a:prstGeom>
          <a:noFill/>
        </p:spPr>
        <p:txBody>
          <a:bodyPr wrap="square">
            <a:spAutoFit/>
          </a:bodyPr>
          <a:lstStyle/>
          <a:p>
            <a:r>
              <a:rPr lang="en-US" sz="2400" dirty="0"/>
              <a:t>Find the names of all customers who have a loan and an account at the bank.  </a:t>
            </a:r>
          </a:p>
          <a:p>
            <a:endParaRPr lang="en-US" sz="2400" dirty="0"/>
          </a:p>
          <a:p>
            <a:r>
              <a:rPr lang="en-US" sz="2400" dirty="0"/>
              <a:t>{t | ∃ s ∈ borrower( t[customer-name] = s[customer-name])   </a:t>
            </a:r>
          </a:p>
          <a:p>
            <a:r>
              <a:rPr lang="en-US" sz="2400" dirty="0"/>
              <a:t>∧  ∃ u ∈ depositor( t[customer-name] = u[customer-name])}</a:t>
            </a:r>
            <a:endParaRPr lang="en-IN" sz="2400" dirty="0"/>
          </a:p>
        </p:txBody>
      </p:sp>
      <p:graphicFrame>
        <p:nvGraphicFramePr>
          <p:cNvPr id="8" name="Table 7">
            <a:extLst>
              <a:ext uri="{FF2B5EF4-FFF2-40B4-BE49-F238E27FC236}">
                <a16:creationId xmlns:a16="http://schemas.microsoft.com/office/drawing/2014/main" id="{ED4A8CBF-268A-3AB4-E83E-C46A3E771114}"/>
              </a:ext>
            </a:extLst>
          </p:cNvPr>
          <p:cNvGraphicFramePr>
            <a:graphicFrameLocks noGrp="1"/>
          </p:cNvGraphicFramePr>
          <p:nvPr>
            <p:extLst>
              <p:ext uri="{D42A27DB-BD31-4B8C-83A1-F6EECF244321}">
                <p14:modId xmlns:p14="http://schemas.microsoft.com/office/powerpoint/2010/main" val="220192972"/>
              </p:ext>
            </p:extLst>
          </p:nvPr>
        </p:nvGraphicFramePr>
        <p:xfrm>
          <a:off x="4934405" y="2984750"/>
          <a:ext cx="3012168" cy="1076960"/>
        </p:xfrm>
        <a:graphic>
          <a:graphicData uri="http://schemas.openxmlformats.org/drawingml/2006/table">
            <a:tbl>
              <a:tblPr>
                <a:tableStyleId>{775DCB02-9BB8-47FD-8907-85C794F793BA}</a:tableStyleId>
              </a:tblPr>
              <a:tblGrid>
                <a:gridCol w="3012168">
                  <a:extLst>
                    <a:ext uri="{9D8B030D-6E8A-4147-A177-3AD203B41FA5}">
                      <a16:colId xmlns:a16="http://schemas.microsoft.com/office/drawing/2014/main" val="1025548465"/>
                    </a:ext>
                  </a:extLst>
                </a:gridCol>
              </a:tblGrid>
              <a:tr h="0">
                <a:tc>
                  <a:txBody>
                    <a:bodyPr/>
                    <a:lstStyle/>
                    <a:p>
                      <a:pPr algn="ctr" fontAlgn="base"/>
                      <a:r>
                        <a:rPr lang="en-IN" sz="1400" b="1">
                          <a:effectLst/>
                        </a:rPr>
                        <a:t>Customer name</a:t>
                      </a:r>
                    </a:p>
                  </a:txBody>
                  <a:tcPr marL="38100" marR="38100" marT="63500" marB="63500" anchor="ctr"/>
                </a:tc>
                <a:extLst>
                  <a:ext uri="{0D108BD9-81ED-4DB2-BD59-A6C34878D82A}">
                    <a16:rowId xmlns:a16="http://schemas.microsoft.com/office/drawing/2014/main" val="3817665876"/>
                  </a:ext>
                </a:extLst>
              </a:tr>
              <a:tr h="0">
                <a:tc>
                  <a:txBody>
                    <a:bodyPr/>
                    <a:lstStyle/>
                    <a:p>
                      <a:pPr algn="ctr" fontAlgn="ctr"/>
                      <a:r>
                        <a:rPr lang="en-IN" sz="1250" b="0">
                          <a:effectLst/>
                        </a:rPr>
                        <a:t>Saurabh</a:t>
                      </a:r>
                    </a:p>
                  </a:txBody>
                  <a:tcPr marL="63500" marR="63500" marT="88900" marB="88900" anchor="ctr"/>
                </a:tc>
                <a:extLst>
                  <a:ext uri="{0D108BD9-81ED-4DB2-BD59-A6C34878D82A}">
                    <a16:rowId xmlns:a16="http://schemas.microsoft.com/office/drawing/2014/main" val="2123182768"/>
                  </a:ext>
                </a:extLst>
              </a:tr>
              <a:tr h="0">
                <a:tc>
                  <a:txBody>
                    <a:bodyPr/>
                    <a:lstStyle/>
                    <a:p>
                      <a:pPr algn="ctr" fontAlgn="ctr"/>
                      <a:r>
                        <a:rPr lang="en-IN" sz="1250" b="0" dirty="0">
                          <a:effectLst/>
                        </a:rPr>
                        <a:t>Mehak</a:t>
                      </a:r>
                    </a:p>
                  </a:txBody>
                  <a:tcPr marL="63500" marR="63500" marT="88900" marB="88900" anchor="ctr"/>
                </a:tc>
                <a:extLst>
                  <a:ext uri="{0D108BD9-81ED-4DB2-BD59-A6C34878D82A}">
                    <a16:rowId xmlns:a16="http://schemas.microsoft.com/office/drawing/2014/main" val="1290996572"/>
                  </a:ext>
                </a:extLst>
              </a:tr>
            </a:tbl>
          </a:graphicData>
        </a:graphic>
      </p:graphicFrame>
    </p:spTree>
    <p:extLst>
      <p:ext uri="{BB962C8B-B14F-4D97-AF65-F5344CB8AC3E}">
        <p14:creationId xmlns:p14="http://schemas.microsoft.com/office/powerpoint/2010/main" val="14607145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9823FB1-9A5D-308E-5F9A-C0E76534A6DA}"/>
              </a:ext>
            </a:extLst>
          </p:cNvPr>
          <p:cNvSpPr txBox="1"/>
          <p:nvPr/>
        </p:nvSpPr>
        <p:spPr>
          <a:xfrm>
            <a:off x="1382487" y="467222"/>
            <a:ext cx="9568542" cy="2308324"/>
          </a:xfrm>
          <a:prstGeom prst="rect">
            <a:avLst/>
          </a:prstGeom>
          <a:noFill/>
        </p:spPr>
        <p:txBody>
          <a:bodyPr wrap="square">
            <a:spAutoFit/>
          </a:bodyPr>
          <a:lstStyle/>
          <a:p>
            <a:r>
              <a:rPr lang="en-US" sz="2400" dirty="0"/>
              <a:t>Find the names of all customers having a loan at the “ABC” branch.  </a:t>
            </a:r>
          </a:p>
          <a:p>
            <a:endParaRPr lang="en-US" sz="2400" dirty="0"/>
          </a:p>
          <a:p>
            <a:endParaRPr lang="en-US" sz="2400" dirty="0"/>
          </a:p>
          <a:p>
            <a:r>
              <a:rPr lang="en-US" sz="2400" dirty="0"/>
              <a:t>{t | ∃ s ∈ borrower(t[customer-name] = s[customer-name]  </a:t>
            </a:r>
          </a:p>
          <a:p>
            <a:r>
              <a:rPr lang="en-US" sz="2400" dirty="0"/>
              <a:t>   ∧ ∃ u ∈  loan(u[branch-name] = “ABC” ∧ u[loan-number] = s[loan-number]))}</a:t>
            </a:r>
            <a:endParaRPr lang="en-IN" sz="2400" dirty="0"/>
          </a:p>
        </p:txBody>
      </p:sp>
      <p:graphicFrame>
        <p:nvGraphicFramePr>
          <p:cNvPr id="5" name="Table 4">
            <a:extLst>
              <a:ext uri="{FF2B5EF4-FFF2-40B4-BE49-F238E27FC236}">
                <a16:creationId xmlns:a16="http://schemas.microsoft.com/office/drawing/2014/main" id="{C921FEC9-AFB8-8E38-8113-A14ADB08FAA1}"/>
              </a:ext>
            </a:extLst>
          </p:cNvPr>
          <p:cNvGraphicFramePr>
            <a:graphicFrameLocks noGrp="1"/>
          </p:cNvGraphicFramePr>
          <p:nvPr>
            <p:extLst>
              <p:ext uri="{D42A27DB-BD31-4B8C-83A1-F6EECF244321}">
                <p14:modId xmlns:p14="http://schemas.microsoft.com/office/powerpoint/2010/main" val="1154234937"/>
              </p:ext>
            </p:extLst>
          </p:nvPr>
        </p:nvGraphicFramePr>
        <p:xfrm>
          <a:off x="4401004" y="3517243"/>
          <a:ext cx="2489653" cy="708660"/>
        </p:xfrm>
        <a:graphic>
          <a:graphicData uri="http://schemas.openxmlformats.org/drawingml/2006/table">
            <a:tbl>
              <a:tblPr>
                <a:tableStyleId>{775DCB02-9BB8-47FD-8907-85C794F793BA}</a:tableStyleId>
              </a:tblPr>
              <a:tblGrid>
                <a:gridCol w="2489653">
                  <a:extLst>
                    <a:ext uri="{9D8B030D-6E8A-4147-A177-3AD203B41FA5}">
                      <a16:colId xmlns:a16="http://schemas.microsoft.com/office/drawing/2014/main" val="1548241319"/>
                    </a:ext>
                  </a:extLst>
                </a:gridCol>
              </a:tblGrid>
              <a:tr h="0">
                <a:tc>
                  <a:txBody>
                    <a:bodyPr/>
                    <a:lstStyle/>
                    <a:p>
                      <a:pPr algn="ctr" fontAlgn="base"/>
                      <a:r>
                        <a:rPr lang="en-IN" sz="1400" b="1">
                          <a:effectLst/>
                        </a:rPr>
                        <a:t>Customer name</a:t>
                      </a:r>
                    </a:p>
                  </a:txBody>
                  <a:tcPr marL="38100" marR="38100" marT="63500" marB="63500" anchor="ctr"/>
                </a:tc>
                <a:extLst>
                  <a:ext uri="{0D108BD9-81ED-4DB2-BD59-A6C34878D82A}">
                    <a16:rowId xmlns:a16="http://schemas.microsoft.com/office/drawing/2014/main" val="786411230"/>
                  </a:ext>
                </a:extLst>
              </a:tr>
              <a:tr h="0">
                <a:tc>
                  <a:txBody>
                    <a:bodyPr/>
                    <a:lstStyle/>
                    <a:p>
                      <a:pPr algn="ctr" fontAlgn="ctr"/>
                      <a:r>
                        <a:rPr lang="en-IN" sz="1250" b="0" dirty="0">
                          <a:effectLst/>
                        </a:rPr>
                        <a:t>Saurabh</a:t>
                      </a:r>
                    </a:p>
                  </a:txBody>
                  <a:tcPr marL="63500" marR="63500" marT="88900" marB="88900" anchor="ctr"/>
                </a:tc>
                <a:extLst>
                  <a:ext uri="{0D108BD9-81ED-4DB2-BD59-A6C34878D82A}">
                    <a16:rowId xmlns:a16="http://schemas.microsoft.com/office/drawing/2014/main" val="539818497"/>
                  </a:ext>
                </a:extLst>
              </a:tr>
            </a:tbl>
          </a:graphicData>
        </a:graphic>
      </p:graphicFrame>
    </p:spTree>
    <p:extLst>
      <p:ext uri="{BB962C8B-B14F-4D97-AF65-F5344CB8AC3E}">
        <p14:creationId xmlns:p14="http://schemas.microsoft.com/office/powerpoint/2010/main" val="22927091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6240FF2-36E8-05C2-C2F6-A5C3D63A3AEF}"/>
              </a:ext>
            </a:extLst>
          </p:cNvPr>
          <p:cNvSpPr txBox="1"/>
          <p:nvPr/>
        </p:nvSpPr>
        <p:spPr>
          <a:xfrm>
            <a:off x="1034143" y="174172"/>
            <a:ext cx="9808028" cy="3539430"/>
          </a:xfrm>
          <a:prstGeom prst="rect">
            <a:avLst/>
          </a:prstGeom>
          <a:noFill/>
        </p:spPr>
        <p:txBody>
          <a:bodyPr wrap="square">
            <a:spAutoFit/>
          </a:bodyPr>
          <a:lstStyle/>
          <a:p>
            <a:r>
              <a:rPr lang="en-US" sz="2800" b="1" dirty="0"/>
              <a:t>Domain Relational Calculus (DRC)</a:t>
            </a:r>
          </a:p>
          <a:p>
            <a:endParaRPr lang="en-US" sz="2800" b="1" dirty="0"/>
          </a:p>
          <a:p>
            <a:r>
              <a:rPr lang="en-US" sz="2400" dirty="0"/>
              <a:t>Domain Relational Calculus is similar to Tuple Relational Calculus, where it makes a list of the attributes that are to be chosen from the relations as per the conditions.</a:t>
            </a:r>
          </a:p>
          <a:p>
            <a:endParaRPr lang="en-US" sz="2400" dirty="0"/>
          </a:p>
          <a:p>
            <a:r>
              <a:rPr lang="en-US" sz="2400" dirty="0"/>
              <a:t>{&lt;a1,a2,a3,.....an&gt; | P(a1,a2,a3,.....an)}</a:t>
            </a:r>
          </a:p>
          <a:p>
            <a:endParaRPr lang="en-US" sz="2400" dirty="0"/>
          </a:p>
          <a:p>
            <a:r>
              <a:rPr lang="en-US" sz="2400" dirty="0"/>
              <a:t>where a1,a2,…an are the attributes of the relation and P is the condition.</a:t>
            </a:r>
            <a:endParaRPr lang="en-IN" sz="2400" dirty="0"/>
          </a:p>
        </p:txBody>
      </p:sp>
    </p:spTree>
    <p:extLst>
      <p:ext uri="{BB962C8B-B14F-4D97-AF65-F5344CB8AC3E}">
        <p14:creationId xmlns:p14="http://schemas.microsoft.com/office/powerpoint/2010/main" val="8304921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AC8495-27A7-2098-AF07-36B3688D8AEC}"/>
              </a:ext>
            </a:extLst>
          </p:cNvPr>
          <p:cNvSpPr txBox="1"/>
          <p:nvPr/>
        </p:nvSpPr>
        <p:spPr>
          <a:xfrm>
            <a:off x="732064" y="463034"/>
            <a:ext cx="6101442" cy="369332"/>
          </a:xfrm>
          <a:prstGeom prst="rect">
            <a:avLst/>
          </a:prstGeom>
          <a:noFill/>
        </p:spPr>
        <p:txBody>
          <a:bodyPr wrap="square">
            <a:spAutoFit/>
          </a:bodyPr>
          <a:lstStyle/>
          <a:p>
            <a:r>
              <a:rPr lang="en-IN" b="1" i="0" dirty="0">
                <a:solidFill>
                  <a:srgbClr val="273239"/>
                </a:solidFill>
                <a:effectLst/>
                <a:latin typeface="Nunito" pitchFamily="2" charset="0"/>
              </a:rPr>
              <a:t>Customer</a:t>
            </a:r>
            <a:endParaRPr lang="en-IN" dirty="0"/>
          </a:p>
        </p:txBody>
      </p:sp>
      <p:graphicFrame>
        <p:nvGraphicFramePr>
          <p:cNvPr id="8" name="Table 7">
            <a:extLst>
              <a:ext uri="{FF2B5EF4-FFF2-40B4-BE49-F238E27FC236}">
                <a16:creationId xmlns:a16="http://schemas.microsoft.com/office/drawing/2014/main" id="{8806B9DA-F33D-7963-CCC9-0D8F4B915712}"/>
              </a:ext>
            </a:extLst>
          </p:cNvPr>
          <p:cNvGraphicFramePr>
            <a:graphicFrameLocks noGrp="1"/>
          </p:cNvGraphicFramePr>
          <p:nvPr>
            <p:extLst>
              <p:ext uri="{D42A27DB-BD31-4B8C-83A1-F6EECF244321}">
                <p14:modId xmlns:p14="http://schemas.microsoft.com/office/powerpoint/2010/main" val="3724062880"/>
              </p:ext>
            </p:extLst>
          </p:nvPr>
        </p:nvGraphicFramePr>
        <p:xfrm>
          <a:off x="732065" y="1027861"/>
          <a:ext cx="3382737" cy="2001520"/>
        </p:xfrm>
        <a:graphic>
          <a:graphicData uri="http://schemas.openxmlformats.org/drawingml/2006/table">
            <a:tbl>
              <a:tblPr>
                <a:tableStyleId>{775DCB02-9BB8-47FD-8907-85C794F793BA}</a:tableStyleId>
              </a:tblPr>
              <a:tblGrid>
                <a:gridCol w="1127579">
                  <a:extLst>
                    <a:ext uri="{9D8B030D-6E8A-4147-A177-3AD203B41FA5}">
                      <a16:colId xmlns:a16="http://schemas.microsoft.com/office/drawing/2014/main" val="2113553148"/>
                    </a:ext>
                  </a:extLst>
                </a:gridCol>
                <a:gridCol w="1127579">
                  <a:extLst>
                    <a:ext uri="{9D8B030D-6E8A-4147-A177-3AD203B41FA5}">
                      <a16:colId xmlns:a16="http://schemas.microsoft.com/office/drawing/2014/main" val="525691725"/>
                    </a:ext>
                  </a:extLst>
                </a:gridCol>
                <a:gridCol w="1127579">
                  <a:extLst>
                    <a:ext uri="{9D8B030D-6E8A-4147-A177-3AD203B41FA5}">
                      <a16:colId xmlns:a16="http://schemas.microsoft.com/office/drawing/2014/main" val="1155224932"/>
                    </a:ext>
                  </a:extLst>
                </a:gridCol>
              </a:tblGrid>
              <a:tr h="0">
                <a:tc>
                  <a:txBody>
                    <a:bodyPr/>
                    <a:lstStyle/>
                    <a:p>
                      <a:pPr algn="ctr" fontAlgn="base"/>
                      <a:r>
                        <a:rPr lang="en-IN" sz="1400" b="1">
                          <a:effectLst/>
                        </a:rPr>
                        <a:t>Customer name</a:t>
                      </a:r>
                    </a:p>
                  </a:txBody>
                  <a:tcPr marL="50800" marR="50800" marT="50800" marB="50800" anchor="ctr"/>
                </a:tc>
                <a:tc>
                  <a:txBody>
                    <a:bodyPr/>
                    <a:lstStyle/>
                    <a:p>
                      <a:pPr algn="ctr" fontAlgn="base"/>
                      <a:r>
                        <a:rPr lang="en-IN" sz="1400" b="1">
                          <a:effectLst/>
                        </a:rPr>
                        <a:t>Street</a:t>
                      </a:r>
                    </a:p>
                  </a:txBody>
                  <a:tcPr marL="50800" marR="50800" marT="50800" marB="50800" anchor="ctr"/>
                </a:tc>
                <a:tc>
                  <a:txBody>
                    <a:bodyPr/>
                    <a:lstStyle/>
                    <a:p>
                      <a:pPr algn="ctr" fontAlgn="base"/>
                      <a:r>
                        <a:rPr lang="en-IN" sz="1400" b="1">
                          <a:effectLst/>
                        </a:rPr>
                        <a:t>City</a:t>
                      </a:r>
                    </a:p>
                  </a:txBody>
                  <a:tcPr marL="50800" marR="50800" marT="50800" marB="50800" anchor="ctr"/>
                </a:tc>
                <a:extLst>
                  <a:ext uri="{0D108BD9-81ED-4DB2-BD59-A6C34878D82A}">
                    <a16:rowId xmlns:a16="http://schemas.microsoft.com/office/drawing/2014/main" val="64820731"/>
                  </a:ext>
                </a:extLst>
              </a:tr>
              <a:tr h="0">
                <a:tc>
                  <a:txBody>
                    <a:bodyPr/>
                    <a:lstStyle/>
                    <a:p>
                      <a:pPr algn="ctr" fontAlgn="ctr"/>
                      <a:r>
                        <a:rPr lang="en-IN" sz="1250" b="0">
                          <a:effectLst/>
                        </a:rPr>
                        <a:t>Debomit</a:t>
                      </a:r>
                    </a:p>
                  </a:txBody>
                  <a:tcPr marL="63500" marR="63500" marT="88900" marB="88900" anchor="ctr"/>
                </a:tc>
                <a:tc>
                  <a:txBody>
                    <a:bodyPr/>
                    <a:lstStyle/>
                    <a:p>
                      <a:pPr algn="ctr" fontAlgn="ctr"/>
                      <a:r>
                        <a:rPr lang="en-IN" sz="1250" b="0">
                          <a:effectLst/>
                        </a:rPr>
                        <a:t>Kadamtala</a:t>
                      </a:r>
                    </a:p>
                  </a:txBody>
                  <a:tcPr marL="63500" marR="63500" marT="88900" marB="88900" anchor="ctr"/>
                </a:tc>
                <a:tc>
                  <a:txBody>
                    <a:bodyPr/>
                    <a:lstStyle/>
                    <a:p>
                      <a:pPr algn="ctr" fontAlgn="ctr"/>
                      <a:r>
                        <a:rPr lang="en-IN" sz="1250" b="0">
                          <a:effectLst/>
                        </a:rPr>
                        <a:t>Alipurduar</a:t>
                      </a:r>
                    </a:p>
                  </a:txBody>
                  <a:tcPr marL="63500" marR="63500" marT="88900" marB="88900" anchor="ctr"/>
                </a:tc>
                <a:extLst>
                  <a:ext uri="{0D108BD9-81ED-4DB2-BD59-A6C34878D82A}">
                    <a16:rowId xmlns:a16="http://schemas.microsoft.com/office/drawing/2014/main" val="1730026202"/>
                  </a:ext>
                </a:extLst>
              </a:tr>
              <a:tr h="0">
                <a:tc>
                  <a:txBody>
                    <a:bodyPr/>
                    <a:lstStyle/>
                    <a:p>
                      <a:pPr algn="ctr" fontAlgn="ctr"/>
                      <a:r>
                        <a:rPr lang="en-IN" sz="1250" b="0">
                          <a:effectLst/>
                        </a:rPr>
                        <a:t>Sayantan</a:t>
                      </a:r>
                    </a:p>
                  </a:txBody>
                  <a:tcPr marL="63500" marR="63500" marT="88900" marB="88900" anchor="ctr"/>
                </a:tc>
                <a:tc>
                  <a:txBody>
                    <a:bodyPr/>
                    <a:lstStyle/>
                    <a:p>
                      <a:pPr algn="ctr" fontAlgn="ctr"/>
                      <a:r>
                        <a:rPr lang="en-IN" sz="1250" b="0">
                          <a:effectLst/>
                        </a:rPr>
                        <a:t>Udaypur</a:t>
                      </a:r>
                    </a:p>
                  </a:txBody>
                  <a:tcPr marL="63500" marR="63500" marT="88900" marB="88900" anchor="ctr"/>
                </a:tc>
                <a:tc>
                  <a:txBody>
                    <a:bodyPr/>
                    <a:lstStyle/>
                    <a:p>
                      <a:pPr algn="ctr" fontAlgn="ctr"/>
                      <a:r>
                        <a:rPr lang="en-IN" sz="1250" b="0">
                          <a:effectLst/>
                        </a:rPr>
                        <a:t>Balurghat</a:t>
                      </a:r>
                    </a:p>
                  </a:txBody>
                  <a:tcPr marL="63500" marR="63500" marT="88900" marB="88900" anchor="ctr"/>
                </a:tc>
                <a:extLst>
                  <a:ext uri="{0D108BD9-81ED-4DB2-BD59-A6C34878D82A}">
                    <a16:rowId xmlns:a16="http://schemas.microsoft.com/office/drawing/2014/main" val="3484028203"/>
                  </a:ext>
                </a:extLst>
              </a:tr>
              <a:tr h="0">
                <a:tc>
                  <a:txBody>
                    <a:bodyPr/>
                    <a:lstStyle/>
                    <a:p>
                      <a:pPr algn="ctr" fontAlgn="ctr"/>
                      <a:r>
                        <a:rPr lang="en-IN" sz="1250" b="0">
                          <a:effectLst/>
                        </a:rPr>
                        <a:t>Soumya</a:t>
                      </a:r>
                    </a:p>
                  </a:txBody>
                  <a:tcPr marL="63500" marR="63500" marT="88900" marB="88900" anchor="ctr"/>
                </a:tc>
                <a:tc>
                  <a:txBody>
                    <a:bodyPr/>
                    <a:lstStyle/>
                    <a:p>
                      <a:pPr algn="ctr" fontAlgn="ctr"/>
                      <a:r>
                        <a:rPr lang="en-IN" sz="1250" b="0">
                          <a:effectLst/>
                        </a:rPr>
                        <a:t>Nutanchati</a:t>
                      </a:r>
                    </a:p>
                  </a:txBody>
                  <a:tcPr marL="63500" marR="63500" marT="88900" marB="88900" anchor="ctr"/>
                </a:tc>
                <a:tc>
                  <a:txBody>
                    <a:bodyPr/>
                    <a:lstStyle/>
                    <a:p>
                      <a:pPr algn="ctr" fontAlgn="ctr"/>
                      <a:r>
                        <a:rPr lang="en-IN" sz="1250" b="0">
                          <a:effectLst/>
                        </a:rPr>
                        <a:t>Bankura</a:t>
                      </a:r>
                    </a:p>
                  </a:txBody>
                  <a:tcPr marL="63500" marR="63500" marT="88900" marB="88900" anchor="ctr"/>
                </a:tc>
                <a:extLst>
                  <a:ext uri="{0D108BD9-81ED-4DB2-BD59-A6C34878D82A}">
                    <a16:rowId xmlns:a16="http://schemas.microsoft.com/office/drawing/2014/main" val="2362752249"/>
                  </a:ext>
                </a:extLst>
              </a:tr>
              <a:tr h="0">
                <a:tc>
                  <a:txBody>
                    <a:bodyPr/>
                    <a:lstStyle/>
                    <a:p>
                      <a:pPr algn="ctr" fontAlgn="ctr"/>
                      <a:r>
                        <a:rPr lang="en-IN" sz="1250" b="0">
                          <a:effectLst/>
                        </a:rPr>
                        <a:t>Ritu</a:t>
                      </a:r>
                    </a:p>
                  </a:txBody>
                  <a:tcPr marL="63500" marR="63500" marT="88900" marB="88900" anchor="ctr"/>
                </a:tc>
                <a:tc>
                  <a:txBody>
                    <a:bodyPr/>
                    <a:lstStyle/>
                    <a:p>
                      <a:pPr algn="ctr" fontAlgn="ctr"/>
                      <a:r>
                        <a:rPr lang="en-IN" sz="1250" b="0">
                          <a:effectLst/>
                        </a:rPr>
                        <a:t>Juhu</a:t>
                      </a:r>
                    </a:p>
                  </a:txBody>
                  <a:tcPr marL="63500" marR="63500" marT="88900" marB="88900" anchor="ctr"/>
                </a:tc>
                <a:tc>
                  <a:txBody>
                    <a:bodyPr/>
                    <a:lstStyle/>
                    <a:p>
                      <a:pPr algn="ctr" fontAlgn="ctr"/>
                      <a:r>
                        <a:rPr lang="en-IN" sz="1250" b="0" dirty="0">
                          <a:effectLst/>
                        </a:rPr>
                        <a:t>Mumbai</a:t>
                      </a:r>
                    </a:p>
                  </a:txBody>
                  <a:tcPr marL="63500" marR="63500" marT="88900" marB="88900" anchor="ctr"/>
                </a:tc>
                <a:extLst>
                  <a:ext uri="{0D108BD9-81ED-4DB2-BD59-A6C34878D82A}">
                    <a16:rowId xmlns:a16="http://schemas.microsoft.com/office/drawing/2014/main" val="4216703281"/>
                  </a:ext>
                </a:extLst>
              </a:tr>
            </a:tbl>
          </a:graphicData>
        </a:graphic>
      </p:graphicFrame>
      <p:sp>
        <p:nvSpPr>
          <p:cNvPr id="10" name="TextBox 9">
            <a:extLst>
              <a:ext uri="{FF2B5EF4-FFF2-40B4-BE49-F238E27FC236}">
                <a16:creationId xmlns:a16="http://schemas.microsoft.com/office/drawing/2014/main" id="{7EE29958-F60E-4E4B-ABDD-F745F22D1BF2}"/>
              </a:ext>
            </a:extLst>
          </p:cNvPr>
          <p:cNvSpPr txBox="1"/>
          <p:nvPr/>
        </p:nvSpPr>
        <p:spPr>
          <a:xfrm>
            <a:off x="6294665" y="560782"/>
            <a:ext cx="6101442" cy="369332"/>
          </a:xfrm>
          <a:prstGeom prst="rect">
            <a:avLst/>
          </a:prstGeom>
          <a:noFill/>
        </p:spPr>
        <p:txBody>
          <a:bodyPr wrap="square">
            <a:spAutoFit/>
          </a:bodyPr>
          <a:lstStyle/>
          <a:p>
            <a:r>
              <a:rPr lang="en-IN" b="1" i="0" dirty="0">
                <a:solidFill>
                  <a:srgbClr val="273239"/>
                </a:solidFill>
                <a:effectLst/>
                <a:latin typeface="Nunito" pitchFamily="2" charset="0"/>
              </a:rPr>
              <a:t>Loan</a:t>
            </a:r>
            <a:endParaRPr lang="en-IN" dirty="0"/>
          </a:p>
        </p:txBody>
      </p:sp>
      <p:graphicFrame>
        <p:nvGraphicFramePr>
          <p:cNvPr id="11" name="Table 10">
            <a:extLst>
              <a:ext uri="{FF2B5EF4-FFF2-40B4-BE49-F238E27FC236}">
                <a16:creationId xmlns:a16="http://schemas.microsoft.com/office/drawing/2014/main" id="{11848E8F-A834-FCF9-F6BD-DB70EB0A7ACF}"/>
              </a:ext>
            </a:extLst>
          </p:cNvPr>
          <p:cNvGraphicFramePr>
            <a:graphicFrameLocks noGrp="1"/>
          </p:cNvGraphicFramePr>
          <p:nvPr>
            <p:extLst>
              <p:ext uri="{D42A27DB-BD31-4B8C-83A1-F6EECF244321}">
                <p14:modId xmlns:p14="http://schemas.microsoft.com/office/powerpoint/2010/main" val="2684689952"/>
              </p:ext>
            </p:extLst>
          </p:nvPr>
        </p:nvGraphicFramePr>
        <p:xfrm>
          <a:off x="6172840" y="1027861"/>
          <a:ext cx="3808719" cy="1788160"/>
        </p:xfrm>
        <a:graphic>
          <a:graphicData uri="http://schemas.openxmlformats.org/drawingml/2006/table">
            <a:tbl>
              <a:tblPr>
                <a:tableStyleId>{775DCB02-9BB8-47FD-8907-85C794F793BA}</a:tableStyleId>
              </a:tblPr>
              <a:tblGrid>
                <a:gridCol w="1269573">
                  <a:extLst>
                    <a:ext uri="{9D8B030D-6E8A-4147-A177-3AD203B41FA5}">
                      <a16:colId xmlns:a16="http://schemas.microsoft.com/office/drawing/2014/main" val="1816099018"/>
                    </a:ext>
                  </a:extLst>
                </a:gridCol>
                <a:gridCol w="1269573">
                  <a:extLst>
                    <a:ext uri="{9D8B030D-6E8A-4147-A177-3AD203B41FA5}">
                      <a16:colId xmlns:a16="http://schemas.microsoft.com/office/drawing/2014/main" val="3762149148"/>
                    </a:ext>
                  </a:extLst>
                </a:gridCol>
                <a:gridCol w="1269573">
                  <a:extLst>
                    <a:ext uri="{9D8B030D-6E8A-4147-A177-3AD203B41FA5}">
                      <a16:colId xmlns:a16="http://schemas.microsoft.com/office/drawing/2014/main" val="1318894298"/>
                    </a:ext>
                  </a:extLst>
                </a:gridCol>
              </a:tblGrid>
              <a:tr h="0">
                <a:tc>
                  <a:txBody>
                    <a:bodyPr/>
                    <a:lstStyle/>
                    <a:p>
                      <a:pPr algn="ctr" fontAlgn="base"/>
                      <a:r>
                        <a:rPr lang="en-IN" sz="1400" b="1">
                          <a:effectLst/>
                        </a:rPr>
                        <a:t>Loan number</a:t>
                      </a:r>
                    </a:p>
                  </a:txBody>
                  <a:tcPr marL="50800" marR="50800" marT="50800" marB="50800" anchor="ctr"/>
                </a:tc>
                <a:tc>
                  <a:txBody>
                    <a:bodyPr/>
                    <a:lstStyle/>
                    <a:p>
                      <a:pPr algn="ctr" fontAlgn="base"/>
                      <a:r>
                        <a:rPr lang="en-IN" sz="1400" b="1">
                          <a:effectLst/>
                        </a:rPr>
                        <a:t>Branch name</a:t>
                      </a:r>
                    </a:p>
                  </a:txBody>
                  <a:tcPr marL="50800" marR="50800" marT="50800" marB="50800" anchor="ctr"/>
                </a:tc>
                <a:tc>
                  <a:txBody>
                    <a:bodyPr/>
                    <a:lstStyle/>
                    <a:p>
                      <a:pPr algn="ctr" fontAlgn="base"/>
                      <a:r>
                        <a:rPr lang="en-IN" sz="1400" b="1">
                          <a:effectLst/>
                        </a:rPr>
                        <a:t>Amount</a:t>
                      </a:r>
                    </a:p>
                  </a:txBody>
                  <a:tcPr marL="50800" marR="50800" marT="50800" marB="50800" anchor="ctr"/>
                </a:tc>
                <a:extLst>
                  <a:ext uri="{0D108BD9-81ED-4DB2-BD59-A6C34878D82A}">
                    <a16:rowId xmlns:a16="http://schemas.microsoft.com/office/drawing/2014/main" val="3545082261"/>
                  </a:ext>
                </a:extLst>
              </a:tr>
              <a:tr h="0">
                <a:tc>
                  <a:txBody>
                    <a:bodyPr/>
                    <a:lstStyle/>
                    <a:p>
                      <a:pPr algn="ctr" fontAlgn="ctr"/>
                      <a:r>
                        <a:rPr lang="en-IN" sz="1250" b="0">
                          <a:effectLst/>
                        </a:rPr>
                        <a:t>L01</a:t>
                      </a:r>
                    </a:p>
                  </a:txBody>
                  <a:tcPr marL="63500" marR="63500" marT="88900" marB="88900" anchor="ctr"/>
                </a:tc>
                <a:tc>
                  <a:txBody>
                    <a:bodyPr/>
                    <a:lstStyle/>
                    <a:p>
                      <a:pPr algn="ctr" fontAlgn="ctr"/>
                      <a:r>
                        <a:rPr lang="en-IN" sz="1250" b="0">
                          <a:effectLst/>
                        </a:rPr>
                        <a:t>Main</a:t>
                      </a:r>
                    </a:p>
                  </a:txBody>
                  <a:tcPr marL="63500" marR="63500" marT="88900" marB="88900" anchor="ctr"/>
                </a:tc>
                <a:tc>
                  <a:txBody>
                    <a:bodyPr/>
                    <a:lstStyle/>
                    <a:p>
                      <a:pPr algn="ctr" fontAlgn="ctr"/>
                      <a:r>
                        <a:rPr lang="en-IN" sz="1250" b="0">
                          <a:effectLst/>
                        </a:rPr>
                        <a:t>200</a:t>
                      </a:r>
                    </a:p>
                  </a:txBody>
                  <a:tcPr marL="63500" marR="63500" marT="88900" marB="88900" anchor="ctr"/>
                </a:tc>
                <a:extLst>
                  <a:ext uri="{0D108BD9-81ED-4DB2-BD59-A6C34878D82A}">
                    <a16:rowId xmlns:a16="http://schemas.microsoft.com/office/drawing/2014/main" val="3563483837"/>
                  </a:ext>
                </a:extLst>
              </a:tr>
              <a:tr h="0">
                <a:tc>
                  <a:txBody>
                    <a:bodyPr/>
                    <a:lstStyle/>
                    <a:p>
                      <a:pPr algn="ctr" fontAlgn="ctr"/>
                      <a:r>
                        <a:rPr lang="en-IN" sz="1250" b="0">
                          <a:effectLst/>
                        </a:rPr>
                        <a:t>L03</a:t>
                      </a:r>
                    </a:p>
                  </a:txBody>
                  <a:tcPr marL="63500" marR="63500" marT="88900" marB="88900" anchor="ctr"/>
                </a:tc>
                <a:tc>
                  <a:txBody>
                    <a:bodyPr/>
                    <a:lstStyle/>
                    <a:p>
                      <a:pPr algn="ctr" fontAlgn="ctr"/>
                      <a:r>
                        <a:rPr lang="en-IN" sz="1250" b="0">
                          <a:effectLst/>
                        </a:rPr>
                        <a:t>Main</a:t>
                      </a:r>
                    </a:p>
                  </a:txBody>
                  <a:tcPr marL="63500" marR="63500" marT="88900" marB="88900" anchor="ctr"/>
                </a:tc>
                <a:tc>
                  <a:txBody>
                    <a:bodyPr/>
                    <a:lstStyle/>
                    <a:p>
                      <a:pPr algn="ctr" fontAlgn="ctr"/>
                      <a:r>
                        <a:rPr lang="en-IN" sz="1250" b="0">
                          <a:effectLst/>
                        </a:rPr>
                        <a:t>150</a:t>
                      </a:r>
                    </a:p>
                  </a:txBody>
                  <a:tcPr marL="63500" marR="63500" marT="88900" marB="88900" anchor="ctr"/>
                </a:tc>
                <a:extLst>
                  <a:ext uri="{0D108BD9-81ED-4DB2-BD59-A6C34878D82A}">
                    <a16:rowId xmlns:a16="http://schemas.microsoft.com/office/drawing/2014/main" val="656395137"/>
                  </a:ext>
                </a:extLst>
              </a:tr>
              <a:tr h="0">
                <a:tc>
                  <a:txBody>
                    <a:bodyPr/>
                    <a:lstStyle/>
                    <a:p>
                      <a:pPr algn="ctr" fontAlgn="ctr"/>
                      <a:r>
                        <a:rPr lang="en-IN" sz="1250" b="0">
                          <a:effectLst/>
                        </a:rPr>
                        <a:t>L10</a:t>
                      </a:r>
                    </a:p>
                  </a:txBody>
                  <a:tcPr marL="63500" marR="63500" marT="88900" marB="88900" anchor="ctr"/>
                </a:tc>
                <a:tc>
                  <a:txBody>
                    <a:bodyPr/>
                    <a:lstStyle/>
                    <a:p>
                      <a:pPr algn="ctr" fontAlgn="ctr"/>
                      <a:r>
                        <a:rPr lang="en-IN" sz="1250" b="0">
                          <a:effectLst/>
                        </a:rPr>
                        <a:t>Sub</a:t>
                      </a:r>
                    </a:p>
                  </a:txBody>
                  <a:tcPr marL="63500" marR="63500" marT="88900" marB="88900" anchor="ctr"/>
                </a:tc>
                <a:tc>
                  <a:txBody>
                    <a:bodyPr/>
                    <a:lstStyle/>
                    <a:p>
                      <a:pPr algn="ctr" fontAlgn="ctr"/>
                      <a:r>
                        <a:rPr lang="en-IN" sz="1250" b="0">
                          <a:effectLst/>
                        </a:rPr>
                        <a:t>90</a:t>
                      </a:r>
                    </a:p>
                  </a:txBody>
                  <a:tcPr marL="63500" marR="63500" marT="88900" marB="88900" anchor="ctr"/>
                </a:tc>
                <a:extLst>
                  <a:ext uri="{0D108BD9-81ED-4DB2-BD59-A6C34878D82A}">
                    <a16:rowId xmlns:a16="http://schemas.microsoft.com/office/drawing/2014/main" val="1272320006"/>
                  </a:ext>
                </a:extLst>
              </a:tr>
              <a:tr h="0">
                <a:tc>
                  <a:txBody>
                    <a:bodyPr/>
                    <a:lstStyle/>
                    <a:p>
                      <a:pPr algn="ctr" fontAlgn="ctr"/>
                      <a:r>
                        <a:rPr lang="en-IN" sz="1250" b="0">
                          <a:effectLst/>
                        </a:rPr>
                        <a:t>L08</a:t>
                      </a:r>
                    </a:p>
                  </a:txBody>
                  <a:tcPr marL="63500" marR="63500" marT="88900" marB="88900" anchor="ctr"/>
                </a:tc>
                <a:tc>
                  <a:txBody>
                    <a:bodyPr/>
                    <a:lstStyle/>
                    <a:p>
                      <a:pPr algn="ctr" fontAlgn="ctr"/>
                      <a:r>
                        <a:rPr lang="en-IN" sz="1250" b="0">
                          <a:effectLst/>
                        </a:rPr>
                        <a:t>Main</a:t>
                      </a:r>
                    </a:p>
                  </a:txBody>
                  <a:tcPr marL="63500" marR="63500" marT="88900" marB="88900" anchor="ctr"/>
                </a:tc>
                <a:tc>
                  <a:txBody>
                    <a:bodyPr/>
                    <a:lstStyle/>
                    <a:p>
                      <a:pPr algn="ctr" fontAlgn="ctr"/>
                      <a:r>
                        <a:rPr lang="en-IN" sz="1250" b="0" dirty="0">
                          <a:effectLst/>
                        </a:rPr>
                        <a:t>60</a:t>
                      </a:r>
                    </a:p>
                  </a:txBody>
                  <a:tcPr marL="63500" marR="63500" marT="88900" marB="88900" anchor="ctr"/>
                </a:tc>
                <a:extLst>
                  <a:ext uri="{0D108BD9-81ED-4DB2-BD59-A6C34878D82A}">
                    <a16:rowId xmlns:a16="http://schemas.microsoft.com/office/drawing/2014/main" val="3237116160"/>
                  </a:ext>
                </a:extLst>
              </a:tr>
            </a:tbl>
          </a:graphicData>
        </a:graphic>
      </p:graphicFrame>
      <p:sp>
        <p:nvSpPr>
          <p:cNvPr id="13" name="TextBox 12">
            <a:extLst>
              <a:ext uri="{FF2B5EF4-FFF2-40B4-BE49-F238E27FC236}">
                <a16:creationId xmlns:a16="http://schemas.microsoft.com/office/drawing/2014/main" id="{96607C27-5D2E-699F-58D6-24BCE06EB4ED}"/>
              </a:ext>
            </a:extLst>
          </p:cNvPr>
          <p:cNvSpPr txBox="1"/>
          <p:nvPr/>
        </p:nvSpPr>
        <p:spPr>
          <a:xfrm>
            <a:off x="4427764" y="3429000"/>
            <a:ext cx="6199414" cy="369332"/>
          </a:xfrm>
          <a:prstGeom prst="rect">
            <a:avLst/>
          </a:prstGeom>
          <a:noFill/>
        </p:spPr>
        <p:txBody>
          <a:bodyPr wrap="square">
            <a:spAutoFit/>
          </a:bodyPr>
          <a:lstStyle/>
          <a:p>
            <a:r>
              <a:rPr lang="en-IN" b="1" i="0" dirty="0">
                <a:solidFill>
                  <a:srgbClr val="273239"/>
                </a:solidFill>
                <a:effectLst/>
                <a:latin typeface="Nunito" pitchFamily="2" charset="0"/>
              </a:rPr>
              <a:t> Borrower</a:t>
            </a:r>
            <a:endParaRPr lang="en-IN" dirty="0"/>
          </a:p>
        </p:txBody>
      </p:sp>
      <p:graphicFrame>
        <p:nvGraphicFramePr>
          <p:cNvPr id="14" name="Table 13">
            <a:extLst>
              <a:ext uri="{FF2B5EF4-FFF2-40B4-BE49-F238E27FC236}">
                <a16:creationId xmlns:a16="http://schemas.microsoft.com/office/drawing/2014/main" id="{0C667DBA-382E-DDC4-D98F-6E3722DE0D2B}"/>
              </a:ext>
            </a:extLst>
          </p:cNvPr>
          <p:cNvGraphicFramePr>
            <a:graphicFrameLocks noGrp="1"/>
          </p:cNvGraphicFramePr>
          <p:nvPr>
            <p:extLst>
              <p:ext uri="{D42A27DB-BD31-4B8C-83A1-F6EECF244321}">
                <p14:modId xmlns:p14="http://schemas.microsoft.com/office/powerpoint/2010/main" val="231861066"/>
              </p:ext>
            </p:extLst>
          </p:nvPr>
        </p:nvGraphicFramePr>
        <p:xfrm>
          <a:off x="3914615" y="3992795"/>
          <a:ext cx="3727156" cy="1419860"/>
        </p:xfrm>
        <a:graphic>
          <a:graphicData uri="http://schemas.openxmlformats.org/drawingml/2006/table">
            <a:tbl>
              <a:tblPr>
                <a:tableStyleId>{35758FB7-9AC5-4552-8A53-C91805E547FA}</a:tableStyleId>
              </a:tblPr>
              <a:tblGrid>
                <a:gridCol w="1863578">
                  <a:extLst>
                    <a:ext uri="{9D8B030D-6E8A-4147-A177-3AD203B41FA5}">
                      <a16:colId xmlns:a16="http://schemas.microsoft.com/office/drawing/2014/main" val="1016352611"/>
                    </a:ext>
                  </a:extLst>
                </a:gridCol>
                <a:gridCol w="1863578">
                  <a:extLst>
                    <a:ext uri="{9D8B030D-6E8A-4147-A177-3AD203B41FA5}">
                      <a16:colId xmlns:a16="http://schemas.microsoft.com/office/drawing/2014/main" val="3101013352"/>
                    </a:ext>
                  </a:extLst>
                </a:gridCol>
              </a:tblGrid>
              <a:tr h="0">
                <a:tc>
                  <a:txBody>
                    <a:bodyPr/>
                    <a:lstStyle/>
                    <a:p>
                      <a:pPr algn="ctr" fontAlgn="base"/>
                      <a:r>
                        <a:rPr lang="en-IN" sz="1400" b="1">
                          <a:effectLst/>
                        </a:rPr>
                        <a:t>Customer name</a:t>
                      </a:r>
                    </a:p>
                  </a:txBody>
                  <a:tcPr marL="50800" marR="50800" marT="50800" marB="50800" anchor="ctr"/>
                </a:tc>
                <a:tc>
                  <a:txBody>
                    <a:bodyPr/>
                    <a:lstStyle/>
                    <a:p>
                      <a:pPr algn="ctr" fontAlgn="base"/>
                      <a:r>
                        <a:rPr lang="en-IN" sz="1400" b="1">
                          <a:effectLst/>
                        </a:rPr>
                        <a:t>Loan number</a:t>
                      </a:r>
                    </a:p>
                  </a:txBody>
                  <a:tcPr marL="50800" marR="50800" marT="50800" marB="50800" anchor="ctr"/>
                </a:tc>
                <a:extLst>
                  <a:ext uri="{0D108BD9-81ED-4DB2-BD59-A6C34878D82A}">
                    <a16:rowId xmlns:a16="http://schemas.microsoft.com/office/drawing/2014/main" val="4209506223"/>
                  </a:ext>
                </a:extLst>
              </a:tr>
              <a:tr h="0">
                <a:tc>
                  <a:txBody>
                    <a:bodyPr/>
                    <a:lstStyle/>
                    <a:p>
                      <a:pPr algn="ctr" fontAlgn="ctr"/>
                      <a:r>
                        <a:rPr lang="en-IN" sz="1250" b="0">
                          <a:effectLst/>
                        </a:rPr>
                        <a:t>Ritu</a:t>
                      </a:r>
                    </a:p>
                  </a:txBody>
                  <a:tcPr marL="63500" marR="63500" marT="88900" marB="88900" anchor="ctr"/>
                </a:tc>
                <a:tc>
                  <a:txBody>
                    <a:bodyPr/>
                    <a:lstStyle/>
                    <a:p>
                      <a:pPr algn="ctr" fontAlgn="ctr"/>
                      <a:r>
                        <a:rPr lang="en-IN" sz="1250" b="0">
                          <a:effectLst/>
                        </a:rPr>
                        <a:t>L01</a:t>
                      </a:r>
                    </a:p>
                  </a:txBody>
                  <a:tcPr marL="63500" marR="63500" marT="88900" marB="88900" anchor="ctr"/>
                </a:tc>
                <a:extLst>
                  <a:ext uri="{0D108BD9-81ED-4DB2-BD59-A6C34878D82A}">
                    <a16:rowId xmlns:a16="http://schemas.microsoft.com/office/drawing/2014/main" val="643892399"/>
                  </a:ext>
                </a:extLst>
              </a:tr>
              <a:tr h="0">
                <a:tc>
                  <a:txBody>
                    <a:bodyPr/>
                    <a:lstStyle/>
                    <a:p>
                      <a:pPr algn="ctr" fontAlgn="ctr"/>
                      <a:r>
                        <a:rPr lang="en-IN" sz="1250" b="0">
                          <a:effectLst/>
                        </a:rPr>
                        <a:t>Debomit</a:t>
                      </a:r>
                    </a:p>
                  </a:txBody>
                  <a:tcPr marL="63500" marR="63500" marT="88900" marB="88900" anchor="ctr"/>
                </a:tc>
                <a:tc>
                  <a:txBody>
                    <a:bodyPr/>
                    <a:lstStyle/>
                    <a:p>
                      <a:pPr algn="ctr" fontAlgn="ctr"/>
                      <a:r>
                        <a:rPr lang="en-IN" sz="1250" b="0">
                          <a:effectLst/>
                        </a:rPr>
                        <a:t>L08</a:t>
                      </a:r>
                    </a:p>
                  </a:txBody>
                  <a:tcPr marL="63500" marR="63500" marT="88900" marB="88900" anchor="ctr"/>
                </a:tc>
                <a:extLst>
                  <a:ext uri="{0D108BD9-81ED-4DB2-BD59-A6C34878D82A}">
                    <a16:rowId xmlns:a16="http://schemas.microsoft.com/office/drawing/2014/main" val="3547479478"/>
                  </a:ext>
                </a:extLst>
              </a:tr>
              <a:tr h="0">
                <a:tc>
                  <a:txBody>
                    <a:bodyPr/>
                    <a:lstStyle/>
                    <a:p>
                      <a:pPr algn="ctr" fontAlgn="ctr"/>
                      <a:r>
                        <a:rPr lang="en-IN" sz="1250" b="0">
                          <a:effectLst/>
                        </a:rPr>
                        <a:t>Soumya</a:t>
                      </a:r>
                    </a:p>
                  </a:txBody>
                  <a:tcPr marL="63500" marR="63500" marT="88900" marB="88900" anchor="ctr"/>
                </a:tc>
                <a:tc>
                  <a:txBody>
                    <a:bodyPr/>
                    <a:lstStyle/>
                    <a:p>
                      <a:pPr algn="ctr" fontAlgn="ctr"/>
                      <a:r>
                        <a:rPr lang="en-IN" sz="1250" b="0" dirty="0">
                          <a:effectLst/>
                        </a:rPr>
                        <a:t>L03</a:t>
                      </a:r>
                    </a:p>
                  </a:txBody>
                  <a:tcPr marL="63500" marR="63500" marT="88900" marB="88900" anchor="ctr"/>
                </a:tc>
                <a:extLst>
                  <a:ext uri="{0D108BD9-81ED-4DB2-BD59-A6C34878D82A}">
                    <a16:rowId xmlns:a16="http://schemas.microsoft.com/office/drawing/2014/main" val="4015671500"/>
                  </a:ext>
                </a:extLst>
              </a:tr>
            </a:tbl>
          </a:graphicData>
        </a:graphic>
      </p:graphicFrame>
    </p:spTree>
    <p:extLst>
      <p:ext uri="{BB962C8B-B14F-4D97-AF65-F5344CB8AC3E}">
        <p14:creationId xmlns:p14="http://schemas.microsoft.com/office/powerpoint/2010/main" val="21469764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C1CB54-A7B6-8EF1-0134-328D1759511B}"/>
              </a:ext>
            </a:extLst>
          </p:cNvPr>
          <p:cNvSpPr txBox="1"/>
          <p:nvPr/>
        </p:nvSpPr>
        <p:spPr>
          <a:xfrm>
            <a:off x="435429" y="341449"/>
            <a:ext cx="11027228" cy="1015663"/>
          </a:xfrm>
          <a:prstGeom prst="rect">
            <a:avLst/>
          </a:prstGeom>
          <a:noFill/>
        </p:spPr>
        <p:txBody>
          <a:bodyPr wrap="square">
            <a:spAutoFit/>
          </a:bodyPr>
          <a:lstStyle/>
          <a:p>
            <a:r>
              <a:rPr lang="en-US" sz="2000" dirty="0"/>
              <a:t>Query-1: Find the loan number, branch, amount of loans of greater than or equal to 100 amount.</a:t>
            </a:r>
          </a:p>
          <a:p>
            <a:endParaRPr lang="en-US" sz="2000" dirty="0"/>
          </a:p>
          <a:p>
            <a:pPr algn="ctr"/>
            <a:r>
              <a:rPr lang="en-US" sz="2000" b="1" dirty="0"/>
              <a:t>{≺l, b, a≻ | ≺l, b, a≻ ∈ loan ∧ (a ≥ 100)}</a:t>
            </a:r>
            <a:endParaRPr lang="en-IN" sz="2000" b="1" dirty="0"/>
          </a:p>
        </p:txBody>
      </p:sp>
      <p:graphicFrame>
        <p:nvGraphicFramePr>
          <p:cNvPr id="5" name="Table 4">
            <a:extLst>
              <a:ext uri="{FF2B5EF4-FFF2-40B4-BE49-F238E27FC236}">
                <a16:creationId xmlns:a16="http://schemas.microsoft.com/office/drawing/2014/main" id="{D81B47F3-E625-B204-D7F3-682F1883E889}"/>
              </a:ext>
            </a:extLst>
          </p:cNvPr>
          <p:cNvGraphicFramePr>
            <a:graphicFrameLocks noGrp="1"/>
          </p:cNvGraphicFramePr>
          <p:nvPr>
            <p:extLst>
              <p:ext uri="{D42A27DB-BD31-4B8C-83A1-F6EECF244321}">
                <p14:modId xmlns:p14="http://schemas.microsoft.com/office/powerpoint/2010/main" val="291649811"/>
              </p:ext>
            </p:extLst>
          </p:nvPr>
        </p:nvGraphicFramePr>
        <p:xfrm>
          <a:off x="4371253" y="1715113"/>
          <a:ext cx="3449493" cy="1264920"/>
        </p:xfrm>
        <a:graphic>
          <a:graphicData uri="http://schemas.openxmlformats.org/drawingml/2006/table">
            <a:tbl>
              <a:tblPr>
                <a:tableStyleId>{638B1855-1B75-4FBE-930C-398BA8C253C6}</a:tableStyleId>
              </a:tblPr>
              <a:tblGrid>
                <a:gridCol w="1149831">
                  <a:extLst>
                    <a:ext uri="{9D8B030D-6E8A-4147-A177-3AD203B41FA5}">
                      <a16:colId xmlns:a16="http://schemas.microsoft.com/office/drawing/2014/main" val="3216633045"/>
                    </a:ext>
                  </a:extLst>
                </a:gridCol>
                <a:gridCol w="1149831">
                  <a:extLst>
                    <a:ext uri="{9D8B030D-6E8A-4147-A177-3AD203B41FA5}">
                      <a16:colId xmlns:a16="http://schemas.microsoft.com/office/drawing/2014/main" val="3628576108"/>
                    </a:ext>
                  </a:extLst>
                </a:gridCol>
                <a:gridCol w="1149831">
                  <a:extLst>
                    <a:ext uri="{9D8B030D-6E8A-4147-A177-3AD203B41FA5}">
                      <a16:colId xmlns:a16="http://schemas.microsoft.com/office/drawing/2014/main" val="199834496"/>
                    </a:ext>
                  </a:extLst>
                </a:gridCol>
              </a:tblGrid>
              <a:tr h="0">
                <a:tc>
                  <a:txBody>
                    <a:bodyPr/>
                    <a:lstStyle/>
                    <a:p>
                      <a:pPr algn="ctr" fontAlgn="base"/>
                      <a:r>
                        <a:rPr lang="en-IN" sz="1400" b="1">
                          <a:effectLst/>
                        </a:rPr>
                        <a:t>Loan number</a:t>
                      </a:r>
                    </a:p>
                  </a:txBody>
                  <a:tcPr marL="50800" marR="50800" marT="50800" marB="50800" anchor="ctr"/>
                </a:tc>
                <a:tc>
                  <a:txBody>
                    <a:bodyPr/>
                    <a:lstStyle/>
                    <a:p>
                      <a:pPr algn="ctr" fontAlgn="base"/>
                      <a:r>
                        <a:rPr lang="en-IN" sz="1400" b="1">
                          <a:effectLst/>
                        </a:rPr>
                        <a:t>Branch name</a:t>
                      </a:r>
                    </a:p>
                  </a:txBody>
                  <a:tcPr marL="50800" marR="50800" marT="50800" marB="50800" anchor="ctr"/>
                </a:tc>
                <a:tc>
                  <a:txBody>
                    <a:bodyPr/>
                    <a:lstStyle/>
                    <a:p>
                      <a:pPr algn="ctr" fontAlgn="base"/>
                      <a:r>
                        <a:rPr lang="en-IN" sz="1400" b="1">
                          <a:effectLst/>
                        </a:rPr>
                        <a:t>Amount</a:t>
                      </a:r>
                    </a:p>
                  </a:txBody>
                  <a:tcPr marL="50800" marR="50800" marT="50800" marB="50800" anchor="ctr"/>
                </a:tc>
                <a:extLst>
                  <a:ext uri="{0D108BD9-81ED-4DB2-BD59-A6C34878D82A}">
                    <a16:rowId xmlns:a16="http://schemas.microsoft.com/office/drawing/2014/main" val="2331907712"/>
                  </a:ext>
                </a:extLst>
              </a:tr>
              <a:tr h="0">
                <a:tc>
                  <a:txBody>
                    <a:bodyPr/>
                    <a:lstStyle/>
                    <a:p>
                      <a:pPr algn="ctr" fontAlgn="ctr"/>
                      <a:r>
                        <a:rPr lang="en-IN" sz="1250" b="0">
                          <a:effectLst/>
                        </a:rPr>
                        <a:t>L01</a:t>
                      </a:r>
                    </a:p>
                  </a:txBody>
                  <a:tcPr marL="63500" marR="63500" marT="88900" marB="88900" anchor="ctr"/>
                </a:tc>
                <a:tc>
                  <a:txBody>
                    <a:bodyPr/>
                    <a:lstStyle/>
                    <a:p>
                      <a:pPr algn="ctr" fontAlgn="ctr"/>
                      <a:r>
                        <a:rPr lang="en-IN" sz="1250" b="0">
                          <a:effectLst/>
                        </a:rPr>
                        <a:t>Main</a:t>
                      </a:r>
                    </a:p>
                  </a:txBody>
                  <a:tcPr marL="63500" marR="63500" marT="88900" marB="88900" anchor="ctr"/>
                </a:tc>
                <a:tc>
                  <a:txBody>
                    <a:bodyPr/>
                    <a:lstStyle/>
                    <a:p>
                      <a:pPr algn="ctr" fontAlgn="ctr"/>
                      <a:r>
                        <a:rPr lang="en-IN" sz="1250" b="0">
                          <a:effectLst/>
                        </a:rPr>
                        <a:t>200</a:t>
                      </a:r>
                    </a:p>
                  </a:txBody>
                  <a:tcPr marL="63500" marR="63500" marT="88900" marB="88900" anchor="ctr"/>
                </a:tc>
                <a:extLst>
                  <a:ext uri="{0D108BD9-81ED-4DB2-BD59-A6C34878D82A}">
                    <a16:rowId xmlns:a16="http://schemas.microsoft.com/office/drawing/2014/main" val="1382946546"/>
                  </a:ext>
                </a:extLst>
              </a:tr>
              <a:tr h="0">
                <a:tc>
                  <a:txBody>
                    <a:bodyPr/>
                    <a:lstStyle/>
                    <a:p>
                      <a:pPr algn="ctr" fontAlgn="ctr"/>
                      <a:r>
                        <a:rPr lang="en-IN" sz="1250" b="0">
                          <a:effectLst/>
                        </a:rPr>
                        <a:t>L03</a:t>
                      </a:r>
                    </a:p>
                  </a:txBody>
                  <a:tcPr marL="63500" marR="63500" marT="88900" marB="88900" anchor="ctr"/>
                </a:tc>
                <a:tc>
                  <a:txBody>
                    <a:bodyPr/>
                    <a:lstStyle/>
                    <a:p>
                      <a:pPr algn="ctr" fontAlgn="ctr"/>
                      <a:r>
                        <a:rPr lang="en-IN" sz="1250" b="0">
                          <a:effectLst/>
                        </a:rPr>
                        <a:t>Main</a:t>
                      </a:r>
                    </a:p>
                  </a:txBody>
                  <a:tcPr marL="63500" marR="63500" marT="88900" marB="88900" anchor="ctr"/>
                </a:tc>
                <a:tc>
                  <a:txBody>
                    <a:bodyPr/>
                    <a:lstStyle/>
                    <a:p>
                      <a:pPr algn="ctr" fontAlgn="ctr"/>
                      <a:r>
                        <a:rPr lang="en-IN" sz="1250" b="0" dirty="0">
                          <a:effectLst/>
                        </a:rPr>
                        <a:t>150</a:t>
                      </a:r>
                    </a:p>
                  </a:txBody>
                  <a:tcPr marL="63500" marR="63500" marT="88900" marB="88900" anchor="ctr"/>
                </a:tc>
                <a:extLst>
                  <a:ext uri="{0D108BD9-81ED-4DB2-BD59-A6C34878D82A}">
                    <a16:rowId xmlns:a16="http://schemas.microsoft.com/office/drawing/2014/main" val="16197921"/>
                  </a:ext>
                </a:extLst>
              </a:tr>
            </a:tbl>
          </a:graphicData>
        </a:graphic>
      </p:graphicFrame>
    </p:spTree>
    <p:extLst>
      <p:ext uri="{BB962C8B-B14F-4D97-AF65-F5344CB8AC3E}">
        <p14:creationId xmlns:p14="http://schemas.microsoft.com/office/powerpoint/2010/main" val="29835007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5A48D0-9E55-B872-4DBA-56685D454013}"/>
              </a:ext>
            </a:extLst>
          </p:cNvPr>
          <p:cNvSpPr txBox="1"/>
          <p:nvPr/>
        </p:nvSpPr>
        <p:spPr>
          <a:xfrm>
            <a:off x="838200" y="403974"/>
            <a:ext cx="11027228" cy="923330"/>
          </a:xfrm>
          <a:prstGeom prst="rect">
            <a:avLst/>
          </a:prstGeom>
          <a:noFill/>
        </p:spPr>
        <p:txBody>
          <a:bodyPr wrap="square">
            <a:spAutoFit/>
          </a:bodyPr>
          <a:lstStyle/>
          <a:p>
            <a:r>
              <a:rPr lang="en-US" dirty="0"/>
              <a:t>Query-2: Find the loan number for each loan of an amount greater or equal to 150.</a:t>
            </a:r>
          </a:p>
          <a:p>
            <a:endParaRPr lang="en-US" dirty="0"/>
          </a:p>
          <a:p>
            <a:pPr algn="ctr"/>
            <a:r>
              <a:rPr lang="en-US" b="1" dirty="0"/>
              <a:t>{≺l≻ | ∃ b, a (≺l, b, a≻ ∈ loan ∧ (a ≥ 150)}</a:t>
            </a:r>
            <a:endParaRPr lang="en-IN" b="1" dirty="0"/>
          </a:p>
        </p:txBody>
      </p:sp>
      <p:graphicFrame>
        <p:nvGraphicFramePr>
          <p:cNvPr id="4" name="Table 3">
            <a:extLst>
              <a:ext uri="{FF2B5EF4-FFF2-40B4-BE49-F238E27FC236}">
                <a16:creationId xmlns:a16="http://schemas.microsoft.com/office/drawing/2014/main" id="{CF5E287B-A4C1-5EF7-FC14-445DA4C00368}"/>
              </a:ext>
            </a:extLst>
          </p:cNvPr>
          <p:cNvGraphicFramePr>
            <a:graphicFrameLocks noGrp="1"/>
          </p:cNvGraphicFramePr>
          <p:nvPr>
            <p:extLst>
              <p:ext uri="{D42A27DB-BD31-4B8C-83A1-F6EECF244321}">
                <p14:modId xmlns:p14="http://schemas.microsoft.com/office/powerpoint/2010/main" val="251876277"/>
              </p:ext>
            </p:extLst>
          </p:nvPr>
        </p:nvGraphicFramePr>
        <p:xfrm>
          <a:off x="4905975" y="2137477"/>
          <a:ext cx="2380050" cy="1563664"/>
        </p:xfrm>
        <a:graphic>
          <a:graphicData uri="http://schemas.openxmlformats.org/drawingml/2006/table">
            <a:tbl>
              <a:tblPr>
                <a:tableStyleId>{775DCB02-9BB8-47FD-8907-85C794F793BA}</a:tableStyleId>
              </a:tblPr>
              <a:tblGrid>
                <a:gridCol w="2380050">
                  <a:extLst>
                    <a:ext uri="{9D8B030D-6E8A-4147-A177-3AD203B41FA5}">
                      <a16:colId xmlns:a16="http://schemas.microsoft.com/office/drawing/2014/main" val="4227495479"/>
                    </a:ext>
                  </a:extLst>
                </a:gridCol>
              </a:tblGrid>
              <a:tr h="468344">
                <a:tc>
                  <a:txBody>
                    <a:bodyPr/>
                    <a:lstStyle/>
                    <a:p>
                      <a:pPr algn="ctr" fontAlgn="base"/>
                      <a:r>
                        <a:rPr lang="en-IN" sz="1400" b="1">
                          <a:effectLst/>
                        </a:rPr>
                        <a:t>Loan number</a:t>
                      </a:r>
                    </a:p>
                  </a:txBody>
                  <a:tcPr marL="50800" marR="50800" marT="50800" marB="50800" anchor="ctr"/>
                </a:tc>
                <a:extLst>
                  <a:ext uri="{0D108BD9-81ED-4DB2-BD59-A6C34878D82A}">
                    <a16:rowId xmlns:a16="http://schemas.microsoft.com/office/drawing/2014/main" val="2917148572"/>
                  </a:ext>
                </a:extLst>
              </a:tr>
              <a:tr h="547660">
                <a:tc>
                  <a:txBody>
                    <a:bodyPr/>
                    <a:lstStyle/>
                    <a:p>
                      <a:pPr algn="ctr" fontAlgn="ctr"/>
                      <a:r>
                        <a:rPr lang="en-IN" sz="1250" b="0">
                          <a:effectLst/>
                        </a:rPr>
                        <a:t>L01</a:t>
                      </a:r>
                    </a:p>
                  </a:txBody>
                  <a:tcPr marL="63500" marR="63500" marT="88900" marB="88900" anchor="ctr"/>
                </a:tc>
                <a:extLst>
                  <a:ext uri="{0D108BD9-81ED-4DB2-BD59-A6C34878D82A}">
                    <a16:rowId xmlns:a16="http://schemas.microsoft.com/office/drawing/2014/main" val="2519367342"/>
                  </a:ext>
                </a:extLst>
              </a:tr>
              <a:tr h="547660">
                <a:tc>
                  <a:txBody>
                    <a:bodyPr/>
                    <a:lstStyle/>
                    <a:p>
                      <a:pPr algn="ctr" fontAlgn="ctr"/>
                      <a:r>
                        <a:rPr lang="en-IN" sz="1250" b="0" dirty="0">
                          <a:effectLst/>
                        </a:rPr>
                        <a:t>L03</a:t>
                      </a:r>
                    </a:p>
                  </a:txBody>
                  <a:tcPr marL="63500" marR="63500" marT="88900" marB="88900" anchor="ctr"/>
                </a:tc>
                <a:extLst>
                  <a:ext uri="{0D108BD9-81ED-4DB2-BD59-A6C34878D82A}">
                    <a16:rowId xmlns:a16="http://schemas.microsoft.com/office/drawing/2014/main" val="4189328180"/>
                  </a:ext>
                </a:extLst>
              </a:tr>
            </a:tbl>
          </a:graphicData>
        </a:graphic>
      </p:graphicFrame>
    </p:spTree>
    <p:extLst>
      <p:ext uri="{BB962C8B-B14F-4D97-AF65-F5344CB8AC3E}">
        <p14:creationId xmlns:p14="http://schemas.microsoft.com/office/powerpoint/2010/main" val="13541104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937665-2E79-B727-CC94-66EEF805F02F}"/>
              </a:ext>
            </a:extLst>
          </p:cNvPr>
          <p:cNvSpPr txBox="1"/>
          <p:nvPr/>
        </p:nvSpPr>
        <p:spPr>
          <a:xfrm>
            <a:off x="642257" y="496864"/>
            <a:ext cx="11059886" cy="1569660"/>
          </a:xfrm>
          <a:prstGeom prst="rect">
            <a:avLst/>
          </a:prstGeom>
          <a:noFill/>
        </p:spPr>
        <p:txBody>
          <a:bodyPr wrap="square">
            <a:spAutoFit/>
          </a:bodyPr>
          <a:lstStyle/>
          <a:p>
            <a:r>
              <a:rPr lang="en-US" sz="2400" dirty="0"/>
              <a:t>Query-3: Find the names of all customers having a loan at the “Main” branch and find the loan amount .</a:t>
            </a:r>
          </a:p>
          <a:p>
            <a:endParaRPr lang="en-US" sz="2400" dirty="0"/>
          </a:p>
          <a:p>
            <a:pPr algn="ctr"/>
            <a:r>
              <a:rPr lang="en-US" sz="2400" b="1" dirty="0"/>
              <a:t>{≺c, a≻ | ∃ l (≺c, l≻ ∈ borrower ∧ ∃ b (≺l, b, a≻ ∈ loan ∧ (b = “Main”)))}</a:t>
            </a:r>
            <a:endParaRPr lang="en-IN" sz="2400" b="1" dirty="0"/>
          </a:p>
        </p:txBody>
      </p:sp>
      <p:graphicFrame>
        <p:nvGraphicFramePr>
          <p:cNvPr id="5" name="Table 4">
            <a:extLst>
              <a:ext uri="{FF2B5EF4-FFF2-40B4-BE49-F238E27FC236}">
                <a16:creationId xmlns:a16="http://schemas.microsoft.com/office/drawing/2014/main" id="{BA249590-FDDA-C13F-8847-D5E67E49C1F1}"/>
              </a:ext>
            </a:extLst>
          </p:cNvPr>
          <p:cNvGraphicFramePr>
            <a:graphicFrameLocks noGrp="1"/>
          </p:cNvGraphicFramePr>
          <p:nvPr>
            <p:extLst>
              <p:ext uri="{D42A27DB-BD31-4B8C-83A1-F6EECF244321}">
                <p14:modId xmlns:p14="http://schemas.microsoft.com/office/powerpoint/2010/main" val="1743988437"/>
              </p:ext>
            </p:extLst>
          </p:nvPr>
        </p:nvGraphicFramePr>
        <p:xfrm>
          <a:off x="3298371" y="2924334"/>
          <a:ext cx="4144816" cy="1419860"/>
        </p:xfrm>
        <a:graphic>
          <a:graphicData uri="http://schemas.openxmlformats.org/drawingml/2006/table">
            <a:tbl>
              <a:tblPr>
                <a:tableStyleId>{284E427A-3D55-4303-BF80-6455036E1DE7}</a:tableStyleId>
              </a:tblPr>
              <a:tblGrid>
                <a:gridCol w="2072408">
                  <a:extLst>
                    <a:ext uri="{9D8B030D-6E8A-4147-A177-3AD203B41FA5}">
                      <a16:colId xmlns:a16="http://schemas.microsoft.com/office/drawing/2014/main" val="1503349864"/>
                    </a:ext>
                  </a:extLst>
                </a:gridCol>
                <a:gridCol w="2072408">
                  <a:extLst>
                    <a:ext uri="{9D8B030D-6E8A-4147-A177-3AD203B41FA5}">
                      <a16:colId xmlns:a16="http://schemas.microsoft.com/office/drawing/2014/main" val="3061419150"/>
                    </a:ext>
                  </a:extLst>
                </a:gridCol>
              </a:tblGrid>
              <a:tr h="0">
                <a:tc>
                  <a:txBody>
                    <a:bodyPr/>
                    <a:lstStyle/>
                    <a:p>
                      <a:pPr algn="ctr" fontAlgn="base"/>
                      <a:r>
                        <a:rPr lang="en-IN" sz="1400" b="1">
                          <a:effectLst/>
                        </a:rPr>
                        <a:t>Customer Name</a:t>
                      </a:r>
                    </a:p>
                  </a:txBody>
                  <a:tcPr marL="50800" marR="50800" marT="50800" marB="50800" anchor="ctr"/>
                </a:tc>
                <a:tc>
                  <a:txBody>
                    <a:bodyPr/>
                    <a:lstStyle/>
                    <a:p>
                      <a:pPr algn="ctr" fontAlgn="base"/>
                      <a:r>
                        <a:rPr lang="en-IN" sz="1400" b="1">
                          <a:effectLst/>
                        </a:rPr>
                        <a:t>Amount</a:t>
                      </a:r>
                    </a:p>
                  </a:txBody>
                  <a:tcPr marL="50800" marR="50800" marT="50800" marB="50800" anchor="ctr"/>
                </a:tc>
                <a:extLst>
                  <a:ext uri="{0D108BD9-81ED-4DB2-BD59-A6C34878D82A}">
                    <a16:rowId xmlns:a16="http://schemas.microsoft.com/office/drawing/2014/main" val="852725800"/>
                  </a:ext>
                </a:extLst>
              </a:tr>
              <a:tr h="0">
                <a:tc>
                  <a:txBody>
                    <a:bodyPr/>
                    <a:lstStyle/>
                    <a:p>
                      <a:pPr algn="ctr" fontAlgn="ctr"/>
                      <a:r>
                        <a:rPr lang="en-IN" sz="1250" b="0">
                          <a:effectLst/>
                        </a:rPr>
                        <a:t>Ritu</a:t>
                      </a:r>
                    </a:p>
                  </a:txBody>
                  <a:tcPr marL="63500" marR="63500" marT="88900" marB="88900" anchor="ctr"/>
                </a:tc>
                <a:tc>
                  <a:txBody>
                    <a:bodyPr/>
                    <a:lstStyle/>
                    <a:p>
                      <a:pPr algn="ctr" fontAlgn="ctr"/>
                      <a:r>
                        <a:rPr lang="en-IN" sz="1250" b="0">
                          <a:effectLst/>
                        </a:rPr>
                        <a:t>200</a:t>
                      </a:r>
                    </a:p>
                  </a:txBody>
                  <a:tcPr marL="63500" marR="63500" marT="88900" marB="88900" anchor="ctr"/>
                </a:tc>
                <a:extLst>
                  <a:ext uri="{0D108BD9-81ED-4DB2-BD59-A6C34878D82A}">
                    <a16:rowId xmlns:a16="http://schemas.microsoft.com/office/drawing/2014/main" val="3022602420"/>
                  </a:ext>
                </a:extLst>
              </a:tr>
              <a:tr h="0">
                <a:tc>
                  <a:txBody>
                    <a:bodyPr/>
                    <a:lstStyle/>
                    <a:p>
                      <a:pPr algn="ctr" fontAlgn="ctr"/>
                      <a:r>
                        <a:rPr lang="en-IN" sz="1250" b="0">
                          <a:effectLst/>
                        </a:rPr>
                        <a:t>Debomit</a:t>
                      </a:r>
                    </a:p>
                  </a:txBody>
                  <a:tcPr marL="63500" marR="63500" marT="88900" marB="88900" anchor="ctr"/>
                </a:tc>
                <a:tc>
                  <a:txBody>
                    <a:bodyPr/>
                    <a:lstStyle/>
                    <a:p>
                      <a:pPr algn="ctr" fontAlgn="ctr"/>
                      <a:r>
                        <a:rPr lang="en-IN" sz="1250" b="0">
                          <a:effectLst/>
                        </a:rPr>
                        <a:t>60</a:t>
                      </a:r>
                    </a:p>
                  </a:txBody>
                  <a:tcPr marL="63500" marR="63500" marT="88900" marB="88900" anchor="ctr"/>
                </a:tc>
                <a:extLst>
                  <a:ext uri="{0D108BD9-81ED-4DB2-BD59-A6C34878D82A}">
                    <a16:rowId xmlns:a16="http://schemas.microsoft.com/office/drawing/2014/main" val="2453845090"/>
                  </a:ext>
                </a:extLst>
              </a:tr>
              <a:tr h="0">
                <a:tc>
                  <a:txBody>
                    <a:bodyPr/>
                    <a:lstStyle/>
                    <a:p>
                      <a:pPr algn="ctr" fontAlgn="ctr"/>
                      <a:r>
                        <a:rPr lang="en-IN" sz="1250" b="0">
                          <a:effectLst/>
                        </a:rPr>
                        <a:t>Soumya</a:t>
                      </a:r>
                    </a:p>
                  </a:txBody>
                  <a:tcPr marL="63500" marR="63500" marT="88900" marB="88900" anchor="ctr"/>
                </a:tc>
                <a:tc>
                  <a:txBody>
                    <a:bodyPr/>
                    <a:lstStyle/>
                    <a:p>
                      <a:pPr algn="ctr" fontAlgn="ctr"/>
                      <a:r>
                        <a:rPr lang="en-IN" sz="1250" b="0" dirty="0">
                          <a:effectLst/>
                        </a:rPr>
                        <a:t>150</a:t>
                      </a:r>
                    </a:p>
                  </a:txBody>
                  <a:tcPr marL="63500" marR="63500" marT="88900" marB="88900" anchor="ctr"/>
                </a:tc>
                <a:extLst>
                  <a:ext uri="{0D108BD9-81ED-4DB2-BD59-A6C34878D82A}">
                    <a16:rowId xmlns:a16="http://schemas.microsoft.com/office/drawing/2014/main" val="3060846624"/>
                  </a:ext>
                </a:extLst>
              </a:tr>
            </a:tbl>
          </a:graphicData>
        </a:graphic>
      </p:graphicFrame>
    </p:spTree>
    <p:extLst>
      <p:ext uri="{BB962C8B-B14F-4D97-AF65-F5344CB8AC3E}">
        <p14:creationId xmlns:p14="http://schemas.microsoft.com/office/powerpoint/2010/main" val="14868246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BD4E28B-3746-CC54-AE4F-909A132C7377}"/>
              </a:ext>
            </a:extLst>
          </p:cNvPr>
          <p:cNvGraphicFramePr>
            <a:graphicFrameLocks noGrp="1"/>
          </p:cNvGraphicFramePr>
          <p:nvPr>
            <p:extLst>
              <p:ext uri="{D42A27DB-BD31-4B8C-83A1-F6EECF244321}">
                <p14:modId xmlns:p14="http://schemas.microsoft.com/office/powerpoint/2010/main" val="4261161562"/>
              </p:ext>
            </p:extLst>
          </p:nvPr>
        </p:nvGraphicFramePr>
        <p:xfrm>
          <a:off x="97969" y="108857"/>
          <a:ext cx="11974288" cy="6666798"/>
        </p:xfrm>
        <a:graphic>
          <a:graphicData uri="http://schemas.openxmlformats.org/drawingml/2006/table">
            <a:tbl>
              <a:tblPr>
                <a:tableStyleId>{35758FB7-9AC5-4552-8A53-C91805E547FA}</a:tableStyleId>
              </a:tblPr>
              <a:tblGrid>
                <a:gridCol w="2993572">
                  <a:extLst>
                    <a:ext uri="{9D8B030D-6E8A-4147-A177-3AD203B41FA5}">
                      <a16:colId xmlns:a16="http://schemas.microsoft.com/office/drawing/2014/main" val="1830911769"/>
                    </a:ext>
                  </a:extLst>
                </a:gridCol>
                <a:gridCol w="2993572">
                  <a:extLst>
                    <a:ext uri="{9D8B030D-6E8A-4147-A177-3AD203B41FA5}">
                      <a16:colId xmlns:a16="http://schemas.microsoft.com/office/drawing/2014/main" val="2605858843"/>
                    </a:ext>
                  </a:extLst>
                </a:gridCol>
                <a:gridCol w="2993572">
                  <a:extLst>
                    <a:ext uri="{9D8B030D-6E8A-4147-A177-3AD203B41FA5}">
                      <a16:colId xmlns:a16="http://schemas.microsoft.com/office/drawing/2014/main" val="2683413090"/>
                    </a:ext>
                  </a:extLst>
                </a:gridCol>
                <a:gridCol w="2993572">
                  <a:extLst>
                    <a:ext uri="{9D8B030D-6E8A-4147-A177-3AD203B41FA5}">
                      <a16:colId xmlns:a16="http://schemas.microsoft.com/office/drawing/2014/main" val="1984009935"/>
                    </a:ext>
                  </a:extLst>
                </a:gridCol>
              </a:tblGrid>
              <a:tr h="314030">
                <a:tc>
                  <a:txBody>
                    <a:bodyPr/>
                    <a:lstStyle/>
                    <a:p>
                      <a:pPr algn="ctr" fontAlgn="base"/>
                      <a:r>
                        <a:rPr lang="en-IN" sz="1100" b="1">
                          <a:effectLst/>
                        </a:rPr>
                        <a:t>S. No.</a:t>
                      </a:r>
                    </a:p>
                  </a:txBody>
                  <a:tcPr marL="12124" marR="12124" marT="20206" marB="20206" anchor="ctr"/>
                </a:tc>
                <a:tc>
                  <a:txBody>
                    <a:bodyPr/>
                    <a:lstStyle/>
                    <a:p>
                      <a:pPr algn="ctr" fontAlgn="base"/>
                      <a:r>
                        <a:rPr lang="en-IN" sz="1100" b="1">
                          <a:effectLst/>
                        </a:rPr>
                        <a:t>Basis of Comparison</a:t>
                      </a:r>
                    </a:p>
                  </a:txBody>
                  <a:tcPr marL="20206" marR="20206" marT="20206" marB="20206" anchor="ctr"/>
                </a:tc>
                <a:tc>
                  <a:txBody>
                    <a:bodyPr/>
                    <a:lstStyle/>
                    <a:p>
                      <a:pPr algn="ctr" fontAlgn="base"/>
                      <a:r>
                        <a:rPr lang="en-IN" sz="1100" b="1">
                          <a:effectLst/>
                        </a:rPr>
                        <a:t>Tuple Relational Calculus (TRC)</a:t>
                      </a:r>
                    </a:p>
                  </a:txBody>
                  <a:tcPr marL="20206" marR="20206" marT="20206" marB="20206" anchor="ctr"/>
                </a:tc>
                <a:tc>
                  <a:txBody>
                    <a:bodyPr/>
                    <a:lstStyle/>
                    <a:p>
                      <a:pPr algn="ctr" fontAlgn="base"/>
                      <a:r>
                        <a:rPr lang="en-IN" sz="1100" b="1">
                          <a:effectLst/>
                        </a:rPr>
                        <a:t>Domain Relational Calculus (DRC)</a:t>
                      </a:r>
                    </a:p>
                  </a:txBody>
                  <a:tcPr marL="20206" marR="20206" marT="20206" marB="20206" anchor="ctr"/>
                </a:tc>
                <a:extLst>
                  <a:ext uri="{0D108BD9-81ED-4DB2-BD59-A6C34878D82A}">
                    <a16:rowId xmlns:a16="http://schemas.microsoft.com/office/drawing/2014/main" val="3589008439"/>
                  </a:ext>
                </a:extLst>
              </a:tr>
              <a:tr h="771847">
                <a:tc>
                  <a:txBody>
                    <a:bodyPr/>
                    <a:lstStyle/>
                    <a:p>
                      <a:pPr algn="ctr" fontAlgn="ctr"/>
                      <a:r>
                        <a:rPr lang="en-IN" sz="1100" b="1">
                          <a:effectLst/>
                        </a:rPr>
                        <a:t>1.</a:t>
                      </a:r>
                      <a:endParaRPr lang="en-IN" sz="1100" b="0">
                        <a:effectLst/>
                      </a:endParaRPr>
                    </a:p>
                  </a:txBody>
                  <a:tcPr marL="20206" marR="20206" marT="28289" marB="28289" anchor="ctr"/>
                </a:tc>
                <a:tc>
                  <a:txBody>
                    <a:bodyPr/>
                    <a:lstStyle/>
                    <a:p>
                      <a:pPr algn="ctr" fontAlgn="ctr"/>
                      <a:r>
                        <a:rPr lang="en-IN" sz="1100" b="1">
                          <a:effectLst/>
                        </a:rPr>
                        <a:t>Definition</a:t>
                      </a:r>
                      <a:endParaRPr lang="en-IN" sz="1100" b="0">
                        <a:effectLst/>
                      </a:endParaRPr>
                    </a:p>
                  </a:txBody>
                  <a:tcPr marL="20206" marR="20206" marT="28289" marB="28289" anchor="ctr"/>
                </a:tc>
                <a:tc>
                  <a:txBody>
                    <a:bodyPr/>
                    <a:lstStyle/>
                    <a:p>
                      <a:pPr algn="ctr" fontAlgn="ctr"/>
                      <a:r>
                        <a:rPr lang="en-US" sz="1100" b="0">
                          <a:effectLst/>
                        </a:rPr>
                        <a:t>The Tuple Relational Calculus (TRC) is used to select tuples from a relation. The tuples with specific range values, tuples with certain attribute values, and so on can be selected.</a:t>
                      </a:r>
                    </a:p>
                  </a:txBody>
                  <a:tcPr marL="20206" marR="20206" marT="28289" marB="28289" anchor="ctr"/>
                </a:tc>
                <a:tc>
                  <a:txBody>
                    <a:bodyPr/>
                    <a:lstStyle/>
                    <a:p>
                      <a:pPr algn="ctr" fontAlgn="ctr"/>
                      <a:r>
                        <a:rPr lang="en-US" sz="1100" b="0">
                          <a:effectLst/>
                        </a:rPr>
                        <a:t>The Domain Relational Calculus (DRC) employs a list of attributes from which to choose based on the condition. It’s similar to TRC, but instead of selecting entire tuples, it selects attributes.</a:t>
                      </a:r>
                    </a:p>
                  </a:txBody>
                  <a:tcPr marL="20206" marR="20206" marT="28289" marB="28289" anchor="ctr"/>
                </a:tc>
                <a:extLst>
                  <a:ext uri="{0D108BD9-81ED-4DB2-BD59-A6C34878D82A}">
                    <a16:rowId xmlns:a16="http://schemas.microsoft.com/office/drawing/2014/main" val="42379920"/>
                  </a:ext>
                </a:extLst>
              </a:tr>
              <a:tr h="424948">
                <a:tc>
                  <a:txBody>
                    <a:bodyPr/>
                    <a:lstStyle/>
                    <a:p>
                      <a:pPr algn="ctr" fontAlgn="ctr"/>
                      <a:r>
                        <a:rPr lang="en-IN" sz="1100" b="1">
                          <a:effectLst/>
                        </a:rPr>
                        <a:t>2.</a:t>
                      </a:r>
                      <a:endParaRPr lang="en-IN" sz="1100" b="0">
                        <a:effectLst/>
                      </a:endParaRPr>
                    </a:p>
                  </a:txBody>
                  <a:tcPr marL="20206" marR="20206" marT="28289" marB="28289" anchor="ctr"/>
                </a:tc>
                <a:tc>
                  <a:txBody>
                    <a:bodyPr/>
                    <a:lstStyle/>
                    <a:p>
                      <a:pPr algn="ctr" fontAlgn="ctr"/>
                      <a:r>
                        <a:rPr lang="en-IN" sz="1100" b="1">
                          <a:effectLst/>
                        </a:rPr>
                        <a:t>Representation of variables</a:t>
                      </a:r>
                      <a:endParaRPr lang="en-IN" sz="1100" b="0">
                        <a:effectLst/>
                      </a:endParaRPr>
                    </a:p>
                  </a:txBody>
                  <a:tcPr marL="20206" marR="20206" marT="28289" marB="28289" anchor="ctr"/>
                </a:tc>
                <a:tc>
                  <a:txBody>
                    <a:bodyPr/>
                    <a:lstStyle/>
                    <a:p>
                      <a:pPr algn="ctr" fontAlgn="ctr"/>
                      <a:r>
                        <a:rPr lang="en-US" sz="1100" b="0">
                          <a:effectLst/>
                        </a:rPr>
                        <a:t>In TRC, the variables represent the tuples from specified relations.</a:t>
                      </a:r>
                    </a:p>
                  </a:txBody>
                  <a:tcPr marL="20206" marR="20206" marT="28289" marB="28289" anchor="ctr"/>
                </a:tc>
                <a:tc>
                  <a:txBody>
                    <a:bodyPr/>
                    <a:lstStyle/>
                    <a:p>
                      <a:pPr algn="ctr" fontAlgn="ctr"/>
                      <a:r>
                        <a:rPr lang="en-US" sz="1100" b="0">
                          <a:effectLst/>
                        </a:rPr>
                        <a:t>In DRC, the variables represent the value drawn from a specified domain.</a:t>
                      </a:r>
                    </a:p>
                  </a:txBody>
                  <a:tcPr marL="20206" marR="20206" marT="28289" marB="28289" anchor="ctr"/>
                </a:tc>
                <a:extLst>
                  <a:ext uri="{0D108BD9-81ED-4DB2-BD59-A6C34878D82A}">
                    <a16:rowId xmlns:a16="http://schemas.microsoft.com/office/drawing/2014/main" val="1095348503"/>
                  </a:ext>
                </a:extLst>
              </a:tr>
              <a:tr h="424948">
                <a:tc>
                  <a:txBody>
                    <a:bodyPr/>
                    <a:lstStyle/>
                    <a:p>
                      <a:pPr algn="ctr" fontAlgn="ctr"/>
                      <a:r>
                        <a:rPr lang="en-IN" sz="1100" b="1">
                          <a:effectLst/>
                        </a:rPr>
                        <a:t>3.</a:t>
                      </a:r>
                      <a:endParaRPr lang="en-IN" sz="1100" b="0">
                        <a:effectLst/>
                      </a:endParaRPr>
                    </a:p>
                  </a:txBody>
                  <a:tcPr marL="20206" marR="20206" marT="28289" marB="28289" anchor="ctr"/>
                </a:tc>
                <a:tc>
                  <a:txBody>
                    <a:bodyPr/>
                    <a:lstStyle/>
                    <a:p>
                      <a:pPr algn="ctr" fontAlgn="ctr"/>
                      <a:r>
                        <a:rPr lang="en-IN" sz="1100" b="1">
                          <a:effectLst/>
                        </a:rPr>
                        <a:t>Tuple/ Domain</a:t>
                      </a:r>
                      <a:endParaRPr lang="en-IN" sz="1100" b="0">
                        <a:effectLst/>
                      </a:endParaRPr>
                    </a:p>
                  </a:txBody>
                  <a:tcPr marL="20206" marR="20206" marT="28289" marB="28289" anchor="ctr"/>
                </a:tc>
                <a:tc>
                  <a:txBody>
                    <a:bodyPr/>
                    <a:lstStyle/>
                    <a:p>
                      <a:pPr algn="ctr" fontAlgn="ctr"/>
                      <a:r>
                        <a:rPr lang="en-US" sz="1100" b="0">
                          <a:effectLst/>
                        </a:rPr>
                        <a:t>A tuple is a single element of relation. In database terms, it is a row.</a:t>
                      </a:r>
                    </a:p>
                  </a:txBody>
                  <a:tcPr marL="20206" marR="20206" marT="28289" marB="28289" anchor="ctr"/>
                </a:tc>
                <a:tc>
                  <a:txBody>
                    <a:bodyPr/>
                    <a:lstStyle/>
                    <a:p>
                      <a:pPr algn="ctr" fontAlgn="ctr"/>
                      <a:r>
                        <a:rPr lang="en-US" sz="1100" b="0">
                          <a:effectLst/>
                        </a:rPr>
                        <a:t>A domain is equivalent to column data type and any constraints on the value of data.</a:t>
                      </a:r>
                    </a:p>
                  </a:txBody>
                  <a:tcPr marL="20206" marR="20206" marT="28289" marB="28289" anchor="ctr"/>
                </a:tc>
                <a:extLst>
                  <a:ext uri="{0D108BD9-81ED-4DB2-BD59-A6C34878D82A}">
                    <a16:rowId xmlns:a16="http://schemas.microsoft.com/office/drawing/2014/main" val="30768869"/>
                  </a:ext>
                </a:extLst>
              </a:tr>
              <a:tr h="418700">
                <a:tc>
                  <a:txBody>
                    <a:bodyPr/>
                    <a:lstStyle/>
                    <a:p>
                      <a:pPr algn="ctr" fontAlgn="ctr"/>
                      <a:r>
                        <a:rPr lang="en-IN" sz="1100" b="1">
                          <a:effectLst/>
                        </a:rPr>
                        <a:t>4.</a:t>
                      </a:r>
                      <a:endParaRPr lang="en-IN" sz="1100" b="0">
                        <a:effectLst/>
                      </a:endParaRPr>
                    </a:p>
                  </a:txBody>
                  <a:tcPr marL="20206" marR="20206" marT="28289" marB="28289" anchor="ctr"/>
                </a:tc>
                <a:tc>
                  <a:txBody>
                    <a:bodyPr/>
                    <a:lstStyle/>
                    <a:p>
                      <a:pPr algn="ctr" fontAlgn="ctr"/>
                      <a:r>
                        <a:rPr lang="en-IN" sz="1100" b="1">
                          <a:effectLst/>
                        </a:rPr>
                        <a:t>Filtering</a:t>
                      </a:r>
                      <a:endParaRPr lang="en-IN" sz="1100" b="0">
                        <a:effectLst/>
                      </a:endParaRPr>
                    </a:p>
                  </a:txBody>
                  <a:tcPr marL="20206" marR="20206" marT="28289" marB="28289" anchor="ctr"/>
                </a:tc>
                <a:tc>
                  <a:txBody>
                    <a:bodyPr/>
                    <a:lstStyle/>
                    <a:p>
                      <a:pPr algn="ctr" fontAlgn="ctr"/>
                      <a:r>
                        <a:rPr lang="en-US" sz="1100" b="0">
                          <a:effectLst/>
                        </a:rPr>
                        <a:t>This filtering variable uses a tuple of relations.</a:t>
                      </a:r>
                    </a:p>
                  </a:txBody>
                  <a:tcPr marL="20206" marR="20206" marT="28289" marB="28289" anchor="ctr"/>
                </a:tc>
                <a:tc>
                  <a:txBody>
                    <a:bodyPr/>
                    <a:lstStyle/>
                    <a:p>
                      <a:pPr algn="ctr" fontAlgn="ctr"/>
                      <a:r>
                        <a:rPr lang="en-US" sz="1100" b="0">
                          <a:effectLst/>
                        </a:rPr>
                        <a:t>This filtering is done based on the domain of attributes.</a:t>
                      </a:r>
                    </a:p>
                  </a:txBody>
                  <a:tcPr marL="20206" marR="20206" marT="28289" marB="28289" anchor="ctr"/>
                </a:tc>
                <a:extLst>
                  <a:ext uri="{0D108BD9-81ED-4DB2-BD59-A6C34878D82A}">
                    <a16:rowId xmlns:a16="http://schemas.microsoft.com/office/drawing/2014/main" val="60205534"/>
                  </a:ext>
                </a:extLst>
              </a:tr>
              <a:tr h="771847">
                <a:tc>
                  <a:txBody>
                    <a:bodyPr/>
                    <a:lstStyle/>
                    <a:p>
                      <a:pPr algn="ctr" fontAlgn="ctr"/>
                      <a:r>
                        <a:rPr lang="en-IN" sz="1100" b="1">
                          <a:effectLst/>
                        </a:rPr>
                        <a:t>5.</a:t>
                      </a:r>
                      <a:endParaRPr lang="en-IN" sz="1100" b="0">
                        <a:effectLst/>
                      </a:endParaRPr>
                    </a:p>
                  </a:txBody>
                  <a:tcPr marL="20206" marR="20206" marT="28289" marB="28289" anchor="ctr"/>
                </a:tc>
                <a:tc>
                  <a:txBody>
                    <a:bodyPr/>
                    <a:lstStyle/>
                    <a:p>
                      <a:pPr algn="ctr" fontAlgn="ctr"/>
                      <a:r>
                        <a:rPr lang="en-IN" sz="1100" b="1">
                          <a:effectLst/>
                        </a:rPr>
                        <a:t>Return Value</a:t>
                      </a:r>
                      <a:endParaRPr lang="en-IN" sz="1100" b="0">
                        <a:effectLst/>
                      </a:endParaRPr>
                    </a:p>
                  </a:txBody>
                  <a:tcPr marL="20206" marR="20206" marT="28289" marB="28289" anchor="ctr"/>
                </a:tc>
                <a:tc>
                  <a:txBody>
                    <a:bodyPr/>
                    <a:lstStyle/>
                    <a:p>
                      <a:pPr algn="ctr" fontAlgn="ctr"/>
                      <a:r>
                        <a:rPr lang="en-US" sz="1100" b="0">
                          <a:effectLst/>
                        </a:rPr>
                        <a:t>The predicate expression condition associated with the TRC is used to test every row using a tuple variable and return those tuples that met the condition.</a:t>
                      </a:r>
                    </a:p>
                  </a:txBody>
                  <a:tcPr marL="20206" marR="20206" marT="28289" marB="28289" anchor="ctr"/>
                </a:tc>
                <a:tc>
                  <a:txBody>
                    <a:bodyPr/>
                    <a:lstStyle/>
                    <a:p>
                      <a:pPr algn="ctr" fontAlgn="ctr"/>
                      <a:r>
                        <a:rPr lang="en-US" sz="1100" b="0">
                          <a:effectLst/>
                        </a:rPr>
                        <a:t>DRC takes advantage of domain variables and, based on the condition set, returns the required attribute or column that satisfies the criteria of the condition.</a:t>
                      </a:r>
                    </a:p>
                  </a:txBody>
                  <a:tcPr marL="20206" marR="20206" marT="28289" marB="28289" anchor="ctr"/>
                </a:tc>
                <a:extLst>
                  <a:ext uri="{0D108BD9-81ED-4DB2-BD59-A6C34878D82A}">
                    <a16:rowId xmlns:a16="http://schemas.microsoft.com/office/drawing/2014/main" val="3029445868"/>
                  </a:ext>
                </a:extLst>
              </a:tr>
              <a:tr h="418700">
                <a:tc>
                  <a:txBody>
                    <a:bodyPr/>
                    <a:lstStyle/>
                    <a:p>
                      <a:pPr algn="ctr" fontAlgn="ctr"/>
                      <a:r>
                        <a:rPr lang="en-IN" sz="1100" b="1">
                          <a:effectLst/>
                        </a:rPr>
                        <a:t>5.</a:t>
                      </a:r>
                      <a:endParaRPr lang="en-IN" sz="1100" b="0">
                        <a:effectLst/>
                      </a:endParaRPr>
                    </a:p>
                  </a:txBody>
                  <a:tcPr marL="20206" marR="20206" marT="28289" marB="28289" anchor="ctr"/>
                </a:tc>
                <a:tc>
                  <a:txBody>
                    <a:bodyPr/>
                    <a:lstStyle/>
                    <a:p>
                      <a:pPr algn="ctr" fontAlgn="ctr"/>
                      <a:r>
                        <a:rPr lang="en-IN" sz="1100" b="1">
                          <a:effectLst/>
                        </a:rPr>
                        <a:t>Membership condition</a:t>
                      </a:r>
                      <a:endParaRPr lang="en-IN" sz="1100" b="0">
                        <a:effectLst/>
                      </a:endParaRPr>
                    </a:p>
                  </a:txBody>
                  <a:tcPr marL="20206" marR="20206" marT="28289" marB="28289" anchor="ctr"/>
                </a:tc>
                <a:tc>
                  <a:txBody>
                    <a:bodyPr/>
                    <a:lstStyle/>
                    <a:p>
                      <a:pPr algn="ctr" fontAlgn="ctr"/>
                      <a:r>
                        <a:rPr lang="en-US" sz="1100" b="0">
                          <a:effectLst/>
                        </a:rPr>
                        <a:t>The query cannot be expressed using a membership condition.</a:t>
                      </a:r>
                    </a:p>
                  </a:txBody>
                  <a:tcPr marL="20206" marR="20206" marT="28289" marB="28289" anchor="ctr"/>
                </a:tc>
                <a:tc>
                  <a:txBody>
                    <a:bodyPr/>
                    <a:lstStyle/>
                    <a:p>
                      <a:pPr algn="ctr" fontAlgn="ctr"/>
                      <a:r>
                        <a:rPr lang="en-US" sz="1100" b="0">
                          <a:effectLst/>
                        </a:rPr>
                        <a:t>The query can be expressed using a membership condition.</a:t>
                      </a:r>
                    </a:p>
                  </a:txBody>
                  <a:tcPr marL="20206" marR="20206" marT="28289" marB="28289" anchor="ctr"/>
                </a:tc>
                <a:extLst>
                  <a:ext uri="{0D108BD9-81ED-4DB2-BD59-A6C34878D82A}">
                    <a16:rowId xmlns:a16="http://schemas.microsoft.com/office/drawing/2014/main" val="2071020282"/>
                  </a:ext>
                </a:extLst>
              </a:tr>
              <a:tr h="418700">
                <a:tc>
                  <a:txBody>
                    <a:bodyPr/>
                    <a:lstStyle/>
                    <a:p>
                      <a:pPr algn="ctr" fontAlgn="ctr"/>
                      <a:r>
                        <a:rPr lang="en-IN" sz="1100" b="1">
                          <a:effectLst/>
                        </a:rPr>
                        <a:t>6.</a:t>
                      </a:r>
                      <a:endParaRPr lang="en-IN" sz="1100" b="0">
                        <a:effectLst/>
                      </a:endParaRPr>
                    </a:p>
                  </a:txBody>
                  <a:tcPr marL="20206" marR="20206" marT="28289" marB="28289" anchor="ctr"/>
                </a:tc>
                <a:tc>
                  <a:txBody>
                    <a:bodyPr/>
                    <a:lstStyle/>
                    <a:p>
                      <a:pPr algn="ctr" fontAlgn="ctr"/>
                      <a:r>
                        <a:rPr lang="en-IN" sz="1100" b="1">
                          <a:effectLst/>
                        </a:rPr>
                        <a:t>Query Language</a:t>
                      </a:r>
                      <a:endParaRPr lang="en-IN" sz="1100" b="0">
                        <a:effectLst/>
                      </a:endParaRPr>
                    </a:p>
                  </a:txBody>
                  <a:tcPr marL="20206" marR="20206" marT="28289" marB="28289" anchor="ctr"/>
                </a:tc>
                <a:tc>
                  <a:txBody>
                    <a:bodyPr/>
                    <a:lstStyle/>
                    <a:p>
                      <a:pPr algn="ctr" fontAlgn="ctr"/>
                      <a:r>
                        <a:rPr lang="en-US" sz="1100" b="0">
                          <a:effectLst/>
                        </a:rPr>
                        <a:t>The QUEL or Query Language is a query language related to it, </a:t>
                      </a:r>
                    </a:p>
                  </a:txBody>
                  <a:tcPr marL="20206" marR="20206" marT="28289" marB="28289" anchor="ctr"/>
                </a:tc>
                <a:tc>
                  <a:txBody>
                    <a:bodyPr/>
                    <a:lstStyle/>
                    <a:p>
                      <a:pPr algn="ctr" fontAlgn="ctr"/>
                      <a:r>
                        <a:rPr lang="en-US" sz="1100" b="0">
                          <a:effectLst/>
                        </a:rPr>
                        <a:t>The QBE or Query-By-Example is query language related to it.</a:t>
                      </a:r>
                    </a:p>
                  </a:txBody>
                  <a:tcPr marL="20206" marR="20206" marT="28289" marB="28289" anchor="ctr"/>
                </a:tc>
                <a:extLst>
                  <a:ext uri="{0D108BD9-81ED-4DB2-BD59-A6C34878D82A}">
                    <a16:rowId xmlns:a16="http://schemas.microsoft.com/office/drawing/2014/main" val="144245540"/>
                  </a:ext>
                </a:extLst>
              </a:tr>
              <a:tr h="316909">
                <a:tc>
                  <a:txBody>
                    <a:bodyPr/>
                    <a:lstStyle/>
                    <a:p>
                      <a:pPr algn="ctr" fontAlgn="ctr"/>
                      <a:r>
                        <a:rPr lang="en-IN" sz="1100" b="1">
                          <a:effectLst/>
                        </a:rPr>
                        <a:t>7.</a:t>
                      </a:r>
                      <a:endParaRPr lang="en-IN" sz="1100" b="0">
                        <a:effectLst/>
                      </a:endParaRPr>
                    </a:p>
                  </a:txBody>
                  <a:tcPr marL="20206" marR="20206" marT="28289" marB="28289" anchor="ctr"/>
                </a:tc>
                <a:tc>
                  <a:txBody>
                    <a:bodyPr/>
                    <a:lstStyle/>
                    <a:p>
                      <a:pPr algn="ctr" fontAlgn="ctr"/>
                      <a:r>
                        <a:rPr lang="en-IN" sz="1100" b="1">
                          <a:effectLst/>
                        </a:rPr>
                        <a:t>Similarity</a:t>
                      </a:r>
                      <a:endParaRPr lang="en-IN" sz="1100" b="0">
                        <a:effectLst/>
                      </a:endParaRPr>
                    </a:p>
                  </a:txBody>
                  <a:tcPr marL="20206" marR="20206" marT="28289" marB="28289" anchor="ctr"/>
                </a:tc>
                <a:tc>
                  <a:txBody>
                    <a:bodyPr/>
                    <a:lstStyle/>
                    <a:p>
                      <a:pPr algn="ctr" fontAlgn="ctr"/>
                      <a:r>
                        <a:rPr lang="en-IN" sz="1100" b="0">
                          <a:effectLst/>
                        </a:rPr>
                        <a:t>It reflects traditional pre-relational file structures. </a:t>
                      </a:r>
                    </a:p>
                  </a:txBody>
                  <a:tcPr marL="20206" marR="20206" marT="28289" marB="28289" anchor="ctr"/>
                </a:tc>
                <a:tc>
                  <a:txBody>
                    <a:bodyPr/>
                    <a:lstStyle/>
                    <a:p>
                      <a:pPr algn="ctr" fontAlgn="ctr"/>
                      <a:r>
                        <a:rPr lang="en-US" sz="1100" b="0">
                          <a:effectLst/>
                        </a:rPr>
                        <a:t>It is more similar to logic as a modeling language.</a:t>
                      </a:r>
                    </a:p>
                  </a:txBody>
                  <a:tcPr marL="20206" marR="20206" marT="28289" marB="28289" anchor="ctr"/>
                </a:tc>
                <a:extLst>
                  <a:ext uri="{0D108BD9-81ED-4DB2-BD59-A6C34878D82A}">
                    <a16:rowId xmlns:a16="http://schemas.microsoft.com/office/drawing/2014/main" val="325104063"/>
                  </a:ext>
                </a:extLst>
              </a:tr>
              <a:tr h="316909">
                <a:tc>
                  <a:txBody>
                    <a:bodyPr/>
                    <a:lstStyle/>
                    <a:p>
                      <a:pPr algn="ctr" fontAlgn="ctr"/>
                      <a:r>
                        <a:rPr lang="en-IN" sz="1100" b="1">
                          <a:effectLst/>
                        </a:rPr>
                        <a:t>8.</a:t>
                      </a:r>
                      <a:endParaRPr lang="en-IN" sz="1100" b="0">
                        <a:effectLst/>
                      </a:endParaRPr>
                    </a:p>
                  </a:txBody>
                  <a:tcPr marL="20206" marR="20206" marT="28289" marB="28289" anchor="ctr"/>
                </a:tc>
                <a:tc>
                  <a:txBody>
                    <a:bodyPr/>
                    <a:lstStyle/>
                    <a:p>
                      <a:pPr algn="ctr" fontAlgn="ctr"/>
                      <a:r>
                        <a:rPr lang="en-IN" sz="1100" b="1">
                          <a:effectLst/>
                        </a:rPr>
                        <a:t>Syntax</a:t>
                      </a:r>
                      <a:endParaRPr lang="en-IN" sz="1100" b="0">
                        <a:effectLst/>
                      </a:endParaRPr>
                    </a:p>
                  </a:txBody>
                  <a:tcPr marL="20206" marR="20206" marT="28289" marB="28289" anchor="ctr"/>
                </a:tc>
                <a:tc>
                  <a:txBody>
                    <a:bodyPr/>
                    <a:lstStyle/>
                    <a:p>
                      <a:pPr algn="ctr" fontAlgn="ctr"/>
                      <a:r>
                        <a:rPr lang="fr-FR" sz="1100" b="0">
                          <a:effectLst/>
                        </a:rPr>
                        <a:t>Notation:  {T | P (T)} or {T | Condition (T)}</a:t>
                      </a:r>
                    </a:p>
                  </a:txBody>
                  <a:tcPr marL="20206" marR="20206" marT="28289" marB="28289" anchor="ctr"/>
                </a:tc>
                <a:tc>
                  <a:txBody>
                    <a:bodyPr/>
                    <a:lstStyle/>
                    <a:p>
                      <a:pPr algn="ctr" fontAlgn="ctr"/>
                      <a:r>
                        <a:rPr lang="en-IN" sz="1100" b="0">
                          <a:effectLst/>
                        </a:rPr>
                        <a:t>Notation: { a1, a2, a3, …, an | P (a1, a2, a3, …, an)}</a:t>
                      </a:r>
                    </a:p>
                  </a:txBody>
                  <a:tcPr marL="20206" marR="20206" marT="28289" marB="28289" anchor="ctr"/>
                </a:tc>
                <a:extLst>
                  <a:ext uri="{0D108BD9-81ED-4DB2-BD59-A6C34878D82A}">
                    <a16:rowId xmlns:a16="http://schemas.microsoft.com/office/drawing/2014/main" val="4213516397"/>
                  </a:ext>
                </a:extLst>
              </a:tr>
              <a:tr h="316909">
                <a:tc>
                  <a:txBody>
                    <a:bodyPr/>
                    <a:lstStyle/>
                    <a:p>
                      <a:pPr algn="ctr" fontAlgn="ctr"/>
                      <a:r>
                        <a:rPr lang="en-IN" sz="1100" b="1">
                          <a:effectLst/>
                        </a:rPr>
                        <a:t>9.</a:t>
                      </a:r>
                      <a:endParaRPr lang="en-IN" sz="1100" b="0">
                        <a:effectLst/>
                      </a:endParaRPr>
                    </a:p>
                  </a:txBody>
                  <a:tcPr marL="20206" marR="20206" marT="28289" marB="28289" anchor="ctr"/>
                </a:tc>
                <a:tc>
                  <a:txBody>
                    <a:bodyPr/>
                    <a:lstStyle/>
                    <a:p>
                      <a:pPr algn="ctr" fontAlgn="ctr"/>
                      <a:r>
                        <a:rPr lang="en-IN" sz="1100" b="1">
                          <a:effectLst/>
                        </a:rPr>
                        <a:t>Example</a:t>
                      </a:r>
                      <a:endParaRPr lang="en-IN" sz="1100" b="0">
                        <a:effectLst/>
                      </a:endParaRPr>
                    </a:p>
                  </a:txBody>
                  <a:tcPr marL="20206" marR="20206" marT="28289" marB="28289" anchor="ctr"/>
                </a:tc>
                <a:tc>
                  <a:txBody>
                    <a:bodyPr/>
                    <a:lstStyle/>
                    <a:p>
                      <a:pPr algn="ctr" fontAlgn="ctr"/>
                      <a:r>
                        <a:rPr lang="en-US" sz="1100" b="0">
                          <a:effectLst/>
                        </a:rPr>
                        <a:t>{T | EMPLOYEE (T) AND T.DEPT_ID = 10}</a:t>
                      </a:r>
                    </a:p>
                  </a:txBody>
                  <a:tcPr marL="20206" marR="20206" marT="28289" marB="28289" anchor="ctr"/>
                </a:tc>
                <a:tc>
                  <a:txBody>
                    <a:bodyPr/>
                    <a:lstStyle/>
                    <a:p>
                      <a:pPr algn="ctr" fontAlgn="ctr"/>
                      <a:r>
                        <a:rPr lang="en-IN" sz="1100" b="0">
                          <a:effectLst/>
                        </a:rPr>
                        <a:t>{ | &lt; EMPLOYEE &gt; DEPT_ID = 10 }</a:t>
                      </a:r>
                    </a:p>
                  </a:txBody>
                  <a:tcPr marL="20206" marR="20206" marT="28289" marB="28289" anchor="ctr"/>
                </a:tc>
                <a:extLst>
                  <a:ext uri="{0D108BD9-81ED-4DB2-BD59-A6C34878D82A}">
                    <a16:rowId xmlns:a16="http://schemas.microsoft.com/office/drawing/2014/main" val="2824334918"/>
                  </a:ext>
                </a:extLst>
              </a:tr>
              <a:tr h="316909">
                <a:tc>
                  <a:txBody>
                    <a:bodyPr/>
                    <a:lstStyle/>
                    <a:p>
                      <a:pPr algn="ctr" fontAlgn="ctr"/>
                      <a:r>
                        <a:rPr lang="en-IN" sz="1100" b="1">
                          <a:effectLst/>
                        </a:rPr>
                        <a:t>10.</a:t>
                      </a:r>
                      <a:endParaRPr lang="en-IN" sz="1100" b="0">
                        <a:effectLst/>
                      </a:endParaRPr>
                    </a:p>
                  </a:txBody>
                  <a:tcPr marL="20206" marR="20206" marT="28289" marB="28289" anchor="ctr"/>
                </a:tc>
                <a:tc>
                  <a:txBody>
                    <a:bodyPr/>
                    <a:lstStyle/>
                    <a:p>
                      <a:pPr algn="ctr" fontAlgn="ctr"/>
                      <a:r>
                        <a:rPr lang="en-IN" sz="1100" b="1">
                          <a:effectLst/>
                        </a:rPr>
                        <a:t>Focus </a:t>
                      </a:r>
                      <a:endParaRPr lang="en-IN" sz="1100" b="0">
                        <a:effectLst/>
                      </a:endParaRPr>
                    </a:p>
                  </a:txBody>
                  <a:tcPr marL="20206" marR="20206" marT="28289" marB="28289" anchor="ctr"/>
                </a:tc>
                <a:tc>
                  <a:txBody>
                    <a:bodyPr/>
                    <a:lstStyle/>
                    <a:p>
                      <a:pPr algn="ctr" fontAlgn="ctr"/>
                      <a:r>
                        <a:rPr lang="en-US" sz="1100" b="0">
                          <a:effectLst/>
                        </a:rPr>
                        <a:t>Focuses on selecting tuples from a relation</a:t>
                      </a:r>
                    </a:p>
                  </a:txBody>
                  <a:tcPr marL="20206" marR="20206" marT="28289" marB="28289" anchor="ctr"/>
                </a:tc>
                <a:tc>
                  <a:txBody>
                    <a:bodyPr/>
                    <a:lstStyle/>
                    <a:p>
                      <a:pPr algn="ctr" fontAlgn="ctr"/>
                      <a:r>
                        <a:rPr lang="en-US" sz="1100" b="0">
                          <a:effectLst/>
                        </a:rPr>
                        <a:t>Focuses on selecting values from a relation</a:t>
                      </a:r>
                    </a:p>
                  </a:txBody>
                  <a:tcPr marL="20206" marR="20206" marT="28289" marB="28289" anchor="ctr"/>
                </a:tc>
                <a:extLst>
                  <a:ext uri="{0D108BD9-81ED-4DB2-BD59-A6C34878D82A}">
                    <a16:rowId xmlns:a16="http://schemas.microsoft.com/office/drawing/2014/main" val="2067264920"/>
                  </a:ext>
                </a:extLst>
              </a:tr>
              <a:tr h="316909">
                <a:tc>
                  <a:txBody>
                    <a:bodyPr/>
                    <a:lstStyle/>
                    <a:p>
                      <a:pPr algn="ctr" fontAlgn="ctr"/>
                      <a:r>
                        <a:rPr lang="en-IN" sz="1100" b="1">
                          <a:effectLst/>
                        </a:rPr>
                        <a:t>11.</a:t>
                      </a:r>
                      <a:endParaRPr lang="en-IN" sz="1100" b="0">
                        <a:effectLst/>
                      </a:endParaRPr>
                    </a:p>
                  </a:txBody>
                  <a:tcPr marL="20206" marR="20206" marT="28289" marB="28289" anchor="ctr"/>
                </a:tc>
                <a:tc>
                  <a:txBody>
                    <a:bodyPr/>
                    <a:lstStyle/>
                    <a:p>
                      <a:pPr algn="ctr" fontAlgn="ctr"/>
                      <a:r>
                        <a:rPr lang="en-IN" sz="1100" b="1">
                          <a:effectLst/>
                        </a:rPr>
                        <a:t>Variables</a:t>
                      </a:r>
                      <a:endParaRPr lang="en-IN" sz="1100" b="0">
                        <a:effectLst/>
                      </a:endParaRPr>
                    </a:p>
                  </a:txBody>
                  <a:tcPr marL="20206" marR="20206" marT="28289" marB="28289" anchor="ctr"/>
                </a:tc>
                <a:tc>
                  <a:txBody>
                    <a:bodyPr/>
                    <a:lstStyle/>
                    <a:p>
                      <a:pPr algn="ctr" fontAlgn="ctr"/>
                      <a:r>
                        <a:rPr lang="fr-FR" sz="1100" b="0">
                          <a:effectLst/>
                        </a:rPr>
                        <a:t>Uses tuple variables (e.g., t)</a:t>
                      </a:r>
                    </a:p>
                  </a:txBody>
                  <a:tcPr marL="20206" marR="20206" marT="28289" marB="28289" anchor="ctr"/>
                </a:tc>
                <a:tc>
                  <a:txBody>
                    <a:bodyPr/>
                    <a:lstStyle/>
                    <a:p>
                      <a:pPr algn="ctr" fontAlgn="ctr"/>
                      <a:r>
                        <a:rPr lang="en-IN" sz="1100" b="0">
                          <a:effectLst/>
                        </a:rPr>
                        <a:t>Uses scalar variables (e.g., a1, a2, …, an)</a:t>
                      </a:r>
                    </a:p>
                  </a:txBody>
                  <a:tcPr marL="20206" marR="20206" marT="28289" marB="28289" anchor="ctr"/>
                </a:tc>
                <a:extLst>
                  <a:ext uri="{0D108BD9-81ED-4DB2-BD59-A6C34878D82A}">
                    <a16:rowId xmlns:a16="http://schemas.microsoft.com/office/drawing/2014/main" val="3932158238"/>
                  </a:ext>
                </a:extLst>
              </a:tr>
              <a:tr h="242126">
                <a:tc>
                  <a:txBody>
                    <a:bodyPr/>
                    <a:lstStyle/>
                    <a:p>
                      <a:pPr algn="ctr" fontAlgn="ctr"/>
                      <a:r>
                        <a:rPr lang="en-IN" sz="1100" b="1">
                          <a:effectLst/>
                        </a:rPr>
                        <a:t>12.</a:t>
                      </a:r>
                      <a:endParaRPr lang="en-IN" sz="1100" b="0">
                        <a:effectLst/>
                      </a:endParaRPr>
                    </a:p>
                  </a:txBody>
                  <a:tcPr marL="20206" marR="20206" marT="28289" marB="28289" anchor="ctr"/>
                </a:tc>
                <a:tc>
                  <a:txBody>
                    <a:bodyPr/>
                    <a:lstStyle/>
                    <a:p>
                      <a:pPr algn="ctr" fontAlgn="ctr"/>
                      <a:r>
                        <a:rPr lang="en-IN" sz="1100" b="1">
                          <a:effectLst/>
                        </a:rPr>
                        <a:t>Expressiveness</a:t>
                      </a:r>
                      <a:endParaRPr lang="en-IN" sz="1100" b="0">
                        <a:effectLst/>
                      </a:endParaRPr>
                    </a:p>
                  </a:txBody>
                  <a:tcPr marL="20206" marR="20206" marT="28289" marB="28289" anchor="ctr"/>
                </a:tc>
                <a:tc>
                  <a:txBody>
                    <a:bodyPr/>
                    <a:lstStyle/>
                    <a:p>
                      <a:pPr algn="ctr" fontAlgn="ctr"/>
                      <a:r>
                        <a:rPr lang="en-IN" sz="1100" b="0">
                          <a:effectLst/>
                        </a:rPr>
                        <a:t>Less expressive</a:t>
                      </a:r>
                    </a:p>
                  </a:txBody>
                  <a:tcPr marL="20206" marR="20206" marT="28289" marB="28289" anchor="ctr"/>
                </a:tc>
                <a:tc>
                  <a:txBody>
                    <a:bodyPr/>
                    <a:lstStyle/>
                    <a:p>
                      <a:pPr algn="ctr" fontAlgn="ctr"/>
                      <a:r>
                        <a:rPr lang="en-IN" sz="1100" b="0">
                          <a:effectLst/>
                        </a:rPr>
                        <a:t>More expressive</a:t>
                      </a:r>
                    </a:p>
                  </a:txBody>
                  <a:tcPr marL="20206" marR="20206" marT="28289" marB="28289" anchor="ctr"/>
                </a:tc>
                <a:extLst>
                  <a:ext uri="{0D108BD9-81ED-4DB2-BD59-A6C34878D82A}">
                    <a16:rowId xmlns:a16="http://schemas.microsoft.com/office/drawing/2014/main" val="277015851"/>
                  </a:ext>
                </a:extLst>
              </a:tr>
              <a:tr h="316909">
                <a:tc>
                  <a:txBody>
                    <a:bodyPr/>
                    <a:lstStyle/>
                    <a:p>
                      <a:pPr algn="ctr" fontAlgn="ctr"/>
                      <a:r>
                        <a:rPr lang="en-IN" sz="1100" b="1">
                          <a:effectLst/>
                        </a:rPr>
                        <a:t>13.</a:t>
                      </a:r>
                      <a:endParaRPr lang="en-IN" sz="1100" b="0">
                        <a:effectLst/>
                      </a:endParaRPr>
                    </a:p>
                  </a:txBody>
                  <a:tcPr marL="20206" marR="20206" marT="28289" marB="28289" anchor="ctr"/>
                </a:tc>
                <a:tc>
                  <a:txBody>
                    <a:bodyPr/>
                    <a:lstStyle/>
                    <a:p>
                      <a:pPr algn="ctr" fontAlgn="ctr"/>
                      <a:r>
                        <a:rPr lang="en-IN" sz="1100" b="1">
                          <a:effectLst/>
                        </a:rPr>
                        <a:t>Ease of use </a:t>
                      </a:r>
                      <a:endParaRPr lang="en-IN" sz="1100" b="0">
                        <a:effectLst/>
                      </a:endParaRPr>
                    </a:p>
                  </a:txBody>
                  <a:tcPr marL="20206" marR="20206" marT="28289" marB="28289" anchor="ctr"/>
                </a:tc>
                <a:tc>
                  <a:txBody>
                    <a:bodyPr/>
                    <a:lstStyle/>
                    <a:p>
                      <a:pPr algn="ctr" fontAlgn="ctr"/>
                      <a:r>
                        <a:rPr lang="en-US" sz="1100" b="0">
                          <a:effectLst/>
                        </a:rPr>
                        <a:t>Easier to use for simple queries.</a:t>
                      </a:r>
                    </a:p>
                  </a:txBody>
                  <a:tcPr marL="20206" marR="20206" marT="28289" marB="28289" anchor="ctr"/>
                </a:tc>
                <a:tc>
                  <a:txBody>
                    <a:bodyPr/>
                    <a:lstStyle/>
                    <a:p>
                      <a:pPr algn="ctr" fontAlgn="ctr"/>
                      <a:r>
                        <a:rPr lang="en-US" sz="1100" b="0">
                          <a:effectLst/>
                        </a:rPr>
                        <a:t>More difficult to use for simple queries.</a:t>
                      </a:r>
                    </a:p>
                  </a:txBody>
                  <a:tcPr marL="20206" marR="20206" marT="28289" marB="28289" anchor="ctr"/>
                </a:tc>
                <a:extLst>
                  <a:ext uri="{0D108BD9-81ED-4DB2-BD59-A6C34878D82A}">
                    <a16:rowId xmlns:a16="http://schemas.microsoft.com/office/drawing/2014/main" val="4119768771"/>
                  </a:ext>
                </a:extLst>
              </a:tr>
              <a:tr h="532986">
                <a:tc>
                  <a:txBody>
                    <a:bodyPr/>
                    <a:lstStyle/>
                    <a:p>
                      <a:pPr algn="ctr" fontAlgn="ctr"/>
                      <a:r>
                        <a:rPr lang="en-IN" sz="1100" b="1">
                          <a:effectLst/>
                        </a:rPr>
                        <a:t>14.</a:t>
                      </a:r>
                      <a:endParaRPr lang="en-IN" sz="1100" b="0">
                        <a:effectLst/>
                      </a:endParaRPr>
                    </a:p>
                  </a:txBody>
                  <a:tcPr marL="20206" marR="20206" marT="28289" marB="28289" anchor="ctr"/>
                </a:tc>
                <a:tc>
                  <a:txBody>
                    <a:bodyPr/>
                    <a:lstStyle/>
                    <a:p>
                      <a:pPr algn="ctr" fontAlgn="ctr"/>
                      <a:r>
                        <a:rPr lang="en-IN" sz="1100" b="1">
                          <a:effectLst/>
                        </a:rPr>
                        <a:t>Use case </a:t>
                      </a:r>
                      <a:endParaRPr lang="en-IN" sz="1100" b="0">
                        <a:effectLst/>
                      </a:endParaRPr>
                    </a:p>
                  </a:txBody>
                  <a:tcPr marL="20206" marR="20206" marT="28289" marB="28289" anchor="ctr"/>
                </a:tc>
                <a:tc>
                  <a:txBody>
                    <a:bodyPr/>
                    <a:lstStyle/>
                    <a:p>
                      <a:pPr algn="ctr" fontAlgn="ctr"/>
                      <a:r>
                        <a:rPr lang="en-US" sz="1100" b="0">
                          <a:effectLst/>
                        </a:rPr>
                        <a:t>Useful for selecting tuples that satisfy a certain condition or for retrieving a subset of a relation.</a:t>
                      </a:r>
                    </a:p>
                  </a:txBody>
                  <a:tcPr marL="20206" marR="20206" marT="28289" marB="28289" anchor="ctr"/>
                </a:tc>
                <a:tc>
                  <a:txBody>
                    <a:bodyPr/>
                    <a:lstStyle/>
                    <a:p>
                      <a:pPr algn="ctr" fontAlgn="ctr"/>
                      <a:r>
                        <a:rPr lang="en-US" sz="1100" b="0" dirty="0">
                          <a:effectLst/>
                        </a:rPr>
                        <a:t>Useful for selecting specific values or for constructing more complex queries that involve multiple relations.</a:t>
                      </a:r>
                    </a:p>
                  </a:txBody>
                  <a:tcPr marL="20206" marR="20206" marT="28289" marB="28289" anchor="ctr"/>
                </a:tc>
                <a:extLst>
                  <a:ext uri="{0D108BD9-81ED-4DB2-BD59-A6C34878D82A}">
                    <a16:rowId xmlns:a16="http://schemas.microsoft.com/office/drawing/2014/main" val="711029946"/>
                  </a:ext>
                </a:extLst>
              </a:tr>
            </a:tbl>
          </a:graphicData>
        </a:graphic>
      </p:graphicFrame>
    </p:spTree>
    <p:extLst>
      <p:ext uri="{BB962C8B-B14F-4D97-AF65-F5344CB8AC3E}">
        <p14:creationId xmlns:p14="http://schemas.microsoft.com/office/powerpoint/2010/main" val="5283939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8A3D1A-7C5A-7610-E233-E56DD4179A76}"/>
              </a:ext>
            </a:extLst>
          </p:cNvPr>
          <p:cNvSpPr txBox="1"/>
          <p:nvPr/>
        </p:nvSpPr>
        <p:spPr>
          <a:xfrm>
            <a:off x="4879522" y="343292"/>
            <a:ext cx="6101442" cy="369332"/>
          </a:xfrm>
          <a:prstGeom prst="rect">
            <a:avLst/>
          </a:prstGeom>
          <a:noFill/>
        </p:spPr>
        <p:txBody>
          <a:bodyPr wrap="square">
            <a:spAutoFit/>
          </a:bodyPr>
          <a:lstStyle/>
          <a:p>
            <a:r>
              <a:rPr lang="en-IN" sz="1800" b="1" i="0" u="none" strike="noStrike" baseline="0" dirty="0">
                <a:latin typeface="Times New Roman" panose="02020603050405020304" pitchFamily="18" charset="0"/>
              </a:rPr>
              <a:t>BASIC SQL QUERY</a:t>
            </a:r>
            <a:endParaRPr lang="en-IN" dirty="0"/>
          </a:p>
        </p:txBody>
      </p:sp>
      <p:pic>
        <p:nvPicPr>
          <p:cNvPr id="5" name="Picture 4">
            <a:extLst>
              <a:ext uri="{FF2B5EF4-FFF2-40B4-BE49-F238E27FC236}">
                <a16:creationId xmlns:a16="http://schemas.microsoft.com/office/drawing/2014/main" id="{D107BAD8-B8CC-DA9B-9CBD-93FF811D88AF}"/>
              </a:ext>
            </a:extLst>
          </p:cNvPr>
          <p:cNvPicPr>
            <a:picLocks noChangeAspect="1"/>
          </p:cNvPicPr>
          <p:nvPr/>
        </p:nvPicPr>
        <p:blipFill>
          <a:blip r:embed="rId2"/>
          <a:stretch>
            <a:fillRect/>
          </a:stretch>
        </p:blipFill>
        <p:spPr>
          <a:xfrm>
            <a:off x="1700829" y="1072178"/>
            <a:ext cx="2476627" cy="2514729"/>
          </a:xfrm>
          <a:prstGeom prst="rect">
            <a:avLst/>
          </a:prstGeom>
        </p:spPr>
      </p:pic>
      <p:pic>
        <p:nvPicPr>
          <p:cNvPr id="7" name="Picture 6">
            <a:extLst>
              <a:ext uri="{FF2B5EF4-FFF2-40B4-BE49-F238E27FC236}">
                <a16:creationId xmlns:a16="http://schemas.microsoft.com/office/drawing/2014/main" id="{4065AE11-CDB3-FFA2-FFAB-58C3B48C4BBE}"/>
              </a:ext>
            </a:extLst>
          </p:cNvPr>
          <p:cNvPicPr>
            <a:picLocks noChangeAspect="1"/>
          </p:cNvPicPr>
          <p:nvPr/>
        </p:nvPicPr>
        <p:blipFill>
          <a:blip r:embed="rId3"/>
          <a:stretch>
            <a:fillRect/>
          </a:stretch>
        </p:blipFill>
        <p:spPr>
          <a:xfrm>
            <a:off x="9140774" y="1084878"/>
            <a:ext cx="1987652" cy="2502029"/>
          </a:xfrm>
          <a:prstGeom prst="rect">
            <a:avLst/>
          </a:prstGeom>
        </p:spPr>
      </p:pic>
      <p:pic>
        <p:nvPicPr>
          <p:cNvPr id="9" name="Picture 8">
            <a:extLst>
              <a:ext uri="{FF2B5EF4-FFF2-40B4-BE49-F238E27FC236}">
                <a16:creationId xmlns:a16="http://schemas.microsoft.com/office/drawing/2014/main" id="{DB02911B-C4F5-6231-FCC1-EC3B933ADADA}"/>
              </a:ext>
            </a:extLst>
          </p:cNvPr>
          <p:cNvPicPr>
            <a:picLocks noChangeAspect="1"/>
          </p:cNvPicPr>
          <p:nvPr/>
        </p:nvPicPr>
        <p:blipFill>
          <a:blip r:embed="rId4"/>
          <a:stretch>
            <a:fillRect/>
          </a:stretch>
        </p:blipFill>
        <p:spPr>
          <a:xfrm>
            <a:off x="4879522" y="3846710"/>
            <a:ext cx="3476140" cy="2151318"/>
          </a:xfrm>
          <a:prstGeom prst="rect">
            <a:avLst/>
          </a:prstGeom>
        </p:spPr>
      </p:pic>
      <p:sp>
        <p:nvSpPr>
          <p:cNvPr id="11" name="TextBox 10">
            <a:extLst>
              <a:ext uri="{FF2B5EF4-FFF2-40B4-BE49-F238E27FC236}">
                <a16:creationId xmlns:a16="http://schemas.microsoft.com/office/drawing/2014/main" id="{7ED7BB29-8D40-9D40-6D97-4472D364EB73}"/>
              </a:ext>
            </a:extLst>
          </p:cNvPr>
          <p:cNvSpPr txBox="1"/>
          <p:nvPr/>
        </p:nvSpPr>
        <p:spPr>
          <a:xfrm>
            <a:off x="2103665" y="712624"/>
            <a:ext cx="6101442" cy="369332"/>
          </a:xfrm>
          <a:prstGeom prst="rect">
            <a:avLst/>
          </a:prstGeom>
          <a:noFill/>
        </p:spPr>
        <p:txBody>
          <a:bodyPr wrap="square">
            <a:spAutoFit/>
          </a:bodyPr>
          <a:lstStyle/>
          <a:p>
            <a:r>
              <a:rPr lang="en-US" sz="1800" b="0" i="1" u="none" strike="noStrike" baseline="0" dirty="0">
                <a:latin typeface="Arial" panose="020B0604020202020204" pitchFamily="34" charset="0"/>
              </a:rPr>
              <a:t>S</a:t>
            </a:r>
            <a:r>
              <a:rPr lang="en-US" sz="1800" b="0" i="0" u="none" strike="noStrike" baseline="0" dirty="0">
                <a:latin typeface="Times New Roman" panose="02020603050405020304" pitchFamily="18" charset="0"/>
              </a:rPr>
              <a:t> of Sailors</a:t>
            </a:r>
            <a:endParaRPr lang="en-IN" dirty="0"/>
          </a:p>
        </p:txBody>
      </p:sp>
      <p:sp>
        <p:nvSpPr>
          <p:cNvPr id="13" name="TextBox 12">
            <a:extLst>
              <a:ext uri="{FF2B5EF4-FFF2-40B4-BE49-F238E27FC236}">
                <a16:creationId xmlns:a16="http://schemas.microsoft.com/office/drawing/2014/main" id="{11EDB07F-E18E-886C-30BD-DAB1A1AE5AA6}"/>
              </a:ext>
            </a:extLst>
          </p:cNvPr>
          <p:cNvSpPr txBox="1"/>
          <p:nvPr/>
        </p:nvSpPr>
        <p:spPr>
          <a:xfrm>
            <a:off x="9005207" y="702846"/>
            <a:ext cx="6101442" cy="369332"/>
          </a:xfrm>
          <a:prstGeom prst="rect">
            <a:avLst/>
          </a:prstGeom>
          <a:noFill/>
        </p:spPr>
        <p:txBody>
          <a:bodyPr wrap="square">
            <a:spAutoFit/>
          </a:bodyPr>
          <a:lstStyle/>
          <a:p>
            <a:r>
              <a:rPr lang="en-IN" sz="1800" b="0" i="1" u="none" strike="noStrike" baseline="0" dirty="0">
                <a:latin typeface="Arial" panose="020B0604020202020204" pitchFamily="34" charset="0"/>
              </a:rPr>
              <a:t>R</a:t>
            </a:r>
            <a:r>
              <a:rPr lang="en-IN" sz="1800" b="0" i="0" u="none" strike="noStrike" baseline="0" dirty="0">
                <a:latin typeface="Times New Roman" panose="02020603050405020304" pitchFamily="18" charset="0"/>
              </a:rPr>
              <a:t> of Reserves</a:t>
            </a:r>
            <a:endParaRPr lang="en-IN" dirty="0"/>
          </a:p>
        </p:txBody>
      </p:sp>
      <p:sp>
        <p:nvSpPr>
          <p:cNvPr id="15" name="TextBox 14">
            <a:extLst>
              <a:ext uri="{FF2B5EF4-FFF2-40B4-BE49-F238E27FC236}">
                <a16:creationId xmlns:a16="http://schemas.microsoft.com/office/drawing/2014/main" id="{4A1D7720-9394-6BDC-C73A-EA8E65F18512}"/>
              </a:ext>
            </a:extLst>
          </p:cNvPr>
          <p:cNvSpPr txBox="1"/>
          <p:nvPr/>
        </p:nvSpPr>
        <p:spPr>
          <a:xfrm>
            <a:off x="6096000" y="3445393"/>
            <a:ext cx="7554684" cy="369332"/>
          </a:xfrm>
          <a:prstGeom prst="rect">
            <a:avLst/>
          </a:prstGeom>
          <a:noFill/>
        </p:spPr>
        <p:txBody>
          <a:bodyPr wrap="square">
            <a:spAutoFit/>
          </a:bodyPr>
          <a:lstStyle/>
          <a:p>
            <a:r>
              <a:rPr lang="en-IN" sz="1800" b="0" i="1" u="none" strike="noStrike" baseline="0" dirty="0">
                <a:latin typeface="Arial" panose="020B0604020202020204" pitchFamily="34" charset="0"/>
              </a:rPr>
              <a:t>B</a:t>
            </a:r>
            <a:r>
              <a:rPr lang="en-IN" sz="1800" b="0" i="0" u="none" strike="noStrike" baseline="0" dirty="0">
                <a:latin typeface="Times New Roman" panose="02020603050405020304" pitchFamily="18" charset="0"/>
              </a:rPr>
              <a:t> of Boats</a:t>
            </a:r>
            <a:endParaRPr lang="en-IN" dirty="0"/>
          </a:p>
        </p:txBody>
      </p:sp>
    </p:spTree>
    <p:extLst>
      <p:ext uri="{BB962C8B-B14F-4D97-AF65-F5344CB8AC3E}">
        <p14:creationId xmlns:p14="http://schemas.microsoft.com/office/powerpoint/2010/main" val="20636930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3CD854-7218-5874-CA9E-EB66A07D6191}"/>
              </a:ext>
            </a:extLst>
          </p:cNvPr>
          <p:cNvSpPr txBox="1"/>
          <p:nvPr/>
        </p:nvSpPr>
        <p:spPr>
          <a:xfrm>
            <a:off x="1156607" y="680748"/>
            <a:ext cx="6101442" cy="461665"/>
          </a:xfrm>
          <a:prstGeom prst="rect">
            <a:avLst/>
          </a:prstGeom>
          <a:noFill/>
        </p:spPr>
        <p:txBody>
          <a:bodyPr wrap="square">
            <a:spAutoFit/>
          </a:bodyPr>
          <a:lstStyle/>
          <a:p>
            <a:r>
              <a:rPr lang="en-US" sz="2400" b="0" i="1" u="none" strike="noStrike" baseline="0" dirty="0">
                <a:latin typeface="Times New Roman" panose="02020603050405020304" pitchFamily="18" charset="0"/>
              </a:rPr>
              <a:t>Q: Find the names and ages of all sailors</a:t>
            </a:r>
            <a:endParaRPr lang="en-IN" sz="2400" dirty="0"/>
          </a:p>
        </p:txBody>
      </p:sp>
      <p:sp>
        <p:nvSpPr>
          <p:cNvPr id="5" name="TextBox 4">
            <a:extLst>
              <a:ext uri="{FF2B5EF4-FFF2-40B4-BE49-F238E27FC236}">
                <a16:creationId xmlns:a16="http://schemas.microsoft.com/office/drawing/2014/main" id="{9796E837-7547-BC13-16B5-FAC84D6C2449}"/>
              </a:ext>
            </a:extLst>
          </p:cNvPr>
          <p:cNvSpPr txBox="1"/>
          <p:nvPr/>
        </p:nvSpPr>
        <p:spPr>
          <a:xfrm>
            <a:off x="2423432" y="1616920"/>
            <a:ext cx="8342539" cy="523220"/>
          </a:xfrm>
          <a:prstGeom prst="rect">
            <a:avLst/>
          </a:prstGeom>
          <a:noFill/>
        </p:spPr>
        <p:txBody>
          <a:bodyPr wrap="square">
            <a:spAutoFit/>
          </a:bodyPr>
          <a:lstStyle/>
          <a:p>
            <a:r>
              <a:rPr lang="en-US" sz="2800" b="0" i="0" u="none" strike="noStrike" baseline="0" dirty="0">
                <a:latin typeface="Arial" panose="020B0604020202020204" pitchFamily="34" charset="0"/>
              </a:rPr>
              <a:t>SELECT DISTINCT </a:t>
            </a:r>
            <a:r>
              <a:rPr lang="en-US" sz="2800" b="0" i="0" u="none" strike="noStrike" baseline="0" dirty="0" err="1">
                <a:latin typeface="Times New Roman" panose="02020603050405020304" pitchFamily="18" charset="0"/>
              </a:rPr>
              <a:t>S.sname</a:t>
            </a:r>
            <a:r>
              <a:rPr lang="en-US" sz="2800" b="0" i="0" u="none" strike="noStrike" baseline="0" dirty="0">
                <a:latin typeface="Times New Roman" panose="02020603050405020304" pitchFamily="18" charset="0"/>
              </a:rPr>
              <a:t>, </a:t>
            </a:r>
            <a:r>
              <a:rPr lang="en-US" sz="2800" b="0" i="0" u="none" strike="noStrike" baseline="0" dirty="0" err="1">
                <a:latin typeface="Times New Roman" panose="02020603050405020304" pitchFamily="18" charset="0"/>
              </a:rPr>
              <a:t>S.age</a:t>
            </a:r>
            <a:r>
              <a:rPr lang="en-US" sz="2800" b="0" i="0" u="none" strike="noStrike" baseline="0" dirty="0">
                <a:latin typeface="Times New Roman" panose="02020603050405020304" pitchFamily="18" charset="0"/>
              </a:rPr>
              <a:t> </a:t>
            </a:r>
            <a:r>
              <a:rPr lang="en-US" sz="2800" b="0" i="0" u="none" strike="noStrike" baseline="0" dirty="0">
                <a:latin typeface="Arial" panose="020B0604020202020204" pitchFamily="34" charset="0"/>
              </a:rPr>
              <a:t>FROM </a:t>
            </a:r>
            <a:r>
              <a:rPr lang="en-US" sz="2800" b="0" i="0" u="none" strike="noStrike" baseline="0" dirty="0">
                <a:latin typeface="Times New Roman" panose="02020603050405020304" pitchFamily="18" charset="0"/>
              </a:rPr>
              <a:t>Sailors S</a:t>
            </a:r>
            <a:endParaRPr lang="en-IN" sz="2800" dirty="0"/>
          </a:p>
        </p:txBody>
      </p:sp>
      <p:pic>
        <p:nvPicPr>
          <p:cNvPr id="9" name="Picture 8">
            <a:extLst>
              <a:ext uri="{FF2B5EF4-FFF2-40B4-BE49-F238E27FC236}">
                <a16:creationId xmlns:a16="http://schemas.microsoft.com/office/drawing/2014/main" id="{888E3767-E4E5-646B-775C-A582C15EA5D2}"/>
              </a:ext>
            </a:extLst>
          </p:cNvPr>
          <p:cNvPicPr>
            <a:picLocks noChangeAspect="1"/>
          </p:cNvPicPr>
          <p:nvPr/>
        </p:nvPicPr>
        <p:blipFill>
          <a:blip r:embed="rId2"/>
          <a:stretch>
            <a:fillRect/>
          </a:stretch>
        </p:blipFill>
        <p:spPr>
          <a:xfrm>
            <a:off x="2423432" y="2303627"/>
            <a:ext cx="6677589" cy="3531115"/>
          </a:xfrm>
          <a:prstGeom prst="rect">
            <a:avLst/>
          </a:prstGeom>
        </p:spPr>
      </p:pic>
      <p:sp>
        <p:nvSpPr>
          <p:cNvPr id="11" name="TextBox 10">
            <a:extLst>
              <a:ext uri="{FF2B5EF4-FFF2-40B4-BE49-F238E27FC236}">
                <a16:creationId xmlns:a16="http://schemas.microsoft.com/office/drawing/2014/main" id="{E86FE8B0-1EB7-FD16-943F-81DFD43CECF6}"/>
              </a:ext>
            </a:extLst>
          </p:cNvPr>
          <p:cNvSpPr txBox="1"/>
          <p:nvPr/>
        </p:nvSpPr>
        <p:spPr>
          <a:xfrm>
            <a:off x="6442301" y="5813563"/>
            <a:ext cx="6101442" cy="369332"/>
          </a:xfrm>
          <a:prstGeom prst="rect">
            <a:avLst/>
          </a:prstGeom>
          <a:noFill/>
        </p:spPr>
        <p:txBody>
          <a:bodyPr wrap="square">
            <a:spAutoFit/>
          </a:bodyPr>
          <a:lstStyle/>
          <a:p>
            <a:r>
              <a:rPr lang="en-US" sz="1800" b="0" i="0" u="none" strike="noStrike" baseline="0" dirty="0">
                <a:latin typeface="Times New Roman" panose="02020603050405020304" pitchFamily="18" charset="0"/>
              </a:rPr>
              <a:t>Answer without </a:t>
            </a:r>
            <a:r>
              <a:rPr lang="en-US" sz="1800" b="0" i="0" u="none" strike="noStrike" baseline="0" dirty="0">
                <a:latin typeface="Arial" panose="020B0604020202020204" pitchFamily="34" charset="0"/>
              </a:rPr>
              <a:t>DISTINCT</a:t>
            </a:r>
            <a:endParaRPr lang="en-IN" dirty="0"/>
          </a:p>
        </p:txBody>
      </p:sp>
    </p:spTree>
    <p:extLst>
      <p:ext uri="{BB962C8B-B14F-4D97-AF65-F5344CB8AC3E}">
        <p14:creationId xmlns:p14="http://schemas.microsoft.com/office/powerpoint/2010/main" val="3029115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2D178B-A2A4-F999-FBC6-CB2343665390}"/>
              </a:ext>
            </a:extLst>
          </p:cNvPr>
          <p:cNvSpPr txBox="1"/>
          <p:nvPr/>
        </p:nvSpPr>
        <p:spPr>
          <a:xfrm>
            <a:off x="1668237" y="321519"/>
            <a:ext cx="6101442" cy="400110"/>
          </a:xfrm>
          <a:prstGeom prst="rect">
            <a:avLst/>
          </a:prstGeom>
          <a:noFill/>
        </p:spPr>
        <p:txBody>
          <a:bodyPr wrap="square">
            <a:spAutoFit/>
          </a:bodyPr>
          <a:lstStyle/>
          <a:p>
            <a:r>
              <a:rPr lang="en-US" sz="2000" b="1" i="1" u="none" strike="noStrike" baseline="0" dirty="0">
                <a:latin typeface="Times New Roman" panose="02020603050405020304" pitchFamily="18" charset="0"/>
              </a:rPr>
              <a:t>Q: Find all sailors with a rating above 7.</a:t>
            </a:r>
            <a:endParaRPr lang="en-IN" sz="2000" dirty="0"/>
          </a:p>
        </p:txBody>
      </p:sp>
      <p:sp>
        <p:nvSpPr>
          <p:cNvPr id="5" name="TextBox 4">
            <a:extLst>
              <a:ext uri="{FF2B5EF4-FFF2-40B4-BE49-F238E27FC236}">
                <a16:creationId xmlns:a16="http://schemas.microsoft.com/office/drawing/2014/main" id="{C9654A0B-1EFD-7954-E87A-79793ECF4417}"/>
              </a:ext>
            </a:extLst>
          </p:cNvPr>
          <p:cNvSpPr txBox="1"/>
          <p:nvPr/>
        </p:nvSpPr>
        <p:spPr>
          <a:xfrm>
            <a:off x="2147207" y="1478421"/>
            <a:ext cx="8183335" cy="830997"/>
          </a:xfrm>
          <a:prstGeom prst="rect">
            <a:avLst/>
          </a:prstGeom>
          <a:noFill/>
        </p:spPr>
        <p:txBody>
          <a:bodyPr wrap="square">
            <a:spAutoFit/>
          </a:bodyPr>
          <a:lstStyle/>
          <a:p>
            <a:r>
              <a:rPr lang="en-US" sz="2400" b="0" i="0" u="none" strike="noStrike" baseline="0" dirty="0">
                <a:latin typeface="Arial" panose="020B0604020202020204" pitchFamily="34" charset="0"/>
              </a:rPr>
              <a:t>SELECT </a:t>
            </a:r>
            <a:r>
              <a:rPr lang="en-US" sz="2400" b="0" i="0" u="none" strike="noStrike" baseline="0" dirty="0" err="1">
                <a:latin typeface="Times New Roman" panose="02020603050405020304" pitchFamily="18" charset="0"/>
              </a:rPr>
              <a:t>S.sid</a:t>
            </a:r>
            <a:r>
              <a:rPr lang="en-US" sz="2400" b="0" i="0" u="none" strike="noStrike" baseline="0" dirty="0">
                <a:latin typeface="Times New Roman" panose="02020603050405020304" pitchFamily="18" charset="0"/>
              </a:rPr>
              <a:t>, </a:t>
            </a:r>
            <a:r>
              <a:rPr lang="en-US" sz="2400" b="0" i="0" u="none" strike="noStrike" baseline="0" dirty="0" err="1">
                <a:latin typeface="Times New Roman" panose="02020603050405020304" pitchFamily="18" charset="0"/>
              </a:rPr>
              <a:t>S.sname</a:t>
            </a:r>
            <a:r>
              <a:rPr lang="en-US" sz="2400" b="0" i="0" u="none" strike="noStrike" baseline="0" dirty="0">
                <a:latin typeface="Times New Roman" panose="02020603050405020304" pitchFamily="18" charset="0"/>
              </a:rPr>
              <a:t>, </a:t>
            </a:r>
            <a:r>
              <a:rPr lang="en-US" sz="2400" b="0" i="0" u="none" strike="noStrike" baseline="0" dirty="0" err="1">
                <a:latin typeface="Times New Roman" panose="02020603050405020304" pitchFamily="18" charset="0"/>
              </a:rPr>
              <a:t>S.rating</a:t>
            </a:r>
            <a:r>
              <a:rPr lang="en-US" sz="2400" b="0" i="0" u="none" strike="noStrike" baseline="0" dirty="0">
                <a:latin typeface="Times New Roman" panose="02020603050405020304" pitchFamily="18" charset="0"/>
              </a:rPr>
              <a:t>, </a:t>
            </a:r>
            <a:r>
              <a:rPr lang="en-US" sz="2400" b="0" i="0" u="none" strike="noStrike" baseline="0" dirty="0" err="1">
                <a:latin typeface="Times New Roman" panose="02020603050405020304" pitchFamily="18" charset="0"/>
              </a:rPr>
              <a:t>S.age</a:t>
            </a:r>
            <a:r>
              <a:rPr lang="en-US" sz="2400" b="0" i="0" u="none" strike="noStrike" baseline="0" dirty="0">
                <a:latin typeface="Times New Roman" panose="02020603050405020304" pitchFamily="18" charset="0"/>
              </a:rPr>
              <a:t> </a:t>
            </a:r>
            <a:r>
              <a:rPr lang="en-US" sz="2400" b="0" i="0" u="none" strike="noStrike" baseline="0" dirty="0">
                <a:latin typeface="Arial" panose="020B0604020202020204" pitchFamily="34" charset="0"/>
              </a:rPr>
              <a:t>FROM </a:t>
            </a:r>
            <a:r>
              <a:rPr lang="en-US" sz="2400" b="0" i="0" u="none" strike="noStrike" baseline="0" dirty="0">
                <a:latin typeface="Times New Roman" panose="02020603050405020304" pitchFamily="18" charset="0"/>
              </a:rPr>
              <a:t>Sailors </a:t>
            </a:r>
            <a:r>
              <a:rPr lang="en-US" sz="2400" b="0" i="0" u="none" strike="noStrike" baseline="0" dirty="0">
                <a:latin typeface="Arial" panose="020B0604020202020204" pitchFamily="34" charset="0"/>
              </a:rPr>
              <a:t>AS </a:t>
            </a:r>
            <a:r>
              <a:rPr lang="en-US" sz="2400" b="0" i="0" u="none" strike="noStrike" baseline="0" dirty="0">
                <a:latin typeface="Times New Roman" panose="02020603050405020304" pitchFamily="18" charset="0"/>
              </a:rPr>
              <a:t>S </a:t>
            </a:r>
            <a:r>
              <a:rPr lang="en-US" sz="2400" b="0" i="0" u="none" strike="noStrike" baseline="0" dirty="0">
                <a:latin typeface="Arial" panose="020B0604020202020204" pitchFamily="34" charset="0"/>
              </a:rPr>
              <a:t>WHERE </a:t>
            </a:r>
            <a:r>
              <a:rPr lang="en-US" sz="2400" b="0" i="0" u="none" strike="noStrike" baseline="0" dirty="0" err="1">
                <a:latin typeface="Times New Roman" panose="02020603050405020304" pitchFamily="18" charset="0"/>
              </a:rPr>
              <a:t>S.rating</a:t>
            </a:r>
            <a:r>
              <a:rPr lang="en-US" sz="2400" b="0" i="0" u="none" strike="noStrike" baseline="0" dirty="0">
                <a:latin typeface="Times New Roman" panose="02020603050405020304" pitchFamily="18" charset="0"/>
              </a:rPr>
              <a:t> </a:t>
            </a:r>
            <a:r>
              <a:rPr lang="en-US" sz="2400" b="0" i="1" u="none" strike="noStrike" baseline="0" dirty="0">
                <a:latin typeface="Arial" panose="020B0604020202020204" pitchFamily="34" charset="0"/>
              </a:rPr>
              <a:t>&gt; </a:t>
            </a:r>
            <a:r>
              <a:rPr lang="en-US" sz="2400" b="0" i="0" u="none" strike="noStrike" baseline="0" dirty="0">
                <a:latin typeface="Times New Roman" panose="02020603050405020304" pitchFamily="18" charset="0"/>
              </a:rPr>
              <a:t>7</a:t>
            </a:r>
            <a:endParaRPr lang="en-IN" sz="2400" dirty="0"/>
          </a:p>
        </p:txBody>
      </p:sp>
      <p:sp>
        <p:nvSpPr>
          <p:cNvPr id="7" name="TextBox 6">
            <a:extLst>
              <a:ext uri="{FF2B5EF4-FFF2-40B4-BE49-F238E27FC236}">
                <a16:creationId xmlns:a16="http://schemas.microsoft.com/office/drawing/2014/main" id="{B29B853E-8A92-3A10-362E-B81BBB52198D}"/>
              </a:ext>
            </a:extLst>
          </p:cNvPr>
          <p:cNvSpPr txBox="1"/>
          <p:nvPr/>
        </p:nvSpPr>
        <p:spPr>
          <a:xfrm>
            <a:off x="1677761" y="3066210"/>
            <a:ext cx="8836478" cy="1569660"/>
          </a:xfrm>
          <a:prstGeom prst="rect">
            <a:avLst/>
          </a:prstGeom>
          <a:noFill/>
        </p:spPr>
        <p:txBody>
          <a:bodyPr wrap="square">
            <a:spAutoFit/>
          </a:bodyPr>
          <a:lstStyle/>
          <a:p>
            <a:pPr algn="l"/>
            <a:r>
              <a:rPr lang="en-US" sz="2400" b="1" i="1" u="none" strike="noStrike" baseline="0" dirty="0">
                <a:latin typeface="Times New Roman" panose="02020603050405020304" pitchFamily="18" charset="0"/>
              </a:rPr>
              <a:t>Q: Find the </a:t>
            </a:r>
            <a:r>
              <a:rPr lang="en-US" sz="2400" b="1" i="1" u="none" strike="noStrike" baseline="0" dirty="0" err="1">
                <a:latin typeface="Times New Roman" panose="02020603050405020304" pitchFamily="18" charset="0"/>
              </a:rPr>
              <a:t>sids</a:t>
            </a:r>
            <a:r>
              <a:rPr lang="en-US" sz="2400" b="1" i="1" u="none" strike="noStrike" baseline="0" dirty="0">
                <a:latin typeface="Times New Roman" panose="02020603050405020304" pitchFamily="18" charset="0"/>
              </a:rPr>
              <a:t> of sailors who have reserved a red boat.</a:t>
            </a:r>
          </a:p>
          <a:p>
            <a:pPr algn="l"/>
            <a:endParaRPr lang="en-US" sz="2400" b="1" i="1" u="none" strike="noStrike" baseline="0" dirty="0">
              <a:latin typeface="Times New Roman" panose="02020603050405020304" pitchFamily="18" charset="0"/>
            </a:endParaRPr>
          </a:p>
          <a:p>
            <a:pPr algn="l"/>
            <a:r>
              <a:rPr lang="en-US" sz="2400" b="0" i="0" u="none" strike="noStrike" baseline="0" dirty="0">
                <a:latin typeface="Arial" panose="020B0604020202020204" pitchFamily="34" charset="0"/>
              </a:rPr>
              <a:t>SELECT </a:t>
            </a:r>
            <a:r>
              <a:rPr lang="en-US" sz="2400" b="0" i="0" u="none" strike="noStrike" baseline="0" dirty="0" err="1">
                <a:latin typeface="Times New Roman" panose="02020603050405020304" pitchFamily="18" charset="0"/>
              </a:rPr>
              <a:t>R.sid</a:t>
            </a:r>
            <a:r>
              <a:rPr lang="en-US" sz="2400" b="0" i="0" u="none" strike="noStrike" baseline="0" dirty="0">
                <a:latin typeface="Times New Roman" panose="02020603050405020304" pitchFamily="18" charset="0"/>
              </a:rPr>
              <a:t> </a:t>
            </a:r>
            <a:r>
              <a:rPr lang="en-US" sz="2400" b="0" i="0" u="none" strike="noStrike" baseline="0" dirty="0">
                <a:latin typeface="Arial" panose="020B0604020202020204" pitchFamily="34" charset="0"/>
              </a:rPr>
              <a:t>FROM </a:t>
            </a:r>
            <a:r>
              <a:rPr lang="en-US" sz="2400" b="0" i="0" u="none" strike="noStrike" baseline="0" dirty="0">
                <a:latin typeface="Times New Roman" panose="02020603050405020304" pitchFamily="18" charset="0"/>
              </a:rPr>
              <a:t>Boats B, Reserves R </a:t>
            </a:r>
            <a:r>
              <a:rPr lang="en-US" sz="2400" b="0" i="0" u="none" strike="noStrike" baseline="0" dirty="0">
                <a:latin typeface="Arial" panose="020B0604020202020204" pitchFamily="34" charset="0"/>
              </a:rPr>
              <a:t>WHERE </a:t>
            </a:r>
            <a:r>
              <a:rPr lang="en-US" sz="2400" b="0" i="0" u="none" strike="noStrike" baseline="0" dirty="0" err="1">
                <a:latin typeface="Times New Roman" panose="02020603050405020304" pitchFamily="18" charset="0"/>
              </a:rPr>
              <a:t>B.bid</a:t>
            </a:r>
            <a:r>
              <a:rPr lang="en-US" sz="2400" b="0" i="0" u="none" strike="noStrike" baseline="0" dirty="0">
                <a:latin typeface="Times New Roman" panose="02020603050405020304" pitchFamily="18" charset="0"/>
              </a:rPr>
              <a:t> = </a:t>
            </a:r>
            <a:r>
              <a:rPr lang="en-US" sz="2400" b="0" i="0" u="none" strike="noStrike" baseline="0" dirty="0" err="1">
                <a:latin typeface="Times New Roman" panose="02020603050405020304" pitchFamily="18" charset="0"/>
              </a:rPr>
              <a:t>R.bid</a:t>
            </a:r>
            <a:r>
              <a:rPr lang="en-US" sz="2400" b="0" i="0" u="none" strike="noStrike" baseline="0" dirty="0">
                <a:latin typeface="Times New Roman" panose="02020603050405020304" pitchFamily="18" charset="0"/>
              </a:rPr>
              <a:t> </a:t>
            </a:r>
            <a:r>
              <a:rPr lang="en-US" sz="2400" b="0" i="0" u="none" strike="noStrike" baseline="0" dirty="0">
                <a:latin typeface="Arial" panose="020B0604020202020204" pitchFamily="34" charset="0"/>
              </a:rPr>
              <a:t>AND </a:t>
            </a:r>
            <a:r>
              <a:rPr lang="en-US" sz="2400" b="0" i="0" u="none" strike="noStrike" baseline="0" dirty="0" err="1">
                <a:latin typeface="Times New Roman" panose="02020603050405020304" pitchFamily="18" charset="0"/>
              </a:rPr>
              <a:t>B.color</a:t>
            </a:r>
            <a:r>
              <a:rPr lang="en-US" sz="2400" b="0" i="0" u="none" strike="noStrike" baseline="0" dirty="0">
                <a:latin typeface="Times New Roman" panose="02020603050405020304" pitchFamily="18" charset="0"/>
              </a:rPr>
              <a:t> = ‘red’</a:t>
            </a:r>
            <a:endParaRPr lang="en-IN" sz="2400" dirty="0"/>
          </a:p>
        </p:txBody>
      </p:sp>
    </p:spTree>
    <p:extLst>
      <p:ext uri="{BB962C8B-B14F-4D97-AF65-F5344CB8AC3E}">
        <p14:creationId xmlns:p14="http://schemas.microsoft.com/office/powerpoint/2010/main" val="27356217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BB424C-A285-A220-5001-C1D4453B42F5}"/>
              </a:ext>
            </a:extLst>
          </p:cNvPr>
          <p:cNvSpPr txBox="1"/>
          <p:nvPr/>
        </p:nvSpPr>
        <p:spPr>
          <a:xfrm>
            <a:off x="892630" y="573065"/>
            <a:ext cx="9818912" cy="1323439"/>
          </a:xfrm>
          <a:prstGeom prst="rect">
            <a:avLst/>
          </a:prstGeom>
          <a:noFill/>
        </p:spPr>
        <p:txBody>
          <a:bodyPr wrap="square">
            <a:spAutoFit/>
          </a:bodyPr>
          <a:lstStyle/>
          <a:p>
            <a:pPr algn="l"/>
            <a:r>
              <a:rPr lang="en-US" sz="2000" b="1" i="1" u="none" strike="noStrike" baseline="0" dirty="0">
                <a:latin typeface="Times New Roman" panose="02020603050405020304" pitchFamily="18" charset="0"/>
              </a:rPr>
              <a:t>Q: Find the ages of sailors whose name begins and ends with B and has at least</a:t>
            </a:r>
          </a:p>
          <a:p>
            <a:pPr algn="l"/>
            <a:r>
              <a:rPr lang="en-IN" sz="2000" b="1" i="1" u="none" strike="noStrike" baseline="0" dirty="0">
                <a:latin typeface="Times New Roman" panose="02020603050405020304" pitchFamily="18" charset="0"/>
              </a:rPr>
              <a:t>three characters</a:t>
            </a:r>
            <a:r>
              <a:rPr lang="en-IN" sz="2000" b="0" i="1" u="none" strike="noStrike" baseline="0" dirty="0">
                <a:latin typeface="Times New Roman" panose="02020603050405020304" pitchFamily="18" charset="0"/>
              </a:rPr>
              <a:t>.</a:t>
            </a:r>
          </a:p>
          <a:p>
            <a:pPr algn="l"/>
            <a:endParaRPr lang="en-IN" sz="2000" b="0" i="1" u="none" strike="noStrike" baseline="0" dirty="0">
              <a:latin typeface="Times New Roman" panose="02020603050405020304" pitchFamily="18" charset="0"/>
            </a:endParaRPr>
          </a:p>
          <a:p>
            <a:pPr algn="l"/>
            <a:r>
              <a:rPr lang="en-US" sz="2000" b="0" i="0" u="none" strike="noStrike" baseline="0" dirty="0">
                <a:latin typeface="Arial" panose="020B0604020202020204" pitchFamily="34" charset="0"/>
              </a:rPr>
              <a:t>SELECT </a:t>
            </a:r>
            <a:r>
              <a:rPr lang="en-US" sz="2000" b="0" i="0" u="none" strike="noStrike" baseline="0" dirty="0" err="1">
                <a:latin typeface="Times New Roman" panose="02020603050405020304" pitchFamily="18" charset="0"/>
              </a:rPr>
              <a:t>S.age</a:t>
            </a:r>
            <a:r>
              <a:rPr lang="en-US" sz="2000" b="0" i="0" u="none" strike="noStrike" baseline="0" dirty="0">
                <a:latin typeface="Times New Roman" panose="02020603050405020304" pitchFamily="18" charset="0"/>
              </a:rPr>
              <a:t> </a:t>
            </a:r>
            <a:r>
              <a:rPr lang="en-US" sz="2000" b="0" i="0" u="none" strike="noStrike" baseline="0" dirty="0">
                <a:latin typeface="Arial" panose="020B0604020202020204" pitchFamily="34" charset="0"/>
              </a:rPr>
              <a:t>FROM </a:t>
            </a:r>
            <a:r>
              <a:rPr lang="en-US" sz="2000" b="0" i="0" u="none" strike="noStrike" baseline="0" dirty="0">
                <a:latin typeface="Times New Roman" panose="02020603050405020304" pitchFamily="18" charset="0"/>
              </a:rPr>
              <a:t>Sailors S </a:t>
            </a:r>
            <a:r>
              <a:rPr lang="en-US" sz="2000" b="0" i="0" u="none" strike="noStrike" baseline="0" dirty="0">
                <a:latin typeface="Arial" panose="020B0604020202020204" pitchFamily="34" charset="0"/>
              </a:rPr>
              <a:t>WHERE </a:t>
            </a:r>
            <a:r>
              <a:rPr lang="en-US" sz="2000" b="0" i="0" u="none" strike="noStrike" baseline="0" dirty="0" err="1">
                <a:latin typeface="Times New Roman" panose="02020603050405020304" pitchFamily="18" charset="0"/>
              </a:rPr>
              <a:t>S.sname</a:t>
            </a:r>
            <a:r>
              <a:rPr lang="en-US" sz="2000" b="0" i="0" u="none" strike="noStrike" baseline="0" dirty="0">
                <a:latin typeface="Times New Roman" panose="02020603050405020304" pitchFamily="18" charset="0"/>
              </a:rPr>
              <a:t> </a:t>
            </a:r>
            <a:r>
              <a:rPr lang="en-US" sz="2000" b="0" i="0" u="none" strike="noStrike" baseline="0" dirty="0">
                <a:latin typeface="Arial" panose="020B0604020202020204" pitchFamily="34" charset="0"/>
              </a:rPr>
              <a:t>LIKE </a:t>
            </a:r>
            <a:r>
              <a:rPr lang="en-US" sz="2000" b="0" i="0" u="none" strike="noStrike" baseline="0" dirty="0">
                <a:latin typeface="Times New Roman" panose="02020603050405020304" pitchFamily="18" charset="0"/>
              </a:rPr>
              <a:t>‘B %B’</a:t>
            </a:r>
            <a:endParaRPr lang="en-IN" sz="2000" dirty="0"/>
          </a:p>
        </p:txBody>
      </p:sp>
      <p:sp>
        <p:nvSpPr>
          <p:cNvPr id="5" name="TextBox 4">
            <a:extLst>
              <a:ext uri="{FF2B5EF4-FFF2-40B4-BE49-F238E27FC236}">
                <a16:creationId xmlns:a16="http://schemas.microsoft.com/office/drawing/2014/main" id="{57CA2D7D-85A5-3DF6-7F84-A325D211C1F3}"/>
              </a:ext>
            </a:extLst>
          </p:cNvPr>
          <p:cNvSpPr txBox="1"/>
          <p:nvPr/>
        </p:nvSpPr>
        <p:spPr>
          <a:xfrm>
            <a:off x="4691744" y="2256396"/>
            <a:ext cx="6101442" cy="369332"/>
          </a:xfrm>
          <a:prstGeom prst="rect">
            <a:avLst/>
          </a:prstGeom>
          <a:noFill/>
        </p:spPr>
        <p:txBody>
          <a:bodyPr wrap="square">
            <a:spAutoFit/>
          </a:bodyPr>
          <a:lstStyle/>
          <a:p>
            <a:r>
              <a:rPr lang="en-IN" sz="1800" b="1" i="0" u="none" strike="noStrike" baseline="0" dirty="0">
                <a:latin typeface="Times New Roman" panose="02020603050405020304" pitchFamily="18" charset="0"/>
              </a:rPr>
              <a:t>UNION, INTERSECT, AND EXCEP</a:t>
            </a:r>
            <a:r>
              <a:rPr lang="en-IN" b="1" dirty="0">
                <a:latin typeface="Times New Roman" panose="02020603050405020304" pitchFamily="18" charset="0"/>
              </a:rPr>
              <a:t>T</a:t>
            </a:r>
            <a:endParaRPr lang="en-IN" dirty="0"/>
          </a:p>
        </p:txBody>
      </p:sp>
      <p:sp>
        <p:nvSpPr>
          <p:cNvPr id="7" name="TextBox 6">
            <a:extLst>
              <a:ext uri="{FF2B5EF4-FFF2-40B4-BE49-F238E27FC236}">
                <a16:creationId xmlns:a16="http://schemas.microsoft.com/office/drawing/2014/main" id="{B3820AA8-A9B1-F381-B68F-8355456AA9DF}"/>
              </a:ext>
            </a:extLst>
          </p:cNvPr>
          <p:cNvSpPr txBox="1"/>
          <p:nvPr/>
        </p:nvSpPr>
        <p:spPr>
          <a:xfrm>
            <a:off x="228599" y="2672051"/>
            <a:ext cx="11636829" cy="1200329"/>
          </a:xfrm>
          <a:prstGeom prst="rect">
            <a:avLst/>
          </a:prstGeom>
          <a:noFill/>
        </p:spPr>
        <p:txBody>
          <a:bodyPr wrap="square">
            <a:spAutoFit/>
          </a:bodyPr>
          <a:lstStyle/>
          <a:p>
            <a:pPr algn="l"/>
            <a:r>
              <a:rPr lang="en-US" sz="1800" b="1" i="1" u="none" strike="noStrike" baseline="0" dirty="0">
                <a:latin typeface="Times New Roman" panose="02020603050405020304" pitchFamily="18" charset="0"/>
              </a:rPr>
              <a:t>Q: Find the names of sailors who have reserved a red or a green boat.</a:t>
            </a:r>
          </a:p>
          <a:p>
            <a:pPr algn="l"/>
            <a:endParaRPr lang="en-US" sz="1800" b="1" i="1" u="none" strike="noStrike" baseline="0" dirty="0">
              <a:latin typeface="Times New Roman" panose="02020603050405020304" pitchFamily="18" charset="0"/>
            </a:endParaRPr>
          </a:p>
          <a:p>
            <a:pPr algn="l"/>
            <a:r>
              <a:rPr lang="en-US" sz="1800" b="0" i="0" u="none" strike="noStrike" baseline="0" dirty="0">
                <a:latin typeface="Arial" panose="020B0604020202020204" pitchFamily="34" charset="0"/>
              </a:rPr>
              <a:t>SELECT </a:t>
            </a:r>
            <a:r>
              <a:rPr lang="en-US" sz="1800" b="0" i="0" u="none" strike="noStrike" baseline="0" dirty="0" err="1">
                <a:latin typeface="Times New Roman" panose="02020603050405020304" pitchFamily="18" charset="0"/>
              </a:rPr>
              <a:t>S.sname</a:t>
            </a:r>
            <a:r>
              <a:rPr lang="en-US" sz="1800" b="0" i="0" u="none" strike="noStrike" baseline="0" dirty="0">
                <a:latin typeface="Times New Roman" panose="02020603050405020304" pitchFamily="18" charset="0"/>
              </a:rPr>
              <a:t> </a:t>
            </a:r>
            <a:r>
              <a:rPr lang="en-US" sz="1800" b="0" i="0" u="none" strike="noStrike" baseline="0" dirty="0">
                <a:latin typeface="Arial" panose="020B0604020202020204" pitchFamily="34" charset="0"/>
              </a:rPr>
              <a:t>FROM </a:t>
            </a:r>
            <a:r>
              <a:rPr lang="en-US" sz="1800" b="0" i="0" u="none" strike="noStrike" baseline="0" dirty="0">
                <a:latin typeface="Times New Roman" panose="02020603050405020304" pitchFamily="18" charset="0"/>
              </a:rPr>
              <a:t>Sailors S, Reserves R, Boats B </a:t>
            </a:r>
            <a:r>
              <a:rPr lang="en-US" sz="1800" b="0" i="0" u="none" strike="noStrike" baseline="0" dirty="0">
                <a:latin typeface="Arial" panose="020B0604020202020204" pitchFamily="34" charset="0"/>
              </a:rPr>
              <a:t>WHERE </a:t>
            </a:r>
            <a:r>
              <a:rPr lang="en-US" sz="1800" b="0" i="0" u="none" strike="noStrike" baseline="0" dirty="0" err="1">
                <a:latin typeface="Times New Roman" panose="02020603050405020304" pitchFamily="18" charset="0"/>
              </a:rPr>
              <a:t>S.sid</a:t>
            </a:r>
            <a:r>
              <a:rPr lang="en-US" sz="1800" b="0" i="0" u="none" strike="noStrike" baseline="0" dirty="0">
                <a:latin typeface="Times New Roman" panose="02020603050405020304" pitchFamily="18" charset="0"/>
              </a:rPr>
              <a:t> = </a:t>
            </a:r>
            <a:r>
              <a:rPr lang="en-US" sz="1800" b="0" i="0" u="none" strike="noStrike" baseline="0" dirty="0" err="1">
                <a:latin typeface="Times New Roman" panose="02020603050405020304" pitchFamily="18" charset="0"/>
              </a:rPr>
              <a:t>R.sid</a:t>
            </a:r>
            <a:endParaRPr lang="en-US" sz="1800" b="0" i="0" u="none" strike="noStrike" baseline="0" dirty="0">
              <a:latin typeface="Times New Roman" panose="02020603050405020304" pitchFamily="18" charset="0"/>
            </a:endParaRPr>
          </a:p>
          <a:p>
            <a:pPr algn="l"/>
            <a:r>
              <a:rPr lang="en-US" sz="1800" b="0" i="0" u="none" strike="noStrike" baseline="0" dirty="0">
                <a:latin typeface="Arial" panose="020B0604020202020204" pitchFamily="34" charset="0"/>
              </a:rPr>
              <a:t>AND </a:t>
            </a:r>
            <a:r>
              <a:rPr lang="en-US" sz="1800" b="0" i="0" u="none" strike="noStrike" baseline="0" dirty="0" err="1">
                <a:latin typeface="Times New Roman" panose="02020603050405020304" pitchFamily="18" charset="0"/>
              </a:rPr>
              <a:t>R.bid</a:t>
            </a:r>
            <a:r>
              <a:rPr lang="en-US" sz="1800" b="0" i="0" u="none" strike="noStrike" baseline="0" dirty="0">
                <a:latin typeface="Times New Roman" panose="02020603050405020304" pitchFamily="18" charset="0"/>
              </a:rPr>
              <a:t> = </a:t>
            </a:r>
            <a:r>
              <a:rPr lang="en-US" sz="1800" b="0" i="0" u="none" strike="noStrike" baseline="0" dirty="0" err="1">
                <a:latin typeface="Times New Roman" panose="02020603050405020304" pitchFamily="18" charset="0"/>
              </a:rPr>
              <a:t>B.bid</a:t>
            </a:r>
            <a:r>
              <a:rPr lang="en-US" sz="1800" b="0" i="0" u="none" strike="noStrike" baseline="0" dirty="0">
                <a:latin typeface="Times New Roman" panose="02020603050405020304" pitchFamily="18" charset="0"/>
              </a:rPr>
              <a:t> </a:t>
            </a:r>
            <a:r>
              <a:rPr lang="en-US" sz="1800" b="0" i="0" u="none" strike="noStrike" baseline="0" dirty="0">
                <a:latin typeface="Arial" panose="020B0604020202020204" pitchFamily="34" charset="0"/>
              </a:rPr>
              <a:t>AND </a:t>
            </a:r>
            <a:r>
              <a:rPr lang="en-US" sz="1800" b="0" i="0" u="none" strike="noStrike" baseline="0" dirty="0">
                <a:latin typeface="Times New Roman" panose="02020603050405020304" pitchFamily="18" charset="0"/>
              </a:rPr>
              <a:t>(</a:t>
            </a:r>
            <a:r>
              <a:rPr lang="en-US" sz="1800" b="0" i="0" u="none" strike="noStrike" baseline="0" dirty="0" err="1">
                <a:latin typeface="Times New Roman" panose="02020603050405020304" pitchFamily="18" charset="0"/>
              </a:rPr>
              <a:t>B.color</a:t>
            </a:r>
            <a:r>
              <a:rPr lang="en-US" sz="1800" b="0" i="0" u="none" strike="noStrike" baseline="0" dirty="0">
                <a:latin typeface="Times New Roman" panose="02020603050405020304" pitchFamily="18" charset="0"/>
              </a:rPr>
              <a:t> = ‘red’ </a:t>
            </a:r>
            <a:r>
              <a:rPr lang="en-US" sz="1800" b="0" i="0" u="none" strike="noStrike" baseline="0" dirty="0">
                <a:latin typeface="Arial" panose="020B0604020202020204" pitchFamily="34" charset="0"/>
              </a:rPr>
              <a:t>OR </a:t>
            </a:r>
            <a:r>
              <a:rPr lang="en-US" sz="1800" b="0" i="0" u="none" strike="noStrike" baseline="0" dirty="0" err="1">
                <a:latin typeface="Times New Roman" panose="02020603050405020304" pitchFamily="18" charset="0"/>
              </a:rPr>
              <a:t>B.color</a:t>
            </a:r>
            <a:r>
              <a:rPr lang="en-US" sz="1800" b="0" i="0" u="none" strike="noStrike" baseline="0" dirty="0">
                <a:latin typeface="Times New Roman" panose="02020603050405020304" pitchFamily="18" charset="0"/>
              </a:rPr>
              <a:t> = ‘green’)</a:t>
            </a:r>
            <a:endParaRPr lang="en-IN" dirty="0"/>
          </a:p>
        </p:txBody>
      </p:sp>
      <p:sp>
        <p:nvSpPr>
          <p:cNvPr id="9" name="TextBox 8">
            <a:extLst>
              <a:ext uri="{FF2B5EF4-FFF2-40B4-BE49-F238E27FC236}">
                <a16:creationId xmlns:a16="http://schemas.microsoft.com/office/drawing/2014/main" id="{12F82A58-AA06-9C32-CA88-CD319C05E61F}"/>
              </a:ext>
            </a:extLst>
          </p:cNvPr>
          <p:cNvSpPr txBox="1"/>
          <p:nvPr/>
        </p:nvSpPr>
        <p:spPr>
          <a:xfrm>
            <a:off x="3352800" y="3872380"/>
            <a:ext cx="12398829" cy="2308324"/>
          </a:xfrm>
          <a:prstGeom prst="rect">
            <a:avLst/>
          </a:prstGeom>
          <a:noFill/>
        </p:spPr>
        <p:txBody>
          <a:bodyPr wrap="square">
            <a:spAutoFit/>
          </a:bodyPr>
          <a:lstStyle/>
          <a:p>
            <a:pPr algn="l"/>
            <a:r>
              <a:rPr lang="en-IN" sz="1800" b="0" i="0" u="none" strike="noStrike" baseline="0" dirty="0">
                <a:latin typeface="Times New Roman" panose="02020603050405020304" pitchFamily="18" charset="0"/>
              </a:rPr>
              <a:t>The </a:t>
            </a:r>
            <a:r>
              <a:rPr lang="en-IN" sz="1800" b="0" i="0" u="none" strike="noStrike" baseline="0" dirty="0">
                <a:latin typeface="Arial" panose="020B0604020202020204" pitchFamily="34" charset="0"/>
              </a:rPr>
              <a:t>OR </a:t>
            </a:r>
            <a:r>
              <a:rPr lang="en-US" sz="1800" b="0" i="0" u="none" strike="noStrike" baseline="0" dirty="0">
                <a:latin typeface="Times New Roman" panose="02020603050405020304" pitchFamily="18" charset="0"/>
              </a:rPr>
              <a:t>query (Query Q5) can be rewritten as follows:</a:t>
            </a:r>
          </a:p>
          <a:p>
            <a:pPr algn="l"/>
            <a:r>
              <a:rPr lang="en-IN" sz="1800" b="1" i="0" u="none" strike="noStrike" baseline="0" dirty="0">
                <a:latin typeface="Arial" panose="020B0604020202020204" pitchFamily="34" charset="0"/>
              </a:rPr>
              <a:t>SELECT </a:t>
            </a:r>
            <a:r>
              <a:rPr lang="en-IN" sz="1800" b="1" i="0" u="none" strike="noStrike" baseline="0" dirty="0" err="1">
                <a:latin typeface="Times New Roman" panose="02020603050405020304" pitchFamily="18" charset="0"/>
              </a:rPr>
              <a:t>S.sname</a:t>
            </a:r>
            <a:endParaRPr lang="en-IN" sz="1800" b="1" i="0" u="none" strike="noStrike" baseline="0" dirty="0">
              <a:latin typeface="Times New Roman" panose="02020603050405020304" pitchFamily="18" charset="0"/>
            </a:endParaRPr>
          </a:p>
          <a:p>
            <a:pPr algn="l"/>
            <a:r>
              <a:rPr lang="en-US" sz="1800" b="1" i="0" u="none" strike="noStrike" baseline="0" dirty="0">
                <a:latin typeface="Arial" panose="020B0604020202020204" pitchFamily="34" charset="0"/>
              </a:rPr>
              <a:t>FROM </a:t>
            </a:r>
            <a:r>
              <a:rPr lang="en-US" sz="1800" b="1" i="0" u="none" strike="noStrike" baseline="0" dirty="0">
                <a:latin typeface="Times New Roman" panose="02020603050405020304" pitchFamily="18" charset="0"/>
              </a:rPr>
              <a:t>Sailors S, Reserves R, Boats B</a:t>
            </a:r>
          </a:p>
          <a:p>
            <a:pPr algn="l"/>
            <a:r>
              <a:rPr lang="en-US" sz="1800" b="1" i="0" u="none" strike="noStrike" baseline="0" dirty="0">
                <a:latin typeface="Arial" panose="020B0604020202020204" pitchFamily="34" charset="0"/>
              </a:rPr>
              <a:t>WHERE </a:t>
            </a:r>
            <a:r>
              <a:rPr lang="en-US" sz="1800" b="1" i="0" u="none" strike="noStrike" baseline="0" dirty="0" err="1">
                <a:latin typeface="Times New Roman" panose="02020603050405020304" pitchFamily="18" charset="0"/>
              </a:rPr>
              <a:t>S.sid</a:t>
            </a:r>
            <a:r>
              <a:rPr lang="en-US" sz="1800" b="1" i="0" u="none" strike="noStrike" baseline="0" dirty="0">
                <a:latin typeface="Times New Roman" panose="02020603050405020304" pitchFamily="18" charset="0"/>
              </a:rPr>
              <a:t> = </a:t>
            </a:r>
            <a:r>
              <a:rPr lang="en-US" sz="1800" b="1" i="0" u="none" strike="noStrike" baseline="0" dirty="0" err="1">
                <a:latin typeface="Times New Roman" panose="02020603050405020304" pitchFamily="18" charset="0"/>
              </a:rPr>
              <a:t>R.sid</a:t>
            </a:r>
            <a:r>
              <a:rPr lang="en-US" sz="1800" b="1" i="0" u="none" strike="noStrike" baseline="0" dirty="0">
                <a:latin typeface="Times New Roman" panose="02020603050405020304" pitchFamily="18" charset="0"/>
              </a:rPr>
              <a:t> </a:t>
            </a:r>
            <a:r>
              <a:rPr lang="en-US" sz="1800" b="1" i="0" u="none" strike="noStrike" baseline="0" dirty="0">
                <a:latin typeface="Arial" panose="020B0604020202020204" pitchFamily="34" charset="0"/>
              </a:rPr>
              <a:t>AND </a:t>
            </a:r>
            <a:r>
              <a:rPr lang="en-US" sz="1800" b="1" i="0" u="none" strike="noStrike" baseline="0" dirty="0" err="1">
                <a:latin typeface="Times New Roman" panose="02020603050405020304" pitchFamily="18" charset="0"/>
              </a:rPr>
              <a:t>R.bid</a:t>
            </a:r>
            <a:r>
              <a:rPr lang="en-US" sz="1800" b="1" i="0" u="none" strike="noStrike" baseline="0" dirty="0">
                <a:latin typeface="Times New Roman" panose="02020603050405020304" pitchFamily="18" charset="0"/>
              </a:rPr>
              <a:t> = </a:t>
            </a:r>
            <a:r>
              <a:rPr lang="en-US" sz="1800" b="1" i="0" u="none" strike="noStrike" baseline="0" dirty="0" err="1">
                <a:latin typeface="Times New Roman" panose="02020603050405020304" pitchFamily="18" charset="0"/>
              </a:rPr>
              <a:t>B.bid</a:t>
            </a:r>
            <a:r>
              <a:rPr lang="en-US" sz="1800" b="1" i="0" u="none" strike="noStrike" baseline="0" dirty="0">
                <a:latin typeface="Times New Roman" panose="02020603050405020304" pitchFamily="18" charset="0"/>
              </a:rPr>
              <a:t> </a:t>
            </a:r>
            <a:r>
              <a:rPr lang="en-US" sz="1800" b="1" i="0" u="none" strike="noStrike" baseline="0" dirty="0">
                <a:latin typeface="Arial" panose="020B0604020202020204" pitchFamily="34" charset="0"/>
              </a:rPr>
              <a:t>AND </a:t>
            </a:r>
            <a:r>
              <a:rPr lang="en-US" sz="1800" b="1" i="0" u="none" strike="noStrike" baseline="0" dirty="0" err="1">
                <a:latin typeface="Times New Roman" panose="02020603050405020304" pitchFamily="18" charset="0"/>
              </a:rPr>
              <a:t>B.color</a:t>
            </a:r>
            <a:r>
              <a:rPr lang="en-US" sz="1800" b="1" i="0" u="none" strike="noStrike" baseline="0" dirty="0">
                <a:latin typeface="Times New Roman" panose="02020603050405020304" pitchFamily="18" charset="0"/>
              </a:rPr>
              <a:t> = ‘red’       </a:t>
            </a:r>
          </a:p>
          <a:p>
            <a:pPr algn="l"/>
            <a:r>
              <a:rPr lang="en-IN" sz="1800" b="1" i="0" u="none" strike="noStrike" baseline="0" dirty="0">
                <a:latin typeface="Arial" panose="020B0604020202020204" pitchFamily="34" charset="0"/>
              </a:rPr>
              <a:t>UNION</a:t>
            </a:r>
          </a:p>
          <a:p>
            <a:pPr algn="l"/>
            <a:r>
              <a:rPr lang="en-IN" sz="1800" b="1" i="0" u="none" strike="noStrike" baseline="0" dirty="0">
                <a:latin typeface="Arial" panose="020B0604020202020204" pitchFamily="34" charset="0"/>
              </a:rPr>
              <a:t>SELECT </a:t>
            </a:r>
            <a:r>
              <a:rPr lang="en-IN" sz="1800" b="1" i="0" u="none" strike="noStrike" baseline="0" dirty="0">
                <a:latin typeface="Times New Roman" panose="02020603050405020304" pitchFamily="18" charset="0"/>
              </a:rPr>
              <a:t>S2.sname</a:t>
            </a:r>
          </a:p>
          <a:p>
            <a:pPr algn="l"/>
            <a:r>
              <a:rPr lang="en-US" sz="1800" b="1" i="0" u="none" strike="noStrike" baseline="0" dirty="0">
                <a:latin typeface="Arial" panose="020B0604020202020204" pitchFamily="34" charset="0"/>
              </a:rPr>
              <a:t>FROM </a:t>
            </a:r>
            <a:r>
              <a:rPr lang="en-US" sz="1800" b="1" i="0" u="none" strike="noStrike" baseline="0" dirty="0">
                <a:latin typeface="Times New Roman" panose="02020603050405020304" pitchFamily="18" charset="0"/>
              </a:rPr>
              <a:t>Sailors S2, Boats B2, Reserves R2</a:t>
            </a:r>
          </a:p>
          <a:p>
            <a:pPr algn="l"/>
            <a:r>
              <a:rPr lang="en-US" sz="1800" b="1" i="0" u="none" strike="noStrike" baseline="0" dirty="0">
                <a:latin typeface="Arial" panose="020B0604020202020204" pitchFamily="34" charset="0"/>
              </a:rPr>
              <a:t>WHERE </a:t>
            </a:r>
            <a:r>
              <a:rPr lang="en-US" sz="1800" b="1" i="0" u="none" strike="noStrike" baseline="0" dirty="0">
                <a:latin typeface="Times New Roman" panose="02020603050405020304" pitchFamily="18" charset="0"/>
              </a:rPr>
              <a:t>S2.sid = R2.sid </a:t>
            </a:r>
            <a:r>
              <a:rPr lang="en-US" sz="1800" b="1" i="0" u="none" strike="noStrike" baseline="0" dirty="0">
                <a:latin typeface="Arial" panose="020B0604020202020204" pitchFamily="34" charset="0"/>
              </a:rPr>
              <a:t>AND </a:t>
            </a:r>
            <a:r>
              <a:rPr lang="en-US" sz="1800" b="1" i="0" u="none" strike="noStrike" baseline="0" dirty="0">
                <a:latin typeface="Times New Roman" panose="02020603050405020304" pitchFamily="18" charset="0"/>
              </a:rPr>
              <a:t>R2.bid = B2.bid </a:t>
            </a:r>
            <a:r>
              <a:rPr lang="en-US" sz="1800" b="1" i="0" u="none" strike="noStrike" baseline="0" dirty="0">
                <a:latin typeface="Arial" panose="020B0604020202020204" pitchFamily="34" charset="0"/>
              </a:rPr>
              <a:t>AND </a:t>
            </a:r>
            <a:r>
              <a:rPr lang="en-US" sz="1800" b="1" i="0" u="none" strike="noStrike" baseline="0" dirty="0">
                <a:latin typeface="Times New Roman" panose="02020603050405020304" pitchFamily="18" charset="0"/>
              </a:rPr>
              <a:t>B2.color = ‘green’</a:t>
            </a:r>
            <a:endParaRPr lang="en-IN" b="1" dirty="0"/>
          </a:p>
        </p:txBody>
      </p:sp>
    </p:spTree>
    <p:extLst>
      <p:ext uri="{BB962C8B-B14F-4D97-AF65-F5344CB8AC3E}">
        <p14:creationId xmlns:p14="http://schemas.microsoft.com/office/powerpoint/2010/main" val="2938148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9C05E2-2ACB-4199-EBA9-FB1BFA16FE5B}"/>
              </a:ext>
            </a:extLst>
          </p:cNvPr>
          <p:cNvSpPr txBox="1"/>
          <p:nvPr/>
        </p:nvSpPr>
        <p:spPr>
          <a:xfrm>
            <a:off x="1396094" y="324535"/>
            <a:ext cx="6101442" cy="830997"/>
          </a:xfrm>
          <a:prstGeom prst="rect">
            <a:avLst/>
          </a:prstGeom>
          <a:noFill/>
        </p:spPr>
        <p:txBody>
          <a:bodyPr wrap="square">
            <a:spAutoFit/>
          </a:bodyPr>
          <a:lstStyle/>
          <a:p>
            <a:r>
              <a:rPr lang="en-US" sz="2400" b="1" i="1" u="none" strike="noStrike" baseline="0" dirty="0">
                <a:latin typeface="Times New Roman" panose="02020603050405020304" pitchFamily="18" charset="0"/>
              </a:rPr>
              <a:t>Find the names of sailors who have reserved both a red and a green boat.</a:t>
            </a:r>
            <a:endParaRPr lang="en-IN" sz="2400" dirty="0"/>
          </a:p>
        </p:txBody>
      </p:sp>
      <p:sp>
        <p:nvSpPr>
          <p:cNvPr id="5" name="TextBox 4">
            <a:extLst>
              <a:ext uri="{FF2B5EF4-FFF2-40B4-BE49-F238E27FC236}">
                <a16:creationId xmlns:a16="http://schemas.microsoft.com/office/drawing/2014/main" id="{F6451D6E-A067-2EA8-CB87-76FDC06382DA}"/>
              </a:ext>
            </a:extLst>
          </p:cNvPr>
          <p:cNvSpPr txBox="1"/>
          <p:nvPr/>
        </p:nvSpPr>
        <p:spPr>
          <a:xfrm>
            <a:off x="2909208" y="1335065"/>
            <a:ext cx="6101442" cy="1477328"/>
          </a:xfrm>
          <a:prstGeom prst="rect">
            <a:avLst/>
          </a:prstGeom>
          <a:noFill/>
        </p:spPr>
        <p:txBody>
          <a:bodyPr wrap="square">
            <a:spAutoFit/>
          </a:bodyPr>
          <a:lstStyle/>
          <a:p>
            <a:pPr algn="l"/>
            <a:r>
              <a:rPr lang="en-US" sz="1800" b="0" i="0" u="none" strike="noStrike" baseline="0" dirty="0">
                <a:latin typeface="Arial" panose="020B0604020202020204" pitchFamily="34" charset="0"/>
              </a:rPr>
              <a:t>SELECT </a:t>
            </a:r>
            <a:r>
              <a:rPr lang="en-US" sz="1800" b="0" i="0" u="none" strike="noStrike" baseline="0" dirty="0" err="1">
                <a:latin typeface="Times New Roman" panose="02020603050405020304" pitchFamily="18" charset="0"/>
              </a:rPr>
              <a:t>S.sname</a:t>
            </a:r>
            <a:r>
              <a:rPr lang="en-US" sz="1800" b="0" i="0" u="none" strike="noStrike" baseline="0" dirty="0">
                <a:latin typeface="Times New Roman" panose="02020603050405020304" pitchFamily="18" charset="0"/>
              </a:rPr>
              <a:t> </a:t>
            </a:r>
            <a:r>
              <a:rPr lang="en-US" sz="1800" b="0" i="0" u="none" strike="noStrike" baseline="0" dirty="0">
                <a:latin typeface="Arial" panose="020B0604020202020204" pitchFamily="34" charset="0"/>
              </a:rPr>
              <a:t>FROM </a:t>
            </a:r>
            <a:r>
              <a:rPr lang="en-US" sz="1800" b="0" i="0" u="none" strike="noStrike" baseline="0" dirty="0">
                <a:latin typeface="Times New Roman" panose="02020603050405020304" pitchFamily="18" charset="0"/>
              </a:rPr>
              <a:t>Sailors S, Reserves R1, Boats B1, Reserves R2, Boats</a:t>
            </a:r>
          </a:p>
          <a:p>
            <a:pPr algn="l"/>
            <a:r>
              <a:rPr lang="en-US" sz="1800" b="0" i="0" u="none" strike="noStrike" baseline="0" dirty="0">
                <a:latin typeface="Times New Roman" panose="02020603050405020304" pitchFamily="18" charset="0"/>
              </a:rPr>
              <a:t>B2 </a:t>
            </a:r>
            <a:r>
              <a:rPr lang="en-US" sz="1800" b="0" i="0" u="none" strike="noStrike" baseline="0" dirty="0">
                <a:latin typeface="Arial" panose="020B0604020202020204" pitchFamily="34" charset="0"/>
              </a:rPr>
              <a:t>WHERE </a:t>
            </a:r>
            <a:r>
              <a:rPr lang="en-US" sz="1800" b="0" i="0" u="none" strike="noStrike" baseline="0" dirty="0" err="1">
                <a:latin typeface="Times New Roman" panose="02020603050405020304" pitchFamily="18" charset="0"/>
              </a:rPr>
              <a:t>S.sid</a:t>
            </a:r>
            <a:r>
              <a:rPr lang="en-US" sz="1800" b="0" i="0" u="none" strike="noStrike" baseline="0" dirty="0">
                <a:latin typeface="Times New Roman" panose="02020603050405020304" pitchFamily="18" charset="0"/>
              </a:rPr>
              <a:t> = R1.sid </a:t>
            </a:r>
            <a:r>
              <a:rPr lang="en-US" sz="1800" b="0" i="0" u="none" strike="noStrike" baseline="0" dirty="0">
                <a:latin typeface="Arial" panose="020B0604020202020204" pitchFamily="34" charset="0"/>
              </a:rPr>
              <a:t>AND </a:t>
            </a:r>
            <a:r>
              <a:rPr lang="en-US" sz="1800" b="0" i="0" u="none" strike="noStrike" baseline="0" dirty="0">
                <a:latin typeface="Times New Roman" panose="02020603050405020304" pitchFamily="18" charset="0"/>
              </a:rPr>
              <a:t>R1.bid = B1.bid </a:t>
            </a:r>
            <a:r>
              <a:rPr lang="en-US" sz="1800" b="0" i="0" u="none" strike="noStrike" baseline="0" dirty="0">
                <a:latin typeface="Arial" panose="020B0604020202020204" pitchFamily="34" charset="0"/>
              </a:rPr>
              <a:t>AND </a:t>
            </a:r>
            <a:r>
              <a:rPr lang="en-US" sz="1800" b="0" i="0" u="none" strike="noStrike" baseline="0" dirty="0" err="1">
                <a:latin typeface="Times New Roman" panose="02020603050405020304" pitchFamily="18" charset="0"/>
              </a:rPr>
              <a:t>S.sid</a:t>
            </a:r>
            <a:r>
              <a:rPr lang="en-US" sz="1800" b="0" i="0" u="none" strike="noStrike" baseline="0" dirty="0">
                <a:latin typeface="Times New Roman" panose="02020603050405020304" pitchFamily="18" charset="0"/>
              </a:rPr>
              <a:t> = R2.sid </a:t>
            </a:r>
            <a:r>
              <a:rPr lang="en-US" sz="1800" b="0" i="0" u="none" strike="noStrike" baseline="0" dirty="0">
                <a:latin typeface="Arial" panose="020B0604020202020204" pitchFamily="34" charset="0"/>
              </a:rPr>
              <a:t>AND</a:t>
            </a:r>
          </a:p>
          <a:p>
            <a:pPr algn="l"/>
            <a:r>
              <a:rPr lang="en-US" sz="1800" b="0" i="0" u="none" strike="noStrike" baseline="0" dirty="0">
                <a:latin typeface="Times New Roman" panose="02020603050405020304" pitchFamily="18" charset="0"/>
              </a:rPr>
              <a:t>R2.bid = B2.bid </a:t>
            </a:r>
            <a:r>
              <a:rPr lang="en-US" sz="1800" b="0" i="0" u="none" strike="noStrike" baseline="0" dirty="0">
                <a:latin typeface="Arial" panose="020B0604020202020204" pitchFamily="34" charset="0"/>
              </a:rPr>
              <a:t>AND </a:t>
            </a:r>
            <a:r>
              <a:rPr lang="en-US" sz="1800" b="0" i="0" u="none" strike="noStrike" baseline="0" dirty="0">
                <a:latin typeface="Times New Roman" panose="02020603050405020304" pitchFamily="18" charset="0"/>
              </a:rPr>
              <a:t>B1.color=‘red’ </a:t>
            </a:r>
            <a:r>
              <a:rPr lang="en-US" sz="1800" b="0" i="0" u="none" strike="noStrike" baseline="0" dirty="0">
                <a:latin typeface="Arial" panose="020B0604020202020204" pitchFamily="34" charset="0"/>
              </a:rPr>
              <a:t>AND </a:t>
            </a:r>
            <a:r>
              <a:rPr lang="en-US" sz="1800" b="0" i="0" u="none" strike="noStrike" baseline="0" dirty="0">
                <a:latin typeface="Times New Roman" panose="02020603050405020304" pitchFamily="18" charset="0"/>
              </a:rPr>
              <a:t>B2.color = ‘green’</a:t>
            </a:r>
            <a:endParaRPr lang="en-IN" dirty="0"/>
          </a:p>
        </p:txBody>
      </p:sp>
      <p:sp>
        <p:nvSpPr>
          <p:cNvPr id="7" name="TextBox 6">
            <a:extLst>
              <a:ext uri="{FF2B5EF4-FFF2-40B4-BE49-F238E27FC236}">
                <a16:creationId xmlns:a16="http://schemas.microsoft.com/office/drawing/2014/main" id="{85EAA157-82DD-417A-115A-5E4BF9E60133}"/>
              </a:ext>
            </a:extLst>
          </p:cNvPr>
          <p:cNvSpPr txBox="1"/>
          <p:nvPr/>
        </p:nvSpPr>
        <p:spPr>
          <a:xfrm>
            <a:off x="1396093" y="3289638"/>
            <a:ext cx="8792935" cy="2585323"/>
          </a:xfrm>
          <a:prstGeom prst="rect">
            <a:avLst/>
          </a:prstGeom>
          <a:noFill/>
        </p:spPr>
        <p:txBody>
          <a:bodyPr wrap="square">
            <a:spAutoFit/>
          </a:bodyPr>
          <a:lstStyle/>
          <a:p>
            <a:pPr algn="l"/>
            <a:r>
              <a:rPr lang="en-IN" sz="1800" b="0" i="0" u="none" strike="noStrike" baseline="0" dirty="0">
                <a:latin typeface="Times New Roman" panose="02020603050405020304" pitchFamily="18" charset="0"/>
              </a:rPr>
              <a:t>The </a:t>
            </a:r>
            <a:r>
              <a:rPr lang="en-US" sz="1800" b="0" i="0" u="none" strike="noStrike" baseline="0" dirty="0">
                <a:latin typeface="Arial" panose="020B0604020202020204" pitchFamily="34" charset="0"/>
              </a:rPr>
              <a:t>AND </a:t>
            </a:r>
            <a:r>
              <a:rPr lang="en-US" sz="1800" b="0" i="0" u="none" strike="noStrike" baseline="0" dirty="0">
                <a:latin typeface="Times New Roman" panose="02020603050405020304" pitchFamily="18" charset="0"/>
              </a:rPr>
              <a:t>query can be rewritten as follows:</a:t>
            </a:r>
          </a:p>
          <a:p>
            <a:pPr algn="l"/>
            <a:endParaRPr lang="en-US" sz="1800" b="0" i="0" u="none" strike="noStrike" baseline="0" dirty="0">
              <a:latin typeface="Times New Roman" panose="02020603050405020304" pitchFamily="18" charset="0"/>
            </a:endParaRPr>
          </a:p>
          <a:p>
            <a:pPr algn="l"/>
            <a:r>
              <a:rPr lang="en-IN" sz="1800" b="1" i="0" u="none" strike="noStrike" baseline="0" dirty="0">
                <a:latin typeface="Arial" panose="020B0604020202020204" pitchFamily="34" charset="0"/>
              </a:rPr>
              <a:t>SELECT </a:t>
            </a:r>
            <a:r>
              <a:rPr lang="en-IN" sz="1800" b="1" i="0" u="none" strike="noStrike" baseline="0" dirty="0" err="1">
                <a:latin typeface="Times New Roman" panose="02020603050405020304" pitchFamily="18" charset="0"/>
              </a:rPr>
              <a:t>S.sname</a:t>
            </a:r>
            <a:endParaRPr lang="en-IN" sz="1800" b="1" i="0" u="none" strike="noStrike" baseline="0" dirty="0">
              <a:latin typeface="Times New Roman" panose="02020603050405020304" pitchFamily="18" charset="0"/>
            </a:endParaRPr>
          </a:p>
          <a:p>
            <a:pPr algn="l"/>
            <a:r>
              <a:rPr lang="en-US" sz="1800" b="1" i="0" u="none" strike="noStrike" baseline="0" dirty="0">
                <a:latin typeface="Arial" panose="020B0604020202020204" pitchFamily="34" charset="0"/>
              </a:rPr>
              <a:t>FROM </a:t>
            </a:r>
            <a:r>
              <a:rPr lang="en-US" sz="1800" b="1" i="0" u="none" strike="noStrike" baseline="0" dirty="0">
                <a:latin typeface="Times New Roman" panose="02020603050405020304" pitchFamily="18" charset="0"/>
              </a:rPr>
              <a:t>Sailors S, Reserves R, Boats B</a:t>
            </a:r>
          </a:p>
          <a:p>
            <a:pPr algn="l"/>
            <a:r>
              <a:rPr lang="en-US" sz="1800" b="1" i="0" u="none" strike="noStrike" baseline="0" dirty="0">
                <a:latin typeface="Arial" panose="020B0604020202020204" pitchFamily="34" charset="0"/>
              </a:rPr>
              <a:t>WHERE </a:t>
            </a:r>
            <a:r>
              <a:rPr lang="en-US" sz="1800" b="1" i="0" u="none" strike="noStrike" baseline="0" dirty="0" err="1">
                <a:latin typeface="Times New Roman" panose="02020603050405020304" pitchFamily="18" charset="0"/>
              </a:rPr>
              <a:t>S.sid</a:t>
            </a:r>
            <a:r>
              <a:rPr lang="en-US" sz="1800" b="1" i="0" u="none" strike="noStrike" baseline="0" dirty="0">
                <a:latin typeface="Times New Roman" panose="02020603050405020304" pitchFamily="18" charset="0"/>
              </a:rPr>
              <a:t> = </a:t>
            </a:r>
            <a:r>
              <a:rPr lang="en-US" sz="1800" b="1" i="0" u="none" strike="noStrike" baseline="0" dirty="0" err="1">
                <a:latin typeface="Times New Roman" panose="02020603050405020304" pitchFamily="18" charset="0"/>
              </a:rPr>
              <a:t>R.sid</a:t>
            </a:r>
            <a:r>
              <a:rPr lang="en-US" sz="1800" b="1" i="0" u="none" strike="noStrike" baseline="0" dirty="0">
                <a:latin typeface="Times New Roman" panose="02020603050405020304" pitchFamily="18" charset="0"/>
              </a:rPr>
              <a:t> </a:t>
            </a:r>
            <a:r>
              <a:rPr lang="en-US" sz="1800" b="1" i="0" u="none" strike="noStrike" baseline="0" dirty="0">
                <a:latin typeface="Arial" panose="020B0604020202020204" pitchFamily="34" charset="0"/>
              </a:rPr>
              <a:t>AND </a:t>
            </a:r>
            <a:r>
              <a:rPr lang="en-US" sz="1800" b="1" i="0" u="none" strike="noStrike" baseline="0" dirty="0" err="1">
                <a:latin typeface="Times New Roman" panose="02020603050405020304" pitchFamily="18" charset="0"/>
              </a:rPr>
              <a:t>R.bid</a:t>
            </a:r>
            <a:r>
              <a:rPr lang="en-US" sz="1800" b="1" i="0" u="none" strike="noStrike" baseline="0" dirty="0">
                <a:latin typeface="Times New Roman" panose="02020603050405020304" pitchFamily="18" charset="0"/>
              </a:rPr>
              <a:t> = </a:t>
            </a:r>
            <a:r>
              <a:rPr lang="en-US" sz="1800" b="1" i="0" u="none" strike="noStrike" baseline="0" dirty="0" err="1">
                <a:latin typeface="Times New Roman" panose="02020603050405020304" pitchFamily="18" charset="0"/>
              </a:rPr>
              <a:t>B.bid</a:t>
            </a:r>
            <a:r>
              <a:rPr lang="en-US" sz="1800" b="1" i="0" u="none" strike="noStrike" baseline="0" dirty="0">
                <a:latin typeface="Times New Roman" panose="02020603050405020304" pitchFamily="18" charset="0"/>
              </a:rPr>
              <a:t> </a:t>
            </a:r>
            <a:r>
              <a:rPr lang="en-US" sz="1800" b="1" i="0" u="none" strike="noStrike" baseline="0" dirty="0">
                <a:latin typeface="Arial" panose="020B0604020202020204" pitchFamily="34" charset="0"/>
              </a:rPr>
              <a:t>AND </a:t>
            </a:r>
            <a:r>
              <a:rPr lang="en-US" sz="1800" b="1" i="0" u="none" strike="noStrike" baseline="0" dirty="0" err="1">
                <a:latin typeface="Times New Roman" panose="02020603050405020304" pitchFamily="18" charset="0"/>
              </a:rPr>
              <a:t>B.color</a:t>
            </a:r>
            <a:r>
              <a:rPr lang="en-US" sz="1800" b="1" i="0" u="none" strike="noStrike" baseline="0" dirty="0">
                <a:latin typeface="Times New Roman" panose="02020603050405020304" pitchFamily="18" charset="0"/>
              </a:rPr>
              <a:t> = ‘red’</a:t>
            </a:r>
          </a:p>
          <a:p>
            <a:pPr algn="l"/>
            <a:r>
              <a:rPr lang="en-IN" sz="1800" b="1" i="0" u="none" strike="noStrike" baseline="0" dirty="0">
                <a:latin typeface="Arial" panose="020B0604020202020204" pitchFamily="34" charset="0"/>
              </a:rPr>
              <a:t>INTERSECT</a:t>
            </a:r>
          </a:p>
          <a:p>
            <a:pPr algn="l"/>
            <a:r>
              <a:rPr lang="en-IN" sz="1800" b="1" i="0" u="none" strike="noStrike" baseline="0" dirty="0">
                <a:latin typeface="Arial" panose="020B0604020202020204" pitchFamily="34" charset="0"/>
              </a:rPr>
              <a:t>SELECT </a:t>
            </a:r>
            <a:r>
              <a:rPr lang="en-IN" sz="1800" b="1" i="0" u="none" strike="noStrike" baseline="0" dirty="0">
                <a:latin typeface="Times New Roman" panose="02020603050405020304" pitchFamily="18" charset="0"/>
              </a:rPr>
              <a:t>S2.sname</a:t>
            </a:r>
          </a:p>
          <a:p>
            <a:pPr algn="l"/>
            <a:r>
              <a:rPr lang="en-US" sz="1800" b="1" i="0" u="none" strike="noStrike" baseline="0" dirty="0">
                <a:latin typeface="Arial" panose="020B0604020202020204" pitchFamily="34" charset="0"/>
              </a:rPr>
              <a:t>FROM </a:t>
            </a:r>
            <a:r>
              <a:rPr lang="en-US" sz="1800" b="1" i="0" u="none" strike="noStrike" baseline="0" dirty="0">
                <a:latin typeface="Times New Roman" panose="02020603050405020304" pitchFamily="18" charset="0"/>
              </a:rPr>
              <a:t>Sailors S2, Boats B2, Reserves R2</a:t>
            </a:r>
          </a:p>
          <a:p>
            <a:pPr algn="l"/>
            <a:r>
              <a:rPr lang="en-US" sz="1800" b="1" i="0" u="none" strike="noStrike" baseline="0" dirty="0">
                <a:latin typeface="Arial" panose="020B0604020202020204" pitchFamily="34" charset="0"/>
              </a:rPr>
              <a:t>WHERE </a:t>
            </a:r>
            <a:r>
              <a:rPr lang="en-US" sz="1800" b="1" i="0" u="none" strike="noStrike" baseline="0" dirty="0">
                <a:latin typeface="Times New Roman" panose="02020603050405020304" pitchFamily="18" charset="0"/>
              </a:rPr>
              <a:t>S2.sid = R2.sid </a:t>
            </a:r>
            <a:r>
              <a:rPr lang="en-US" sz="1800" b="1" i="0" u="none" strike="noStrike" baseline="0" dirty="0">
                <a:latin typeface="Arial" panose="020B0604020202020204" pitchFamily="34" charset="0"/>
              </a:rPr>
              <a:t>AND </a:t>
            </a:r>
            <a:r>
              <a:rPr lang="en-US" sz="1800" b="1" i="0" u="none" strike="noStrike" baseline="0" dirty="0">
                <a:latin typeface="Times New Roman" panose="02020603050405020304" pitchFamily="18" charset="0"/>
              </a:rPr>
              <a:t>R2.bid = B2.bid </a:t>
            </a:r>
            <a:r>
              <a:rPr lang="en-US" sz="1800" b="1" i="0" u="none" strike="noStrike" baseline="0" dirty="0">
                <a:latin typeface="Arial" panose="020B0604020202020204" pitchFamily="34" charset="0"/>
              </a:rPr>
              <a:t>AND </a:t>
            </a:r>
            <a:r>
              <a:rPr lang="en-US" sz="1800" b="1" i="0" u="none" strike="noStrike" baseline="0" dirty="0">
                <a:latin typeface="Times New Roman" panose="02020603050405020304" pitchFamily="18" charset="0"/>
              </a:rPr>
              <a:t>B2.color = ‘green’</a:t>
            </a:r>
            <a:endParaRPr lang="en-IN" b="1" dirty="0"/>
          </a:p>
        </p:txBody>
      </p:sp>
    </p:spTree>
    <p:extLst>
      <p:ext uri="{BB962C8B-B14F-4D97-AF65-F5344CB8AC3E}">
        <p14:creationId xmlns:p14="http://schemas.microsoft.com/office/powerpoint/2010/main" val="36550727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BAC178-FB33-0EF0-8411-E727569202D3}"/>
              </a:ext>
            </a:extLst>
          </p:cNvPr>
          <p:cNvSpPr txBox="1"/>
          <p:nvPr/>
        </p:nvSpPr>
        <p:spPr>
          <a:xfrm>
            <a:off x="914400" y="397052"/>
            <a:ext cx="9818914" cy="1938992"/>
          </a:xfrm>
          <a:prstGeom prst="rect">
            <a:avLst/>
          </a:prstGeom>
          <a:noFill/>
        </p:spPr>
        <p:txBody>
          <a:bodyPr wrap="square">
            <a:spAutoFit/>
          </a:bodyPr>
          <a:lstStyle/>
          <a:p>
            <a:pPr algn="l"/>
            <a:r>
              <a:rPr lang="en-US" sz="2000" b="1" i="1" u="none" strike="noStrike" baseline="0" dirty="0">
                <a:latin typeface="Times New Roman" panose="02020603050405020304" pitchFamily="18" charset="0"/>
              </a:rPr>
              <a:t>Find the </a:t>
            </a:r>
            <a:r>
              <a:rPr lang="en-US" sz="2000" b="1" i="0" u="none" strike="noStrike" baseline="0" dirty="0" err="1">
                <a:latin typeface="Times New Roman" panose="02020603050405020304" pitchFamily="18" charset="0"/>
              </a:rPr>
              <a:t>sid</a:t>
            </a:r>
            <a:r>
              <a:rPr lang="en-US" sz="2000" b="1" i="1" u="none" strike="noStrike" baseline="0" dirty="0" err="1">
                <a:latin typeface="Times New Roman" panose="02020603050405020304" pitchFamily="18" charset="0"/>
              </a:rPr>
              <a:t>s</a:t>
            </a:r>
            <a:r>
              <a:rPr lang="en-US" sz="2000" b="1" i="1" u="none" strike="noStrike" baseline="0" dirty="0">
                <a:latin typeface="Times New Roman" panose="02020603050405020304" pitchFamily="18" charset="0"/>
              </a:rPr>
              <a:t> of all sailors who have reserved red boats but not green boats.</a:t>
            </a:r>
          </a:p>
          <a:p>
            <a:pPr algn="l"/>
            <a:endParaRPr lang="en-US" sz="2000" b="1" i="1" u="none" strike="noStrike" baseline="0" dirty="0">
              <a:latin typeface="Times New Roman" panose="02020603050405020304" pitchFamily="18" charset="0"/>
            </a:endParaRPr>
          </a:p>
          <a:p>
            <a:pPr algn="l"/>
            <a:r>
              <a:rPr lang="en-US" sz="2000" b="0" i="0" u="none" strike="noStrike" baseline="0" dirty="0">
                <a:latin typeface="Arial" panose="020B0604020202020204" pitchFamily="34" charset="0"/>
              </a:rPr>
              <a:t>SELECT </a:t>
            </a:r>
            <a:r>
              <a:rPr lang="en-US" sz="2000" b="0" i="0" u="none" strike="noStrike" baseline="0" dirty="0" err="1">
                <a:latin typeface="Times New Roman" panose="02020603050405020304" pitchFamily="18" charset="0"/>
              </a:rPr>
              <a:t>S.sid</a:t>
            </a:r>
            <a:r>
              <a:rPr lang="en-US" sz="2000" b="0" i="0" u="none" strike="noStrike" baseline="0" dirty="0">
                <a:latin typeface="Times New Roman" panose="02020603050405020304" pitchFamily="18" charset="0"/>
              </a:rPr>
              <a:t> </a:t>
            </a:r>
            <a:r>
              <a:rPr lang="en-US" sz="2000" b="0" i="0" u="none" strike="noStrike" baseline="0" dirty="0">
                <a:latin typeface="Arial" panose="020B0604020202020204" pitchFamily="34" charset="0"/>
              </a:rPr>
              <a:t>FROM </a:t>
            </a:r>
            <a:r>
              <a:rPr lang="en-US" sz="2000" b="0" i="0" u="none" strike="noStrike" baseline="0" dirty="0">
                <a:latin typeface="Times New Roman" panose="02020603050405020304" pitchFamily="18" charset="0"/>
              </a:rPr>
              <a:t>Sailors S, Reserves R, Boats B</a:t>
            </a:r>
          </a:p>
          <a:p>
            <a:pPr algn="l"/>
            <a:r>
              <a:rPr lang="en-US" sz="2000" b="0" i="0" u="none" strike="noStrike" baseline="0" dirty="0">
                <a:latin typeface="Arial" panose="020B0604020202020204" pitchFamily="34" charset="0"/>
              </a:rPr>
              <a:t>WHERE </a:t>
            </a:r>
            <a:r>
              <a:rPr lang="en-US" sz="2000" b="0" i="0" u="none" strike="noStrike" baseline="0" dirty="0" err="1">
                <a:latin typeface="Times New Roman" panose="02020603050405020304" pitchFamily="18" charset="0"/>
              </a:rPr>
              <a:t>S.sid</a:t>
            </a:r>
            <a:r>
              <a:rPr lang="en-US" sz="2000" b="0" i="0" u="none" strike="noStrike" baseline="0" dirty="0">
                <a:latin typeface="Times New Roman" panose="02020603050405020304" pitchFamily="18" charset="0"/>
              </a:rPr>
              <a:t> = </a:t>
            </a:r>
            <a:r>
              <a:rPr lang="en-US" sz="2000" b="0" i="0" u="none" strike="noStrike" baseline="0" dirty="0" err="1">
                <a:latin typeface="Times New Roman" panose="02020603050405020304" pitchFamily="18" charset="0"/>
              </a:rPr>
              <a:t>R.sid</a:t>
            </a:r>
            <a:r>
              <a:rPr lang="en-US" sz="2000" b="0" i="0" u="none" strike="noStrike" baseline="0" dirty="0">
                <a:latin typeface="Times New Roman" panose="02020603050405020304" pitchFamily="18" charset="0"/>
              </a:rPr>
              <a:t> </a:t>
            </a:r>
            <a:r>
              <a:rPr lang="en-US" sz="2000" b="0" i="0" u="none" strike="noStrike" baseline="0" dirty="0">
                <a:latin typeface="Arial" panose="020B0604020202020204" pitchFamily="34" charset="0"/>
              </a:rPr>
              <a:t>AND </a:t>
            </a:r>
            <a:r>
              <a:rPr lang="en-US" sz="2000" b="0" i="0" u="none" strike="noStrike" baseline="0" dirty="0" err="1">
                <a:latin typeface="Times New Roman" panose="02020603050405020304" pitchFamily="18" charset="0"/>
              </a:rPr>
              <a:t>R.bid</a:t>
            </a:r>
            <a:r>
              <a:rPr lang="en-US" sz="2000" b="0" i="0" u="none" strike="noStrike" baseline="0" dirty="0">
                <a:latin typeface="Times New Roman" panose="02020603050405020304" pitchFamily="18" charset="0"/>
              </a:rPr>
              <a:t> = </a:t>
            </a:r>
            <a:r>
              <a:rPr lang="en-US" sz="2000" b="0" i="0" u="none" strike="noStrike" baseline="0" dirty="0" err="1">
                <a:latin typeface="Times New Roman" panose="02020603050405020304" pitchFamily="18" charset="0"/>
              </a:rPr>
              <a:t>B.bid</a:t>
            </a:r>
            <a:r>
              <a:rPr lang="en-US" sz="2000" b="0" i="0" u="none" strike="noStrike" baseline="0" dirty="0">
                <a:latin typeface="Times New Roman" panose="02020603050405020304" pitchFamily="18" charset="0"/>
              </a:rPr>
              <a:t> </a:t>
            </a:r>
            <a:r>
              <a:rPr lang="en-US" sz="2000" b="0" i="0" u="none" strike="noStrike" baseline="0" dirty="0">
                <a:latin typeface="Arial" panose="020B0604020202020204" pitchFamily="34" charset="0"/>
              </a:rPr>
              <a:t>AND </a:t>
            </a:r>
            <a:r>
              <a:rPr lang="en-US" sz="2000" b="0" i="0" u="none" strike="noStrike" baseline="0" dirty="0" err="1">
                <a:latin typeface="Times New Roman" panose="02020603050405020304" pitchFamily="18" charset="0"/>
              </a:rPr>
              <a:t>B.color</a:t>
            </a:r>
            <a:r>
              <a:rPr lang="en-US" sz="2000" b="0" i="0" u="none" strike="noStrike" baseline="0" dirty="0">
                <a:latin typeface="Times New Roman" panose="02020603050405020304" pitchFamily="18" charset="0"/>
              </a:rPr>
              <a:t> = ‘red’</a:t>
            </a:r>
          </a:p>
          <a:p>
            <a:pPr algn="l"/>
            <a:r>
              <a:rPr lang="en-US" sz="2000" b="0" i="0" u="none" strike="noStrike" baseline="0" dirty="0">
                <a:latin typeface="Arial" panose="020B0604020202020204" pitchFamily="34" charset="0"/>
              </a:rPr>
              <a:t>EXCEPT SELECT </a:t>
            </a:r>
            <a:r>
              <a:rPr lang="en-US" sz="2000" b="0" i="0" u="none" strike="noStrike" baseline="0" dirty="0">
                <a:latin typeface="Times New Roman" panose="02020603050405020304" pitchFamily="18" charset="0"/>
              </a:rPr>
              <a:t>S2.sid </a:t>
            </a:r>
            <a:r>
              <a:rPr lang="en-US" sz="2000" b="0" i="0" u="none" strike="noStrike" baseline="0" dirty="0">
                <a:latin typeface="Arial" panose="020B0604020202020204" pitchFamily="34" charset="0"/>
              </a:rPr>
              <a:t>FROM </a:t>
            </a:r>
            <a:r>
              <a:rPr lang="en-US" sz="2000" b="0" i="0" u="none" strike="noStrike" baseline="0" dirty="0">
                <a:latin typeface="Times New Roman" panose="02020603050405020304" pitchFamily="18" charset="0"/>
              </a:rPr>
              <a:t>Sailors S2, Reserves R2, Boats B2</a:t>
            </a:r>
          </a:p>
          <a:p>
            <a:pPr algn="l"/>
            <a:r>
              <a:rPr lang="en-US" sz="2000" b="0" i="0" u="none" strike="noStrike" baseline="0" dirty="0">
                <a:latin typeface="Arial" panose="020B0604020202020204" pitchFamily="34" charset="0"/>
              </a:rPr>
              <a:t>WHERE </a:t>
            </a:r>
            <a:r>
              <a:rPr lang="en-US" sz="2000" b="0" i="0" u="none" strike="noStrike" baseline="0" dirty="0">
                <a:latin typeface="Times New Roman" panose="02020603050405020304" pitchFamily="18" charset="0"/>
              </a:rPr>
              <a:t>S2.sid = R2.sid </a:t>
            </a:r>
            <a:r>
              <a:rPr lang="en-US" sz="2000" b="0" i="0" u="none" strike="noStrike" baseline="0" dirty="0">
                <a:latin typeface="Arial" panose="020B0604020202020204" pitchFamily="34" charset="0"/>
              </a:rPr>
              <a:t>AND </a:t>
            </a:r>
            <a:r>
              <a:rPr lang="en-US" sz="2000" b="0" i="0" u="none" strike="noStrike" baseline="0" dirty="0">
                <a:latin typeface="Times New Roman" panose="02020603050405020304" pitchFamily="18" charset="0"/>
              </a:rPr>
              <a:t>R2.bid = B2.bid </a:t>
            </a:r>
            <a:r>
              <a:rPr lang="en-US" sz="2000" b="0" i="0" u="none" strike="noStrike" baseline="0" dirty="0">
                <a:latin typeface="Arial" panose="020B0604020202020204" pitchFamily="34" charset="0"/>
              </a:rPr>
              <a:t>AND </a:t>
            </a:r>
            <a:r>
              <a:rPr lang="en-US" sz="2000" b="0" i="0" u="none" strike="noStrike" baseline="0" dirty="0">
                <a:latin typeface="Times New Roman" panose="02020603050405020304" pitchFamily="18" charset="0"/>
              </a:rPr>
              <a:t>B2.color = ‘green’</a:t>
            </a:r>
            <a:endParaRPr lang="en-IN" sz="2000" dirty="0"/>
          </a:p>
        </p:txBody>
      </p:sp>
      <p:sp>
        <p:nvSpPr>
          <p:cNvPr id="5" name="TextBox 4">
            <a:extLst>
              <a:ext uri="{FF2B5EF4-FFF2-40B4-BE49-F238E27FC236}">
                <a16:creationId xmlns:a16="http://schemas.microsoft.com/office/drawing/2014/main" id="{BCA94B11-C738-EA66-58ED-116A4D83EAE4}"/>
              </a:ext>
            </a:extLst>
          </p:cNvPr>
          <p:cNvSpPr txBox="1"/>
          <p:nvPr/>
        </p:nvSpPr>
        <p:spPr>
          <a:xfrm>
            <a:off x="2090058" y="2949361"/>
            <a:ext cx="8501742" cy="2246769"/>
          </a:xfrm>
          <a:prstGeom prst="rect">
            <a:avLst/>
          </a:prstGeom>
          <a:noFill/>
        </p:spPr>
        <p:txBody>
          <a:bodyPr wrap="square">
            <a:spAutoFit/>
          </a:bodyPr>
          <a:lstStyle/>
          <a:p>
            <a:pPr algn="l"/>
            <a:r>
              <a:rPr lang="en-US" sz="2000" b="0" i="0" u="none" strike="noStrike" baseline="0" dirty="0">
                <a:latin typeface="Times New Roman" panose="02020603050405020304" pitchFamily="18" charset="0"/>
              </a:rPr>
              <a:t>we can use the following simpler query:</a:t>
            </a:r>
          </a:p>
          <a:p>
            <a:pPr algn="l"/>
            <a:endParaRPr lang="en-US" sz="2000" b="0" i="0" u="none" strike="noStrike" baseline="0" dirty="0">
              <a:latin typeface="Times New Roman" panose="02020603050405020304" pitchFamily="18" charset="0"/>
            </a:endParaRPr>
          </a:p>
          <a:p>
            <a:pPr algn="l"/>
            <a:r>
              <a:rPr lang="en-US" sz="2000" b="1" i="0" u="none" strike="noStrike" baseline="0" dirty="0">
                <a:latin typeface="Arial" panose="020B0604020202020204" pitchFamily="34" charset="0"/>
              </a:rPr>
              <a:t>SELECT </a:t>
            </a:r>
            <a:r>
              <a:rPr lang="en-US" sz="2000" b="1" i="0" u="none" strike="noStrike" baseline="0" dirty="0" err="1">
                <a:latin typeface="Times New Roman" panose="02020603050405020304" pitchFamily="18" charset="0"/>
              </a:rPr>
              <a:t>R.sid</a:t>
            </a:r>
            <a:r>
              <a:rPr lang="en-US" sz="2000" b="1" i="0" u="none" strike="noStrike" baseline="0" dirty="0">
                <a:latin typeface="Times New Roman" panose="02020603050405020304" pitchFamily="18" charset="0"/>
              </a:rPr>
              <a:t> </a:t>
            </a:r>
            <a:r>
              <a:rPr lang="en-US" sz="2000" b="1" i="0" u="none" strike="noStrike" baseline="0" dirty="0">
                <a:latin typeface="Arial" panose="020B0604020202020204" pitchFamily="34" charset="0"/>
              </a:rPr>
              <a:t>FROM </a:t>
            </a:r>
            <a:r>
              <a:rPr lang="en-US" sz="2000" b="1" i="0" u="none" strike="noStrike" baseline="0" dirty="0">
                <a:latin typeface="Times New Roman" panose="02020603050405020304" pitchFamily="18" charset="0"/>
              </a:rPr>
              <a:t>Boats B, Reserves R</a:t>
            </a:r>
          </a:p>
          <a:p>
            <a:pPr algn="l"/>
            <a:r>
              <a:rPr lang="en-US" sz="2000" b="1" i="0" u="none" strike="noStrike" baseline="0" dirty="0">
                <a:latin typeface="Arial" panose="020B0604020202020204" pitchFamily="34" charset="0"/>
              </a:rPr>
              <a:t>WHERE </a:t>
            </a:r>
            <a:r>
              <a:rPr lang="en-US" sz="2000" b="1" i="0" u="none" strike="noStrike" baseline="0" dirty="0" err="1">
                <a:latin typeface="Times New Roman" panose="02020603050405020304" pitchFamily="18" charset="0"/>
              </a:rPr>
              <a:t>R.bid</a:t>
            </a:r>
            <a:r>
              <a:rPr lang="en-US" sz="2000" b="1" i="0" u="none" strike="noStrike" baseline="0" dirty="0">
                <a:latin typeface="Times New Roman" panose="02020603050405020304" pitchFamily="18" charset="0"/>
              </a:rPr>
              <a:t> = </a:t>
            </a:r>
            <a:r>
              <a:rPr lang="en-US" sz="2000" b="1" i="0" u="none" strike="noStrike" baseline="0" dirty="0" err="1">
                <a:latin typeface="Times New Roman" panose="02020603050405020304" pitchFamily="18" charset="0"/>
              </a:rPr>
              <a:t>B.bid</a:t>
            </a:r>
            <a:r>
              <a:rPr lang="en-US" sz="2000" b="1" i="0" u="none" strike="noStrike" baseline="0" dirty="0">
                <a:latin typeface="Times New Roman" panose="02020603050405020304" pitchFamily="18" charset="0"/>
              </a:rPr>
              <a:t> </a:t>
            </a:r>
            <a:r>
              <a:rPr lang="en-US" sz="2000" b="1" i="0" u="none" strike="noStrike" baseline="0" dirty="0">
                <a:latin typeface="Arial" panose="020B0604020202020204" pitchFamily="34" charset="0"/>
              </a:rPr>
              <a:t>AND </a:t>
            </a:r>
            <a:r>
              <a:rPr lang="en-US" sz="2000" b="1" i="0" u="none" strike="noStrike" baseline="0" dirty="0" err="1">
                <a:latin typeface="Times New Roman" panose="02020603050405020304" pitchFamily="18" charset="0"/>
              </a:rPr>
              <a:t>B.color</a:t>
            </a:r>
            <a:r>
              <a:rPr lang="en-US" sz="2000" b="1" i="0" u="none" strike="noStrike" baseline="0" dirty="0">
                <a:latin typeface="Times New Roman" panose="02020603050405020304" pitchFamily="18" charset="0"/>
              </a:rPr>
              <a:t> = ‘red’</a:t>
            </a:r>
          </a:p>
          <a:p>
            <a:pPr algn="l"/>
            <a:r>
              <a:rPr lang="en-US" sz="2000" b="1" i="0" u="none" strike="noStrike" baseline="0" dirty="0">
                <a:latin typeface="Arial" panose="020B0604020202020204" pitchFamily="34" charset="0"/>
              </a:rPr>
              <a:t>EXCEPT SELECT </a:t>
            </a:r>
            <a:r>
              <a:rPr lang="en-US" sz="2000" b="1" i="0" u="none" strike="noStrike" baseline="0" dirty="0">
                <a:latin typeface="Times New Roman" panose="02020603050405020304" pitchFamily="18" charset="0"/>
              </a:rPr>
              <a:t>R2.sid </a:t>
            </a:r>
            <a:r>
              <a:rPr lang="en-US" sz="2000" b="1" i="0" u="none" strike="noStrike" baseline="0" dirty="0">
                <a:latin typeface="Arial" panose="020B0604020202020204" pitchFamily="34" charset="0"/>
              </a:rPr>
              <a:t>FROM </a:t>
            </a:r>
            <a:r>
              <a:rPr lang="en-US" sz="2000" b="1" i="0" u="none" strike="noStrike" baseline="0" dirty="0">
                <a:latin typeface="Times New Roman" panose="02020603050405020304" pitchFamily="18" charset="0"/>
              </a:rPr>
              <a:t>Boats B2,</a:t>
            </a:r>
          </a:p>
          <a:p>
            <a:pPr algn="l"/>
            <a:r>
              <a:rPr lang="en-US" sz="2000" b="1" i="0" u="none" strike="noStrike" baseline="0" dirty="0">
                <a:latin typeface="Times New Roman" panose="02020603050405020304" pitchFamily="18" charset="0"/>
              </a:rPr>
              <a:t>Reserves R2 </a:t>
            </a:r>
            <a:r>
              <a:rPr lang="en-US" sz="2000" b="1" i="0" u="none" strike="noStrike" baseline="0" dirty="0">
                <a:latin typeface="Arial" panose="020B0604020202020204" pitchFamily="34" charset="0"/>
              </a:rPr>
              <a:t>WHERE </a:t>
            </a:r>
            <a:r>
              <a:rPr lang="en-US" sz="2000" b="1" i="0" u="none" strike="noStrike" baseline="0" dirty="0">
                <a:latin typeface="Times New Roman" panose="02020603050405020304" pitchFamily="18" charset="0"/>
              </a:rPr>
              <a:t>R2.bid = B2.bid </a:t>
            </a:r>
            <a:r>
              <a:rPr lang="en-US" sz="2000" b="1" i="0" u="none" strike="noStrike" baseline="0" dirty="0">
                <a:latin typeface="Arial" panose="020B0604020202020204" pitchFamily="34" charset="0"/>
              </a:rPr>
              <a:t>AND</a:t>
            </a:r>
          </a:p>
          <a:p>
            <a:pPr algn="l"/>
            <a:r>
              <a:rPr lang="en-IN" sz="2000" b="1" i="0" u="none" strike="noStrike" baseline="0" dirty="0">
                <a:latin typeface="Times New Roman" panose="02020603050405020304" pitchFamily="18" charset="0"/>
              </a:rPr>
              <a:t>B2.color = ‘green’</a:t>
            </a:r>
            <a:endParaRPr lang="en-IN" sz="2000" b="1" dirty="0"/>
          </a:p>
        </p:txBody>
      </p:sp>
    </p:spTree>
    <p:extLst>
      <p:ext uri="{BB962C8B-B14F-4D97-AF65-F5344CB8AC3E}">
        <p14:creationId xmlns:p14="http://schemas.microsoft.com/office/powerpoint/2010/main" val="16188685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C1A3D7-C165-206A-13C0-20290E246D63}"/>
              </a:ext>
            </a:extLst>
          </p:cNvPr>
          <p:cNvSpPr txBox="1"/>
          <p:nvPr/>
        </p:nvSpPr>
        <p:spPr>
          <a:xfrm>
            <a:off x="968828" y="493850"/>
            <a:ext cx="10548258" cy="1446550"/>
          </a:xfrm>
          <a:prstGeom prst="rect">
            <a:avLst/>
          </a:prstGeom>
          <a:noFill/>
        </p:spPr>
        <p:txBody>
          <a:bodyPr wrap="square">
            <a:spAutoFit/>
          </a:bodyPr>
          <a:lstStyle/>
          <a:p>
            <a:pPr algn="ctr"/>
            <a:r>
              <a:rPr lang="en-IN" sz="2400" b="1" i="0" u="none" strike="noStrike" baseline="0">
                <a:latin typeface="Times New Roman" panose="02020603050405020304" pitchFamily="18" charset="0"/>
              </a:rPr>
              <a:t>NESTED QUERIES</a:t>
            </a:r>
          </a:p>
          <a:p>
            <a:pPr algn="l"/>
            <a:endParaRPr lang="en-IN" sz="2400" b="1" i="0" u="none" strike="noStrike" baseline="0">
              <a:latin typeface="Times New Roman" panose="02020603050405020304" pitchFamily="18" charset="0"/>
            </a:endParaRPr>
          </a:p>
          <a:p>
            <a:pPr algn="l"/>
            <a:r>
              <a:rPr lang="en-US" sz="2000" b="0" i="0" u="none" strike="noStrike" baseline="0">
                <a:latin typeface="Times New Roman" panose="02020603050405020304" pitchFamily="18" charset="0"/>
              </a:rPr>
              <a:t>A nested query is a query that has another query embedded within it; the embedded query is called a subquery</a:t>
            </a:r>
            <a:r>
              <a:rPr lang="en-US" sz="1400" b="0" i="0" u="none" strike="noStrike" baseline="0">
                <a:latin typeface="Times New Roman" panose="02020603050405020304" pitchFamily="18" charset="0"/>
              </a:rPr>
              <a:t>.</a:t>
            </a:r>
            <a:endParaRPr lang="en-IN" dirty="0"/>
          </a:p>
        </p:txBody>
      </p:sp>
      <p:sp>
        <p:nvSpPr>
          <p:cNvPr id="5" name="TextBox 4">
            <a:extLst>
              <a:ext uri="{FF2B5EF4-FFF2-40B4-BE49-F238E27FC236}">
                <a16:creationId xmlns:a16="http://schemas.microsoft.com/office/drawing/2014/main" id="{BBAFDEB9-3D00-D603-C764-DD160CAD407B}"/>
              </a:ext>
            </a:extLst>
          </p:cNvPr>
          <p:cNvSpPr txBox="1"/>
          <p:nvPr/>
        </p:nvSpPr>
        <p:spPr>
          <a:xfrm>
            <a:off x="968828" y="2325274"/>
            <a:ext cx="8085364" cy="1969770"/>
          </a:xfrm>
          <a:prstGeom prst="rect">
            <a:avLst/>
          </a:prstGeom>
          <a:noFill/>
        </p:spPr>
        <p:txBody>
          <a:bodyPr wrap="square">
            <a:spAutoFit/>
          </a:bodyPr>
          <a:lstStyle/>
          <a:p>
            <a:pPr algn="l"/>
            <a:r>
              <a:rPr lang="en-US" sz="1600" b="1" i="1" u="none" strike="noStrike" baseline="0" dirty="0">
                <a:latin typeface="Times New Roman" panose="02020603050405020304" pitchFamily="18" charset="0"/>
              </a:rPr>
              <a:t>Find the names of sailors who have reserved boat 103.</a:t>
            </a:r>
          </a:p>
          <a:p>
            <a:pPr algn="l"/>
            <a:endParaRPr lang="en-US" sz="1600" b="1" i="1" u="none" strike="noStrike" baseline="0" dirty="0">
              <a:latin typeface="Times New Roman" panose="02020603050405020304" pitchFamily="18" charset="0"/>
            </a:endParaRPr>
          </a:p>
          <a:p>
            <a:pPr algn="l"/>
            <a:r>
              <a:rPr lang="en-IN" sz="1800" b="0" i="0" u="none" strike="noStrike" baseline="0" dirty="0">
                <a:latin typeface="Arial" panose="020B0604020202020204" pitchFamily="34" charset="0"/>
              </a:rPr>
              <a:t>SELECT </a:t>
            </a:r>
            <a:r>
              <a:rPr lang="en-IN" sz="1800" b="0" i="0" u="none" strike="noStrike" baseline="0" dirty="0" err="1">
                <a:latin typeface="Times New Roman" panose="02020603050405020304" pitchFamily="18" charset="0"/>
              </a:rPr>
              <a:t>S.sname</a:t>
            </a:r>
            <a:endParaRPr lang="en-IN" sz="1800" b="0" i="0" u="none" strike="noStrike" baseline="0" dirty="0">
              <a:latin typeface="Times New Roman" panose="02020603050405020304" pitchFamily="18" charset="0"/>
            </a:endParaRPr>
          </a:p>
          <a:p>
            <a:pPr algn="l"/>
            <a:r>
              <a:rPr lang="en-IN" sz="1800" b="0" i="0" u="none" strike="noStrike" baseline="0" dirty="0">
                <a:latin typeface="Arial" panose="020B0604020202020204" pitchFamily="34" charset="0"/>
              </a:rPr>
              <a:t>FROM </a:t>
            </a:r>
            <a:r>
              <a:rPr lang="en-IN" sz="1800" b="0" i="0" u="none" strike="noStrike" baseline="0" dirty="0">
                <a:latin typeface="Times New Roman" panose="02020603050405020304" pitchFamily="18" charset="0"/>
              </a:rPr>
              <a:t>Sailors S</a:t>
            </a:r>
          </a:p>
          <a:p>
            <a:pPr algn="l"/>
            <a:r>
              <a:rPr lang="en-US" sz="1800" b="0" i="0" u="none" strike="noStrike" baseline="0" dirty="0">
                <a:latin typeface="Arial" panose="020B0604020202020204" pitchFamily="34" charset="0"/>
              </a:rPr>
              <a:t>WHERE </a:t>
            </a:r>
            <a:r>
              <a:rPr lang="en-US" sz="1800" b="0" i="0" u="none" strike="noStrike" baseline="0" dirty="0" err="1">
                <a:latin typeface="Times New Roman" panose="02020603050405020304" pitchFamily="18" charset="0"/>
              </a:rPr>
              <a:t>S.sid</a:t>
            </a:r>
            <a:r>
              <a:rPr lang="en-US" sz="1800" b="0" i="0" u="none" strike="noStrike" baseline="0" dirty="0">
                <a:latin typeface="Times New Roman" panose="02020603050405020304" pitchFamily="18" charset="0"/>
              </a:rPr>
              <a:t> </a:t>
            </a:r>
            <a:r>
              <a:rPr lang="en-US" sz="1800" b="0" i="0" u="none" strike="noStrike" baseline="0" dirty="0">
                <a:latin typeface="Arial" panose="020B0604020202020204" pitchFamily="34" charset="0"/>
              </a:rPr>
              <a:t>IN </a:t>
            </a:r>
            <a:r>
              <a:rPr lang="en-US" sz="1800" b="0" i="0" u="none" strike="noStrike" baseline="0" dirty="0">
                <a:latin typeface="Times New Roman" panose="02020603050405020304" pitchFamily="18" charset="0"/>
              </a:rPr>
              <a:t>( </a:t>
            </a:r>
            <a:r>
              <a:rPr lang="en-US" sz="1800" b="0" i="0" u="none" strike="noStrike" baseline="0" dirty="0">
                <a:latin typeface="Arial" panose="020B0604020202020204" pitchFamily="34" charset="0"/>
              </a:rPr>
              <a:t>SELECT </a:t>
            </a:r>
            <a:r>
              <a:rPr lang="en-US" sz="1800" b="0" i="0" u="none" strike="noStrike" baseline="0" dirty="0" err="1">
                <a:latin typeface="Times New Roman" panose="02020603050405020304" pitchFamily="18" charset="0"/>
              </a:rPr>
              <a:t>R.sid</a:t>
            </a:r>
            <a:endParaRPr lang="en-US" sz="1800" b="0" i="0" u="none" strike="noStrike" baseline="0" dirty="0">
              <a:latin typeface="Times New Roman" panose="02020603050405020304" pitchFamily="18" charset="0"/>
            </a:endParaRPr>
          </a:p>
          <a:p>
            <a:pPr algn="l"/>
            <a:r>
              <a:rPr lang="en-IN" sz="1800" b="0" i="0" u="none" strike="noStrike" baseline="0" dirty="0">
                <a:latin typeface="Arial" panose="020B0604020202020204" pitchFamily="34" charset="0"/>
              </a:rPr>
              <a:t>FROM </a:t>
            </a:r>
            <a:r>
              <a:rPr lang="en-IN" sz="1800" b="0" i="0" u="none" strike="noStrike" baseline="0" dirty="0">
                <a:latin typeface="Times New Roman" panose="02020603050405020304" pitchFamily="18" charset="0"/>
              </a:rPr>
              <a:t>Reserves R</a:t>
            </a:r>
          </a:p>
          <a:p>
            <a:pPr algn="l"/>
            <a:r>
              <a:rPr lang="en-IN" sz="1800" b="0" i="0" u="none" strike="noStrike" baseline="0" dirty="0">
                <a:latin typeface="Arial" panose="020B0604020202020204" pitchFamily="34" charset="0"/>
              </a:rPr>
              <a:t>WHERE </a:t>
            </a:r>
            <a:r>
              <a:rPr lang="en-IN" sz="1800" b="0" i="0" u="none" strike="noStrike" baseline="0" dirty="0" err="1">
                <a:latin typeface="Times New Roman" panose="02020603050405020304" pitchFamily="18" charset="0"/>
              </a:rPr>
              <a:t>R.bid</a:t>
            </a:r>
            <a:r>
              <a:rPr lang="en-IN" sz="1800" b="0" i="0" u="none" strike="noStrike" baseline="0" dirty="0">
                <a:latin typeface="Times New Roman" panose="02020603050405020304" pitchFamily="18" charset="0"/>
              </a:rPr>
              <a:t> = 103 )</a:t>
            </a:r>
            <a:endParaRPr lang="en-IN" dirty="0"/>
          </a:p>
        </p:txBody>
      </p:sp>
      <p:sp>
        <p:nvSpPr>
          <p:cNvPr id="7" name="TextBox 6">
            <a:extLst>
              <a:ext uri="{FF2B5EF4-FFF2-40B4-BE49-F238E27FC236}">
                <a16:creationId xmlns:a16="http://schemas.microsoft.com/office/drawing/2014/main" id="{A2BEF6E8-FF09-B8BC-7D41-172066A286B6}"/>
              </a:ext>
            </a:extLst>
          </p:cNvPr>
          <p:cNvSpPr txBox="1"/>
          <p:nvPr/>
        </p:nvSpPr>
        <p:spPr>
          <a:xfrm>
            <a:off x="7206342" y="2588726"/>
            <a:ext cx="4452257" cy="2585323"/>
          </a:xfrm>
          <a:prstGeom prst="rect">
            <a:avLst/>
          </a:prstGeom>
          <a:noFill/>
        </p:spPr>
        <p:txBody>
          <a:bodyPr wrap="square">
            <a:spAutoFit/>
          </a:bodyPr>
          <a:lstStyle/>
          <a:p>
            <a:pPr algn="just"/>
            <a:r>
              <a:rPr lang="en-US" sz="1800" b="0" i="0" u="none" strike="noStrike" baseline="0" dirty="0">
                <a:latin typeface="Times New Roman" panose="02020603050405020304" pitchFamily="18" charset="0"/>
              </a:rPr>
              <a:t>The nested subquery computes the (multi)set of </a:t>
            </a:r>
            <a:r>
              <a:rPr lang="en-US" sz="1800" b="0" i="1" u="none" strike="noStrike" baseline="0" dirty="0" err="1">
                <a:latin typeface="Times New Roman" panose="02020603050405020304" pitchFamily="18" charset="0"/>
              </a:rPr>
              <a:t>sid</a:t>
            </a:r>
            <a:r>
              <a:rPr lang="en-US" sz="1800" b="0" i="0" u="none" strike="noStrike" baseline="0" dirty="0" err="1">
                <a:latin typeface="Times New Roman" panose="02020603050405020304" pitchFamily="18" charset="0"/>
              </a:rPr>
              <a:t>s</a:t>
            </a:r>
            <a:r>
              <a:rPr lang="en-US" sz="1800" b="0" i="0" u="none" strike="noStrike" baseline="0" dirty="0">
                <a:latin typeface="Times New Roman" panose="02020603050405020304" pitchFamily="18" charset="0"/>
              </a:rPr>
              <a:t> for sailors who have reserved boat 103 (the set contains 22, 31, and 74 on instances </a:t>
            </a:r>
            <a:r>
              <a:rPr lang="en-US" sz="1800" b="0" i="1" u="none" strike="noStrike" baseline="0" dirty="0">
                <a:latin typeface="Arial" panose="020B0604020202020204" pitchFamily="34" charset="0"/>
              </a:rPr>
              <a:t>R</a:t>
            </a:r>
            <a:r>
              <a:rPr lang="en-US" sz="1800" b="0" i="0" u="none" strike="noStrike" baseline="0" dirty="0">
                <a:latin typeface="Times New Roman" panose="02020603050405020304" pitchFamily="18" charset="0"/>
              </a:rPr>
              <a:t>2 and </a:t>
            </a:r>
            <a:r>
              <a:rPr lang="en-US" sz="1800" b="0" i="1" u="none" strike="noStrike" baseline="0" dirty="0">
                <a:latin typeface="Arial" panose="020B0604020202020204" pitchFamily="34" charset="0"/>
              </a:rPr>
              <a:t>S</a:t>
            </a:r>
            <a:r>
              <a:rPr lang="en-US" sz="1800" b="0" i="0" u="none" strike="noStrike" baseline="0" dirty="0">
                <a:latin typeface="Times New Roman" panose="02020603050405020304" pitchFamily="18" charset="0"/>
              </a:rPr>
              <a:t>3), and the top-level query retrieves the names of sailors whose </a:t>
            </a:r>
            <a:r>
              <a:rPr lang="en-US" sz="1800" b="0" i="1" u="none" strike="noStrike" baseline="0" dirty="0" err="1">
                <a:latin typeface="Times New Roman" panose="02020603050405020304" pitchFamily="18" charset="0"/>
              </a:rPr>
              <a:t>sid</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is in this set. The </a:t>
            </a:r>
            <a:r>
              <a:rPr lang="en-US" sz="1800" b="0" i="0" u="none" strike="noStrike" baseline="0" dirty="0">
                <a:latin typeface="Arial" panose="020B0604020202020204" pitchFamily="34" charset="0"/>
              </a:rPr>
              <a:t>IN </a:t>
            </a:r>
            <a:r>
              <a:rPr lang="en-US" sz="1800" b="0" i="0" u="none" strike="noStrike" baseline="0" dirty="0">
                <a:latin typeface="Times New Roman" panose="02020603050405020304" pitchFamily="18" charset="0"/>
              </a:rPr>
              <a:t>operator allows us to test whether a value is in a given set of elements; an SQL query is used to generate</a:t>
            </a:r>
          </a:p>
          <a:p>
            <a:pPr algn="just"/>
            <a:r>
              <a:rPr lang="en-US" sz="1800" b="0" i="0" u="none" strike="noStrike" baseline="0" dirty="0">
                <a:latin typeface="Times New Roman" panose="02020603050405020304" pitchFamily="18" charset="0"/>
              </a:rPr>
              <a:t>the set to be tested.</a:t>
            </a:r>
            <a:endParaRPr lang="en-IN" dirty="0"/>
          </a:p>
        </p:txBody>
      </p:sp>
    </p:spTree>
    <p:extLst>
      <p:ext uri="{BB962C8B-B14F-4D97-AF65-F5344CB8AC3E}">
        <p14:creationId xmlns:p14="http://schemas.microsoft.com/office/powerpoint/2010/main" val="9208426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A52CDF-0BFF-2AE1-8371-512817A73B7A}"/>
              </a:ext>
            </a:extLst>
          </p:cNvPr>
          <p:cNvSpPr txBox="1"/>
          <p:nvPr/>
        </p:nvSpPr>
        <p:spPr>
          <a:xfrm>
            <a:off x="359229" y="277620"/>
            <a:ext cx="11582400" cy="1754326"/>
          </a:xfrm>
          <a:prstGeom prst="rect">
            <a:avLst/>
          </a:prstGeom>
          <a:noFill/>
        </p:spPr>
        <p:txBody>
          <a:bodyPr wrap="square">
            <a:spAutoFit/>
          </a:bodyPr>
          <a:lstStyle/>
          <a:p>
            <a:pPr algn="ctr"/>
            <a:r>
              <a:rPr lang="en-IN" sz="2400" b="1" i="0" u="none" strike="noStrike" baseline="0" dirty="0">
                <a:latin typeface="Times New Roman" panose="02020603050405020304" pitchFamily="18" charset="0"/>
              </a:rPr>
              <a:t>Correlated Nested Queries</a:t>
            </a:r>
          </a:p>
          <a:p>
            <a:pPr algn="ctr"/>
            <a:endParaRPr lang="en-IN" sz="2400" b="1" i="0" u="none" strike="noStrike" baseline="0" dirty="0">
              <a:latin typeface="Times New Roman" panose="02020603050405020304" pitchFamily="18" charset="0"/>
            </a:endParaRPr>
          </a:p>
          <a:p>
            <a:pPr algn="just"/>
            <a:r>
              <a:rPr lang="en-US" sz="2000" b="0" i="0" u="none" strike="noStrike" baseline="0" dirty="0">
                <a:latin typeface="Times New Roman" panose="02020603050405020304" pitchFamily="18" charset="0"/>
              </a:rPr>
              <a:t>In the nested queries that we have seen thus far, the inner subquery has been completely independent of the outer query. In general the inner subquery could depend on the row that is currently being examined in the outer query (in terms of our conceptual evaluation strategy). Let us rewrite the following query once more:</a:t>
            </a:r>
            <a:endParaRPr lang="en-IN" sz="2000" dirty="0"/>
          </a:p>
        </p:txBody>
      </p:sp>
      <p:sp>
        <p:nvSpPr>
          <p:cNvPr id="5" name="TextBox 4">
            <a:extLst>
              <a:ext uri="{FF2B5EF4-FFF2-40B4-BE49-F238E27FC236}">
                <a16:creationId xmlns:a16="http://schemas.microsoft.com/office/drawing/2014/main" id="{618127F5-998A-13E5-E53C-C70E21B3FA9D}"/>
              </a:ext>
            </a:extLst>
          </p:cNvPr>
          <p:cNvSpPr txBox="1"/>
          <p:nvPr/>
        </p:nvSpPr>
        <p:spPr>
          <a:xfrm>
            <a:off x="576942" y="2710544"/>
            <a:ext cx="6389915" cy="2031325"/>
          </a:xfrm>
          <a:prstGeom prst="rect">
            <a:avLst/>
          </a:prstGeom>
          <a:noFill/>
        </p:spPr>
        <p:txBody>
          <a:bodyPr wrap="square">
            <a:spAutoFit/>
          </a:bodyPr>
          <a:lstStyle/>
          <a:p>
            <a:pPr algn="l"/>
            <a:r>
              <a:rPr lang="en-US" sz="1800" b="1" i="1" u="none" strike="noStrike" baseline="0" dirty="0">
                <a:latin typeface="Times New Roman" panose="02020603050405020304" pitchFamily="18" charset="0"/>
              </a:rPr>
              <a:t>Find the names of sailors who have reserved boat number 103.</a:t>
            </a:r>
          </a:p>
          <a:p>
            <a:pPr algn="l"/>
            <a:r>
              <a:rPr lang="en-IN" sz="1800" b="0" i="0" u="none" strike="noStrike" baseline="0" dirty="0">
                <a:latin typeface="Arial" panose="020B0604020202020204" pitchFamily="34" charset="0"/>
              </a:rPr>
              <a:t>SELECT </a:t>
            </a:r>
            <a:r>
              <a:rPr lang="en-IN" sz="1800" b="0" i="0" u="none" strike="noStrike" baseline="0" dirty="0" err="1">
                <a:latin typeface="Times New Roman" panose="02020603050405020304" pitchFamily="18" charset="0"/>
              </a:rPr>
              <a:t>S.sname</a:t>
            </a:r>
            <a:endParaRPr lang="en-IN" sz="1800" b="0" i="0" u="none" strike="noStrike" baseline="0" dirty="0">
              <a:latin typeface="Times New Roman" panose="02020603050405020304" pitchFamily="18" charset="0"/>
            </a:endParaRPr>
          </a:p>
          <a:p>
            <a:pPr algn="l"/>
            <a:r>
              <a:rPr lang="en-IN" sz="1800" b="0" i="0" u="none" strike="noStrike" baseline="0" dirty="0">
                <a:latin typeface="Arial" panose="020B0604020202020204" pitchFamily="34" charset="0"/>
              </a:rPr>
              <a:t>FROM </a:t>
            </a:r>
            <a:r>
              <a:rPr lang="en-IN" sz="1800" b="0" i="0" u="none" strike="noStrike" baseline="0" dirty="0">
                <a:latin typeface="Times New Roman" panose="02020603050405020304" pitchFamily="18" charset="0"/>
              </a:rPr>
              <a:t>Sailors S</a:t>
            </a:r>
          </a:p>
          <a:p>
            <a:pPr algn="l"/>
            <a:r>
              <a:rPr lang="en-IN" sz="1800" b="0" i="0" u="none" strike="noStrike" baseline="0" dirty="0">
                <a:latin typeface="Arial" panose="020B0604020202020204" pitchFamily="34" charset="0"/>
              </a:rPr>
              <a:t>WHERE EXISTS </a:t>
            </a:r>
            <a:r>
              <a:rPr lang="en-IN" sz="1800" b="0" i="0" u="none" strike="noStrike" baseline="0" dirty="0">
                <a:latin typeface="Times New Roman" panose="02020603050405020304" pitchFamily="18" charset="0"/>
              </a:rPr>
              <a:t>( </a:t>
            </a:r>
            <a:r>
              <a:rPr lang="en-IN" sz="1800" b="0" i="0" u="none" strike="noStrike" baseline="0" dirty="0">
                <a:latin typeface="Arial" panose="020B0604020202020204" pitchFamily="34" charset="0"/>
              </a:rPr>
              <a:t>SELECT </a:t>
            </a:r>
            <a:r>
              <a:rPr lang="en-IN" sz="1800" b="0" i="0" u="none" strike="noStrike" baseline="0" dirty="0">
                <a:latin typeface="Times New Roman" panose="02020603050405020304" pitchFamily="18" charset="0"/>
              </a:rPr>
              <a:t>*</a:t>
            </a:r>
          </a:p>
          <a:p>
            <a:pPr algn="l"/>
            <a:r>
              <a:rPr lang="en-IN" sz="1800" b="0" i="0" u="none" strike="noStrike" baseline="0" dirty="0">
                <a:latin typeface="Arial" panose="020B0604020202020204" pitchFamily="34" charset="0"/>
              </a:rPr>
              <a:t>FROM </a:t>
            </a:r>
            <a:r>
              <a:rPr lang="en-IN" sz="1800" b="0" i="0" u="none" strike="noStrike" baseline="0" dirty="0">
                <a:latin typeface="Times New Roman" panose="02020603050405020304" pitchFamily="18" charset="0"/>
              </a:rPr>
              <a:t>Reserves R</a:t>
            </a:r>
          </a:p>
          <a:p>
            <a:pPr algn="l"/>
            <a:r>
              <a:rPr lang="en-IN" sz="1800" b="0" i="0" u="none" strike="noStrike" baseline="0" dirty="0">
                <a:latin typeface="Arial" panose="020B0604020202020204" pitchFamily="34" charset="0"/>
              </a:rPr>
              <a:t>WHERE </a:t>
            </a:r>
            <a:r>
              <a:rPr lang="en-IN" sz="1800" b="0" i="0" u="none" strike="noStrike" baseline="0" dirty="0" err="1">
                <a:latin typeface="Times New Roman" panose="02020603050405020304" pitchFamily="18" charset="0"/>
              </a:rPr>
              <a:t>R.bid</a:t>
            </a:r>
            <a:r>
              <a:rPr lang="en-IN" sz="1800" b="0" i="0" u="none" strike="noStrike" baseline="0" dirty="0">
                <a:latin typeface="Times New Roman" panose="02020603050405020304" pitchFamily="18" charset="0"/>
              </a:rPr>
              <a:t> = 103</a:t>
            </a:r>
          </a:p>
          <a:p>
            <a:pPr algn="l"/>
            <a:r>
              <a:rPr lang="en-US" sz="1800" b="0" i="0" u="none" strike="noStrike" baseline="0" dirty="0">
                <a:latin typeface="Arial" panose="020B0604020202020204" pitchFamily="34" charset="0"/>
              </a:rPr>
              <a:t>AND </a:t>
            </a:r>
            <a:r>
              <a:rPr lang="en-US" sz="1800" b="0" i="0" u="none" strike="noStrike" baseline="0" dirty="0" err="1">
                <a:latin typeface="Times New Roman" panose="02020603050405020304" pitchFamily="18" charset="0"/>
              </a:rPr>
              <a:t>R.sid</a:t>
            </a:r>
            <a:r>
              <a:rPr lang="en-US" sz="1800" b="0" i="0" u="none" strike="noStrike" baseline="0" dirty="0">
                <a:latin typeface="Times New Roman" panose="02020603050405020304" pitchFamily="18" charset="0"/>
              </a:rPr>
              <a:t> = </a:t>
            </a:r>
            <a:r>
              <a:rPr lang="en-US" sz="1800" b="0" i="0" u="none" strike="noStrike" baseline="0" dirty="0" err="1">
                <a:latin typeface="Times New Roman" panose="02020603050405020304" pitchFamily="18" charset="0"/>
              </a:rPr>
              <a:t>S.sid</a:t>
            </a:r>
            <a:r>
              <a:rPr lang="en-US" sz="1800" b="0" i="0" u="none" strike="noStrike" baseline="0" dirty="0">
                <a:latin typeface="Times New Roman" panose="02020603050405020304" pitchFamily="18" charset="0"/>
              </a:rPr>
              <a:t> )</a:t>
            </a:r>
            <a:endParaRPr lang="en-IN" dirty="0"/>
          </a:p>
        </p:txBody>
      </p:sp>
      <p:sp>
        <p:nvSpPr>
          <p:cNvPr id="7" name="TextBox 6">
            <a:extLst>
              <a:ext uri="{FF2B5EF4-FFF2-40B4-BE49-F238E27FC236}">
                <a16:creationId xmlns:a16="http://schemas.microsoft.com/office/drawing/2014/main" id="{5E310F4A-59B8-AB45-F3D1-D4A23CF79DB3}"/>
              </a:ext>
            </a:extLst>
          </p:cNvPr>
          <p:cNvSpPr txBox="1"/>
          <p:nvPr/>
        </p:nvSpPr>
        <p:spPr>
          <a:xfrm>
            <a:off x="7543800" y="2144487"/>
            <a:ext cx="4071258" cy="3970318"/>
          </a:xfrm>
          <a:prstGeom prst="rect">
            <a:avLst/>
          </a:prstGeom>
          <a:noFill/>
        </p:spPr>
        <p:txBody>
          <a:bodyPr wrap="square">
            <a:spAutoFit/>
          </a:bodyPr>
          <a:lstStyle/>
          <a:p>
            <a:pPr algn="just"/>
            <a:r>
              <a:rPr lang="en-US" sz="1800" b="0" i="0" u="none" strike="noStrike" baseline="0" dirty="0">
                <a:latin typeface="Times New Roman" panose="02020603050405020304" pitchFamily="18" charset="0"/>
              </a:rPr>
              <a:t>The </a:t>
            </a:r>
            <a:r>
              <a:rPr lang="en-US" sz="1800" b="0" i="0" u="none" strike="noStrike" baseline="0" dirty="0">
                <a:latin typeface="Arial" panose="020B0604020202020204" pitchFamily="34" charset="0"/>
              </a:rPr>
              <a:t>EXISTS </a:t>
            </a:r>
            <a:r>
              <a:rPr lang="en-US" sz="1800" b="0" i="0" u="none" strike="noStrike" baseline="0" dirty="0">
                <a:latin typeface="Times New Roman" panose="02020603050405020304" pitchFamily="18" charset="0"/>
              </a:rPr>
              <a:t>operator is another set comparison operator, such as </a:t>
            </a:r>
            <a:r>
              <a:rPr lang="en-US" sz="1800" b="0" i="0" u="none" strike="noStrike" baseline="0" dirty="0">
                <a:latin typeface="Arial" panose="020B0604020202020204" pitchFamily="34" charset="0"/>
              </a:rPr>
              <a:t>IN</a:t>
            </a:r>
            <a:r>
              <a:rPr lang="en-US" sz="1800" b="0" i="0" u="none" strike="noStrike" baseline="0" dirty="0">
                <a:latin typeface="Times New Roman" panose="02020603050405020304" pitchFamily="18" charset="0"/>
              </a:rPr>
              <a:t>. It allows us to test whether a set is nonempty. Thus, for each Sailor row </a:t>
            </a:r>
            <a:r>
              <a:rPr lang="en-US" sz="1800" b="0" i="1" u="none" strike="noStrike" baseline="0" dirty="0">
                <a:latin typeface="Arial" panose="020B0604020202020204" pitchFamily="34" charset="0"/>
              </a:rPr>
              <a:t>S</a:t>
            </a:r>
            <a:r>
              <a:rPr lang="en-US" sz="1800" b="0" i="0" u="none" strike="noStrike" baseline="0" dirty="0">
                <a:latin typeface="Times New Roman" panose="02020603050405020304" pitchFamily="18" charset="0"/>
              </a:rPr>
              <a:t>, we test whether the set of Reserves rows </a:t>
            </a:r>
            <a:r>
              <a:rPr lang="en-US" sz="1800" b="0" i="1" u="none" strike="noStrike" baseline="0" dirty="0">
                <a:latin typeface="Arial" panose="020B0604020202020204" pitchFamily="34" charset="0"/>
              </a:rPr>
              <a:t>R </a:t>
            </a:r>
            <a:r>
              <a:rPr lang="en-US" sz="1800" b="0" i="0" u="none" strike="noStrike" baseline="0" dirty="0">
                <a:latin typeface="Times New Roman" panose="02020603050405020304" pitchFamily="18" charset="0"/>
              </a:rPr>
              <a:t>such that </a:t>
            </a:r>
            <a:r>
              <a:rPr lang="en-US" sz="1800" b="0" i="1" u="none" strike="noStrike" baseline="0" dirty="0" err="1">
                <a:latin typeface="Times New Roman" panose="02020603050405020304" pitchFamily="18" charset="0"/>
              </a:rPr>
              <a:t>R.bid</a:t>
            </a:r>
            <a:r>
              <a:rPr lang="en-US" sz="1800" b="0" i="1" u="none" strike="noStrike" baseline="0" dirty="0">
                <a:latin typeface="Times New Roman" panose="02020603050405020304" pitchFamily="18" charset="0"/>
              </a:rPr>
              <a:t> = 103 </a:t>
            </a:r>
            <a:r>
              <a:rPr lang="en-US" sz="1800" b="0" i="0" u="none" strike="noStrike" baseline="0" dirty="0">
                <a:latin typeface="Arial" panose="020B0604020202020204" pitchFamily="34" charset="0"/>
              </a:rPr>
              <a:t>AND </a:t>
            </a:r>
            <a:r>
              <a:rPr lang="en-US" sz="1800" b="0" i="1" u="none" strike="noStrike" baseline="0" dirty="0" err="1">
                <a:latin typeface="Times New Roman" panose="02020603050405020304" pitchFamily="18" charset="0"/>
              </a:rPr>
              <a:t>S.sid</a:t>
            </a:r>
            <a:r>
              <a:rPr lang="en-US" sz="1800" b="0" i="1" u="none" strike="noStrike" baseline="0" dirty="0">
                <a:latin typeface="Times New Roman" panose="02020603050405020304" pitchFamily="18" charset="0"/>
              </a:rPr>
              <a:t> = </a:t>
            </a:r>
            <a:r>
              <a:rPr lang="en-US" sz="1800" b="0" i="1" u="none" strike="noStrike" baseline="0" dirty="0" err="1">
                <a:latin typeface="Times New Roman" panose="02020603050405020304" pitchFamily="18" charset="0"/>
              </a:rPr>
              <a:t>R.sid</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is nonempty. If so, sailor </a:t>
            </a:r>
            <a:r>
              <a:rPr lang="en-US" sz="1800" b="0" i="1" u="none" strike="noStrike" baseline="0" dirty="0">
                <a:latin typeface="Arial" panose="020B0604020202020204" pitchFamily="34" charset="0"/>
              </a:rPr>
              <a:t>S </a:t>
            </a:r>
            <a:r>
              <a:rPr lang="en-US" sz="1800" b="0" i="0" u="none" strike="noStrike" baseline="0" dirty="0">
                <a:latin typeface="Times New Roman" panose="02020603050405020304" pitchFamily="18" charset="0"/>
              </a:rPr>
              <a:t>has reserved boat 103, and we retrieve the name. The subquery clearly depends on the current row </a:t>
            </a:r>
            <a:r>
              <a:rPr lang="en-US" sz="1800" b="0" i="1" u="none" strike="noStrike" baseline="0" dirty="0">
                <a:latin typeface="Arial" panose="020B0604020202020204" pitchFamily="34" charset="0"/>
              </a:rPr>
              <a:t>S </a:t>
            </a:r>
            <a:r>
              <a:rPr lang="en-US" sz="1800" b="0" i="0" u="none" strike="noStrike" baseline="0" dirty="0">
                <a:latin typeface="Times New Roman" panose="02020603050405020304" pitchFamily="18" charset="0"/>
              </a:rPr>
              <a:t>and must be re-evaluated for each row in Sailors. The occurrence of </a:t>
            </a:r>
            <a:r>
              <a:rPr lang="en-US" sz="1800" b="0" i="1" u="none" strike="noStrike" baseline="0" dirty="0">
                <a:latin typeface="Arial" panose="020B0604020202020204" pitchFamily="34" charset="0"/>
              </a:rPr>
              <a:t>S </a:t>
            </a:r>
            <a:r>
              <a:rPr lang="en-US" sz="1800" b="0" i="0" u="none" strike="noStrike" baseline="0" dirty="0">
                <a:latin typeface="Times New Roman" panose="02020603050405020304" pitchFamily="18" charset="0"/>
              </a:rPr>
              <a:t>in the subquery (in the form of the literal </a:t>
            </a:r>
            <a:r>
              <a:rPr lang="en-US" sz="1800" b="0" i="1" u="none" strike="noStrike" baseline="0" dirty="0" err="1">
                <a:latin typeface="Times New Roman" panose="02020603050405020304" pitchFamily="18" charset="0"/>
              </a:rPr>
              <a:t>S.sid</a:t>
            </a:r>
            <a:r>
              <a:rPr lang="en-US" sz="1800" b="0" i="0" u="none" strike="noStrike" baseline="0" dirty="0">
                <a:latin typeface="Times New Roman" panose="02020603050405020304" pitchFamily="18" charset="0"/>
              </a:rPr>
              <a:t>) is called a </a:t>
            </a:r>
            <a:r>
              <a:rPr lang="en-US" sz="1800" b="0" i="1" u="none" strike="noStrike" baseline="0" dirty="0">
                <a:latin typeface="Times New Roman" panose="02020603050405020304" pitchFamily="18" charset="0"/>
              </a:rPr>
              <a:t>correlation</a:t>
            </a:r>
            <a:r>
              <a:rPr lang="en-US" sz="1800" b="0" i="0" u="none" strike="noStrike" baseline="0" dirty="0">
                <a:latin typeface="Times New Roman" panose="02020603050405020304" pitchFamily="18" charset="0"/>
              </a:rPr>
              <a:t>, and such queries are</a:t>
            </a:r>
          </a:p>
          <a:p>
            <a:pPr algn="just"/>
            <a:r>
              <a:rPr lang="en-IN" sz="1800" b="0" i="0" u="none" strike="noStrike" baseline="0" dirty="0">
                <a:latin typeface="Times New Roman" panose="02020603050405020304" pitchFamily="18" charset="0"/>
              </a:rPr>
              <a:t>called </a:t>
            </a:r>
            <a:r>
              <a:rPr lang="en-IN" sz="1800" b="0" i="1" u="none" strike="noStrike" baseline="0" dirty="0">
                <a:latin typeface="Times New Roman" panose="02020603050405020304" pitchFamily="18" charset="0"/>
              </a:rPr>
              <a:t>correlated queries</a:t>
            </a:r>
            <a:r>
              <a:rPr lang="en-IN" sz="1800" b="0" i="0" u="none" strike="noStrike" baseline="0" dirty="0">
                <a:latin typeface="Times New Roman" panose="02020603050405020304" pitchFamily="18" charset="0"/>
              </a:rPr>
              <a:t>.</a:t>
            </a:r>
            <a:endParaRPr lang="en-IN" dirty="0"/>
          </a:p>
        </p:txBody>
      </p:sp>
    </p:spTree>
    <p:extLst>
      <p:ext uri="{BB962C8B-B14F-4D97-AF65-F5344CB8AC3E}">
        <p14:creationId xmlns:p14="http://schemas.microsoft.com/office/powerpoint/2010/main" val="39326462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79C3DF-A501-E8E5-7D70-A7E347510D69}"/>
              </a:ext>
            </a:extLst>
          </p:cNvPr>
          <p:cNvSpPr txBox="1"/>
          <p:nvPr/>
        </p:nvSpPr>
        <p:spPr>
          <a:xfrm>
            <a:off x="620486" y="442944"/>
            <a:ext cx="9797142" cy="4524315"/>
          </a:xfrm>
          <a:prstGeom prst="rect">
            <a:avLst/>
          </a:prstGeom>
          <a:noFill/>
        </p:spPr>
        <p:txBody>
          <a:bodyPr wrap="square">
            <a:spAutoFit/>
          </a:bodyPr>
          <a:lstStyle/>
          <a:p>
            <a:pPr algn="ctr"/>
            <a:r>
              <a:rPr lang="en-IN" sz="2400" b="1" i="0" u="none" strike="noStrike" baseline="0" dirty="0">
                <a:latin typeface="Times New Roman" panose="02020603050405020304" pitchFamily="18" charset="0"/>
              </a:rPr>
              <a:t>AGGREGATE OPERATORS</a:t>
            </a:r>
          </a:p>
          <a:p>
            <a:pPr algn="ctr"/>
            <a:endParaRPr lang="en-IN" sz="2400" b="1" i="0" u="none" strike="noStrike" baseline="0" dirty="0">
              <a:latin typeface="Times New Roman" panose="02020603050405020304" pitchFamily="18" charset="0"/>
            </a:endParaRPr>
          </a:p>
          <a:p>
            <a:pPr algn="just"/>
            <a:r>
              <a:rPr lang="en-US" sz="2400" b="0" i="0" u="none" strike="noStrike" baseline="0" dirty="0">
                <a:latin typeface="Times New Roman" panose="02020603050405020304" pitchFamily="18" charset="0"/>
              </a:rPr>
              <a:t>We now consider a powerful class of constructs for computing </a:t>
            </a:r>
            <a:r>
              <a:rPr lang="en-US" sz="2400" b="0" i="1" u="none" strike="noStrike" baseline="0" dirty="0">
                <a:latin typeface="Times New Roman" panose="02020603050405020304" pitchFamily="18" charset="0"/>
              </a:rPr>
              <a:t>aggregate values </a:t>
            </a:r>
            <a:r>
              <a:rPr lang="en-US" sz="2400" b="0" i="0" u="none" strike="noStrike" baseline="0" dirty="0">
                <a:latin typeface="Times New Roman" panose="02020603050405020304" pitchFamily="18" charset="0"/>
              </a:rPr>
              <a:t>such as </a:t>
            </a:r>
            <a:r>
              <a:rPr lang="en-US" sz="2400" b="0" i="0" u="none" strike="noStrike" baseline="0" dirty="0">
                <a:latin typeface="Arial" panose="020B0604020202020204" pitchFamily="34" charset="0"/>
              </a:rPr>
              <a:t>MIN </a:t>
            </a:r>
            <a:r>
              <a:rPr lang="en-US" sz="2400" b="0" i="0" u="none" strike="noStrike" baseline="0" dirty="0">
                <a:latin typeface="Times New Roman" panose="02020603050405020304" pitchFamily="18" charset="0"/>
              </a:rPr>
              <a:t>and </a:t>
            </a:r>
            <a:r>
              <a:rPr lang="en-US" sz="2400" b="0" i="0" u="none" strike="noStrike" baseline="0" dirty="0">
                <a:latin typeface="Arial" panose="020B0604020202020204" pitchFamily="34" charset="0"/>
              </a:rPr>
              <a:t>SUM</a:t>
            </a:r>
            <a:r>
              <a:rPr lang="en-US" sz="2400" b="0" i="0" u="none" strike="noStrike" baseline="0" dirty="0">
                <a:latin typeface="Times New Roman" panose="02020603050405020304" pitchFamily="18" charset="0"/>
              </a:rPr>
              <a:t>. These features represent a significant extension of relational algebra. SQL supports five aggregate operations, which can be applied on any column, say A, of a relation:</a:t>
            </a:r>
          </a:p>
          <a:p>
            <a:pPr algn="just"/>
            <a:endParaRPr lang="en-US" sz="2400" b="0" i="0" u="none" strike="noStrike" baseline="0" dirty="0">
              <a:latin typeface="Times New Roman" panose="02020603050405020304" pitchFamily="18" charset="0"/>
            </a:endParaRPr>
          </a:p>
          <a:p>
            <a:pPr algn="just"/>
            <a:r>
              <a:rPr lang="en-US" sz="2400" b="0" i="0" u="none" strike="noStrike" baseline="0" dirty="0">
                <a:latin typeface="Times New Roman" panose="02020603050405020304" pitchFamily="18" charset="0"/>
              </a:rPr>
              <a:t>1. </a:t>
            </a:r>
            <a:r>
              <a:rPr lang="en-US" sz="2400" b="0" i="0" u="none" strike="noStrike" baseline="0" dirty="0">
                <a:latin typeface="Arial" panose="020B0604020202020204" pitchFamily="34" charset="0"/>
              </a:rPr>
              <a:t>COUNT </a:t>
            </a:r>
            <a:r>
              <a:rPr lang="en-US" sz="2400" b="0" i="0" u="none" strike="noStrike" baseline="0" dirty="0">
                <a:latin typeface="Times New Roman" panose="02020603050405020304" pitchFamily="18" charset="0"/>
              </a:rPr>
              <a:t>([</a:t>
            </a:r>
            <a:r>
              <a:rPr lang="en-US" sz="2400" b="0" i="0" u="none" strike="noStrike" baseline="0" dirty="0">
                <a:latin typeface="Arial" panose="020B0604020202020204" pitchFamily="34" charset="0"/>
              </a:rPr>
              <a:t>DISTINCT</a:t>
            </a:r>
            <a:r>
              <a:rPr lang="en-US" sz="2400" b="0" i="0" u="none" strike="noStrike" baseline="0" dirty="0">
                <a:latin typeface="Times New Roman" panose="02020603050405020304" pitchFamily="18" charset="0"/>
              </a:rPr>
              <a:t>] A): The number of (unique) values in the A column.</a:t>
            </a:r>
          </a:p>
          <a:p>
            <a:pPr algn="just"/>
            <a:r>
              <a:rPr lang="en-US" sz="2400" b="0" i="0" u="none" strike="noStrike" baseline="0" dirty="0">
                <a:latin typeface="Times New Roman" panose="02020603050405020304" pitchFamily="18" charset="0"/>
              </a:rPr>
              <a:t>2. </a:t>
            </a:r>
            <a:r>
              <a:rPr lang="en-US" sz="2400" b="0" i="0" u="none" strike="noStrike" baseline="0" dirty="0">
                <a:latin typeface="Arial" panose="020B0604020202020204" pitchFamily="34" charset="0"/>
              </a:rPr>
              <a:t>SUM </a:t>
            </a:r>
            <a:r>
              <a:rPr lang="en-US" sz="2400" b="0" i="0" u="none" strike="noStrike" baseline="0" dirty="0">
                <a:latin typeface="Times New Roman" panose="02020603050405020304" pitchFamily="18" charset="0"/>
              </a:rPr>
              <a:t>([</a:t>
            </a:r>
            <a:r>
              <a:rPr lang="en-US" sz="2400" b="0" i="0" u="none" strike="noStrike" baseline="0" dirty="0">
                <a:latin typeface="Arial" panose="020B0604020202020204" pitchFamily="34" charset="0"/>
              </a:rPr>
              <a:t>DISTINCT</a:t>
            </a:r>
            <a:r>
              <a:rPr lang="en-US" sz="2400" b="0" i="0" u="none" strike="noStrike" baseline="0" dirty="0">
                <a:latin typeface="Times New Roman" panose="02020603050405020304" pitchFamily="18" charset="0"/>
              </a:rPr>
              <a:t>] A): The sum of all (unique) values in the A column.</a:t>
            </a:r>
          </a:p>
          <a:p>
            <a:pPr algn="just"/>
            <a:r>
              <a:rPr lang="en-US" sz="2400" b="0" i="0" u="none" strike="noStrike" baseline="0" dirty="0">
                <a:latin typeface="Times New Roman" panose="02020603050405020304" pitchFamily="18" charset="0"/>
              </a:rPr>
              <a:t>3. </a:t>
            </a:r>
            <a:r>
              <a:rPr lang="en-US" sz="2400" b="0" i="0" u="none" strike="noStrike" baseline="0" dirty="0">
                <a:latin typeface="Arial" panose="020B0604020202020204" pitchFamily="34" charset="0"/>
              </a:rPr>
              <a:t>AVG </a:t>
            </a:r>
            <a:r>
              <a:rPr lang="en-US" sz="2400" b="0" i="0" u="none" strike="noStrike" baseline="0" dirty="0">
                <a:latin typeface="Times New Roman" panose="02020603050405020304" pitchFamily="18" charset="0"/>
              </a:rPr>
              <a:t>([</a:t>
            </a:r>
            <a:r>
              <a:rPr lang="en-US" sz="2400" b="0" i="0" u="none" strike="noStrike" baseline="0" dirty="0">
                <a:latin typeface="Arial" panose="020B0604020202020204" pitchFamily="34" charset="0"/>
              </a:rPr>
              <a:t>DISTINCT</a:t>
            </a:r>
            <a:r>
              <a:rPr lang="en-US" sz="2400" b="0" i="0" u="none" strike="noStrike" baseline="0" dirty="0">
                <a:latin typeface="Times New Roman" panose="02020603050405020304" pitchFamily="18" charset="0"/>
              </a:rPr>
              <a:t>] A): The average of all (unique) values in the A column.</a:t>
            </a:r>
          </a:p>
          <a:p>
            <a:pPr algn="just"/>
            <a:r>
              <a:rPr lang="en-US" sz="2400" b="0" i="0" u="none" strike="noStrike" baseline="0" dirty="0">
                <a:latin typeface="Times New Roman" panose="02020603050405020304" pitchFamily="18" charset="0"/>
              </a:rPr>
              <a:t>4. </a:t>
            </a:r>
            <a:r>
              <a:rPr lang="en-US" sz="2400" b="0" i="0" u="none" strike="noStrike" baseline="0" dirty="0">
                <a:latin typeface="Arial" panose="020B0604020202020204" pitchFamily="34" charset="0"/>
              </a:rPr>
              <a:t>MAX </a:t>
            </a:r>
            <a:r>
              <a:rPr lang="en-US" sz="2400" b="0" i="0" u="none" strike="noStrike" baseline="0" dirty="0">
                <a:latin typeface="Times New Roman" panose="02020603050405020304" pitchFamily="18" charset="0"/>
              </a:rPr>
              <a:t>(A): The maximum value in the A column.</a:t>
            </a:r>
          </a:p>
          <a:p>
            <a:pPr algn="just"/>
            <a:r>
              <a:rPr lang="en-US" sz="2400" b="0" i="0" u="none" strike="noStrike" baseline="0" dirty="0">
                <a:latin typeface="Times New Roman" panose="02020603050405020304" pitchFamily="18" charset="0"/>
              </a:rPr>
              <a:t>5. </a:t>
            </a:r>
            <a:r>
              <a:rPr lang="en-US" sz="2400" b="0" i="0" u="none" strike="noStrike" baseline="0" dirty="0">
                <a:latin typeface="Arial" panose="020B0604020202020204" pitchFamily="34" charset="0"/>
              </a:rPr>
              <a:t>MIN </a:t>
            </a:r>
            <a:r>
              <a:rPr lang="en-US" sz="2400" b="0" i="0" u="none" strike="noStrike" baseline="0" dirty="0">
                <a:latin typeface="Times New Roman" panose="02020603050405020304" pitchFamily="18" charset="0"/>
              </a:rPr>
              <a:t>(A): The minimum value in the A column</a:t>
            </a:r>
            <a:r>
              <a:rPr lang="en-US" sz="1600" b="0" i="0" u="none" strike="noStrike" baseline="0" dirty="0">
                <a:latin typeface="Times New Roman" panose="02020603050405020304" pitchFamily="18" charset="0"/>
              </a:rPr>
              <a:t>.</a:t>
            </a:r>
            <a:endParaRPr lang="en-IN" sz="2400" dirty="0"/>
          </a:p>
        </p:txBody>
      </p:sp>
    </p:spTree>
    <p:extLst>
      <p:ext uri="{BB962C8B-B14F-4D97-AF65-F5344CB8AC3E}">
        <p14:creationId xmlns:p14="http://schemas.microsoft.com/office/powerpoint/2010/main" val="26776335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2AC0280-9288-B403-34FD-F8CF47EDC0B4}"/>
              </a:ext>
            </a:extLst>
          </p:cNvPr>
          <p:cNvSpPr txBox="1"/>
          <p:nvPr/>
        </p:nvSpPr>
        <p:spPr>
          <a:xfrm>
            <a:off x="938892" y="199268"/>
            <a:ext cx="11024508" cy="6001643"/>
          </a:xfrm>
          <a:prstGeom prst="rect">
            <a:avLst/>
          </a:prstGeom>
          <a:noFill/>
        </p:spPr>
        <p:txBody>
          <a:bodyPr wrap="square">
            <a:spAutoFit/>
          </a:bodyPr>
          <a:lstStyle/>
          <a:p>
            <a:r>
              <a:rPr lang="en-US" sz="2400" dirty="0"/>
              <a:t>Count the number of different sailor names.</a:t>
            </a:r>
          </a:p>
          <a:p>
            <a:endParaRPr lang="en-US" sz="2400" dirty="0"/>
          </a:p>
          <a:p>
            <a:r>
              <a:rPr lang="en-US" sz="2400" dirty="0"/>
              <a:t>SELECT COUNT( DISTINCT </a:t>
            </a:r>
            <a:r>
              <a:rPr lang="en-US" sz="2400" dirty="0" err="1"/>
              <a:t>S.sname</a:t>
            </a:r>
            <a:r>
              <a:rPr lang="en-US" sz="2400" dirty="0"/>
              <a:t> )</a:t>
            </a:r>
          </a:p>
          <a:p>
            <a:r>
              <a:rPr lang="en-US" sz="2400" dirty="0"/>
              <a:t>FROM Sailors S</a:t>
            </a:r>
          </a:p>
          <a:p>
            <a:endParaRPr lang="en-US" sz="2400" dirty="0"/>
          </a:p>
          <a:p>
            <a:r>
              <a:rPr lang="en-US" sz="2400" dirty="0"/>
              <a:t>Calculate the average age of all sailors.</a:t>
            </a:r>
          </a:p>
          <a:p>
            <a:endParaRPr lang="en-US" sz="2400" dirty="0"/>
          </a:p>
          <a:p>
            <a:r>
              <a:rPr lang="en-US" sz="2400" dirty="0"/>
              <a:t>SELECT AVG(</a:t>
            </a:r>
            <a:r>
              <a:rPr lang="en-US" sz="2400" dirty="0" err="1"/>
              <a:t>s.age</a:t>
            </a:r>
            <a:r>
              <a:rPr lang="en-US" sz="2400" dirty="0"/>
              <a:t>) </a:t>
            </a:r>
          </a:p>
          <a:p>
            <a:r>
              <a:rPr lang="en-US" sz="2400" dirty="0"/>
              <a:t>FROM Sailors S</a:t>
            </a:r>
          </a:p>
          <a:p>
            <a:endParaRPr lang="en-US" sz="2400" dirty="0"/>
          </a:p>
          <a:p>
            <a:r>
              <a:rPr lang="en-US" sz="2400" dirty="0"/>
              <a:t>Find the name and the age of the youngest sailor.</a:t>
            </a:r>
          </a:p>
          <a:p>
            <a:endParaRPr lang="en-US" sz="2400" dirty="0"/>
          </a:p>
          <a:p>
            <a:r>
              <a:rPr lang="en-US" sz="2400" dirty="0"/>
              <a:t>SELECT </a:t>
            </a:r>
            <a:r>
              <a:rPr lang="en-US" sz="2400" dirty="0" err="1"/>
              <a:t>S.sname</a:t>
            </a:r>
            <a:r>
              <a:rPr lang="en-US" sz="2400" dirty="0"/>
              <a:t>, </a:t>
            </a:r>
            <a:r>
              <a:rPr lang="en-US" sz="2400" dirty="0" err="1"/>
              <a:t>S.age</a:t>
            </a:r>
            <a:endParaRPr lang="en-US" sz="2400" dirty="0"/>
          </a:p>
          <a:p>
            <a:r>
              <a:rPr lang="en-US" sz="2400" dirty="0"/>
              <a:t>FROM Sailors S</a:t>
            </a:r>
          </a:p>
          <a:p>
            <a:r>
              <a:rPr lang="en-US" sz="2400" dirty="0"/>
              <a:t>WHERE </a:t>
            </a:r>
            <a:r>
              <a:rPr lang="en-US" sz="2400" dirty="0" err="1"/>
              <a:t>S.age</a:t>
            </a:r>
            <a:r>
              <a:rPr lang="en-US" sz="2400" dirty="0"/>
              <a:t> = (SELECT MIN(S2.age)</a:t>
            </a:r>
          </a:p>
          <a:p>
            <a:r>
              <a:rPr lang="en-US" sz="2400" dirty="0"/>
              <a:t>FROM Sailors S2 )</a:t>
            </a:r>
            <a:endParaRPr lang="en-IN" sz="2400" dirty="0"/>
          </a:p>
        </p:txBody>
      </p:sp>
    </p:spTree>
    <p:extLst>
      <p:ext uri="{BB962C8B-B14F-4D97-AF65-F5344CB8AC3E}">
        <p14:creationId xmlns:p14="http://schemas.microsoft.com/office/powerpoint/2010/main" val="40366429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63A9775-22FB-4567-99D2-832ED66631D7}"/>
              </a:ext>
            </a:extLst>
          </p:cNvPr>
          <p:cNvSpPr txBox="1"/>
          <p:nvPr/>
        </p:nvSpPr>
        <p:spPr>
          <a:xfrm>
            <a:off x="881744" y="391023"/>
            <a:ext cx="9927770" cy="2677656"/>
          </a:xfrm>
          <a:prstGeom prst="rect">
            <a:avLst/>
          </a:prstGeom>
          <a:noFill/>
        </p:spPr>
        <p:txBody>
          <a:bodyPr wrap="square">
            <a:spAutoFit/>
          </a:bodyPr>
          <a:lstStyle/>
          <a:p>
            <a:pPr algn="ctr"/>
            <a:r>
              <a:rPr lang="en-US" sz="2800" b="1" i="0" u="none" strike="noStrike" baseline="0" dirty="0">
                <a:latin typeface="Times New Roman" panose="02020603050405020304" pitchFamily="18" charset="0"/>
              </a:rPr>
              <a:t>The GROUP BY and HAVING Clauses</a:t>
            </a:r>
          </a:p>
          <a:p>
            <a:pPr algn="just"/>
            <a:endParaRPr lang="en-US" sz="2800" b="1" i="0" u="none" strike="noStrike" baseline="0" dirty="0">
              <a:latin typeface="Times New Roman" panose="02020603050405020304" pitchFamily="18" charset="0"/>
            </a:endParaRPr>
          </a:p>
          <a:p>
            <a:pPr algn="just"/>
            <a:r>
              <a:rPr lang="en-US" sz="2800" b="0" i="0" u="none" strike="noStrike" baseline="0" dirty="0">
                <a:latin typeface="Times New Roman" panose="02020603050405020304" pitchFamily="18" charset="0"/>
              </a:rPr>
              <a:t>we want to apply aggregate operations to each of a number of groups of rows in a relation, where the number of groups depends on the relation instance (i.e., is not known in advance). For example, consider the following query.</a:t>
            </a:r>
            <a:endParaRPr lang="en-IN" sz="2800" dirty="0"/>
          </a:p>
        </p:txBody>
      </p:sp>
      <p:sp>
        <p:nvSpPr>
          <p:cNvPr id="7" name="TextBox 6">
            <a:extLst>
              <a:ext uri="{FF2B5EF4-FFF2-40B4-BE49-F238E27FC236}">
                <a16:creationId xmlns:a16="http://schemas.microsoft.com/office/drawing/2014/main" id="{A7A68C99-0CFA-8ABB-2792-449C1072AD4B}"/>
              </a:ext>
            </a:extLst>
          </p:cNvPr>
          <p:cNvSpPr txBox="1"/>
          <p:nvPr/>
        </p:nvSpPr>
        <p:spPr>
          <a:xfrm>
            <a:off x="3050722" y="3111278"/>
            <a:ext cx="6101442" cy="646331"/>
          </a:xfrm>
          <a:prstGeom prst="rect">
            <a:avLst/>
          </a:prstGeom>
          <a:noFill/>
        </p:spPr>
        <p:txBody>
          <a:bodyPr wrap="square">
            <a:spAutoFit/>
          </a:bodyPr>
          <a:lstStyle/>
          <a:p>
            <a:pPr algn="l"/>
            <a:r>
              <a:rPr lang="en-US" sz="1800" b="1" i="1" u="none" strike="noStrike" baseline="0" dirty="0">
                <a:latin typeface="Times New Roman" panose="02020603050405020304" pitchFamily="18" charset="0"/>
              </a:rPr>
              <a:t>Find the age of the youngest sailor for each rating level.</a:t>
            </a:r>
          </a:p>
          <a:p>
            <a:pPr algn="l"/>
            <a:endParaRPr lang="en-IN" dirty="0"/>
          </a:p>
        </p:txBody>
      </p:sp>
      <p:sp>
        <p:nvSpPr>
          <p:cNvPr id="9" name="TextBox 8">
            <a:extLst>
              <a:ext uri="{FF2B5EF4-FFF2-40B4-BE49-F238E27FC236}">
                <a16:creationId xmlns:a16="http://schemas.microsoft.com/office/drawing/2014/main" id="{A19B5968-6183-456F-6F52-97A84816A1E8}"/>
              </a:ext>
            </a:extLst>
          </p:cNvPr>
          <p:cNvSpPr txBox="1"/>
          <p:nvPr/>
        </p:nvSpPr>
        <p:spPr>
          <a:xfrm>
            <a:off x="2909207" y="3757609"/>
            <a:ext cx="6101442" cy="2031325"/>
          </a:xfrm>
          <a:prstGeom prst="rect">
            <a:avLst/>
          </a:prstGeom>
          <a:noFill/>
        </p:spPr>
        <p:txBody>
          <a:bodyPr wrap="square">
            <a:spAutoFit/>
          </a:bodyPr>
          <a:lstStyle/>
          <a:p>
            <a:pPr algn="ctr"/>
            <a:r>
              <a:rPr lang="en-IN" sz="1800" b="0" i="0" u="none" strike="noStrike" baseline="0" dirty="0">
                <a:latin typeface="Arial" panose="020B0604020202020204" pitchFamily="34" charset="0"/>
              </a:rPr>
              <a:t>SELECT MIN </a:t>
            </a:r>
            <a:r>
              <a:rPr lang="en-IN" sz="1800" b="0" i="0" u="none" strike="noStrike" baseline="0" dirty="0">
                <a:latin typeface="Times New Roman" panose="02020603050405020304" pitchFamily="18" charset="0"/>
              </a:rPr>
              <a:t>(</a:t>
            </a:r>
            <a:r>
              <a:rPr lang="en-IN" sz="1800" b="0" i="0" u="none" strike="noStrike" baseline="0" dirty="0" err="1">
                <a:latin typeface="Times New Roman" panose="02020603050405020304" pitchFamily="18" charset="0"/>
              </a:rPr>
              <a:t>S.age</a:t>
            </a:r>
            <a:r>
              <a:rPr lang="en-IN" sz="1800" b="0" i="0" u="none" strike="noStrike" baseline="0" dirty="0">
                <a:latin typeface="Times New Roman" panose="02020603050405020304" pitchFamily="18" charset="0"/>
              </a:rPr>
              <a:t>)</a:t>
            </a:r>
          </a:p>
          <a:p>
            <a:pPr algn="ctr"/>
            <a:r>
              <a:rPr lang="en-IN" sz="1800" b="0" i="0" u="none" strike="noStrike" baseline="0" dirty="0">
                <a:latin typeface="Arial" panose="020B0604020202020204" pitchFamily="34" charset="0"/>
              </a:rPr>
              <a:t>FROM </a:t>
            </a:r>
            <a:r>
              <a:rPr lang="en-IN" sz="1800" b="0" i="0" u="none" strike="noStrike" baseline="0" dirty="0">
                <a:latin typeface="Times New Roman" panose="02020603050405020304" pitchFamily="18" charset="0"/>
              </a:rPr>
              <a:t>Sailors S</a:t>
            </a:r>
          </a:p>
          <a:p>
            <a:pPr algn="ctr"/>
            <a:r>
              <a:rPr lang="en-IN" sz="1800" b="0" i="0" u="none" strike="noStrike" baseline="0" dirty="0">
                <a:latin typeface="Arial" panose="020B0604020202020204" pitchFamily="34" charset="0"/>
              </a:rPr>
              <a:t>WHERE </a:t>
            </a:r>
            <a:r>
              <a:rPr lang="en-IN" sz="1800" b="0" i="0" u="none" strike="noStrike" baseline="0" dirty="0" err="1">
                <a:latin typeface="Times New Roman" panose="02020603050405020304" pitchFamily="18" charset="0"/>
              </a:rPr>
              <a:t>S.rating</a:t>
            </a:r>
            <a:r>
              <a:rPr lang="en-IN" sz="1800" b="0" i="0" u="none" strike="noStrike" baseline="0" dirty="0">
                <a:latin typeface="Times New Roman" panose="02020603050405020304" pitchFamily="18" charset="0"/>
              </a:rPr>
              <a:t> = </a:t>
            </a:r>
            <a:r>
              <a:rPr lang="en-IN" sz="1800" b="0" i="1" u="none" strike="noStrike" baseline="0" dirty="0">
                <a:latin typeface="Arial" panose="020B0604020202020204" pitchFamily="34" charset="0"/>
              </a:rPr>
              <a:t>I</a:t>
            </a:r>
          </a:p>
          <a:p>
            <a:pPr algn="l"/>
            <a:endParaRPr lang="en-IN" sz="1800" b="0" i="1" u="none" strike="noStrike" baseline="0" dirty="0">
              <a:latin typeface="Arial" panose="020B0604020202020204" pitchFamily="34" charset="0"/>
            </a:endParaRPr>
          </a:p>
          <a:p>
            <a:pPr algn="l"/>
            <a:r>
              <a:rPr lang="en-US" sz="1800" b="0" i="0" u="none" strike="noStrike" baseline="0" dirty="0">
                <a:latin typeface="Times New Roman" panose="02020603050405020304" pitchFamily="18" charset="0"/>
              </a:rPr>
              <a:t>where </a:t>
            </a:r>
            <a:r>
              <a:rPr lang="en-US" sz="1800" b="0" i="1" u="none" strike="noStrike" baseline="0" dirty="0" err="1">
                <a:latin typeface="Arial" panose="020B0604020202020204" pitchFamily="34" charset="0"/>
              </a:rPr>
              <a:t>i</a:t>
            </a:r>
            <a:r>
              <a:rPr lang="en-US" sz="1800" b="0" i="1" u="none" strike="noStrike" baseline="0" dirty="0">
                <a:latin typeface="Arial" panose="020B0604020202020204" pitchFamily="34" charset="0"/>
              </a:rPr>
              <a:t> </a:t>
            </a:r>
            <a:r>
              <a:rPr lang="en-US" sz="1800" b="0" i="0" u="none" strike="noStrike" baseline="0" dirty="0">
                <a:latin typeface="Times New Roman" panose="02020603050405020304" pitchFamily="18" charset="0"/>
              </a:rPr>
              <a:t>= 1</a:t>
            </a:r>
            <a:r>
              <a:rPr lang="en-US" sz="1800" b="0" i="1" u="none" strike="noStrike" baseline="0" dirty="0">
                <a:latin typeface="Arial" panose="020B0604020202020204" pitchFamily="34" charset="0"/>
              </a:rPr>
              <a:t>, </a:t>
            </a:r>
            <a:r>
              <a:rPr lang="en-US" sz="1800" b="0" i="0" u="none" strike="noStrike" baseline="0" dirty="0">
                <a:latin typeface="Times New Roman" panose="02020603050405020304" pitchFamily="18" charset="0"/>
              </a:rPr>
              <a:t>2</a:t>
            </a:r>
            <a:r>
              <a:rPr lang="en-US" sz="1800" b="0" i="1" u="none" strike="noStrike" baseline="0" dirty="0">
                <a:latin typeface="Arial" panose="020B0604020202020204" pitchFamily="34" charset="0"/>
              </a:rPr>
              <a:t>, . . . , </a:t>
            </a:r>
            <a:r>
              <a:rPr lang="en-US" sz="1800" b="0" i="0" u="none" strike="noStrike" baseline="0" dirty="0">
                <a:latin typeface="Times New Roman" panose="02020603050405020304" pitchFamily="18" charset="0"/>
              </a:rPr>
              <a:t>10. Writing 10 such queries is tedious. More importantly, we may not</a:t>
            </a:r>
          </a:p>
          <a:p>
            <a:pPr algn="l"/>
            <a:r>
              <a:rPr lang="en-US" sz="1800" b="0" i="0" u="none" strike="noStrike" baseline="0" dirty="0">
                <a:latin typeface="Times New Roman" panose="02020603050405020304" pitchFamily="18" charset="0"/>
              </a:rPr>
              <a:t>know what rating levels exist in advance</a:t>
            </a:r>
            <a:r>
              <a:rPr lang="en-US" sz="1200" b="0" i="0" u="none" strike="noStrike" baseline="0" dirty="0">
                <a:latin typeface="Times New Roman" panose="02020603050405020304" pitchFamily="18" charset="0"/>
              </a:rPr>
              <a:t>.</a:t>
            </a:r>
            <a:endParaRPr lang="en-IN" dirty="0"/>
          </a:p>
        </p:txBody>
      </p:sp>
    </p:spTree>
    <p:extLst>
      <p:ext uri="{BB962C8B-B14F-4D97-AF65-F5344CB8AC3E}">
        <p14:creationId xmlns:p14="http://schemas.microsoft.com/office/powerpoint/2010/main" val="13970684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3842AB-93B5-0864-CBD3-A5AC085C5C03}"/>
              </a:ext>
            </a:extLst>
          </p:cNvPr>
          <p:cNvSpPr txBox="1"/>
          <p:nvPr/>
        </p:nvSpPr>
        <p:spPr>
          <a:xfrm>
            <a:off x="4335237" y="431550"/>
            <a:ext cx="6101442" cy="1477328"/>
          </a:xfrm>
          <a:prstGeom prst="rect">
            <a:avLst/>
          </a:prstGeom>
          <a:noFill/>
        </p:spPr>
        <p:txBody>
          <a:bodyPr wrap="square">
            <a:spAutoFit/>
          </a:bodyPr>
          <a:lstStyle/>
          <a:p>
            <a:pPr algn="l"/>
            <a:r>
              <a:rPr lang="en-IN" sz="1800" b="0" i="0" u="none" strike="noStrike" baseline="0" dirty="0">
                <a:latin typeface="Arial" panose="020B0604020202020204" pitchFamily="34" charset="0"/>
              </a:rPr>
              <a:t>SELECT</a:t>
            </a:r>
            <a:r>
              <a:rPr lang="en-IN" sz="1800" b="0" i="0" u="none" strike="noStrike" baseline="0" dirty="0">
                <a:latin typeface="Times New Roman" panose="02020603050405020304" pitchFamily="18" charset="0"/>
              </a:rPr>
              <a:t>[ </a:t>
            </a:r>
            <a:r>
              <a:rPr lang="en-IN" sz="1800" b="0" i="0" u="none" strike="noStrike" baseline="0" dirty="0">
                <a:latin typeface="Arial" panose="020B0604020202020204" pitchFamily="34" charset="0"/>
              </a:rPr>
              <a:t>DISTINCT </a:t>
            </a:r>
            <a:r>
              <a:rPr lang="en-IN" sz="1800" b="0" i="0" u="none" strike="noStrike" baseline="0" dirty="0">
                <a:latin typeface="Times New Roman" panose="02020603050405020304" pitchFamily="18" charset="0"/>
              </a:rPr>
              <a:t>] select-list</a:t>
            </a:r>
          </a:p>
          <a:p>
            <a:pPr algn="l"/>
            <a:r>
              <a:rPr lang="en-IN" sz="1800" b="0" i="0" u="none" strike="noStrike" baseline="0" dirty="0">
                <a:latin typeface="Arial" panose="020B0604020202020204" pitchFamily="34" charset="0"/>
              </a:rPr>
              <a:t>FROM </a:t>
            </a:r>
            <a:r>
              <a:rPr lang="en-IN" sz="1800" b="0" i="0" u="none" strike="noStrike" baseline="0" dirty="0">
                <a:latin typeface="Times New Roman" panose="02020603050405020304" pitchFamily="18" charset="0"/>
              </a:rPr>
              <a:t>from-list</a:t>
            </a:r>
          </a:p>
          <a:p>
            <a:pPr algn="l"/>
            <a:r>
              <a:rPr lang="en-IN" sz="1800" b="0" i="0" u="none" strike="noStrike" baseline="0" dirty="0">
                <a:latin typeface="Arial" panose="020B0604020202020204" pitchFamily="34" charset="0"/>
              </a:rPr>
              <a:t>WHERE </a:t>
            </a:r>
            <a:r>
              <a:rPr lang="en-IN" sz="1800" b="0" i="0" u="none" strike="noStrike" baseline="0" dirty="0">
                <a:latin typeface="Times New Roman" panose="02020603050405020304" pitchFamily="18" charset="0"/>
              </a:rPr>
              <a:t>qualification</a:t>
            </a:r>
          </a:p>
          <a:p>
            <a:pPr algn="l"/>
            <a:r>
              <a:rPr lang="en-IN" sz="1800" b="0" i="0" u="none" strike="noStrike" baseline="0" dirty="0">
                <a:latin typeface="Arial" panose="020B0604020202020204" pitchFamily="34" charset="0"/>
              </a:rPr>
              <a:t>GROUP BY </a:t>
            </a:r>
            <a:r>
              <a:rPr lang="en-IN" sz="1800" b="0" i="0" u="none" strike="noStrike" baseline="0" dirty="0">
                <a:latin typeface="Times New Roman" panose="02020603050405020304" pitchFamily="18" charset="0"/>
              </a:rPr>
              <a:t>grouping-list</a:t>
            </a:r>
          </a:p>
          <a:p>
            <a:pPr algn="l"/>
            <a:r>
              <a:rPr lang="en-IN" sz="1800" b="0" i="0" u="none" strike="noStrike" baseline="0" dirty="0">
                <a:latin typeface="Arial" panose="020B0604020202020204" pitchFamily="34" charset="0"/>
              </a:rPr>
              <a:t>HAVING </a:t>
            </a:r>
            <a:r>
              <a:rPr lang="en-IN" sz="1800" b="0" i="0" u="none" strike="noStrike" baseline="0" dirty="0">
                <a:latin typeface="Times New Roman" panose="02020603050405020304" pitchFamily="18" charset="0"/>
              </a:rPr>
              <a:t>group-qualification</a:t>
            </a:r>
            <a:endParaRPr lang="en-IN" dirty="0"/>
          </a:p>
        </p:txBody>
      </p:sp>
      <p:sp>
        <p:nvSpPr>
          <p:cNvPr id="5" name="TextBox 4">
            <a:extLst>
              <a:ext uri="{FF2B5EF4-FFF2-40B4-BE49-F238E27FC236}">
                <a16:creationId xmlns:a16="http://schemas.microsoft.com/office/drawing/2014/main" id="{16B554A8-C84E-0F79-F628-7759E051D30C}"/>
              </a:ext>
            </a:extLst>
          </p:cNvPr>
          <p:cNvSpPr txBox="1"/>
          <p:nvPr/>
        </p:nvSpPr>
        <p:spPr>
          <a:xfrm>
            <a:off x="3388180" y="2605873"/>
            <a:ext cx="6101442" cy="1384995"/>
          </a:xfrm>
          <a:prstGeom prst="rect">
            <a:avLst/>
          </a:prstGeom>
          <a:noFill/>
        </p:spPr>
        <p:txBody>
          <a:bodyPr wrap="square">
            <a:spAutoFit/>
          </a:bodyPr>
          <a:lstStyle/>
          <a:p>
            <a:pPr algn="l"/>
            <a:r>
              <a:rPr lang="en-IN" sz="2800" b="0" i="0" u="none" strike="noStrike" baseline="0" dirty="0">
                <a:latin typeface="Arial" panose="020B0604020202020204" pitchFamily="34" charset="0"/>
              </a:rPr>
              <a:t>SELECT </a:t>
            </a:r>
            <a:r>
              <a:rPr lang="en-IN" sz="2800" b="0" i="0" u="none" strike="noStrike" baseline="0" dirty="0" err="1">
                <a:latin typeface="Times New Roman" panose="02020603050405020304" pitchFamily="18" charset="0"/>
              </a:rPr>
              <a:t>S.rating</a:t>
            </a:r>
            <a:r>
              <a:rPr lang="en-IN" sz="2800" b="0" i="0" u="none" strike="noStrike" baseline="0" dirty="0">
                <a:latin typeface="Times New Roman" panose="02020603050405020304" pitchFamily="18" charset="0"/>
              </a:rPr>
              <a:t>, </a:t>
            </a:r>
            <a:r>
              <a:rPr lang="en-IN" sz="2800" b="0" i="0" u="none" strike="noStrike" baseline="0" dirty="0">
                <a:latin typeface="Arial" panose="020B0604020202020204" pitchFamily="34" charset="0"/>
              </a:rPr>
              <a:t>MIN </a:t>
            </a:r>
            <a:r>
              <a:rPr lang="en-IN" sz="2800" b="0" i="0" u="none" strike="noStrike" baseline="0" dirty="0">
                <a:latin typeface="Times New Roman" panose="02020603050405020304" pitchFamily="18" charset="0"/>
              </a:rPr>
              <a:t>(</a:t>
            </a:r>
            <a:r>
              <a:rPr lang="en-IN" sz="2800" b="0" i="0" u="none" strike="noStrike" baseline="0" dirty="0" err="1">
                <a:latin typeface="Times New Roman" panose="02020603050405020304" pitchFamily="18" charset="0"/>
              </a:rPr>
              <a:t>S.age</a:t>
            </a:r>
            <a:r>
              <a:rPr lang="en-IN" sz="2800" b="0" i="0" u="none" strike="noStrike" baseline="0" dirty="0">
                <a:latin typeface="Times New Roman" panose="02020603050405020304" pitchFamily="18" charset="0"/>
              </a:rPr>
              <a:t>)</a:t>
            </a:r>
          </a:p>
          <a:p>
            <a:pPr algn="l"/>
            <a:r>
              <a:rPr lang="en-IN" sz="2800" b="0" i="0" u="none" strike="noStrike" baseline="0" dirty="0">
                <a:latin typeface="Arial" panose="020B0604020202020204" pitchFamily="34" charset="0"/>
              </a:rPr>
              <a:t>FROM </a:t>
            </a:r>
            <a:r>
              <a:rPr lang="en-IN" sz="2800" b="0" i="0" u="none" strike="noStrike" baseline="0" dirty="0">
                <a:latin typeface="Times New Roman" panose="02020603050405020304" pitchFamily="18" charset="0"/>
              </a:rPr>
              <a:t>Sailors S</a:t>
            </a:r>
          </a:p>
          <a:p>
            <a:pPr algn="l"/>
            <a:r>
              <a:rPr lang="en-IN" sz="2800" b="0" i="0" u="none" strike="noStrike" baseline="0" dirty="0">
                <a:latin typeface="Arial" panose="020B0604020202020204" pitchFamily="34" charset="0"/>
              </a:rPr>
              <a:t>GROUP BY </a:t>
            </a:r>
            <a:r>
              <a:rPr lang="en-IN" sz="2800" b="0" i="0" u="none" strike="noStrike" baseline="0" dirty="0" err="1">
                <a:latin typeface="Times New Roman" panose="02020603050405020304" pitchFamily="18" charset="0"/>
              </a:rPr>
              <a:t>S.rating</a:t>
            </a:r>
            <a:endParaRPr lang="en-IN" sz="2800" dirty="0"/>
          </a:p>
        </p:txBody>
      </p:sp>
    </p:spTree>
    <p:extLst>
      <p:ext uri="{BB962C8B-B14F-4D97-AF65-F5344CB8AC3E}">
        <p14:creationId xmlns:p14="http://schemas.microsoft.com/office/powerpoint/2010/main" val="15198478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33990D-0C3C-5F04-17DB-F748D94A7E78}"/>
              </a:ext>
            </a:extLst>
          </p:cNvPr>
          <p:cNvSpPr txBox="1"/>
          <p:nvPr/>
        </p:nvSpPr>
        <p:spPr>
          <a:xfrm>
            <a:off x="1428751" y="125577"/>
            <a:ext cx="6101442" cy="369332"/>
          </a:xfrm>
          <a:prstGeom prst="rect">
            <a:avLst/>
          </a:prstGeom>
          <a:noFill/>
        </p:spPr>
        <p:txBody>
          <a:bodyPr wrap="square">
            <a:spAutoFit/>
          </a:bodyPr>
          <a:lstStyle/>
          <a:p>
            <a:r>
              <a:rPr lang="en-US" dirty="0"/>
              <a:t>Find the average age of sailors for each rating level.</a:t>
            </a:r>
            <a:endParaRPr lang="en-IN" dirty="0"/>
          </a:p>
        </p:txBody>
      </p:sp>
      <p:pic>
        <p:nvPicPr>
          <p:cNvPr id="7" name="Picture 6">
            <a:extLst>
              <a:ext uri="{FF2B5EF4-FFF2-40B4-BE49-F238E27FC236}">
                <a16:creationId xmlns:a16="http://schemas.microsoft.com/office/drawing/2014/main" id="{D9FC2A99-7B3E-7685-84C1-E03FB7891674}"/>
              </a:ext>
            </a:extLst>
          </p:cNvPr>
          <p:cNvPicPr>
            <a:picLocks noChangeAspect="1"/>
          </p:cNvPicPr>
          <p:nvPr/>
        </p:nvPicPr>
        <p:blipFill>
          <a:blip r:embed="rId2"/>
          <a:stretch>
            <a:fillRect/>
          </a:stretch>
        </p:blipFill>
        <p:spPr>
          <a:xfrm>
            <a:off x="1936440" y="805543"/>
            <a:ext cx="7259374" cy="2774991"/>
          </a:xfrm>
          <a:prstGeom prst="rect">
            <a:avLst/>
          </a:prstGeom>
        </p:spPr>
      </p:pic>
    </p:spTree>
    <p:extLst>
      <p:ext uri="{BB962C8B-B14F-4D97-AF65-F5344CB8AC3E}">
        <p14:creationId xmlns:p14="http://schemas.microsoft.com/office/powerpoint/2010/main" val="21243700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A66EFE0-8C49-A9DA-CF2E-51E14664E402}"/>
              </a:ext>
            </a:extLst>
          </p:cNvPr>
          <p:cNvSpPr txBox="1"/>
          <p:nvPr/>
        </p:nvSpPr>
        <p:spPr>
          <a:xfrm>
            <a:off x="1091293" y="237450"/>
            <a:ext cx="10665278" cy="461665"/>
          </a:xfrm>
          <a:prstGeom prst="rect">
            <a:avLst/>
          </a:prstGeom>
          <a:noFill/>
        </p:spPr>
        <p:txBody>
          <a:bodyPr wrap="square">
            <a:spAutoFit/>
          </a:bodyPr>
          <a:lstStyle/>
          <a:p>
            <a:r>
              <a:rPr lang="en-US" sz="2400" dirty="0"/>
              <a:t>Find the average age of sailors for each rating level that has at least two sailors.</a:t>
            </a:r>
            <a:endParaRPr lang="en-IN" sz="2400" dirty="0"/>
          </a:p>
        </p:txBody>
      </p:sp>
      <p:pic>
        <p:nvPicPr>
          <p:cNvPr id="7" name="Picture 6">
            <a:extLst>
              <a:ext uri="{FF2B5EF4-FFF2-40B4-BE49-F238E27FC236}">
                <a16:creationId xmlns:a16="http://schemas.microsoft.com/office/drawing/2014/main" id="{109B96D1-5F0A-AF09-0B08-0F73D7449DD8}"/>
              </a:ext>
            </a:extLst>
          </p:cNvPr>
          <p:cNvPicPr>
            <a:picLocks noChangeAspect="1"/>
          </p:cNvPicPr>
          <p:nvPr/>
        </p:nvPicPr>
        <p:blipFill>
          <a:blip r:embed="rId2"/>
          <a:stretch>
            <a:fillRect/>
          </a:stretch>
        </p:blipFill>
        <p:spPr>
          <a:xfrm>
            <a:off x="1491826" y="1208314"/>
            <a:ext cx="9413499" cy="2577675"/>
          </a:xfrm>
          <a:prstGeom prst="rect">
            <a:avLst/>
          </a:prstGeom>
        </p:spPr>
      </p:pic>
    </p:spTree>
    <p:extLst>
      <p:ext uri="{BB962C8B-B14F-4D97-AF65-F5344CB8AC3E}">
        <p14:creationId xmlns:p14="http://schemas.microsoft.com/office/powerpoint/2010/main" val="8445303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0EB3D23-926D-F090-A4DB-38F4EE8A8994}"/>
              </a:ext>
            </a:extLst>
          </p:cNvPr>
          <p:cNvSpPr txBox="1"/>
          <p:nvPr/>
        </p:nvSpPr>
        <p:spPr>
          <a:xfrm>
            <a:off x="4596494" y="169120"/>
            <a:ext cx="6101442" cy="461665"/>
          </a:xfrm>
          <a:prstGeom prst="rect">
            <a:avLst/>
          </a:prstGeom>
          <a:noFill/>
        </p:spPr>
        <p:txBody>
          <a:bodyPr wrap="square">
            <a:spAutoFit/>
          </a:bodyPr>
          <a:lstStyle/>
          <a:p>
            <a:r>
              <a:rPr lang="en-IN" sz="2400" b="1" dirty="0"/>
              <a:t>MySQL Triggers </a:t>
            </a:r>
          </a:p>
        </p:txBody>
      </p:sp>
      <p:sp>
        <p:nvSpPr>
          <p:cNvPr id="9" name="TextBox 8">
            <a:extLst>
              <a:ext uri="{FF2B5EF4-FFF2-40B4-BE49-F238E27FC236}">
                <a16:creationId xmlns:a16="http://schemas.microsoft.com/office/drawing/2014/main" id="{BE2340F3-41C9-021D-4219-B8A37483A6C0}"/>
              </a:ext>
            </a:extLst>
          </p:cNvPr>
          <p:cNvSpPr txBox="1"/>
          <p:nvPr/>
        </p:nvSpPr>
        <p:spPr>
          <a:xfrm>
            <a:off x="1752600" y="1121229"/>
            <a:ext cx="8512629" cy="1815882"/>
          </a:xfrm>
          <a:prstGeom prst="rect">
            <a:avLst/>
          </a:prstGeom>
          <a:noFill/>
        </p:spPr>
        <p:txBody>
          <a:bodyPr wrap="square">
            <a:spAutoFit/>
          </a:bodyPr>
          <a:lstStyle/>
          <a:p>
            <a:pPr algn="just"/>
            <a:r>
              <a:rPr lang="en-US" sz="2800" b="0" i="0" dirty="0">
                <a:solidFill>
                  <a:srgbClr val="273239"/>
                </a:solidFill>
                <a:effectLst/>
                <a:latin typeface="Nunito" pitchFamily="2" charset="0"/>
              </a:rPr>
              <a:t>A MySQL </a:t>
            </a:r>
            <a:r>
              <a:rPr lang="en-US" sz="2800" b="1" i="0" dirty="0">
                <a:solidFill>
                  <a:srgbClr val="273239"/>
                </a:solidFill>
                <a:effectLst/>
                <a:latin typeface="Nunito" pitchFamily="2" charset="0"/>
              </a:rPr>
              <a:t>trigger</a:t>
            </a:r>
            <a:r>
              <a:rPr lang="en-US" sz="2800" b="0" i="0" dirty="0">
                <a:solidFill>
                  <a:srgbClr val="273239"/>
                </a:solidFill>
                <a:effectLst/>
                <a:latin typeface="Nunito" pitchFamily="2" charset="0"/>
              </a:rPr>
              <a:t> is a stored program (with queries) which is executed automatically to respond to a specific event such as insertion, </a:t>
            </a:r>
            <a:r>
              <a:rPr lang="en-US" sz="2800" b="0" i="0" dirty="0" err="1">
                <a:solidFill>
                  <a:srgbClr val="273239"/>
                </a:solidFill>
                <a:effectLst/>
                <a:latin typeface="Nunito" pitchFamily="2" charset="0"/>
              </a:rPr>
              <a:t>updation</a:t>
            </a:r>
            <a:r>
              <a:rPr lang="en-US" sz="2800" b="0" i="0" dirty="0">
                <a:solidFill>
                  <a:srgbClr val="273239"/>
                </a:solidFill>
                <a:effectLst/>
                <a:latin typeface="Nunito" pitchFamily="2" charset="0"/>
              </a:rPr>
              <a:t> or deletion occurring in a table.</a:t>
            </a:r>
            <a:endParaRPr lang="en-IN" sz="2800" dirty="0"/>
          </a:p>
        </p:txBody>
      </p:sp>
      <p:sp>
        <p:nvSpPr>
          <p:cNvPr id="11" name="TextBox 10">
            <a:extLst>
              <a:ext uri="{FF2B5EF4-FFF2-40B4-BE49-F238E27FC236}">
                <a16:creationId xmlns:a16="http://schemas.microsoft.com/office/drawing/2014/main" id="{2C110D42-2FBA-9E57-4EC6-78DFBAE8DA19}"/>
              </a:ext>
            </a:extLst>
          </p:cNvPr>
          <p:cNvSpPr txBox="1"/>
          <p:nvPr/>
        </p:nvSpPr>
        <p:spPr>
          <a:xfrm>
            <a:off x="1777094" y="3336863"/>
            <a:ext cx="6101442" cy="369332"/>
          </a:xfrm>
          <a:prstGeom prst="rect">
            <a:avLst/>
          </a:prstGeom>
          <a:noFill/>
        </p:spPr>
        <p:txBody>
          <a:bodyPr wrap="square">
            <a:spAutoFit/>
          </a:bodyPr>
          <a:lstStyle/>
          <a:p>
            <a:r>
              <a:rPr lang="en-IN" b="1" i="0" dirty="0">
                <a:solidFill>
                  <a:srgbClr val="273239"/>
                </a:solidFill>
                <a:effectLst/>
                <a:latin typeface="Nunito" pitchFamily="2" charset="0"/>
              </a:rPr>
              <a:t>1. Before Update Trigger:</a:t>
            </a:r>
            <a:endParaRPr lang="en-IN" dirty="0"/>
          </a:p>
        </p:txBody>
      </p:sp>
      <p:sp>
        <p:nvSpPr>
          <p:cNvPr id="15" name="TextBox 14">
            <a:extLst>
              <a:ext uri="{FF2B5EF4-FFF2-40B4-BE49-F238E27FC236}">
                <a16:creationId xmlns:a16="http://schemas.microsoft.com/office/drawing/2014/main" id="{743E2B61-9FCF-DD7F-6460-2BBA60D3F567}"/>
              </a:ext>
            </a:extLst>
          </p:cNvPr>
          <p:cNvSpPr txBox="1"/>
          <p:nvPr/>
        </p:nvSpPr>
        <p:spPr>
          <a:xfrm>
            <a:off x="1777094" y="3920890"/>
            <a:ext cx="9358992" cy="923330"/>
          </a:xfrm>
          <a:prstGeom prst="rect">
            <a:avLst/>
          </a:prstGeom>
          <a:noFill/>
        </p:spPr>
        <p:txBody>
          <a:bodyPr wrap="square">
            <a:spAutoFit/>
          </a:bodyPr>
          <a:lstStyle/>
          <a:p>
            <a:r>
              <a:rPr lang="en-US" b="0" i="0" dirty="0">
                <a:solidFill>
                  <a:srgbClr val="273239"/>
                </a:solidFill>
                <a:effectLst/>
                <a:latin typeface="Nunito" pitchFamily="2" charset="0"/>
              </a:rPr>
              <a:t>As the name implies, it is a trigger which enacts before an update is invoked. If we write an update statement, then the actions of the trigger will be performed before the update is implemented.</a:t>
            </a:r>
            <a:endParaRPr lang="en-IN" dirty="0"/>
          </a:p>
        </p:txBody>
      </p:sp>
    </p:spTree>
    <p:extLst>
      <p:ext uri="{BB962C8B-B14F-4D97-AF65-F5344CB8AC3E}">
        <p14:creationId xmlns:p14="http://schemas.microsoft.com/office/powerpoint/2010/main" val="41721605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8CCF44-D2E8-D6AD-3005-48E322EBAF93}"/>
              </a:ext>
            </a:extLst>
          </p:cNvPr>
          <p:cNvSpPr txBox="1"/>
          <p:nvPr/>
        </p:nvSpPr>
        <p:spPr>
          <a:xfrm>
            <a:off x="2097342" y="720611"/>
            <a:ext cx="9946886" cy="2031325"/>
          </a:xfrm>
          <a:prstGeom prst="rect">
            <a:avLst/>
          </a:prstGeom>
          <a:noFill/>
        </p:spPr>
        <p:txBody>
          <a:bodyPr wrap="square">
            <a:spAutoFit/>
          </a:bodyPr>
          <a:lstStyle/>
          <a:p>
            <a:r>
              <a:rPr lang="en-IN" dirty="0"/>
              <a:t>create table customer (</a:t>
            </a:r>
            <a:r>
              <a:rPr lang="en-IN" dirty="0" err="1"/>
              <a:t>acc_no</a:t>
            </a:r>
            <a:r>
              <a:rPr lang="en-IN" dirty="0"/>
              <a:t> integer primary key, </a:t>
            </a:r>
          </a:p>
          <a:p>
            <a:r>
              <a:rPr lang="en-IN" dirty="0"/>
              <a:t>                                 </a:t>
            </a:r>
            <a:r>
              <a:rPr lang="en-IN" dirty="0" err="1"/>
              <a:t>cust_name</a:t>
            </a:r>
            <a:r>
              <a:rPr lang="en-IN" dirty="0"/>
              <a:t> varchar(20), </a:t>
            </a:r>
          </a:p>
          <a:p>
            <a:r>
              <a:rPr lang="en-IN" dirty="0"/>
              <a:t>                                  </a:t>
            </a:r>
            <a:r>
              <a:rPr lang="en-IN" dirty="0" err="1"/>
              <a:t>avail_balance</a:t>
            </a:r>
            <a:r>
              <a:rPr lang="en-IN" dirty="0"/>
              <a:t> decimal);</a:t>
            </a:r>
          </a:p>
          <a:p>
            <a:endParaRPr lang="en-IN" dirty="0"/>
          </a:p>
          <a:p>
            <a:r>
              <a:rPr lang="en-IN" dirty="0"/>
              <a:t>create table </a:t>
            </a:r>
            <a:r>
              <a:rPr lang="en-IN" dirty="0" err="1"/>
              <a:t>mini_statement</a:t>
            </a:r>
            <a:r>
              <a:rPr lang="en-IN" dirty="0"/>
              <a:t> (</a:t>
            </a:r>
            <a:r>
              <a:rPr lang="en-IN" dirty="0" err="1"/>
              <a:t>acc_no</a:t>
            </a:r>
            <a:r>
              <a:rPr lang="en-IN" dirty="0"/>
              <a:t> integer, </a:t>
            </a:r>
          </a:p>
          <a:p>
            <a:r>
              <a:rPr lang="en-IN" dirty="0"/>
              <a:t>                     </a:t>
            </a:r>
            <a:r>
              <a:rPr lang="en-IN" dirty="0" err="1"/>
              <a:t>avail_balance</a:t>
            </a:r>
            <a:r>
              <a:rPr lang="en-IN" dirty="0"/>
              <a:t> decimal, </a:t>
            </a:r>
          </a:p>
          <a:p>
            <a:r>
              <a:rPr lang="en-IN" dirty="0"/>
              <a:t>                     foreign key(</a:t>
            </a:r>
            <a:r>
              <a:rPr lang="en-IN" dirty="0" err="1"/>
              <a:t>acc_no</a:t>
            </a:r>
            <a:r>
              <a:rPr lang="en-IN" dirty="0"/>
              <a:t>) references customer(</a:t>
            </a:r>
            <a:r>
              <a:rPr lang="en-IN" dirty="0" err="1"/>
              <a:t>acc_no</a:t>
            </a:r>
            <a:r>
              <a:rPr lang="en-IN" dirty="0"/>
              <a:t>) on delete cascade); </a:t>
            </a:r>
          </a:p>
        </p:txBody>
      </p:sp>
      <p:sp>
        <p:nvSpPr>
          <p:cNvPr id="8" name="TextBox 7">
            <a:extLst>
              <a:ext uri="{FF2B5EF4-FFF2-40B4-BE49-F238E27FC236}">
                <a16:creationId xmlns:a16="http://schemas.microsoft.com/office/drawing/2014/main" id="{CF6B7DC8-BD3A-E2EB-192D-484E687BE1C8}"/>
              </a:ext>
            </a:extLst>
          </p:cNvPr>
          <p:cNvSpPr txBox="1"/>
          <p:nvPr/>
        </p:nvSpPr>
        <p:spPr>
          <a:xfrm>
            <a:off x="1371600" y="3328992"/>
            <a:ext cx="6204856" cy="646331"/>
          </a:xfrm>
          <a:prstGeom prst="rect">
            <a:avLst/>
          </a:prstGeom>
          <a:noFill/>
        </p:spPr>
        <p:txBody>
          <a:bodyPr wrap="square">
            <a:spAutoFit/>
          </a:bodyPr>
          <a:lstStyle/>
          <a:p>
            <a:r>
              <a:rPr lang="en-US" dirty="0"/>
              <a:t>insert into customer values (1000, "Fanny", 7000);</a:t>
            </a:r>
          </a:p>
          <a:p>
            <a:r>
              <a:rPr lang="en-US" dirty="0"/>
              <a:t>insert into customer values (1001, "Peter", 12000); </a:t>
            </a:r>
            <a:endParaRPr lang="en-IN" dirty="0"/>
          </a:p>
        </p:txBody>
      </p:sp>
    </p:spTree>
    <p:extLst>
      <p:ext uri="{BB962C8B-B14F-4D97-AF65-F5344CB8AC3E}">
        <p14:creationId xmlns:p14="http://schemas.microsoft.com/office/powerpoint/2010/main" val="1852063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E37394-A2FA-884D-AC55-15BA15D9FCBF}"/>
              </a:ext>
            </a:extLst>
          </p:cNvPr>
          <p:cNvSpPr txBox="1"/>
          <p:nvPr/>
        </p:nvSpPr>
        <p:spPr>
          <a:xfrm>
            <a:off x="1820635" y="657136"/>
            <a:ext cx="9032421" cy="1200329"/>
          </a:xfrm>
          <a:prstGeom prst="rect">
            <a:avLst/>
          </a:prstGeom>
          <a:noFill/>
        </p:spPr>
        <p:txBody>
          <a:bodyPr wrap="square">
            <a:spAutoFit/>
          </a:bodyPr>
          <a:lstStyle/>
          <a:p>
            <a:pPr algn="just"/>
            <a:r>
              <a:rPr lang="en-US" sz="2400" b="0" i="0" dirty="0">
                <a:solidFill>
                  <a:srgbClr val="273239"/>
                </a:solidFill>
                <a:effectLst/>
                <a:latin typeface="Nunito" pitchFamily="2" charset="0"/>
              </a:rPr>
              <a:t>Trigger to insert (old) values into a </a:t>
            </a:r>
            <a:r>
              <a:rPr lang="en-US" sz="2400" b="0" i="0" dirty="0" err="1">
                <a:solidFill>
                  <a:srgbClr val="273239"/>
                </a:solidFill>
                <a:effectLst/>
                <a:latin typeface="Nunito" pitchFamily="2" charset="0"/>
              </a:rPr>
              <a:t>mini_statement</a:t>
            </a:r>
            <a:r>
              <a:rPr lang="en-US" sz="2400" b="0" i="0" dirty="0">
                <a:solidFill>
                  <a:srgbClr val="273239"/>
                </a:solidFill>
                <a:effectLst/>
                <a:latin typeface="Nunito" pitchFamily="2" charset="0"/>
              </a:rPr>
              <a:t> record (including account number and available balance as parameters) before updating any record in customer record/table:</a:t>
            </a:r>
            <a:endParaRPr lang="en-IN" sz="2400" dirty="0"/>
          </a:p>
        </p:txBody>
      </p:sp>
      <p:pic>
        <p:nvPicPr>
          <p:cNvPr id="8" name="Picture 7">
            <a:extLst>
              <a:ext uri="{FF2B5EF4-FFF2-40B4-BE49-F238E27FC236}">
                <a16:creationId xmlns:a16="http://schemas.microsoft.com/office/drawing/2014/main" id="{AF32BB72-416E-C58C-1C11-0D521D1480F4}"/>
              </a:ext>
            </a:extLst>
          </p:cNvPr>
          <p:cNvPicPr>
            <a:picLocks noChangeAspect="1"/>
          </p:cNvPicPr>
          <p:nvPr/>
        </p:nvPicPr>
        <p:blipFill>
          <a:blip r:embed="rId2"/>
          <a:stretch>
            <a:fillRect/>
          </a:stretch>
        </p:blipFill>
        <p:spPr>
          <a:xfrm>
            <a:off x="293915" y="2241712"/>
            <a:ext cx="11119022" cy="2758824"/>
          </a:xfrm>
          <a:prstGeom prst="rect">
            <a:avLst/>
          </a:prstGeom>
        </p:spPr>
      </p:pic>
    </p:spTree>
    <p:extLst>
      <p:ext uri="{BB962C8B-B14F-4D97-AF65-F5344CB8AC3E}">
        <p14:creationId xmlns:p14="http://schemas.microsoft.com/office/powerpoint/2010/main" val="6042475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C2BBDB-7F21-3534-15FA-E410BB2882A2}"/>
              </a:ext>
            </a:extLst>
          </p:cNvPr>
          <p:cNvSpPr txBox="1"/>
          <p:nvPr/>
        </p:nvSpPr>
        <p:spPr>
          <a:xfrm>
            <a:off x="1156608" y="397720"/>
            <a:ext cx="6101442" cy="369332"/>
          </a:xfrm>
          <a:prstGeom prst="rect">
            <a:avLst/>
          </a:prstGeom>
          <a:noFill/>
        </p:spPr>
        <p:txBody>
          <a:bodyPr wrap="square">
            <a:spAutoFit/>
          </a:bodyPr>
          <a:lstStyle/>
          <a:p>
            <a:r>
              <a:rPr lang="en-US" b="0" i="0" dirty="0">
                <a:solidFill>
                  <a:srgbClr val="273239"/>
                </a:solidFill>
                <a:effectLst/>
                <a:latin typeface="Nunito" pitchFamily="2" charset="0"/>
              </a:rPr>
              <a:t>Making updates to invoke trigger:</a:t>
            </a:r>
            <a:endParaRPr lang="en-IN" dirty="0"/>
          </a:p>
        </p:txBody>
      </p:sp>
      <p:sp>
        <p:nvSpPr>
          <p:cNvPr id="8" name="TextBox 7">
            <a:extLst>
              <a:ext uri="{FF2B5EF4-FFF2-40B4-BE49-F238E27FC236}">
                <a16:creationId xmlns:a16="http://schemas.microsoft.com/office/drawing/2014/main" id="{CD6BBC7E-CF19-C50B-C987-C5511040B923}"/>
              </a:ext>
            </a:extLst>
          </p:cNvPr>
          <p:cNvSpPr txBox="1"/>
          <p:nvPr/>
        </p:nvSpPr>
        <p:spPr>
          <a:xfrm>
            <a:off x="1156607" y="1422150"/>
            <a:ext cx="9108621" cy="3108543"/>
          </a:xfrm>
          <a:prstGeom prst="rect">
            <a:avLst/>
          </a:prstGeom>
          <a:noFill/>
        </p:spPr>
        <p:txBody>
          <a:bodyPr wrap="square">
            <a:spAutoFit/>
          </a:bodyPr>
          <a:lstStyle/>
          <a:p>
            <a:r>
              <a:rPr lang="en-US" sz="2800" dirty="0"/>
              <a:t>delimiter;</a:t>
            </a:r>
          </a:p>
          <a:p>
            <a:endParaRPr lang="en-US" sz="2800" dirty="0"/>
          </a:p>
          <a:p>
            <a:r>
              <a:rPr lang="en-US" sz="2800" dirty="0"/>
              <a:t>update customer set </a:t>
            </a:r>
            <a:r>
              <a:rPr lang="en-US" sz="2800" dirty="0" err="1"/>
              <a:t>avail_balance</a:t>
            </a:r>
            <a:r>
              <a:rPr lang="en-US" sz="2800" dirty="0"/>
              <a:t> = </a:t>
            </a:r>
            <a:r>
              <a:rPr lang="en-US" sz="2800" dirty="0" err="1"/>
              <a:t>avail_balance</a:t>
            </a:r>
            <a:r>
              <a:rPr lang="en-US" sz="2800" dirty="0"/>
              <a:t> + 3000 where </a:t>
            </a:r>
            <a:r>
              <a:rPr lang="en-US" sz="2800" dirty="0" err="1"/>
              <a:t>acc_no</a:t>
            </a:r>
            <a:r>
              <a:rPr lang="en-US" sz="2800" dirty="0"/>
              <a:t> = 1001;</a:t>
            </a:r>
          </a:p>
          <a:p>
            <a:endParaRPr lang="en-US" sz="2800" dirty="0"/>
          </a:p>
          <a:p>
            <a:r>
              <a:rPr lang="en-US" sz="2800" dirty="0"/>
              <a:t>update customer set </a:t>
            </a:r>
            <a:r>
              <a:rPr lang="en-US" sz="2800" dirty="0" err="1"/>
              <a:t>avail_balance</a:t>
            </a:r>
            <a:r>
              <a:rPr lang="en-US" sz="2800" dirty="0"/>
              <a:t> = </a:t>
            </a:r>
            <a:r>
              <a:rPr lang="en-US" sz="2800" dirty="0" err="1"/>
              <a:t>avail_balance</a:t>
            </a:r>
            <a:r>
              <a:rPr lang="en-US" sz="2800" dirty="0"/>
              <a:t> + 3000 where </a:t>
            </a:r>
            <a:r>
              <a:rPr lang="en-US" sz="2800" dirty="0" err="1"/>
              <a:t>acc_no</a:t>
            </a:r>
            <a:r>
              <a:rPr lang="en-US" sz="2800" dirty="0"/>
              <a:t> = 1000; </a:t>
            </a:r>
            <a:endParaRPr lang="en-IN" sz="2800" dirty="0"/>
          </a:p>
        </p:txBody>
      </p:sp>
    </p:spTree>
    <p:extLst>
      <p:ext uri="{BB962C8B-B14F-4D97-AF65-F5344CB8AC3E}">
        <p14:creationId xmlns:p14="http://schemas.microsoft.com/office/powerpoint/2010/main" val="35949299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3A43741-881F-6A4C-AF20-8CD0E6AE5A5D}"/>
              </a:ext>
            </a:extLst>
          </p:cNvPr>
          <p:cNvSpPr txBox="1"/>
          <p:nvPr/>
        </p:nvSpPr>
        <p:spPr>
          <a:xfrm>
            <a:off x="1115786" y="603880"/>
            <a:ext cx="8392884" cy="3539430"/>
          </a:xfrm>
          <a:prstGeom prst="rect">
            <a:avLst/>
          </a:prstGeom>
          <a:noFill/>
        </p:spPr>
        <p:txBody>
          <a:bodyPr wrap="square">
            <a:spAutoFit/>
          </a:bodyPr>
          <a:lstStyle/>
          <a:p>
            <a:r>
              <a:rPr lang="en-IN" sz="2800" dirty="0"/>
              <a:t>select * from </a:t>
            </a:r>
            <a:r>
              <a:rPr lang="en-IN" sz="2800" dirty="0" err="1"/>
              <a:t>mini_statement</a:t>
            </a:r>
            <a:r>
              <a:rPr lang="en-IN" sz="2800" dirty="0"/>
              <a:t>;</a:t>
            </a:r>
          </a:p>
          <a:p>
            <a:r>
              <a:rPr lang="en-IN" sz="2800" dirty="0"/>
              <a:t>+--------+---------------+</a:t>
            </a:r>
          </a:p>
          <a:p>
            <a:r>
              <a:rPr lang="en-IN" sz="2800" dirty="0"/>
              <a:t>| </a:t>
            </a:r>
            <a:r>
              <a:rPr lang="en-IN" sz="2800" dirty="0" err="1"/>
              <a:t>acc_no</a:t>
            </a:r>
            <a:r>
              <a:rPr lang="en-IN" sz="2800" dirty="0"/>
              <a:t> | </a:t>
            </a:r>
            <a:r>
              <a:rPr lang="en-IN" sz="2800" dirty="0" err="1"/>
              <a:t>avail_balance</a:t>
            </a:r>
            <a:r>
              <a:rPr lang="en-IN" sz="2800" dirty="0"/>
              <a:t> |</a:t>
            </a:r>
          </a:p>
          <a:p>
            <a:r>
              <a:rPr lang="en-IN" sz="2800" dirty="0"/>
              <a:t>+--------+---------------+</a:t>
            </a:r>
          </a:p>
          <a:p>
            <a:r>
              <a:rPr lang="en-IN" sz="2800" dirty="0"/>
              <a:t>|   1001 |         12000 |</a:t>
            </a:r>
          </a:p>
          <a:p>
            <a:r>
              <a:rPr lang="en-IN" sz="2800" dirty="0"/>
              <a:t>|   1000 |          7000 |</a:t>
            </a:r>
          </a:p>
          <a:p>
            <a:r>
              <a:rPr lang="en-IN" sz="2800" dirty="0"/>
              <a:t>+--------+---------------+</a:t>
            </a:r>
          </a:p>
          <a:p>
            <a:r>
              <a:rPr lang="en-IN" sz="2800" dirty="0"/>
              <a:t>2 rows in set (0.0007 sec) </a:t>
            </a:r>
          </a:p>
        </p:txBody>
      </p:sp>
    </p:spTree>
    <p:extLst>
      <p:ext uri="{BB962C8B-B14F-4D97-AF65-F5344CB8AC3E}">
        <p14:creationId xmlns:p14="http://schemas.microsoft.com/office/powerpoint/2010/main" val="5780276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1261071-E8F1-5028-6E24-EC0B420B4611}"/>
              </a:ext>
            </a:extLst>
          </p:cNvPr>
          <p:cNvSpPr txBox="1"/>
          <p:nvPr/>
        </p:nvSpPr>
        <p:spPr>
          <a:xfrm>
            <a:off x="576943" y="228600"/>
            <a:ext cx="11212286" cy="1200329"/>
          </a:xfrm>
          <a:prstGeom prst="rect">
            <a:avLst/>
          </a:prstGeom>
          <a:noFill/>
        </p:spPr>
        <p:txBody>
          <a:bodyPr wrap="square">
            <a:spAutoFit/>
          </a:bodyPr>
          <a:lstStyle/>
          <a:p>
            <a:r>
              <a:rPr lang="en-US" sz="2400" b="1" i="0" dirty="0">
                <a:solidFill>
                  <a:srgbClr val="273239"/>
                </a:solidFill>
                <a:effectLst/>
                <a:latin typeface="Nunito" pitchFamily="2" charset="0"/>
              </a:rPr>
              <a:t>2. After Update Trigger:</a:t>
            </a:r>
            <a:br>
              <a:rPr lang="en-US" sz="2400" dirty="0"/>
            </a:br>
            <a:r>
              <a:rPr lang="en-US" sz="2400" b="0" i="0" dirty="0">
                <a:solidFill>
                  <a:srgbClr val="273239"/>
                </a:solidFill>
                <a:effectLst/>
                <a:latin typeface="Nunito" pitchFamily="2" charset="0"/>
              </a:rPr>
              <a:t>As the name implies, this trigger is invoked after an </a:t>
            </a:r>
            <a:r>
              <a:rPr lang="en-US" sz="2400" b="0" i="0" dirty="0" err="1">
                <a:solidFill>
                  <a:srgbClr val="273239"/>
                </a:solidFill>
                <a:effectLst/>
                <a:latin typeface="Nunito" pitchFamily="2" charset="0"/>
              </a:rPr>
              <a:t>updation</a:t>
            </a:r>
            <a:r>
              <a:rPr lang="en-US" sz="2400" b="0" i="0" dirty="0">
                <a:solidFill>
                  <a:srgbClr val="273239"/>
                </a:solidFill>
                <a:effectLst/>
                <a:latin typeface="Nunito" pitchFamily="2" charset="0"/>
              </a:rPr>
              <a:t> occurs. (i.e., it gets implemented after an update statement is executed.).</a:t>
            </a:r>
            <a:endParaRPr lang="en-IN" sz="2400" dirty="0"/>
          </a:p>
        </p:txBody>
      </p:sp>
      <p:sp>
        <p:nvSpPr>
          <p:cNvPr id="10" name="TextBox 9">
            <a:extLst>
              <a:ext uri="{FF2B5EF4-FFF2-40B4-BE49-F238E27FC236}">
                <a16:creationId xmlns:a16="http://schemas.microsoft.com/office/drawing/2014/main" id="{E89B0967-FDE0-93DC-7B3E-2A4493476935}"/>
              </a:ext>
            </a:extLst>
          </p:cNvPr>
          <p:cNvSpPr txBox="1"/>
          <p:nvPr/>
        </p:nvSpPr>
        <p:spPr>
          <a:xfrm>
            <a:off x="1491344" y="2039621"/>
            <a:ext cx="10003970" cy="1200329"/>
          </a:xfrm>
          <a:prstGeom prst="rect">
            <a:avLst/>
          </a:prstGeom>
          <a:noFill/>
        </p:spPr>
        <p:txBody>
          <a:bodyPr wrap="square">
            <a:spAutoFit/>
          </a:bodyPr>
          <a:lstStyle/>
          <a:p>
            <a:r>
              <a:rPr lang="en-US" sz="2400" dirty="0"/>
              <a:t>create table </a:t>
            </a:r>
            <a:r>
              <a:rPr lang="en-US" sz="2400" dirty="0" err="1"/>
              <a:t>micro_statement</a:t>
            </a:r>
            <a:r>
              <a:rPr lang="en-US" sz="2400" dirty="0"/>
              <a:t> (</a:t>
            </a:r>
            <a:r>
              <a:rPr lang="en-US" sz="2400" dirty="0" err="1"/>
              <a:t>acc_no</a:t>
            </a:r>
            <a:r>
              <a:rPr lang="en-US" sz="2400" dirty="0"/>
              <a:t> integer, </a:t>
            </a:r>
          </a:p>
          <a:p>
            <a:r>
              <a:rPr lang="en-US" sz="2400" dirty="0"/>
              <a:t>                                  </a:t>
            </a:r>
            <a:r>
              <a:rPr lang="en-US" sz="2400" dirty="0" err="1"/>
              <a:t>avail_balance</a:t>
            </a:r>
            <a:r>
              <a:rPr lang="en-US" sz="2400" dirty="0"/>
              <a:t> decimal, </a:t>
            </a:r>
          </a:p>
          <a:p>
            <a:r>
              <a:rPr lang="en-US" sz="2400" dirty="0"/>
              <a:t>            foreign key(</a:t>
            </a:r>
            <a:r>
              <a:rPr lang="en-US" sz="2400" dirty="0" err="1"/>
              <a:t>acc_no</a:t>
            </a:r>
            <a:r>
              <a:rPr lang="en-US" sz="2400" dirty="0"/>
              <a:t>) references customer(</a:t>
            </a:r>
            <a:r>
              <a:rPr lang="en-US" sz="2400" dirty="0" err="1"/>
              <a:t>acc_no</a:t>
            </a:r>
            <a:r>
              <a:rPr lang="en-US" sz="2400" dirty="0"/>
              <a:t>) on delete cascade); </a:t>
            </a:r>
            <a:endParaRPr lang="en-IN" sz="2400" dirty="0"/>
          </a:p>
        </p:txBody>
      </p:sp>
      <p:sp>
        <p:nvSpPr>
          <p:cNvPr id="16" name="TextBox 15">
            <a:extLst>
              <a:ext uri="{FF2B5EF4-FFF2-40B4-BE49-F238E27FC236}">
                <a16:creationId xmlns:a16="http://schemas.microsoft.com/office/drawing/2014/main" id="{87886A08-EB44-1F22-71DD-B53069DF2EAB}"/>
              </a:ext>
            </a:extLst>
          </p:cNvPr>
          <p:cNvSpPr txBox="1"/>
          <p:nvPr/>
        </p:nvSpPr>
        <p:spPr>
          <a:xfrm>
            <a:off x="1393371" y="3737792"/>
            <a:ext cx="8490857" cy="1569660"/>
          </a:xfrm>
          <a:prstGeom prst="rect">
            <a:avLst/>
          </a:prstGeom>
          <a:noFill/>
        </p:spPr>
        <p:txBody>
          <a:bodyPr wrap="square">
            <a:spAutoFit/>
          </a:bodyPr>
          <a:lstStyle/>
          <a:p>
            <a:r>
              <a:rPr lang="en-US" sz="2400" dirty="0"/>
              <a:t>Insert another value into customer:</a:t>
            </a:r>
          </a:p>
          <a:p>
            <a:endParaRPr lang="en-US" sz="2400" dirty="0"/>
          </a:p>
          <a:p>
            <a:r>
              <a:rPr lang="en-US" sz="2400" dirty="0"/>
              <a:t>insert into customer values (1002, "Janitor", 4500);</a:t>
            </a:r>
          </a:p>
          <a:p>
            <a:r>
              <a:rPr lang="en-US" sz="2400" dirty="0"/>
              <a:t>Query OK, 1 row affected (0.0786 sec) </a:t>
            </a:r>
            <a:endParaRPr lang="en-IN" sz="2400" dirty="0"/>
          </a:p>
        </p:txBody>
      </p:sp>
    </p:spTree>
    <p:extLst>
      <p:ext uri="{BB962C8B-B14F-4D97-AF65-F5344CB8AC3E}">
        <p14:creationId xmlns:p14="http://schemas.microsoft.com/office/powerpoint/2010/main" val="4557287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5E18563-568E-382F-E140-5FCF05B77EE3}"/>
              </a:ext>
            </a:extLst>
          </p:cNvPr>
          <p:cNvSpPr txBox="1"/>
          <p:nvPr/>
        </p:nvSpPr>
        <p:spPr>
          <a:xfrm>
            <a:off x="1298121" y="425521"/>
            <a:ext cx="9772649" cy="646331"/>
          </a:xfrm>
          <a:prstGeom prst="rect">
            <a:avLst/>
          </a:prstGeom>
          <a:noFill/>
        </p:spPr>
        <p:txBody>
          <a:bodyPr wrap="square">
            <a:spAutoFit/>
          </a:bodyPr>
          <a:lstStyle/>
          <a:p>
            <a:r>
              <a:rPr lang="en-US" dirty="0"/>
              <a:t>Trigger to insert (new) values of account number and available balance into </a:t>
            </a:r>
            <a:r>
              <a:rPr lang="en-US" dirty="0" err="1"/>
              <a:t>micro_statement</a:t>
            </a:r>
            <a:r>
              <a:rPr lang="en-US" dirty="0"/>
              <a:t> record after an update has occurred:</a:t>
            </a:r>
            <a:endParaRPr lang="en-IN" dirty="0"/>
          </a:p>
        </p:txBody>
      </p:sp>
      <p:sp>
        <p:nvSpPr>
          <p:cNvPr id="8" name="TextBox 7">
            <a:extLst>
              <a:ext uri="{FF2B5EF4-FFF2-40B4-BE49-F238E27FC236}">
                <a16:creationId xmlns:a16="http://schemas.microsoft.com/office/drawing/2014/main" id="{D5865137-1D99-2C03-AE87-F15993B0EBEA}"/>
              </a:ext>
            </a:extLst>
          </p:cNvPr>
          <p:cNvSpPr txBox="1"/>
          <p:nvPr/>
        </p:nvSpPr>
        <p:spPr>
          <a:xfrm>
            <a:off x="1915885" y="1972466"/>
            <a:ext cx="9772649" cy="2677656"/>
          </a:xfrm>
          <a:prstGeom prst="rect">
            <a:avLst/>
          </a:prstGeom>
          <a:noFill/>
        </p:spPr>
        <p:txBody>
          <a:bodyPr wrap="square">
            <a:spAutoFit/>
          </a:bodyPr>
          <a:lstStyle/>
          <a:p>
            <a:r>
              <a:rPr lang="en-US" sz="2400" dirty="0"/>
              <a:t>delimiter //</a:t>
            </a:r>
          </a:p>
          <a:p>
            <a:r>
              <a:rPr lang="en-US" sz="2400" dirty="0"/>
              <a:t>create trigger </a:t>
            </a:r>
            <a:r>
              <a:rPr lang="en-US" sz="2400" dirty="0" err="1"/>
              <a:t>update_after</a:t>
            </a:r>
            <a:endParaRPr lang="en-US" sz="2400" dirty="0"/>
          </a:p>
          <a:p>
            <a:r>
              <a:rPr lang="en-US" sz="2400" dirty="0"/>
              <a:t>       -&gt; after update on customer</a:t>
            </a:r>
          </a:p>
          <a:p>
            <a:r>
              <a:rPr lang="en-US" sz="2400" dirty="0"/>
              <a:t>       -&gt; for each row</a:t>
            </a:r>
          </a:p>
          <a:p>
            <a:r>
              <a:rPr lang="en-US" sz="2400" dirty="0"/>
              <a:t>       -&gt; begin</a:t>
            </a:r>
          </a:p>
          <a:p>
            <a:r>
              <a:rPr lang="en-US" sz="2400" dirty="0"/>
              <a:t>       -&gt; insert into </a:t>
            </a:r>
            <a:r>
              <a:rPr lang="en-US" sz="2400" dirty="0" err="1"/>
              <a:t>micro_statement</a:t>
            </a:r>
            <a:r>
              <a:rPr lang="en-US" sz="2400" dirty="0"/>
              <a:t> values(</a:t>
            </a:r>
            <a:r>
              <a:rPr lang="en-US" sz="2400" dirty="0" err="1"/>
              <a:t>new.acc_no</a:t>
            </a:r>
            <a:r>
              <a:rPr lang="en-US" sz="2400" dirty="0"/>
              <a:t>, </a:t>
            </a:r>
            <a:r>
              <a:rPr lang="en-US" sz="2400" dirty="0" err="1"/>
              <a:t>new.avail_balance</a:t>
            </a:r>
            <a:r>
              <a:rPr lang="en-US" sz="2400" dirty="0"/>
              <a:t>);</a:t>
            </a:r>
          </a:p>
          <a:p>
            <a:r>
              <a:rPr lang="en-US" sz="2400" dirty="0"/>
              <a:t>       -&gt; end; // </a:t>
            </a:r>
            <a:endParaRPr lang="en-IN" sz="2400" dirty="0"/>
          </a:p>
        </p:txBody>
      </p:sp>
    </p:spTree>
    <p:extLst>
      <p:ext uri="{BB962C8B-B14F-4D97-AF65-F5344CB8AC3E}">
        <p14:creationId xmlns:p14="http://schemas.microsoft.com/office/powerpoint/2010/main" val="283510519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2965482-69CF-0D65-454C-957B67D3FE0B}"/>
              </a:ext>
            </a:extLst>
          </p:cNvPr>
          <p:cNvSpPr txBox="1"/>
          <p:nvPr/>
        </p:nvSpPr>
        <p:spPr>
          <a:xfrm>
            <a:off x="685801" y="469063"/>
            <a:ext cx="9176656" cy="646331"/>
          </a:xfrm>
          <a:prstGeom prst="rect">
            <a:avLst/>
          </a:prstGeom>
          <a:noFill/>
        </p:spPr>
        <p:txBody>
          <a:bodyPr wrap="square">
            <a:spAutoFit/>
          </a:bodyPr>
          <a:lstStyle/>
          <a:p>
            <a:r>
              <a:rPr lang="en-US" dirty="0"/>
              <a:t>delimiter ;</a:t>
            </a:r>
          </a:p>
          <a:p>
            <a:r>
              <a:rPr lang="en-US" dirty="0"/>
              <a:t>update customer set </a:t>
            </a:r>
            <a:r>
              <a:rPr lang="en-US" dirty="0" err="1"/>
              <a:t>avail_balance</a:t>
            </a:r>
            <a:r>
              <a:rPr lang="en-US" dirty="0"/>
              <a:t> = </a:t>
            </a:r>
            <a:r>
              <a:rPr lang="en-US" dirty="0" err="1"/>
              <a:t>avail_balance</a:t>
            </a:r>
            <a:r>
              <a:rPr lang="en-US" dirty="0"/>
              <a:t> + 1500 where </a:t>
            </a:r>
            <a:r>
              <a:rPr lang="en-US" dirty="0" err="1"/>
              <a:t>acc_no</a:t>
            </a:r>
            <a:r>
              <a:rPr lang="en-US" dirty="0"/>
              <a:t> = 1002; </a:t>
            </a:r>
            <a:endParaRPr lang="en-IN" dirty="0"/>
          </a:p>
        </p:txBody>
      </p:sp>
      <p:sp>
        <p:nvSpPr>
          <p:cNvPr id="13" name="TextBox 12">
            <a:extLst>
              <a:ext uri="{FF2B5EF4-FFF2-40B4-BE49-F238E27FC236}">
                <a16:creationId xmlns:a16="http://schemas.microsoft.com/office/drawing/2014/main" id="{572E661B-6E09-29F6-0696-C2ACCB19A645}"/>
              </a:ext>
            </a:extLst>
          </p:cNvPr>
          <p:cNvSpPr txBox="1"/>
          <p:nvPr/>
        </p:nvSpPr>
        <p:spPr>
          <a:xfrm>
            <a:off x="1246415" y="1983352"/>
            <a:ext cx="7674428" cy="2677656"/>
          </a:xfrm>
          <a:prstGeom prst="rect">
            <a:avLst/>
          </a:prstGeom>
          <a:noFill/>
        </p:spPr>
        <p:txBody>
          <a:bodyPr wrap="square">
            <a:spAutoFit/>
          </a:bodyPr>
          <a:lstStyle/>
          <a:p>
            <a:r>
              <a:rPr lang="en-US" sz="2400" dirty="0"/>
              <a:t>select * from </a:t>
            </a:r>
            <a:r>
              <a:rPr lang="en-US" sz="2400" dirty="0" err="1"/>
              <a:t>micro_statement</a:t>
            </a:r>
            <a:r>
              <a:rPr lang="en-US" sz="2400" dirty="0"/>
              <a:t>;</a:t>
            </a:r>
          </a:p>
          <a:p>
            <a:r>
              <a:rPr lang="en-US" sz="2400" dirty="0"/>
              <a:t>+--------+---------------+</a:t>
            </a:r>
          </a:p>
          <a:p>
            <a:r>
              <a:rPr lang="en-US" sz="2400" dirty="0"/>
              <a:t>| </a:t>
            </a:r>
            <a:r>
              <a:rPr lang="en-US" sz="2400" dirty="0" err="1"/>
              <a:t>acc_no</a:t>
            </a:r>
            <a:r>
              <a:rPr lang="en-US" sz="2400" dirty="0"/>
              <a:t> | </a:t>
            </a:r>
            <a:r>
              <a:rPr lang="en-US" sz="2400" dirty="0" err="1"/>
              <a:t>avail_balance</a:t>
            </a:r>
            <a:r>
              <a:rPr lang="en-US" sz="2400" dirty="0"/>
              <a:t> |</a:t>
            </a:r>
          </a:p>
          <a:p>
            <a:r>
              <a:rPr lang="en-US" sz="2400" dirty="0"/>
              <a:t>+--------+---------------+</a:t>
            </a:r>
          </a:p>
          <a:p>
            <a:r>
              <a:rPr lang="en-US" sz="2400" dirty="0"/>
              <a:t>|   1002 |          6000 |</a:t>
            </a:r>
          </a:p>
          <a:p>
            <a:r>
              <a:rPr lang="en-US" sz="2400" dirty="0"/>
              <a:t>+--------+---------------+</a:t>
            </a:r>
          </a:p>
          <a:p>
            <a:r>
              <a:rPr lang="en-US" sz="2400" dirty="0"/>
              <a:t>1 row in set (0.0007 sec) </a:t>
            </a:r>
            <a:endParaRPr lang="en-IN" sz="2400" dirty="0"/>
          </a:p>
        </p:txBody>
      </p:sp>
    </p:spTree>
    <p:extLst>
      <p:ext uri="{BB962C8B-B14F-4D97-AF65-F5344CB8AC3E}">
        <p14:creationId xmlns:p14="http://schemas.microsoft.com/office/powerpoint/2010/main" val="16225388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88386B-4C3B-1145-7FE4-1C91C44C0D20}"/>
              </a:ext>
            </a:extLst>
          </p:cNvPr>
          <p:cNvSpPr txBox="1"/>
          <p:nvPr/>
        </p:nvSpPr>
        <p:spPr>
          <a:xfrm>
            <a:off x="721178" y="458178"/>
            <a:ext cx="10240735" cy="923330"/>
          </a:xfrm>
          <a:prstGeom prst="rect">
            <a:avLst/>
          </a:prstGeom>
          <a:noFill/>
        </p:spPr>
        <p:txBody>
          <a:bodyPr wrap="square">
            <a:spAutoFit/>
          </a:bodyPr>
          <a:lstStyle/>
          <a:p>
            <a:r>
              <a:rPr lang="en-US" b="1" i="0" dirty="0">
                <a:solidFill>
                  <a:srgbClr val="273239"/>
                </a:solidFill>
                <a:effectLst/>
                <a:latin typeface="Nunito" pitchFamily="2" charset="0"/>
              </a:rPr>
              <a:t>3. Before Insert Trigger:</a:t>
            </a:r>
            <a:br>
              <a:rPr lang="en-US" dirty="0"/>
            </a:br>
            <a:r>
              <a:rPr lang="en-US" b="0" i="0" dirty="0">
                <a:solidFill>
                  <a:srgbClr val="273239"/>
                </a:solidFill>
                <a:effectLst/>
                <a:latin typeface="Nunito" pitchFamily="2" charset="0"/>
              </a:rPr>
              <a:t>As the name implies, this trigger is invoked before an insert, or before an insert statement is executed.</a:t>
            </a:r>
            <a:endParaRPr lang="en-IN" dirty="0"/>
          </a:p>
        </p:txBody>
      </p:sp>
      <p:sp>
        <p:nvSpPr>
          <p:cNvPr id="8" name="TextBox 7">
            <a:extLst>
              <a:ext uri="{FF2B5EF4-FFF2-40B4-BE49-F238E27FC236}">
                <a16:creationId xmlns:a16="http://schemas.microsoft.com/office/drawing/2014/main" id="{7EC4E76D-4E8B-987F-0D3B-69E570632C0A}"/>
              </a:ext>
            </a:extLst>
          </p:cNvPr>
          <p:cNvSpPr txBox="1"/>
          <p:nvPr/>
        </p:nvSpPr>
        <p:spPr>
          <a:xfrm>
            <a:off x="1086315" y="1651072"/>
            <a:ext cx="10019370" cy="2246769"/>
          </a:xfrm>
          <a:prstGeom prst="rect">
            <a:avLst/>
          </a:prstGeom>
          <a:noFill/>
        </p:spPr>
        <p:txBody>
          <a:bodyPr wrap="square">
            <a:spAutoFit/>
          </a:bodyPr>
          <a:lstStyle/>
          <a:p>
            <a:r>
              <a:rPr lang="en-US" sz="2000" dirty="0"/>
              <a:t>Considering tables:</a:t>
            </a:r>
          </a:p>
          <a:p>
            <a:endParaRPr lang="en-US" sz="2000" dirty="0"/>
          </a:p>
          <a:p>
            <a:r>
              <a:rPr lang="en-US" sz="2000" dirty="0"/>
              <a:t>create table contacts (</a:t>
            </a:r>
            <a:r>
              <a:rPr lang="en-US" sz="2000" dirty="0" err="1"/>
              <a:t>contact_id</a:t>
            </a:r>
            <a:r>
              <a:rPr lang="en-US" sz="2000" dirty="0"/>
              <a:t> INT (11) NOT NULL AUTO_INCREMENT, </a:t>
            </a:r>
          </a:p>
          <a:p>
            <a:r>
              <a:rPr lang="en-US" sz="2000" dirty="0"/>
              <a:t>                              </a:t>
            </a:r>
            <a:r>
              <a:rPr lang="en-US" sz="2000" dirty="0" err="1"/>
              <a:t>last_name</a:t>
            </a:r>
            <a:r>
              <a:rPr lang="en-US" sz="2000" dirty="0"/>
              <a:t> VARCHAR (30) NOT NULL, </a:t>
            </a:r>
            <a:r>
              <a:rPr lang="en-US" sz="2000" dirty="0" err="1"/>
              <a:t>first_name</a:t>
            </a:r>
            <a:r>
              <a:rPr lang="en-US" sz="2000" dirty="0"/>
              <a:t> VARCHAR (25),</a:t>
            </a:r>
          </a:p>
          <a:p>
            <a:r>
              <a:rPr lang="en-US" sz="2000" dirty="0"/>
              <a:t>             birthday DATE, </a:t>
            </a:r>
            <a:r>
              <a:rPr lang="en-US" sz="2000" dirty="0" err="1"/>
              <a:t>created_date</a:t>
            </a:r>
            <a:r>
              <a:rPr lang="en-US" sz="2000" dirty="0"/>
              <a:t> DATE, </a:t>
            </a:r>
          </a:p>
          <a:p>
            <a:r>
              <a:rPr lang="en-US" sz="2000" dirty="0"/>
              <a:t>                            </a:t>
            </a:r>
            <a:r>
              <a:rPr lang="en-US" sz="2000" dirty="0" err="1"/>
              <a:t>created_by</a:t>
            </a:r>
            <a:r>
              <a:rPr lang="en-US" sz="2000" dirty="0"/>
              <a:t> VARCHAR(30), </a:t>
            </a:r>
          </a:p>
          <a:p>
            <a:r>
              <a:rPr lang="en-US" sz="2000" dirty="0"/>
              <a:t>                            CONSTRAINT </a:t>
            </a:r>
            <a:r>
              <a:rPr lang="en-US" sz="2000" dirty="0" err="1"/>
              <a:t>contacts_pk</a:t>
            </a:r>
            <a:r>
              <a:rPr lang="en-US" sz="2000" dirty="0"/>
              <a:t> PRIMARY KEY (</a:t>
            </a:r>
            <a:r>
              <a:rPr lang="en-US" sz="2000" dirty="0" err="1"/>
              <a:t>contact_id</a:t>
            </a:r>
            <a:r>
              <a:rPr lang="en-US" sz="2000" dirty="0"/>
              <a:t>)); </a:t>
            </a:r>
            <a:endParaRPr lang="en-IN" sz="2000" dirty="0"/>
          </a:p>
        </p:txBody>
      </p:sp>
    </p:spTree>
    <p:extLst>
      <p:ext uri="{BB962C8B-B14F-4D97-AF65-F5344CB8AC3E}">
        <p14:creationId xmlns:p14="http://schemas.microsoft.com/office/powerpoint/2010/main" val="18558156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5D5DF21-2A1B-589D-6294-130B8C458C28}"/>
              </a:ext>
            </a:extLst>
          </p:cNvPr>
          <p:cNvSpPr txBox="1"/>
          <p:nvPr/>
        </p:nvSpPr>
        <p:spPr>
          <a:xfrm>
            <a:off x="1145788" y="336077"/>
            <a:ext cx="18906892" cy="2862322"/>
          </a:xfrm>
          <a:prstGeom prst="rect">
            <a:avLst/>
          </a:prstGeom>
          <a:noFill/>
        </p:spPr>
        <p:txBody>
          <a:bodyPr wrap="square">
            <a:spAutoFit/>
          </a:bodyPr>
          <a:lstStyle/>
          <a:p>
            <a:r>
              <a:rPr lang="en-US" dirty="0"/>
              <a:t>delimiter //</a:t>
            </a:r>
          </a:p>
          <a:p>
            <a:r>
              <a:rPr lang="en-US" dirty="0"/>
              <a:t>create trigger </a:t>
            </a:r>
            <a:r>
              <a:rPr lang="en-US" dirty="0" err="1"/>
              <a:t>contacts_before_insert</a:t>
            </a:r>
            <a:endParaRPr lang="en-US" dirty="0"/>
          </a:p>
          <a:p>
            <a:r>
              <a:rPr lang="en-US" dirty="0"/>
              <a:t>            before insert</a:t>
            </a:r>
          </a:p>
          <a:p>
            <a:r>
              <a:rPr lang="en-US" dirty="0"/>
              <a:t>            on contacts for each row</a:t>
            </a:r>
          </a:p>
          <a:p>
            <a:r>
              <a:rPr lang="en-US" dirty="0"/>
              <a:t>             begin</a:t>
            </a:r>
          </a:p>
          <a:p>
            <a:r>
              <a:rPr lang="en-US" dirty="0"/>
              <a:t>            DECLARE </a:t>
            </a:r>
            <a:r>
              <a:rPr lang="en-US" dirty="0" err="1"/>
              <a:t>vUser</a:t>
            </a:r>
            <a:r>
              <a:rPr lang="en-US" dirty="0"/>
              <a:t> varchar(50);</a:t>
            </a:r>
          </a:p>
          <a:p>
            <a:r>
              <a:rPr lang="en-US" dirty="0"/>
              <a:t>            select USER() into </a:t>
            </a:r>
            <a:r>
              <a:rPr lang="en-US" dirty="0" err="1"/>
              <a:t>vUser</a:t>
            </a:r>
            <a:r>
              <a:rPr lang="en-US" dirty="0"/>
              <a:t>;</a:t>
            </a:r>
          </a:p>
          <a:p>
            <a:r>
              <a:rPr lang="en-US" dirty="0"/>
              <a:t>            SET </a:t>
            </a:r>
            <a:r>
              <a:rPr lang="en-US" dirty="0" err="1"/>
              <a:t>NEW.created_date</a:t>
            </a:r>
            <a:r>
              <a:rPr lang="en-US" dirty="0"/>
              <a:t> = SYSDATE();</a:t>
            </a:r>
          </a:p>
          <a:p>
            <a:r>
              <a:rPr lang="en-US" dirty="0"/>
              <a:t>SET </a:t>
            </a:r>
            <a:r>
              <a:rPr lang="en-US" dirty="0" err="1"/>
              <a:t>NEW.created_by</a:t>
            </a:r>
            <a:r>
              <a:rPr lang="en-US" dirty="0"/>
              <a:t> = </a:t>
            </a:r>
            <a:r>
              <a:rPr lang="en-US" dirty="0" err="1"/>
              <a:t>vUser</a:t>
            </a:r>
            <a:r>
              <a:rPr lang="en-US" dirty="0"/>
              <a:t>;</a:t>
            </a:r>
          </a:p>
          <a:p>
            <a:r>
              <a:rPr lang="en-US" dirty="0"/>
              <a:t>    end; // </a:t>
            </a:r>
            <a:endParaRPr lang="en-IN" dirty="0"/>
          </a:p>
        </p:txBody>
      </p:sp>
      <p:sp>
        <p:nvSpPr>
          <p:cNvPr id="10" name="TextBox 9">
            <a:extLst>
              <a:ext uri="{FF2B5EF4-FFF2-40B4-BE49-F238E27FC236}">
                <a16:creationId xmlns:a16="http://schemas.microsoft.com/office/drawing/2014/main" id="{B8C7DE83-BDEA-6F3F-A980-8D5445EDCE28}"/>
              </a:ext>
            </a:extLst>
          </p:cNvPr>
          <p:cNvSpPr txBox="1"/>
          <p:nvPr/>
        </p:nvSpPr>
        <p:spPr>
          <a:xfrm>
            <a:off x="1276815" y="5352805"/>
            <a:ext cx="10024946" cy="646331"/>
          </a:xfrm>
          <a:prstGeom prst="rect">
            <a:avLst/>
          </a:prstGeom>
          <a:noFill/>
        </p:spPr>
        <p:txBody>
          <a:bodyPr wrap="square">
            <a:spAutoFit/>
          </a:bodyPr>
          <a:lstStyle/>
          <a:p>
            <a:r>
              <a:rPr lang="en-US" b="1" i="0" dirty="0">
                <a:solidFill>
                  <a:srgbClr val="273239"/>
                </a:solidFill>
                <a:effectLst/>
                <a:latin typeface="Nunito" pitchFamily="2" charset="0"/>
              </a:rPr>
              <a:t>Trigger to insert contact information such as name, birthday and creation-date/user into a table contact before an insert occurs:</a:t>
            </a:r>
            <a:endParaRPr lang="en-IN" b="1" dirty="0"/>
          </a:p>
        </p:txBody>
      </p:sp>
    </p:spTree>
    <p:extLst>
      <p:ext uri="{BB962C8B-B14F-4D97-AF65-F5344CB8AC3E}">
        <p14:creationId xmlns:p14="http://schemas.microsoft.com/office/powerpoint/2010/main" val="41705295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704961-F4D0-ECDF-8A07-D2EC047D3E78}"/>
              </a:ext>
            </a:extLst>
          </p:cNvPr>
          <p:cNvSpPr txBox="1"/>
          <p:nvPr/>
        </p:nvSpPr>
        <p:spPr>
          <a:xfrm>
            <a:off x="1812472" y="306951"/>
            <a:ext cx="6455228" cy="1754326"/>
          </a:xfrm>
          <a:prstGeom prst="rect">
            <a:avLst/>
          </a:prstGeom>
          <a:noFill/>
        </p:spPr>
        <p:txBody>
          <a:bodyPr wrap="square">
            <a:spAutoFit/>
          </a:bodyPr>
          <a:lstStyle/>
          <a:p>
            <a:r>
              <a:rPr lang="en-US" dirty="0"/>
              <a:t>Making an insert to invoke the trigger:</a:t>
            </a:r>
          </a:p>
          <a:p>
            <a:endParaRPr lang="en-US" dirty="0"/>
          </a:p>
          <a:p>
            <a:r>
              <a:rPr lang="en-US" dirty="0"/>
              <a:t>delimiter;</a:t>
            </a:r>
          </a:p>
          <a:p>
            <a:r>
              <a:rPr lang="en-US" dirty="0"/>
              <a:t>insert into contacts values (1, "Newton", "Enigma", </a:t>
            </a:r>
          </a:p>
          <a:p>
            <a:r>
              <a:rPr lang="en-US" dirty="0"/>
              <a:t>                     </a:t>
            </a:r>
            <a:r>
              <a:rPr lang="en-US" dirty="0" err="1"/>
              <a:t>str_to_date</a:t>
            </a:r>
            <a:r>
              <a:rPr lang="en-US" dirty="0"/>
              <a:t> ("19-08-1999", "%d-%m-%Y"), </a:t>
            </a:r>
          </a:p>
          <a:p>
            <a:r>
              <a:rPr lang="en-US" dirty="0"/>
              <a:t>                     </a:t>
            </a:r>
            <a:r>
              <a:rPr lang="en-US" dirty="0" err="1"/>
              <a:t>str_to_date</a:t>
            </a:r>
            <a:r>
              <a:rPr lang="en-US" dirty="0"/>
              <a:t> ("17-03-2018", "%d-%m-%Y"), "</a:t>
            </a:r>
            <a:r>
              <a:rPr lang="en-US" dirty="0" err="1"/>
              <a:t>xyz</a:t>
            </a:r>
            <a:r>
              <a:rPr lang="en-US" dirty="0"/>
              <a:t>"); </a:t>
            </a:r>
            <a:endParaRPr lang="en-IN" dirty="0"/>
          </a:p>
        </p:txBody>
      </p:sp>
      <p:sp>
        <p:nvSpPr>
          <p:cNvPr id="7" name="TextBox 6">
            <a:extLst>
              <a:ext uri="{FF2B5EF4-FFF2-40B4-BE49-F238E27FC236}">
                <a16:creationId xmlns:a16="http://schemas.microsoft.com/office/drawing/2014/main" id="{32B31494-CDD6-CDCA-116E-05CDBDD4EB79}"/>
              </a:ext>
            </a:extLst>
          </p:cNvPr>
          <p:cNvSpPr txBox="1"/>
          <p:nvPr/>
        </p:nvSpPr>
        <p:spPr>
          <a:xfrm>
            <a:off x="919976" y="2570346"/>
            <a:ext cx="17942312" cy="2308324"/>
          </a:xfrm>
          <a:prstGeom prst="rect">
            <a:avLst/>
          </a:prstGeom>
          <a:noFill/>
        </p:spPr>
        <p:txBody>
          <a:bodyPr wrap="square">
            <a:spAutoFit/>
          </a:bodyPr>
          <a:lstStyle/>
          <a:p>
            <a:r>
              <a:rPr lang="en-IN" dirty="0"/>
              <a:t>Output:</a:t>
            </a:r>
          </a:p>
          <a:p>
            <a:endParaRPr lang="en-IN" dirty="0"/>
          </a:p>
          <a:p>
            <a:r>
              <a:rPr lang="en-IN" dirty="0"/>
              <a:t>select *from contacts;</a:t>
            </a:r>
          </a:p>
          <a:p>
            <a:r>
              <a:rPr lang="en-IN" dirty="0"/>
              <a:t>+------------+-----------+------------+------------+--------------+----------------+</a:t>
            </a:r>
          </a:p>
          <a:p>
            <a:r>
              <a:rPr lang="en-IN" dirty="0"/>
              <a:t>| </a:t>
            </a:r>
            <a:r>
              <a:rPr lang="en-IN" dirty="0" err="1"/>
              <a:t>contact_id</a:t>
            </a:r>
            <a:r>
              <a:rPr lang="en-IN" dirty="0"/>
              <a:t> | </a:t>
            </a:r>
            <a:r>
              <a:rPr lang="en-IN" dirty="0" err="1"/>
              <a:t>last_name</a:t>
            </a:r>
            <a:r>
              <a:rPr lang="en-IN" dirty="0"/>
              <a:t> | </a:t>
            </a:r>
            <a:r>
              <a:rPr lang="en-IN" dirty="0" err="1"/>
              <a:t>first_name</a:t>
            </a:r>
            <a:r>
              <a:rPr lang="en-IN" dirty="0"/>
              <a:t> | birthday   | </a:t>
            </a:r>
            <a:r>
              <a:rPr lang="en-IN" dirty="0" err="1"/>
              <a:t>created_date</a:t>
            </a:r>
            <a:r>
              <a:rPr lang="en-IN" dirty="0"/>
              <a:t> | </a:t>
            </a:r>
            <a:r>
              <a:rPr lang="en-IN" dirty="0" err="1"/>
              <a:t>created_by</a:t>
            </a:r>
            <a:r>
              <a:rPr lang="en-IN" dirty="0"/>
              <a:t>     |</a:t>
            </a:r>
          </a:p>
          <a:p>
            <a:r>
              <a:rPr lang="en-IN" dirty="0"/>
              <a:t>+------------+-----------+------------+------------+--------------+----------------+</a:t>
            </a:r>
          </a:p>
          <a:p>
            <a:r>
              <a:rPr lang="en-IN" dirty="0"/>
              <a:t>|          1 | Newton    | Enigma     | 1999-08-19 | 2019-05-11   | </a:t>
            </a:r>
            <a:r>
              <a:rPr lang="en-IN" dirty="0" err="1"/>
              <a:t>root@localhost</a:t>
            </a:r>
            <a:r>
              <a:rPr lang="en-IN" dirty="0"/>
              <a:t> |</a:t>
            </a:r>
          </a:p>
          <a:p>
            <a:r>
              <a:rPr lang="en-IN" dirty="0"/>
              <a:t>+------------+-----------+------------+------------+--------------+----------------+ </a:t>
            </a:r>
          </a:p>
        </p:txBody>
      </p:sp>
    </p:spTree>
    <p:extLst>
      <p:ext uri="{BB962C8B-B14F-4D97-AF65-F5344CB8AC3E}">
        <p14:creationId xmlns:p14="http://schemas.microsoft.com/office/powerpoint/2010/main" val="348482048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55CC41-32B0-63F6-38CF-E8BEDD18B9A8}"/>
              </a:ext>
            </a:extLst>
          </p:cNvPr>
          <p:cNvSpPr txBox="1"/>
          <p:nvPr/>
        </p:nvSpPr>
        <p:spPr>
          <a:xfrm>
            <a:off x="928008" y="621464"/>
            <a:ext cx="10512878" cy="646331"/>
          </a:xfrm>
          <a:prstGeom prst="rect">
            <a:avLst/>
          </a:prstGeom>
          <a:noFill/>
        </p:spPr>
        <p:txBody>
          <a:bodyPr wrap="square">
            <a:spAutoFit/>
          </a:bodyPr>
          <a:lstStyle/>
          <a:p>
            <a:r>
              <a:rPr lang="en-US" b="1" i="0" dirty="0">
                <a:solidFill>
                  <a:srgbClr val="273239"/>
                </a:solidFill>
                <a:effectLst/>
                <a:latin typeface="Nunito" pitchFamily="2" charset="0"/>
              </a:rPr>
              <a:t>4. After Insert Trigger:</a:t>
            </a:r>
            <a:br>
              <a:rPr lang="en-US" dirty="0"/>
            </a:br>
            <a:r>
              <a:rPr lang="en-US" b="0" i="0" dirty="0">
                <a:solidFill>
                  <a:srgbClr val="273239"/>
                </a:solidFill>
                <a:effectLst/>
                <a:latin typeface="Nunito" pitchFamily="2" charset="0"/>
              </a:rPr>
              <a:t>As the name implies, this trigger gets invoked after an insert is implemented.</a:t>
            </a:r>
            <a:endParaRPr lang="en-IN" dirty="0"/>
          </a:p>
        </p:txBody>
      </p:sp>
      <p:sp>
        <p:nvSpPr>
          <p:cNvPr id="6" name="TextBox 5">
            <a:extLst>
              <a:ext uri="{FF2B5EF4-FFF2-40B4-BE49-F238E27FC236}">
                <a16:creationId xmlns:a16="http://schemas.microsoft.com/office/drawing/2014/main" id="{5E1AC4A4-DB04-A215-DEA9-533B5080F970}"/>
              </a:ext>
            </a:extLst>
          </p:cNvPr>
          <p:cNvSpPr txBox="1"/>
          <p:nvPr/>
        </p:nvSpPr>
        <p:spPr>
          <a:xfrm>
            <a:off x="1307481" y="1707017"/>
            <a:ext cx="12093496" cy="2585323"/>
          </a:xfrm>
          <a:prstGeom prst="rect">
            <a:avLst/>
          </a:prstGeom>
          <a:noFill/>
        </p:spPr>
        <p:txBody>
          <a:bodyPr wrap="square">
            <a:spAutoFit/>
          </a:bodyPr>
          <a:lstStyle/>
          <a:p>
            <a:r>
              <a:rPr lang="en-US" dirty="0"/>
              <a:t>Consider tables:</a:t>
            </a:r>
          </a:p>
          <a:p>
            <a:endParaRPr lang="en-US" dirty="0"/>
          </a:p>
          <a:p>
            <a:r>
              <a:rPr lang="en-US" dirty="0"/>
              <a:t>create table contacts (</a:t>
            </a:r>
            <a:r>
              <a:rPr lang="en-US" dirty="0" err="1"/>
              <a:t>contact_id</a:t>
            </a:r>
            <a:r>
              <a:rPr lang="en-US" dirty="0"/>
              <a:t> int (11) NOT NULL AUTO_INCREMENT, </a:t>
            </a:r>
          </a:p>
          <a:p>
            <a:r>
              <a:rPr lang="en-US" dirty="0"/>
              <a:t>                              </a:t>
            </a:r>
            <a:r>
              <a:rPr lang="en-US" dirty="0" err="1"/>
              <a:t>last_name</a:t>
            </a:r>
            <a:r>
              <a:rPr lang="en-US" dirty="0"/>
              <a:t> VARCHAR(30) NOT NULL, </a:t>
            </a:r>
          </a:p>
          <a:p>
            <a:r>
              <a:rPr lang="en-US" dirty="0"/>
              <a:t>                              </a:t>
            </a:r>
            <a:r>
              <a:rPr lang="en-US" dirty="0" err="1"/>
              <a:t>first_name</a:t>
            </a:r>
            <a:r>
              <a:rPr lang="en-US" dirty="0"/>
              <a:t> VARCHAR(25), birthday DATE,</a:t>
            </a:r>
          </a:p>
          <a:p>
            <a:r>
              <a:rPr lang="en-US" dirty="0"/>
              <a:t>                              -&gt;CONSTRAINT </a:t>
            </a:r>
            <a:r>
              <a:rPr lang="en-US" dirty="0" err="1"/>
              <a:t>contacts_pk</a:t>
            </a:r>
            <a:r>
              <a:rPr lang="en-US" dirty="0"/>
              <a:t> PRIMARY KEY (</a:t>
            </a:r>
            <a:r>
              <a:rPr lang="en-US" dirty="0" err="1"/>
              <a:t>contact_id</a:t>
            </a:r>
            <a:r>
              <a:rPr lang="en-US" dirty="0"/>
              <a:t>));</a:t>
            </a:r>
          </a:p>
          <a:p>
            <a:r>
              <a:rPr lang="en-US" dirty="0"/>
              <a:t>create table </a:t>
            </a:r>
            <a:r>
              <a:rPr lang="en-US" dirty="0" err="1"/>
              <a:t>contacts_audit</a:t>
            </a:r>
            <a:r>
              <a:rPr lang="en-US" dirty="0"/>
              <a:t> (</a:t>
            </a:r>
            <a:r>
              <a:rPr lang="en-US" dirty="0" err="1"/>
              <a:t>contact_id</a:t>
            </a:r>
            <a:r>
              <a:rPr lang="en-US" dirty="0"/>
              <a:t> integer, </a:t>
            </a:r>
          </a:p>
          <a:p>
            <a:r>
              <a:rPr lang="en-US" dirty="0"/>
              <a:t>                             </a:t>
            </a:r>
            <a:r>
              <a:rPr lang="en-US" dirty="0" err="1"/>
              <a:t>created_date</a:t>
            </a:r>
            <a:r>
              <a:rPr lang="en-US" dirty="0"/>
              <a:t> date, </a:t>
            </a:r>
          </a:p>
          <a:p>
            <a:r>
              <a:rPr lang="en-US" dirty="0"/>
              <a:t>                             </a:t>
            </a:r>
            <a:r>
              <a:rPr lang="en-US" dirty="0" err="1"/>
              <a:t>created_by</a:t>
            </a:r>
            <a:r>
              <a:rPr lang="en-US" dirty="0"/>
              <a:t> varchar (30)); </a:t>
            </a:r>
            <a:endParaRPr lang="en-IN" dirty="0"/>
          </a:p>
        </p:txBody>
      </p:sp>
    </p:spTree>
    <p:extLst>
      <p:ext uri="{BB962C8B-B14F-4D97-AF65-F5344CB8AC3E}">
        <p14:creationId xmlns:p14="http://schemas.microsoft.com/office/powerpoint/2010/main" val="11308081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F787EF4-B3D5-170C-8C37-FE03F2337DAA}"/>
              </a:ext>
            </a:extLst>
          </p:cNvPr>
          <p:cNvSpPr txBox="1"/>
          <p:nvPr/>
        </p:nvSpPr>
        <p:spPr>
          <a:xfrm>
            <a:off x="284356" y="229910"/>
            <a:ext cx="17563170" cy="6186309"/>
          </a:xfrm>
          <a:prstGeom prst="rect">
            <a:avLst/>
          </a:prstGeom>
          <a:noFill/>
        </p:spPr>
        <p:txBody>
          <a:bodyPr wrap="square">
            <a:spAutoFit/>
          </a:bodyPr>
          <a:lstStyle/>
          <a:p>
            <a:r>
              <a:rPr lang="en-US" dirty="0"/>
              <a:t>Trigger to insert </a:t>
            </a:r>
            <a:r>
              <a:rPr lang="en-US" dirty="0" err="1"/>
              <a:t>contact_id</a:t>
            </a:r>
            <a:r>
              <a:rPr lang="en-US" dirty="0"/>
              <a:t> and contact creation-date/user information into </a:t>
            </a:r>
            <a:r>
              <a:rPr lang="en-US" dirty="0" err="1"/>
              <a:t>contacts_audit</a:t>
            </a:r>
            <a:r>
              <a:rPr lang="en-US" dirty="0"/>
              <a:t> record after an insert occurs:</a:t>
            </a:r>
          </a:p>
          <a:p>
            <a:endParaRPr lang="en-US" dirty="0"/>
          </a:p>
          <a:p>
            <a:r>
              <a:rPr lang="en-US" dirty="0"/>
              <a:t>delimiter //</a:t>
            </a:r>
          </a:p>
          <a:p>
            <a:r>
              <a:rPr lang="en-US" dirty="0"/>
              <a:t>create trigger </a:t>
            </a:r>
            <a:r>
              <a:rPr lang="en-US" dirty="0" err="1"/>
              <a:t>contacts_after_insert</a:t>
            </a:r>
            <a:endParaRPr lang="en-US" dirty="0"/>
          </a:p>
          <a:p>
            <a:r>
              <a:rPr lang="en-US" dirty="0"/>
              <a:t>            -&gt; after insert</a:t>
            </a:r>
          </a:p>
          <a:p>
            <a:r>
              <a:rPr lang="en-US" dirty="0"/>
              <a:t>            -&gt; on contacts for each row</a:t>
            </a:r>
          </a:p>
          <a:p>
            <a:r>
              <a:rPr lang="en-US" dirty="0"/>
              <a:t>            -&gt; begin</a:t>
            </a:r>
          </a:p>
          <a:p>
            <a:r>
              <a:rPr lang="en-US" dirty="0"/>
              <a:t>            -&gt;    DECLARE </a:t>
            </a:r>
            <a:r>
              <a:rPr lang="en-US" dirty="0" err="1"/>
              <a:t>vUser</a:t>
            </a:r>
            <a:r>
              <a:rPr lang="en-US" dirty="0"/>
              <a:t> varchar(50);</a:t>
            </a:r>
          </a:p>
          <a:p>
            <a:r>
              <a:rPr lang="en-US" dirty="0"/>
              <a:t>            -&gt;</a:t>
            </a:r>
          </a:p>
          <a:p>
            <a:r>
              <a:rPr lang="en-US" dirty="0"/>
              <a:t>            -&gt;    -- Find username of person performing the INSERT into table</a:t>
            </a:r>
          </a:p>
          <a:p>
            <a:r>
              <a:rPr lang="en-US" dirty="0"/>
              <a:t>            -&gt;    SELECT USER() into </a:t>
            </a:r>
            <a:r>
              <a:rPr lang="en-US" dirty="0" err="1"/>
              <a:t>vUser</a:t>
            </a:r>
            <a:r>
              <a:rPr lang="en-US" dirty="0"/>
              <a:t>;</a:t>
            </a:r>
          </a:p>
          <a:p>
            <a:r>
              <a:rPr lang="en-US" dirty="0"/>
              <a:t>            -&gt;</a:t>
            </a:r>
          </a:p>
          <a:p>
            <a:r>
              <a:rPr lang="en-US" dirty="0"/>
              <a:t>            -&gt;    -- Insert record into audit table</a:t>
            </a:r>
          </a:p>
          <a:p>
            <a:r>
              <a:rPr lang="en-US" dirty="0"/>
              <a:t>            -&gt;    INSERT into </a:t>
            </a:r>
            <a:r>
              <a:rPr lang="en-US" dirty="0" err="1"/>
              <a:t>contacts_audit</a:t>
            </a:r>
            <a:endParaRPr lang="en-US" dirty="0"/>
          </a:p>
          <a:p>
            <a:r>
              <a:rPr lang="en-US" dirty="0"/>
              <a:t>            -&gt;    ( </a:t>
            </a:r>
            <a:r>
              <a:rPr lang="en-US" dirty="0" err="1"/>
              <a:t>contact_id</a:t>
            </a:r>
            <a:r>
              <a:rPr lang="en-US" dirty="0"/>
              <a:t>,</a:t>
            </a:r>
          </a:p>
          <a:p>
            <a:r>
              <a:rPr lang="en-US" dirty="0"/>
              <a:t>            -&gt;      </a:t>
            </a:r>
            <a:r>
              <a:rPr lang="en-US" dirty="0" err="1"/>
              <a:t>created_date</a:t>
            </a:r>
            <a:r>
              <a:rPr lang="en-US" dirty="0"/>
              <a:t>,</a:t>
            </a:r>
          </a:p>
          <a:p>
            <a:r>
              <a:rPr lang="en-US" dirty="0"/>
              <a:t>            -&gt;      </a:t>
            </a:r>
            <a:r>
              <a:rPr lang="en-US" dirty="0" err="1"/>
              <a:t>created_by</a:t>
            </a:r>
            <a:r>
              <a:rPr lang="en-US" dirty="0"/>
              <a:t>)</a:t>
            </a:r>
          </a:p>
          <a:p>
            <a:r>
              <a:rPr lang="en-US" dirty="0"/>
              <a:t>            -&gt;    VALUES</a:t>
            </a:r>
          </a:p>
          <a:p>
            <a:r>
              <a:rPr lang="en-US" dirty="0"/>
              <a:t>            -&gt;    ( </a:t>
            </a:r>
            <a:r>
              <a:rPr lang="en-US" dirty="0" err="1"/>
              <a:t>NEW.contact_id</a:t>
            </a:r>
            <a:r>
              <a:rPr lang="en-US" dirty="0"/>
              <a:t>,</a:t>
            </a:r>
          </a:p>
          <a:p>
            <a:r>
              <a:rPr lang="en-US" dirty="0"/>
              <a:t>            -&gt;      SYSDATE(),</a:t>
            </a:r>
          </a:p>
          <a:p>
            <a:r>
              <a:rPr lang="en-US" dirty="0"/>
              <a:t>            -&gt;      </a:t>
            </a:r>
            <a:r>
              <a:rPr lang="en-US" dirty="0" err="1"/>
              <a:t>vUser</a:t>
            </a:r>
            <a:r>
              <a:rPr lang="en-US" dirty="0"/>
              <a:t> );</a:t>
            </a:r>
          </a:p>
          <a:p>
            <a:r>
              <a:rPr lang="en-US" dirty="0"/>
              <a:t>            -&gt; END; // </a:t>
            </a:r>
            <a:endParaRPr lang="en-IN" dirty="0"/>
          </a:p>
        </p:txBody>
      </p:sp>
    </p:spTree>
    <p:extLst>
      <p:ext uri="{BB962C8B-B14F-4D97-AF65-F5344CB8AC3E}">
        <p14:creationId xmlns:p14="http://schemas.microsoft.com/office/powerpoint/2010/main" val="122158341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A98CA55-BEF7-911B-AF2F-C1C3E87C8B51}"/>
              </a:ext>
            </a:extLst>
          </p:cNvPr>
          <p:cNvSpPr txBox="1"/>
          <p:nvPr/>
        </p:nvSpPr>
        <p:spPr>
          <a:xfrm>
            <a:off x="761072" y="472794"/>
            <a:ext cx="11669750" cy="3693319"/>
          </a:xfrm>
          <a:prstGeom prst="rect">
            <a:avLst/>
          </a:prstGeom>
          <a:noFill/>
        </p:spPr>
        <p:txBody>
          <a:bodyPr wrap="square">
            <a:spAutoFit/>
          </a:bodyPr>
          <a:lstStyle/>
          <a:p>
            <a:r>
              <a:rPr lang="en-US" dirty="0"/>
              <a:t>Making an insert to invoke the trigger:</a:t>
            </a:r>
          </a:p>
          <a:p>
            <a:endParaRPr lang="en-US" dirty="0"/>
          </a:p>
          <a:p>
            <a:r>
              <a:rPr lang="en-US" dirty="0"/>
              <a:t>insert into contacts values (1, "Kumar", "Rupesh", </a:t>
            </a:r>
          </a:p>
          <a:p>
            <a:r>
              <a:rPr lang="en-US" dirty="0"/>
              <a:t>                         </a:t>
            </a:r>
            <a:r>
              <a:rPr lang="en-US" dirty="0" err="1"/>
              <a:t>str_to_date</a:t>
            </a:r>
            <a:r>
              <a:rPr lang="en-US" dirty="0"/>
              <a:t>("20-06-1999", "%d-%m-%Y")); </a:t>
            </a:r>
          </a:p>
          <a:p>
            <a:r>
              <a:rPr lang="en-US" dirty="0"/>
              <a:t>Output:</a:t>
            </a:r>
          </a:p>
          <a:p>
            <a:endParaRPr lang="en-US" dirty="0"/>
          </a:p>
          <a:p>
            <a:r>
              <a:rPr lang="en-US" dirty="0"/>
              <a:t>select *from </a:t>
            </a:r>
            <a:r>
              <a:rPr lang="en-US" dirty="0" err="1"/>
              <a:t>contacts_audit</a:t>
            </a:r>
            <a:r>
              <a:rPr lang="en-US" dirty="0"/>
              <a:t>;</a:t>
            </a:r>
          </a:p>
          <a:p>
            <a:r>
              <a:rPr lang="en-US" dirty="0"/>
              <a:t>+------------+--------------+----------------+</a:t>
            </a:r>
          </a:p>
          <a:p>
            <a:r>
              <a:rPr lang="en-US" dirty="0"/>
              <a:t>| </a:t>
            </a:r>
            <a:r>
              <a:rPr lang="en-US" dirty="0" err="1"/>
              <a:t>contact_id</a:t>
            </a:r>
            <a:r>
              <a:rPr lang="en-US" dirty="0"/>
              <a:t> | </a:t>
            </a:r>
            <a:r>
              <a:rPr lang="en-US" dirty="0" err="1"/>
              <a:t>created_date</a:t>
            </a:r>
            <a:r>
              <a:rPr lang="en-US" dirty="0"/>
              <a:t> | </a:t>
            </a:r>
            <a:r>
              <a:rPr lang="en-US" dirty="0" err="1"/>
              <a:t>created_by</a:t>
            </a:r>
            <a:r>
              <a:rPr lang="en-US" dirty="0"/>
              <a:t>     |</a:t>
            </a:r>
          </a:p>
          <a:p>
            <a:r>
              <a:rPr lang="en-US" dirty="0"/>
              <a:t>+------------+--------------+----------------+</a:t>
            </a:r>
          </a:p>
          <a:p>
            <a:r>
              <a:rPr lang="en-US" dirty="0"/>
              <a:t>|          1 | 2019-05-11   | </a:t>
            </a:r>
            <a:r>
              <a:rPr lang="en-US" dirty="0" err="1"/>
              <a:t>root@localhost</a:t>
            </a:r>
            <a:r>
              <a:rPr lang="en-US" dirty="0"/>
              <a:t> |</a:t>
            </a:r>
          </a:p>
          <a:p>
            <a:r>
              <a:rPr lang="en-US" dirty="0"/>
              <a:t>+------------+--------------+----------------+</a:t>
            </a:r>
          </a:p>
          <a:p>
            <a:r>
              <a:rPr lang="en-US" dirty="0"/>
              <a:t>1 row in set (0.0006 sec) </a:t>
            </a:r>
            <a:endParaRPr lang="en-IN" dirty="0"/>
          </a:p>
        </p:txBody>
      </p:sp>
    </p:spTree>
    <p:extLst>
      <p:ext uri="{BB962C8B-B14F-4D97-AF65-F5344CB8AC3E}">
        <p14:creationId xmlns:p14="http://schemas.microsoft.com/office/powerpoint/2010/main" val="22798523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9E5CDE-8DC5-C0F1-9719-7E8230BFBFA7}"/>
              </a:ext>
            </a:extLst>
          </p:cNvPr>
          <p:cNvSpPr txBox="1"/>
          <p:nvPr/>
        </p:nvSpPr>
        <p:spPr>
          <a:xfrm>
            <a:off x="884464" y="330565"/>
            <a:ext cx="10469335" cy="923330"/>
          </a:xfrm>
          <a:prstGeom prst="rect">
            <a:avLst/>
          </a:prstGeom>
          <a:noFill/>
        </p:spPr>
        <p:txBody>
          <a:bodyPr wrap="square">
            <a:spAutoFit/>
          </a:bodyPr>
          <a:lstStyle/>
          <a:p>
            <a:r>
              <a:rPr lang="en-US" b="1" i="0" dirty="0">
                <a:solidFill>
                  <a:srgbClr val="273239"/>
                </a:solidFill>
                <a:effectLst/>
                <a:latin typeface="Nunito" pitchFamily="2" charset="0"/>
              </a:rPr>
              <a:t>5. Before Delete Trigger:</a:t>
            </a:r>
            <a:br>
              <a:rPr lang="en-US" dirty="0"/>
            </a:br>
            <a:r>
              <a:rPr lang="en-US" b="0" i="0" dirty="0">
                <a:solidFill>
                  <a:srgbClr val="273239"/>
                </a:solidFill>
                <a:effectLst/>
                <a:latin typeface="Nunito" pitchFamily="2" charset="0"/>
              </a:rPr>
              <a:t>As the name implies, this trigger is invoked before a delete occurs, or before deletion statement is implemented.</a:t>
            </a:r>
            <a:endParaRPr lang="en-IN" dirty="0"/>
          </a:p>
        </p:txBody>
      </p:sp>
      <p:sp>
        <p:nvSpPr>
          <p:cNvPr id="6" name="TextBox 5">
            <a:extLst>
              <a:ext uri="{FF2B5EF4-FFF2-40B4-BE49-F238E27FC236}">
                <a16:creationId xmlns:a16="http://schemas.microsoft.com/office/drawing/2014/main" id="{7ECAFC50-B77C-8C0F-BAD7-F171BD525B07}"/>
              </a:ext>
            </a:extLst>
          </p:cNvPr>
          <p:cNvSpPr txBox="1"/>
          <p:nvPr/>
        </p:nvSpPr>
        <p:spPr>
          <a:xfrm>
            <a:off x="1165303" y="1805597"/>
            <a:ext cx="13860966" cy="2308324"/>
          </a:xfrm>
          <a:prstGeom prst="rect">
            <a:avLst/>
          </a:prstGeom>
          <a:noFill/>
        </p:spPr>
        <p:txBody>
          <a:bodyPr wrap="square">
            <a:spAutoFit/>
          </a:bodyPr>
          <a:lstStyle/>
          <a:p>
            <a:r>
              <a:rPr lang="en-US" dirty="0"/>
              <a:t>Consider tables:</a:t>
            </a:r>
          </a:p>
          <a:p>
            <a:endParaRPr lang="en-US" dirty="0"/>
          </a:p>
          <a:p>
            <a:r>
              <a:rPr lang="en-US" dirty="0"/>
              <a:t>create table contacts (</a:t>
            </a:r>
            <a:r>
              <a:rPr lang="en-US" dirty="0" err="1"/>
              <a:t>contact_id</a:t>
            </a:r>
            <a:r>
              <a:rPr lang="en-US" dirty="0"/>
              <a:t> int (11) NOT NULL AUTO_INCREMENT, </a:t>
            </a:r>
          </a:p>
          <a:p>
            <a:r>
              <a:rPr lang="en-US" dirty="0"/>
              <a:t>                             </a:t>
            </a:r>
            <a:r>
              <a:rPr lang="en-US" dirty="0" err="1"/>
              <a:t>last_name</a:t>
            </a:r>
            <a:r>
              <a:rPr lang="en-US" dirty="0"/>
              <a:t> VARCHAR (30) NOT NULL, </a:t>
            </a:r>
            <a:r>
              <a:rPr lang="en-US" dirty="0" err="1"/>
              <a:t>first_name</a:t>
            </a:r>
            <a:r>
              <a:rPr lang="en-US" dirty="0"/>
              <a:t> VARCHAR (25), </a:t>
            </a:r>
          </a:p>
          <a:p>
            <a:r>
              <a:rPr lang="en-US" dirty="0"/>
              <a:t>                             birthday DATE, </a:t>
            </a:r>
            <a:r>
              <a:rPr lang="en-US" dirty="0" err="1"/>
              <a:t>created_date</a:t>
            </a:r>
            <a:r>
              <a:rPr lang="en-US" dirty="0"/>
              <a:t> DATE, </a:t>
            </a:r>
            <a:r>
              <a:rPr lang="en-US" dirty="0" err="1"/>
              <a:t>created_by</a:t>
            </a:r>
            <a:r>
              <a:rPr lang="en-US" dirty="0"/>
              <a:t> VARCHAR(30), </a:t>
            </a:r>
          </a:p>
          <a:p>
            <a:r>
              <a:rPr lang="en-US" dirty="0"/>
              <a:t>                             CONSTRAINT </a:t>
            </a:r>
            <a:r>
              <a:rPr lang="en-US" dirty="0" err="1"/>
              <a:t>contacts_pk</a:t>
            </a:r>
            <a:r>
              <a:rPr lang="en-US" dirty="0"/>
              <a:t> PRIMARY KEY (</a:t>
            </a:r>
            <a:r>
              <a:rPr lang="en-US" dirty="0" err="1"/>
              <a:t>contact_id</a:t>
            </a:r>
            <a:r>
              <a:rPr lang="en-US" dirty="0"/>
              <a:t>));</a:t>
            </a:r>
          </a:p>
          <a:p>
            <a:endParaRPr lang="en-US" dirty="0"/>
          </a:p>
          <a:p>
            <a:r>
              <a:rPr lang="en-US" dirty="0"/>
              <a:t>create table </a:t>
            </a:r>
            <a:r>
              <a:rPr lang="en-US" dirty="0" err="1"/>
              <a:t>contacts_audit</a:t>
            </a:r>
            <a:r>
              <a:rPr lang="en-US" dirty="0"/>
              <a:t> (</a:t>
            </a:r>
            <a:r>
              <a:rPr lang="en-US" dirty="0" err="1"/>
              <a:t>contact_id</a:t>
            </a:r>
            <a:r>
              <a:rPr lang="en-US" dirty="0"/>
              <a:t> integer, </a:t>
            </a:r>
            <a:r>
              <a:rPr lang="en-US" dirty="0" err="1"/>
              <a:t>deleted_date</a:t>
            </a:r>
            <a:r>
              <a:rPr lang="en-US" dirty="0"/>
              <a:t> date, </a:t>
            </a:r>
            <a:r>
              <a:rPr lang="en-US" dirty="0" err="1"/>
              <a:t>deleted_by</a:t>
            </a:r>
            <a:r>
              <a:rPr lang="en-US" dirty="0"/>
              <a:t> varchar(20)); </a:t>
            </a:r>
            <a:endParaRPr lang="en-IN" dirty="0"/>
          </a:p>
        </p:txBody>
      </p:sp>
    </p:spTree>
    <p:extLst>
      <p:ext uri="{BB962C8B-B14F-4D97-AF65-F5344CB8AC3E}">
        <p14:creationId xmlns:p14="http://schemas.microsoft.com/office/powerpoint/2010/main" val="104365926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6361DB-4B8E-916A-F80E-3B19070F1331}"/>
              </a:ext>
            </a:extLst>
          </p:cNvPr>
          <p:cNvSpPr txBox="1"/>
          <p:nvPr/>
        </p:nvSpPr>
        <p:spPr>
          <a:xfrm>
            <a:off x="0" y="197346"/>
            <a:ext cx="17769468" cy="6463308"/>
          </a:xfrm>
          <a:prstGeom prst="rect">
            <a:avLst/>
          </a:prstGeom>
          <a:noFill/>
        </p:spPr>
        <p:txBody>
          <a:bodyPr wrap="square">
            <a:spAutoFit/>
          </a:bodyPr>
          <a:lstStyle/>
          <a:p>
            <a:r>
              <a:rPr lang="en-IN" dirty="0"/>
              <a:t>Trigger to insert </a:t>
            </a:r>
            <a:r>
              <a:rPr lang="en-IN" dirty="0" err="1"/>
              <a:t>contact_id</a:t>
            </a:r>
            <a:r>
              <a:rPr lang="en-IN" dirty="0"/>
              <a:t> and contact deletion-date/user information into </a:t>
            </a:r>
            <a:r>
              <a:rPr lang="en-IN" dirty="0" err="1"/>
              <a:t>contacts_audit</a:t>
            </a:r>
            <a:r>
              <a:rPr lang="en-IN" dirty="0"/>
              <a:t> record before a delete occurs:</a:t>
            </a:r>
          </a:p>
          <a:p>
            <a:endParaRPr lang="en-IN" dirty="0"/>
          </a:p>
          <a:p>
            <a:r>
              <a:rPr lang="en-IN" dirty="0"/>
              <a:t>delimiter //</a:t>
            </a:r>
          </a:p>
          <a:p>
            <a:r>
              <a:rPr lang="en-IN" dirty="0"/>
              <a:t>create trigger </a:t>
            </a:r>
            <a:r>
              <a:rPr lang="en-IN" dirty="0" err="1"/>
              <a:t>contacts_before_delete</a:t>
            </a:r>
            <a:endParaRPr lang="en-IN" dirty="0"/>
          </a:p>
          <a:p>
            <a:r>
              <a:rPr lang="en-IN" dirty="0"/>
              <a:t>            -&gt; before delete</a:t>
            </a:r>
          </a:p>
          <a:p>
            <a:r>
              <a:rPr lang="en-IN" dirty="0"/>
              <a:t>            -&gt; on contacts for each row</a:t>
            </a:r>
          </a:p>
          <a:p>
            <a:r>
              <a:rPr lang="en-IN" dirty="0"/>
              <a:t>            -&gt; begin</a:t>
            </a:r>
          </a:p>
          <a:p>
            <a:r>
              <a:rPr lang="en-IN" dirty="0"/>
              <a:t>            -&gt;</a:t>
            </a:r>
          </a:p>
          <a:p>
            <a:r>
              <a:rPr lang="en-IN" dirty="0"/>
              <a:t>            -&gt;    DECLARE </a:t>
            </a:r>
            <a:r>
              <a:rPr lang="en-IN" dirty="0" err="1"/>
              <a:t>vUser</a:t>
            </a:r>
            <a:r>
              <a:rPr lang="en-IN" dirty="0"/>
              <a:t> varchar(50);</a:t>
            </a:r>
          </a:p>
          <a:p>
            <a:r>
              <a:rPr lang="en-IN" dirty="0"/>
              <a:t>            -&gt;</a:t>
            </a:r>
          </a:p>
          <a:p>
            <a:r>
              <a:rPr lang="en-IN" dirty="0"/>
              <a:t>            -&gt;    -- Find username of person performing the DELETE into table</a:t>
            </a:r>
          </a:p>
          <a:p>
            <a:r>
              <a:rPr lang="en-IN" dirty="0"/>
              <a:t>            -&gt;    SELECT USER() into </a:t>
            </a:r>
            <a:r>
              <a:rPr lang="en-IN" dirty="0" err="1"/>
              <a:t>vUser</a:t>
            </a:r>
            <a:r>
              <a:rPr lang="en-IN" dirty="0"/>
              <a:t>;</a:t>
            </a:r>
          </a:p>
          <a:p>
            <a:r>
              <a:rPr lang="en-IN" dirty="0"/>
              <a:t>            -&gt;</a:t>
            </a:r>
          </a:p>
          <a:p>
            <a:r>
              <a:rPr lang="en-IN" dirty="0"/>
              <a:t>            -&gt;    -- Insert record into audit table</a:t>
            </a:r>
          </a:p>
          <a:p>
            <a:r>
              <a:rPr lang="en-IN" dirty="0"/>
              <a:t>            -&gt;    INSERT into </a:t>
            </a:r>
            <a:r>
              <a:rPr lang="en-IN" dirty="0" err="1"/>
              <a:t>contacts_audit</a:t>
            </a:r>
            <a:endParaRPr lang="en-IN" dirty="0"/>
          </a:p>
          <a:p>
            <a:r>
              <a:rPr lang="en-IN" dirty="0"/>
              <a:t>            -&gt;    ( </a:t>
            </a:r>
            <a:r>
              <a:rPr lang="en-IN" dirty="0" err="1"/>
              <a:t>contact_id</a:t>
            </a:r>
            <a:r>
              <a:rPr lang="en-IN" dirty="0"/>
              <a:t>,</a:t>
            </a:r>
          </a:p>
          <a:p>
            <a:r>
              <a:rPr lang="en-IN" dirty="0"/>
              <a:t>            -&gt;      </a:t>
            </a:r>
            <a:r>
              <a:rPr lang="en-IN" dirty="0" err="1"/>
              <a:t>deleted_date</a:t>
            </a:r>
            <a:r>
              <a:rPr lang="en-IN" dirty="0"/>
              <a:t>,</a:t>
            </a:r>
          </a:p>
          <a:p>
            <a:r>
              <a:rPr lang="en-IN" dirty="0"/>
              <a:t>            -&gt;      </a:t>
            </a:r>
            <a:r>
              <a:rPr lang="en-IN" dirty="0" err="1"/>
              <a:t>deleted_by</a:t>
            </a:r>
            <a:r>
              <a:rPr lang="en-IN" dirty="0"/>
              <a:t>)</a:t>
            </a:r>
          </a:p>
          <a:p>
            <a:r>
              <a:rPr lang="en-IN" dirty="0"/>
              <a:t>            -&gt;    VALUES</a:t>
            </a:r>
          </a:p>
          <a:p>
            <a:r>
              <a:rPr lang="en-IN" dirty="0"/>
              <a:t>            -&gt;    ( </a:t>
            </a:r>
            <a:r>
              <a:rPr lang="en-IN" dirty="0" err="1"/>
              <a:t>OLD.contact_id</a:t>
            </a:r>
            <a:r>
              <a:rPr lang="en-IN" dirty="0"/>
              <a:t>,</a:t>
            </a:r>
          </a:p>
          <a:p>
            <a:r>
              <a:rPr lang="en-IN" dirty="0"/>
              <a:t>            -&gt;      SYSDATE(),</a:t>
            </a:r>
          </a:p>
          <a:p>
            <a:r>
              <a:rPr lang="en-IN" dirty="0"/>
              <a:t>            -&gt;      </a:t>
            </a:r>
            <a:r>
              <a:rPr lang="en-IN" dirty="0" err="1"/>
              <a:t>vUser</a:t>
            </a:r>
            <a:r>
              <a:rPr lang="en-IN" dirty="0"/>
              <a:t> );</a:t>
            </a:r>
          </a:p>
          <a:p>
            <a:r>
              <a:rPr lang="en-IN" dirty="0"/>
              <a:t>            -&gt; end; // </a:t>
            </a:r>
          </a:p>
        </p:txBody>
      </p:sp>
    </p:spTree>
    <p:extLst>
      <p:ext uri="{BB962C8B-B14F-4D97-AF65-F5344CB8AC3E}">
        <p14:creationId xmlns:p14="http://schemas.microsoft.com/office/powerpoint/2010/main" val="40742355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14EABF6-7569-B1EA-D56D-AFD69AC24790}"/>
              </a:ext>
            </a:extLst>
          </p:cNvPr>
          <p:cNvSpPr txBox="1"/>
          <p:nvPr/>
        </p:nvSpPr>
        <p:spPr>
          <a:xfrm>
            <a:off x="593272" y="546437"/>
            <a:ext cx="8262256" cy="2031325"/>
          </a:xfrm>
          <a:prstGeom prst="rect">
            <a:avLst/>
          </a:prstGeom>
          <a:noFill/>
        </p:spPr>
        <p:txBody>
          <a:bodyPr wrap="square">
            <a:spAutoFit/>
          </a:bodyPr>
          <a:lstStyle/>
          <a:p>
            <a:r>
              <a:rPr lang="en-US" dirty="0"/>
              <a:t>Making an insert and then deleting the same to invoke the trigger:</a:t>
            </a:r>
          </a:p>
          <a:p>
            <a:endParaRPr lang="en-US" dirty="0"/>
          </a:p>
          <a:p>
            <a:r>
              <a:rPr lang="en-US" dirty="0"/>
              <a:t>delimiter;</a:t>
            </a:r>
          </a:p>
          <a:p>
            <a:r>
              <a:rPr lang="en-US" dirty="0"/>
              <a:t>insert into contacts values (1, "Bond", "Ruskin", </a:t>
            </a:r>
          </a:p>
          <a:p>
            <a:r>
              <a:rPr lang="en-US" dirty="0"/>
              <a:t>                             </a:t>
            </a:r>
            <a:r>
              <a:rPr lang="en-US" dirty="0" err="1"/>
              <a:t>str_to_date</a:t>
            </a:r>
            <a:r>
              <a:rPr lang="en-US" dirty="0"/>
              <a:t> ("19-08-1995", "%d-%m-%Y"), </a:t>
            </a:r>
          </a:p>
          <a:p>
            <a:r>
              <a:rPr lang="en-US" dirty="0"/>
              <a:t>                             </a:t>
            </a:r>
            <a:r>
              <a:rPr lang="en-US" dirty="0" err="1"/>
              <a:t>str_to_date</a:t>
            </a:r>
            <a:r>
              <a:rPr lang="en-US" dirty="0"/>
              <a:t> ("27-04-2018", "%d-%m-%Y"), "</a:t>
            </a:r>
            <a:r>
              <a:rPr lang="en-US" dirty="0" err="1"/>
              <a:t>xyz</a:t>
            </a:r>
            <a:r>
              <a:rPr lang="en-US" dirty="0"/>
              <a:t>");</a:t>
            </a:r>
          </a:p>
          <a:p>
            <a:r>
              <a:rPr lang="en-US" dirty="0"/>
              <a:t>delete from contacts where </a:t>
            </a:r>
            <a:r>
              <a:rPr lang="en-US" dirty="0" err="1"/>
              <a:t>last_name</a:t>
            </a:r>
            <a:r>
              <a:rPr lang="en-US" dirty="0"/>
              <a:t>="Bond"; </a:t>
            </a:r>
            <a:endParaRPr lang="en-IN" dirty="0"/>
          </a:p>
        </p:txBody>
      </p:sp>
      <p:sp>
        <p:nvSpPr>
          <p:cNvPr id="7" name="TextBox 6">
            <a:extLst>
              <a:ext uri="{FF2B5EF4-FFF2-40B4-BE49-F238E27FC236}">
                <a16:creationId xmlns:a16="http://schemas.microsoft.com/office/drawing/2014/main" id="{C963C35C-986B-AD9B-597E-547F6A414E61}"/>
              </a:ext>
            </a:extLst>
          </p:cNvPr>
          <p:cNvSpPr txBox="1"/>
          <p:nvPr/>
        </p:nvSpPr>
        <p:spPr>
          <a:xfrm>
            <a:off x="1943100" y="3167827"/>
            <a:ext cx="11669750" cy="2585323"/>
          </a:xfrm>
          <a:prstGeom prst="rect">
            <a:avLst/>
          </a:prstGeom>
          <a:noFill/>
        </p:spPr>
        <p:txBody>
          <a:bodyPr wrap="square">
            <a:spAutoFit/>
          </a:bodyPr>
          <a:lstStyle/>
          <a:p>
            <a:r>
              <a:rPr lang="en-US" dirty="0"/>
              <a:t>Output:</a:t>
            </a:r>
          </a:p>
          <a:p>
            <a:endParaRPr lang="en-US" dirty="0"/>
          </a:p>
          <a:p>
            <a:r>
              <a:rPr lang="en-US" dirty="0"/>
              <a:t>select *from </a:t>
            </a:r>
            <a:r>
              <a:rPr lang="en-US" dirty="0" err="1"/>
              <a:t>contacts_audit</a:t>
            </a:r>
            <a:r>
              <a:rPr lang="en-US" dirty="0"/>
              <a:t>;</a:t>
            </a:r>
          </a:p>
          <a:p>
            <a:r>
              <a:rPr lang="en-US" dirty="0"/>
              <a:t>+------------+--------------+----------------+</a:t>
            </a:r>
          </a:p>
          <a:p>
            <a:r>
              <a:rPr lang="en-US" dirty="0"/>
              <a:t>| </a:t>
            </a:r>
            <a:r>
              <a:rPr lang="en-US" dirty="0" err="1"/>
              <a:t>contact_id</a:t>
            </a:r>
            <a:r>
              <a:rPr lang="en-US" dirty="0"/>
              <a:t> | </a:t>
            </a:r>
            <a:r>
              <a:rPr lang="en-US" dirty="0" err="1"/>
              <a:t>deleted_date</a:t>
            </a:r>
            <a:r>
              <a:rPr lang="en-US" dirty="0"/>
              <a:t> | </a:t>
            </a:r>
            <a:r>
              <a:rPr lang="en-US" dirty="0" err="1"/>
              <a:t>deleted_by</a:t>
            </a:r>
            <a:r>
              <a:rPr lang="en-US" dirty="0"/>
              <a:t>     |</a:t>
            </a:r>
          </a:p>
          <a:p>
            <a:r>
              <a:rPr lang="en-US" dirty="0"/>
              <a:t>+------------+--------------+----------------+</a:t>
            </a:r>
          </a:p>
          <a:p>
            <a:r>
              <a:rPr lang="en-US" dirty="0"/>
              <a:t>|          1 | 2019-05-11   | </a:t>
            </a:r>
            <a:r>
              <a:rPr lang="en-US" dirty="0" err="1"/>
              <a:t>root@localhost</a:t>
            </a:r>
            <a:r>
              <a:rPr lang="en-US" dirty="0"/>
              <a:t> |</a:t>
            </a:r>
          </a:p>
          <a:p>
            <a:r>
              <a:rPr lang="en-US" dirty="0"/>
              <a:t>+------------+--------------+----------------+</a:t>
            </a:r>
          </a:p>
          <a:p>
            <a:r>
              <a:rPr lang="en-US" dirty="0"/>
              <a:t>1 row in set (0.0007 sec) </a:t>
            </a:r>
            <a:endParaRPr lang="en-IN" dirty="0"/>
          </a:p>
        </p:txBody>
      </p:sp>
    </p:spTree>
    <p:extLst>
      <p:ext uri="{BB962C8B-B14F-4D97-AF65-F5344CB8AC3E}">
        <p14:creationId xmlns:p14="http://schemas.microsoft.com/office/powerpoint/2010/main" val="19694760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E28E0A1-DADC-3607-FB10-EB3AB965A336}"/>
              </a:ext>
            </a:extLst>
          </p:cNvPr>
          <p:cNvSpPr txBox="1"/>
          <p:nvPr/>
        </p:nvSpPr>
        <p:spPr>
          <a:xfrm>
            <a:off x="884464" y="479949"/>
            <a:ext cx="8923564" cy="923330"/>
          </a:xfrm>
          <a:prstGeom prst="rect">
            <a:avLst/>
          </a:prstGeom>
          <a:noFill/>
        </p:spPr>
        <p:txBody>
          <a:bodyPr wrap="square">
            <a:spAutoFit/>
          </a:bodyPr>
          <a:lstStyle/>
          <a:p>
            <a:r>
              <a:rPr lang="en-US" b="1" i="0" dirty="0">
                <a:solidFill>
                  <a:srgbClr val="273239"/>
                </a:solidFill>
                <a:effectLst/>
                <a:latin typeface="Nunito" pitchFamily="2" charset="0"/>
              </a:rPr>
              <a:t>6. After Delete Trigger:</a:t>
            </a:r>
            <a:br>
              <a:rPr lang="en-US" dirty="0"/>
            </a:br>
            <a:r>
              <a:rPr lang="en-US" b="0" i="0" dirty="0">
                <a:solidFill>
                  <a:srgbClr val="273239"/>
                </a:solidFill>
                <a:effectLst/>
                <a:latin typeface="Nunito" pitchFamily="2" charset="0"/>
              </a:rPr>
              <a:t>As the name implies, this trigger is invoked after a delete occurs, or after a delete operation is implemented.</a:t>
            </a:r>
            <a:endParaRPr lang="en-IN" dirty="0"/>
          </a:p>
        </p:txBody>
      </p:sp>
      <p:sp>
        <p:nvSpPr>
          <p:cNvPr id="12" name="TextBox 11">
            <a:extLst>
              <a:ext uri="{FF2B5EF4-FFF2-40B4-BE49-F238E27FC236}">
                <a16:creationId xmlns:a16="http://schemas.microsoft.com/office/drawing/2014/main" id="{0541D817-2AC9-4E9F-F436-E0BD48F3A0AD}"/>
              </a:ext>
            </a:extLst>
          </p:cNvPr>
          <p:cNvSpPr txBox="1"/>
          <p:nvPr/>
        </p:nvSpPr>
        <p:spPr>
          <a:xfrm>
            <a:off x="1299118" y="2318552"/>
            <a:ext cx="13860966" cy="2308324"/>
          </a:xfrm>
          <a:prstGeom prst="rect">
            <a:avLst/>
          </a:prstGeom>
          <a:noFill/>
        </p:spPr>
        <p:txBody>
          <a:bodyPr wrap="square">
            <a:spAutoFit/>
          </a:bodyPr>
          <a:lstStyle/>
          <a:p>
            <a:r>
              <a:rPr lang="en-US" dirty="0"/>
              <a:t>Consider the tables:</a:t>
            </a:r>
          </a:p>
          <a:p>
            <a:endParaRPr lang="en-US" dirty="0"/>
          </a:p>
          <a:p>
            <a:r>
              <a:rPr lang="en-US" dirty="0"/>
              <a:t>create table contacts (</a:t>
            </a:r>
            <a:r>
              <a:rPr lang="en-US" dirty="0" err="1"/>
              <a:t>contact_id</a:t>
            </a:r>
            <a:r>
              <a:rPr lang="en-US" dirty="0"/>
              <a:t> int (11) NOT NULL AUTO_INCREMENT, </a:t>
            </a:r>
          </a:p>
          <a:p>
            <a:r>
              <a:rPr lang="en-US" dirty="0"/>
              <a:t>                            </a:t>
            </a:r>
            <a:r>
              <a:rPr lang="en-US" dirty="0" err="1"/>
              <a:t>last_name</a:t>
            </a:r>
            <a:r>
              <a:rPr lang="en-US" dirty="0"/>
              <a:t> VARCHAR (30) NOT NULL, </a:t>
            </a:r>
            <a:r>
              <a:rPr lang="en-US" dirty="0" err="1"/>
              <a:t>first_name</a:t>
            </a:r>
            <a:r>
              <a:rPr lang="en-US" dirty="0"/>
              <a:t> VARCHAR (25), </a:t>
            </a:r>
          </a:p>
          <a:p>
            <a:r>
              <a:rPr lang="en-US" dirty="0"/>
              <a:t>                            birthday DATE, </a:t>
            </a:r>
            <a:r>
              <a:rPr lang="en-US" dirty="0" err="1"/>
              <a:t>created_date</a:t>
            </a:r>
            <a:r>
              <a:rPr lang="en-US" dirty="0"/>
              <a:t> DATE, </a:t>
            </a:r>
            <a:r>
              <a:rPr lang="en-US" dirty="0" err="1"/>
              <a:t>created_by</a:t>
            </a:r>
            <a:r>
              <a:rPr lang="en-US" dirty="0"/>
              <a:t> VARCHAR (30), </a:t>
            </a:r>
          </a:p>
          <a:p>
            <a:r>
              <a:rPr lang="en-US" dirty="0"/>
              <a:t>                            CONSTRAINT </a:t>
            </a:r>
            <a:r>
              <a:rPr lang="en-US" dirty="0" err="1"/>
              <a:t>contacts_pk</a:t>
            </a:r>
            <a:r>
              <a:rPr lang="en-US" dirty="0"/>
              <a:t> PRIMARY KEY (</a:t>
            </a:r>
            <a:r>
              <a:rPr lang="en-US" dirty="0" err="1"/>
              <a:t>contact_id</a:t>
            </a:r>
            <a:r>
              <a:rPr lang="en-US" dirty="0"/>
              <a:t>));</a:t>
            </a:r>
          </a:p>
          <a:p>
            <a:endParaRPr lang="en-US" dirty="0"/>
          </a:p>
          <a:p>
            <a:r>
              <a:rPr lang="en-US" dirty="0"/>
              <a:t>create table </a:t>
            </a:r>
            <a:r>
              <a:rPr lang="en-US" dirty="0" err="1"/>
              <a:t>contacts_audit</a:t>
            </a:r>
            <a:r>
              <a:rPr lang="en-US" dirty="0"/>
              <a:t> (</a:t>
            </a:r>
            <a:r>
              <a:rPr lang="en-US" dirty="0" err="1"/>
              <a:t>contact_id</a:t>
            </a:r>
            <a:r>
              <a:rPr lang="en-US" dirty="0"/>
              <a:t> integer, </a:t>
            </a:r>
            <a:r>
              <a:rPr lang="en-US" dirty="0" err="1"/>
              <a:t>deleted_date</a:t>
            </a:r>
            <a:r>
              <a:rPr lang="en-US" dirty="0"/>
              <a:t> date, </a:t>
            </a:r>
            <a:r>
              <a:rPr lang="en-US" dirty="0" err="1"/>
              <a:t>deleted_by</a:t>
            </a:r>
            <a:r>
              <a:rPr lang="en-US" dirty="0"/>
              <a:t> varchar(20));</a:t>
            </a:r>
            <a:endParaRPr lang="en-IN" dirty="0"/>
          </a:p>
        </p:txBody>
      </p:sp>
    </p:spTree>
    <p:extLst>
      <p:ext uri="{BB962C8B-B14F-4D97-AF65-F5344CB8AC3E}">
        <p14:creationId xmlns:p14="http://schemas.microsoft.com/office/powerpoint/2010/main" val="47093596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24A6BFD-AB69-47F3-D520-F832938D9595}"/>
              </a:ext>
            </a:extLst>
          </p:cNvPr>
          <p:cNvSpPr txBox="1"/>
          <p:nvPr/>
        </p:nvSpPr>
        <p:spPr>
          <a:xfrm>
            <a:off x="0" y="0"/>
            <a:ext cx="17139424" cy="6186309"/>
          </a:xfrm>
          <a:prstGeom prst="rect">
            <a:avLst/>
          </a:prstGeom>
          <a:noFill/>
        </p:spPr>
        <p:txBody>
          <a:bodyPr wrap="square">
            <a:spAutoFit/>
          </a:bodyPr>
          <a:lstStyle/>
          <a:p>
            <a:r>
              <a:rPr lang="en-IN" dirty="0"/>
              <a:t>Trigger to insert </a:t>
            </a:r>
            <a:r>
              <a:rPr lang="en-IN" dirty="0" err="1"/>
              <a:t>contact_id</a:t>
            </a:r>
            <a:r>
              <a:rPr lang="en-IN" dirty="0"/>
              <a:t> and contact deletion-date/user information into </a:t>
            </a:r>
            <a:r>
              <a:rPr lang="en-IN" dirty="0" err="1"/>
              <a:t>contacts_audit</a:t>
            </a:r>
            <a:r>
              <a:rPr lang="en-IN" dirty="0"/>
              <a:t> record after a delete occurs:</a:t>
            </a:r>
          </a:p>
          <a:p>
            <a:endParaRPr lang="en-IN" dirty="0"/>
          </a:p>
          <a:p>
            <a:r>
              <a:rPr lang="en-IN" dirty="0"/>
              <a:t>create trigger </a:t>
            </a:r>
            <a:r>
              <a:rPr lang="en-IN" dirty="0" err="1"/>
              <a:t>contacts_after_delete</a:t>
            </a:r>
            <a:endParaRPr lang="en-IN" dirty="0"/>
          </a:p>
          <a:p>
            <a:r>
              <a:rPr lang="en-IN" dirty="0"/>
              <a:t>           -&gt; after delete</a:t>
            </a:r>
          </a:p>
          <a:p>
            <a:r>
              <a:rPr lang="en-IN" dirty="0"/>
              <a:t>           -&gt; on contacts for each row</a:t>
            </a:r>
          </a:p>
          <a:p>
            <a:r>
              <a:rPr lang="en-IN" dirty="0"/>
              <a:t>           -&gt; begin</a:t>
            </a:r>
          </a:p>
          <a:p>
            <a:r>
              <a:rPr lang="en-IN" dirty="0"/>
              <a:t>           -&gt;</a:t>
            </a:r>
          </a:p>
          <a:p>
            <a:r>
              <a:rPr lang="en-IN" dirty="0"/>
              <a:t>           -&gt;    DECLARE </a:t>
            </a:r>
            <a:r>
              <a:rPr lang="en-IN" dirty="0" err="1"/>
              <a:t>vUser</a:t>
            </a:r>
            <a:r>
              <a:rPr lang="en-IN" dirty="0"/>
              <a:t> varchar(50);</a:t>
            </a:r>
          </a:p>
          <a:p>
            <a:r>
              <a:rPr lang="en-IN" dirty="0"/>
              <a:t>           -&gt;</a:t>
            </a:r>
          </a:p>
          <a:p>
            <a:r>
              <a:rPr lang="en-IN" dirty="0"/>
              <a:t>           -&gt;    -- Find username of person performing the DELETE into table</a:t>
            </a:r>
          </a:p>
          <a:p>
            <a:r>
              <a:rPr lang="en-IN" dirty="0"/>
              <a:t>           -&gt;    SELECT USER() into </a:t>
            </a:r>
            <a:r>
              <a:rPr lang="en-IN" dirty="0" err="1"/>
              <a:t>vUser</a:t>
            </a:r>
            <a:r>
              <a:rPr lang="en-IN" dirty="0"/>
              <a:t>;</a:t>
            </a:r>
          </a:p>
          <a:p>
            <a:r>
              <a:rPr lang="en-IN" dirty="0"/>
              <a:t>           -&gt;</a:t>
            </a:r>
          </a:p>
          <a:p>
            <a:r>
              <a:rPr lang="en-IN" dirty="0"/>
              <a:t>           -&gt;    -- Insert record into audit table</a:t>
            </a:r>
          </a:p>
          <a:p>
            <a:r>
              <a:rPr lang="en-IN" dirty="0"/>
              <a:t>           -&gt;    INSERT into </a:t>
            </a:r>
            <a:r>
              <a:rPr lang="en-IN" dirty="0" err="1"/>
              <a:t>contacts_audit</a:t>
            </a:r>
            <a:endParaRPr lang="en-IN" dirty="0"/>
          </a:p>
          <a:p>
            <a:r>
              <a:rPr lang="en-IN" dirty="0"/>
              <a:t>           -&gt;    ( </a:t>
            </a:r>
            <a:r>
              <a:rPr lang="en-IN" dirty="0" err="1"/>
              <a:t>contact_id</a:t>
            </a:r>
            <a:r>
              <a:rPr lang="en-IN" dirty="0"/>
              <a:t>,</a:t>
            </a:r>
          </a:p>
          <a:p>
            <a:r>
              <a:rPr lang="en-IN" dirty="0"/>
              <a:t>           -&gt;      </a:t>
            </a:r>
            <a:r>
              <a:rPr lang="en-IN" dirty="0" err="1"/>
              <a:t>deleted_date</a:t>
            </a:r>
            <a:r>
              <a:rPr lang="en-IN" dirty="0"/>
              <a:t>,</a:t>
            </a:r>
          </a:p>
          <a:p>
            <a:r>
              <a:rPr lang="en-IN" dirty="0"/>
              <a:t>           -&gt;      </a:t>
            </a:r>
            <a:r>
              <a:rPr lang="en-IN" dirty="0" err="1"/>
              <a:t>deleted_by</a:t>
            </a:r>
            <a:r>
              <a:rPr lang="en-IN" dirty="0"/>
              <a:t>)</a:t>
            </a:r>
          </a:p>
          <a:p>
            <a:r>
              <a:rPr lang="en-IN" dirty="0"/>
              <a:t>           -&gt;    VALUES</a:t>
            </a:r>
          </a:p>
          <a:p>
            <a:r>
              <a:rPr lang="en-IN" dirty="0"/>
              <a:t>           -&gt;    ( </a:t>
            </a:r>
            <a:r>
              <a:rPr lang="en-IN" dirty="0" err="1"/>
              <a:t>OLD.contact_id</a:t>
            </a:r>
            <a:r>
              <a:rPr lang="en-IN" dirty="0"/>
              <a:t>,</a:t>
            </a:r>
          </a:p>
          <a:p>
            <a:r>
              <a:rPr lang="en-IN" dirty="0"/>
              <a:t>           -&gt;      SYSDATE(),</a:t>
            </a:r>
          </a:p>
          <a:p>
            <a:r>
              <a:rPr lang="en-IN" dirty="0"/>
              <a:t>           -&gt;      </a:t>
            </a:r>
            <a:r>
              <a:rPr lang="en-IN" dirty="0" err="1"/>
              <a:t>vUser</a:t>
            </a:r>
            <a:r>
              <a:rPr lang="en-IN" dirty="0"/>
              <a:t> );</a:t>
            </a:r>
          </a:p>
          <a:p>
            <a:r>
              <a:rPr lang="en-IN" dirty="0"/>
              <a:t>           -&gt; end; // </a:t>
            </a:r>
          </a:p>
        </p:txBody>
      </p:sp>
    </p:spTree>
    <p:extLst>
      <p:ext uri="{BB962C8B-B14F-4D97-AF65-F5344CB8AC3E}">
        <p14:creationId xmlns:p14="http://schemas.microsoft.com/office/powerpoint/2010/main" val="328258422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C260052-CE46-988E-AE5D-BCA63FF629D2}"/>
              </a:ext>
            </a:extLst>
          </p:cNvPr>
          <p:cNvSpPr txBox="1"/>
          <p:nvPr/>
        </p:nvSpPr>
        <p:spPr>
          <a:xfrm>
            <a:off x="234043" y="219866"/>
            <a:ext cx="8392884" cy="2031325"/>
          </a:xfrm>
          <a:prstGeom prst="rect">
            <a:avLst/>
          </a:prstGeom>
          <a:noFill/>
        </p:spPr>
        <p:txBody>
          <a:bodyPr wrap="square">
            <a:spAutoFit/>
          </a:bodyPr>
          <a:lstStyle/>
          <a:p>
            <a:r>
              <a:rPr lang="en-US" dirty="0"/>
              <a:t>Making an insert and deleting the same to invoke the trigger:</a:t>
            </a:r>
          </a:p>
          <a:p>
            <a:endParaRPr lang="en-US" dirty="0"/>
          </a:p>
          <a:p>
            <a:r>
              <a:rPr lang="en-US" dirty="0"/>
              <a:t>delimiter;</a:t>
            </a:r>
          </a:p>
          <a:p>
            <a:r>
              <a:rPr lang="en-US" dirty="0"/>
              <a:t>insert into contacts values (1, "Newton", "Isaac", </a:t>
            </a:r>
          </a:p>
          <a:p>
            <a:r>
              <a:rPr lang="en-US" dirty="0"/>
              <a:t>                             </a:t>
            </a:r>
            <a:r>
              <a:rPr lang="en-US" dirty="0" err="1"/>
              <a:t>str_to_date</a:t>
            </a:r>
            <a:r>
              <a:rPr lang="en-US" dirty="0"/>
              <a:t> ("19-08-1985", "%d-%m-%Y"), </a:t>
            </a:r>
          </a:p>
          <a:p>
            <a:r>
              <a:rPr lang="en-US" dirty="0"/>
              <a:t>                             </a:t>
            </a:r>
            <a:r>
              <a:rPr lang="en-US" dirty="0" err="1"/>
              <a:t>str_to_date</a:t>
            </a:r>
            <a:r>
              <a:rPr lang="en-US" dirty="0"/>
              <a:t> ("23-07-2018", "%d-%m-%Y"), "</a:t>
            </a:r>
            <a:r>
              <a:rPr lang="en-US" dirty="0" err="1"/>
              <a:t>xyz</a:t>
            </a:r>
            <a:r>
              <a:rPr lang="en-US" dirty="0"/>
              <a:t>");</a:t>
            </a:r>
          </a:p>
          <a:p>
            <a:r>
              <a:rPr lang="en-US" dirty="0"/>
              <a:t>delete from contacts where </a:t>
            </a:r>
            <a:r>
              <a:rPr lang="en-US" dirty="0" err="1"/>
              <a:t>first_name</a:t>
            </a:r>
            <a:r>
              <a:rPr lang="en-US" dirty="0"/>
              <a:t>="Isaac"; </a:t>
            </a:r>
            <a:endParaRPr lang="en-IN" dirty="0"/>
          </a:p>
        </p:txBody>
      </p:sp>
      <p:sp>
        <p:nvSpPr>
          <p:cNvPr id="13" name="TextBox 12">
            <a:extLst>
              <a:ext uri="{FF2B5EF4-FFF2-40B4-BE49-F238E27FC236}">
                <a16:creationId xmlns:a16="http://schemas.microsoft.com/office/drawing/2014/main" id="{7D7026F1-C16F-5833-DACE-1951F2D8C8D4}"/>
              </a:ext>
            </a:extLst>
          </p:cNvPr>
          <p:cNvSpPr txBox="1"/>
          <p:nvPr/>
        </p:nvSpPr>
        <p:spPr>
          <a:xfrm>
            <a:off x="5723364" y="1762773"/>
            <a:ext cx="11669750" cy="2585323"/>
          </a:xfrm>
          <a:prstGeom prst="rect">
            <a:avLst/>
          </a:prstGeom>
          <a:noFill/>
        </p:spPr>
        <p:txBody>
          <a:bodyPr wrap="square">
            <a:spAutoFit/>
          </a:bodyPr>
          <a:lstStyle/>
          <a:p>
            <a:r>
              <a:rPr lang="en-US" dirty="0"/>
              <a:t>Output:</a:t>
            </a:r>
          </a:p>
          <a:p>
            <a:endParaRPr lang="en-US" dirty="0"/>
          </a:p>
          <a:p>
            <a:r>
              <a:rPr lang="en-US" dirty="0"/>
              <a:t>select *from </a:t>
            </a:r>
            <a:r>
              <a:rPr lang="en-US" dirty="0" err="1"/>
              <a:t>contacts_audit</a:t>
            </a:r>
            <a:r>
              <a:rPr lang="en-US" dirty="0"/>
              <a:t>;</a:t>
            </a:r>
          </a:p>
          <a:p>
            <a:r>
              <a:rPr lang="en-US" dirty="0"/>
              <a:t>+------------+--------------+----------------+</a:t>
            </a:r>
          </a:p>
          <a:p>
            <a:r>
              <a:rPr lang="en-US" dirty="0"/>
              <a:t>| </a:t>
            </a:r>
            <a:r>
              <a:rPr lang="en-US" dirty="0" err="1"/>
              <a:t>contact_id</a:t>
            </a:r>
            <a:r>
              <a:rPr lang="en-US" dirty="0"/>
              <a:t> | </a:t>
            </a:r>
            <a:r>
              <a:rPr lang="en-US" dirty="0" err="1"/>
              <a:t>deleted_date</a:t>
            </a:r>
            <a:r>
              <a:rPr lang="en-US" dirty="0"/>
              <a:t> | </a:t>
            </a:r>
            <a:r>
              <a:rPr lang="en-US" dirty="0" err="1"/>
              <a:t>deleted_by</a:t>
            </a:r>
            <a:r>
              <a:rPr lang="en-US" dirty="0"/>
              <a:t>     |</a:t>
            </a:r>
          </a:p>
          <a:p>
            <a:r>
              <a:rPr lang="en-US" dirty="0"/>
              <a:t>+------------+--------------+----------------+</a:t>
            </a:r>
          </a:p>
          <a:p>
            <a:r>
              <a:rPr lang="en-US" dirty="0"/>
              <a:t>|          1 | 2019-05-11   | </a:t>
            </a:r>
            <a:r>
              <a:rPr lang="en-US" dirty="0" err="1"/>
              <a:t>root@localhost</a:t>
            </a:r>
            <a:r>
              <a:rPr lang="en-US" dirty="0"/>
              <a:t> |</a:t>
            </a:r>
          </a:p>
          <a:p>
            <a:r>
              <a:rPr lang="en-US" dirty="0"/>
              <a:t>+------------+--------------+----------------+</a:t>
            </a:r>
          </a:p>
          <a:p>
            <a:r>
              <a:rPr lang="en-US" dirty="0"/>
              <a:t>1 row in set (0.0009 sec) </a:t>
            </a:r>
            <a:endParaRPr lang="en-IN" dirty="0"/>
          </a:p>
        </p:txBody>
      </p:sp>
    </p:spTree>
    <p:extLst>
      <p:ext uri="{BB962C8B-B14F-4D97-AF65-F5344CB8AC3E}">
        <p14:creationId xmlns:p14="http://schemas.microsoft.com/office/powerpoint/2010/main" val="417519355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F8DC73-002B-B176-6FD8-051403B3A5CB}"/>
              </a:ext>
            </a:extLst>
          </p:cNvPr>
          <p:cNvSpPr txBox="1"/>
          <p:nvPr/>
        </p:nvSpPr>
        <p:spPr>
          <a:xfrm>
            <a:off x="3657600" y="431321"/>
            <a:ext cx="4106174" cy="646331"/>
          </a:xfrm>
          <a:prstGeom prst="rect">
            <a:avLst/>
          </a:prstGeom>
          <a:noFill/>
        </p:spPr>
        <p:txBody>
          <a:bodyPr wrap="square" rtlCol="0">
            <a:spAutoFit/>
          </a:bodyPr>
          <a:lstStyle/>
          <a:p>
            <a:r>
              <a:rPr lang="en-US" dirty="0"/>
              <a:t>NESTED, CORRELATED, JOIN QUERIES</a:t>
            </a:r>
          </a:p>
          <a:p>
            <a:endParaRPr lang="en-IN" dirty="0"/>
          </a:p>
        </p:txBody>
      </p:sp>
      <p:pic>
        <p:nvPicPr>
          <p:cNvPr id="5" name="Picture 4">
            <a:extLst>
              <a:ext uri="{FF2B5EF4-FFF2-40B4-BE49-F238E27FC236}">
                <a16:creationId xmlns:a16="http://schemas.microsoft.com/office/drawing/2014/main" id="{03C4915A-3762-2AB6-472B-61B0B1DDC5DC}"/>
              </a:ext>
            </a:extLst>
          </p:cNvPr>
          <p:cNvPicPr>
            <a:picLocks noChangeAspect="1"/>
          </p:cNvPicPr>
          <p:nvPr/>
        </p:nvPicPr>
        <p:blipFill>
          <a:blip r:embed="rId2"/>
          <a:stretch>
            <a:fillRect/>
          </a:stretch>
        </p:blipFill>
        <p:spPr>
          <a:xfrm>
            <a:off x="565284" y="992733"/>
            <a:ext cx="10526594" cy="1629002"/>
          </a:xfrm>
          <a:prstGeom prst="rect">
            <a:avLst/>
          </a:prstGeom>
        </p:spPr>
      </p:pic>
      <p:pic>
        <p:nvPicPr>
          <p:cNvPr id="7" name="Picture 6">
            <a:extLst>
              <a:ext uri="{FF2B5EF4-FFF2-40B4-BE49-F238E27FC236}">
                <a16:creationId xmlns:a16="http://schemas.microsoft.com/office/drawing/2014/main" id="{C1966F81-78E7-82C3-2D7A-88E814D315B9}"/>
              </a:ext>
            </a:extLst>
          </p:cNvPr>
          <p:cNvPicPr>
            <a:picLocks noChangeAspect="1"/>
          </p:cNvPicPr>
          <p:nvPr/>
        </p:nvPicPr>
        <p:blipFill>
          <a:blip r:embed="rId3"/>
          <a:stretch>
            <a:fillRect/>
          </a:stretch>
        </p:blipFill>
        <p:spPr>
          <a:xfrm>
            <a:off x="514074" y="2859856"/>
            <a:ext cx="10393225" cy="1000265"/>
          </a:xfrm>
          <a:prstGeom prst="rect">
            <a:avLst/>
          </a:prstGeom>
        </p:spPr>
      </p:pic>
      <p:pic>
        <p:nvPicPr>
          <p:cNvPr id="9" name="Picture 8">
            <a:extLst>
              <a:ext uri="{FF2B5EF4-FFF2-40B4-BE49-F238E27FC236}">
                <a16:creationId xmlns:a16="http://schemas.microsoft.com/office/drawing/2014/main" id="{6D5ACBEF-628C-4031-5F70-74A93E143D74}"/>
              </a:ext>
            </a:extLst>
          </p:cNvPr>
          <p:cNvPicPr>
            <a:picLocks noChangeAspect="1"/>
          </p:cNvPicPr>
          <p:nvPr/>
        </p:nvPicPr>
        <p:blipFill>
          <a:blip r:embed="rId4"/>
          <a:stretch>
            <a:fillRect/>
          </a:stretch>
        </p:blipFill>
        <p:spPr>
          <a:xfrm>
            <a:off x="514074" y="4102555"/>
            <a:ext cx="10517068" cy="1047896"/>
          </a:xfrm>
          <a:prstGeom prst="rect">
            <a:avLst/>
          </a:prstGeom>
        </p:spPr>
      </p:pic>
    </p:spTree>
    <p:extLst>
      <p:ext uri="{BB962C8B-B14F-4D97-AF65-F5344CB8AC3E}">
        <p14:creationId xmlns:p14="http://schemas.microsoft.com/office/powerpoint/2010/main" val="389949586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1F3F9C-D91D-3B7C-156F-C33AA75C8FE2}"/>
              </a:ext>
            </a:extLst>
          </p:cNvPr>
          <p:cNvPicPr>
            <a:picLocks noChangeAspect="1"/>
          </p:cNvPicPr>
          <p:nvPr/>
        </p:nvPicPr>
        <p:blipFill>
          <a:blip r:embed="rId2"/>
          <a:stretch>
            <a:fillRect/>
          </a:stretch>
        </p:blipFill>
        <p:spPr>
          <a:xfrm>
            <a:off x="567719" y="362414"/>
            <a:ext cx="10383699" cy="2372056"/>
          </a:xfrm>
          <a:prstGeom prst="rect">
            <a:avLst/>
          </a:prstGeom>
        </p:spPr>
      </p:pic>
      <p:pic>
        <p:nvPicPr>
          <p:cNvPr id="5" name="Picture 4">
            <a:extLst>
              <a:ext uri="{FF2B5EF4-FFF2-40B4-BE49-F238E27FC236}">
                <a16:creationId xmlns:a16="http://schemas.microsoft.com/office/drawing/2014/main" id="{F948E81B-FE0C-5AEA-96EB-1E8BD3ABA6CA}"/>
              </a:ext>
            </a:extLst>
          </p:cNvPr>
          <p:cNvPicPr>
            <a:picLocks noChangeAspect="1"/>
          </p:cNvPicPr>
          <p:nvPr/>
        </p:nvPicPr>
        <p:blipFill>
          <a:blip r:embed="rId3"/>
          <a:stretch>
            <a:fillRect/>
          </a:stretch>
        </p:blipFill>
        <p:spPr>
          <a:xfrm>
            <a:off x="567719" y="2881236"/>
            <a:ext cx="10307488" cy="1095528"/>
          </a:xfrm>
          <a:prstGeom prst="rect">
            <a:avLst/>
          </a:prstGeom>
        </p:spPr>
      </p:pic>
    </p:spTree>
    <p:extLst>
      <p:ext uri="{BB962C8B-B14F-4D97-AF65-F5344CB8AC3E}">
        <p14:creationId xmlns:p14="http://schemas.microsoft.com/office/powerpoint/2010/main" val="246725289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3A54BB-628C-574E-D86C-2D234E4953D7}"/>
              </a:ext>
            </a:extLst>
          </p:cNvPr>
          <p:cNvPicPr>
            <a:picLocks noChangeAspect="1"/>
          </p:cNvPicPr>
          <p:nvPr/>
        </p:nvPicPr>
        <p:blipFill>
          <a:blip r:embed="rId2"/>
          <a:stretch>
            <a:fillRect/>
          </a:stretch>
        </p:blipFill>
        <p:spPr>
          <a:xfrm>
            <a:off x="824449" y="1246171"/>
            <a:ext cx="10336067" cy="2381582"/>
          </a:xfrm>
          <a:prstGeom prst="rect">
            <a:avLst/>
          </a:prstGeom>
        </p:spPr>
      </p:pic>
      <p:pic>
        <p:nvPicPr>
          <p:cNvPr id="5" name="Picture 4">
            <a:extLst>
              <a:ext uri="{FF2B5EF4-FFF2-40B4-BE49-F238E27FC236}">
                <a16:creationId xmlns:a16="http://schemas.microsoft.com/office/drawing/2014/main" id="{656680B0-8114-10DE-D351-807443702E01}"/>
              </a:ext>
            </a:extLst>
          </p:cNvPr>
          <p:cNvPicPr>
            <a:picLocks noChangeAspect="1"/>
          </p:cNvPicPr>
          <p:nvPr/>
        </p:nvPicPr>
        <p:blipFill>
          <a:blip r:embed="rId3"/>
          <a:stretch>
            <a:fillRect/>
          </a:stretch>
        </p:blipFill>
        <p:spPr>
          <a:xfrm>
            <a:off x="824449" y="3893317"/>
            <a:ext cx="9307224" cy="2314898"/>
          </a:xfrm>
          <a:prstGeom prst="rect">
            <a:avLst/>
          </a:prstGeom>
        </p:spPr>
      </p:pic>
    </p:spTree>
    <p:extLst>
      <p:ext uri="{BB962C8B-B14F-4D97-AF65-F5344CB8AC3E}">
        <p14:creationId xmlns:p14="http://schemas.microsoft.com/office/powerpoint/2010/main" val="226043401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9C2B32-1295-8954-7076-DF8FBC7EE299}"/>
              </a:ext>
            </a:extLst>
          </p:cNvPr>
          <p:cNvPicPr>
            <a:picLocks noChangeAspect="1"/>
          </p:cNvPicPr>
          <p:nvPr/>
        </p:nvPicPr>
        <p:blipFill>
          <a:blip r:embed="rId2"/>
          <a:stretch>
            <a:fillRect/>
          </a:stretch>
        </p:blipFill>
        <p:spPr>
          <a:xfrm>
            <a:off x="367885" y="283985"/>
            <a:ext cx="10231278" cy="2114845"/>
          </a:xfrm>
          <a:prstGeom prst="rect">
            <a:avLst/>
          </a:prstGeom>
        </p:spPr>
      </p:pic>
    </p:spTree>
    <p:extLst>
      <p:ext uri="{BB962C8B-B14F-4D97-AF65-F5344CB8AC3E}">
        <p14:creationId xmlns:p14="http://schemas.microsoft.com/office/powerpoint/2010/main" val="109672696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2909E4-CB62-58F3-A06F-469E9ACDFD5D}"/>
              </a:ext>
            </a:extLst>
          </p:cNvPr>
          <p:cNvPicPr>
            <a:picLocks noChangeAspect="1"/>
          </p:cNvPicPr>
          <p:nvPr/>
        </p:nvPicPr>
        <p:blipFill>
          <a:blip r:embed="rId2"/>
          <a:stretch>
            <a:fillRect/>
          </a:stretch>
        </p:blipFill>
        <p:spPr>
          <a:xfrm>
            <a:off x="1413809" y="351995"/>
            <a:ext cx="9364382" cy="6154009"/>
          </a:xfrm>
          <a:prstGeom prst="rect">
            <a:avLst/>
          </a:prstGeom>
        </p:spPr>
      </p:pic>
      <p:sp>
        <p:nvSpPr>
          <p:cNvPr id="2" name="TextBox 1">
            <a:extLst>
              <a:ext uri="{FF2B5EF4-FFF2-40B4-BE49-F238E27FC236}">
                <a16:creationId xmlns:a16="http://schemas.microsoft.com/office/drawing/2014/main" id="{7A846EBE-D27D-9BEF-8866-757CBFD9E720}"/>
              </a:ext>
            </a:extLst>
          </p:cNvPr>
          <p:cNvSpPr txBox="1"/>
          <p:nvPr/>
        </p:nvSpPr>
        <p:spPr>
          <a:xfrm>
            <a:off x="4149306" y="-17337"/>
            <a:ext cx="3303917" cy="369332"/>
          </a:xfrm>
          <a:prstGeom prst="rect">
            <a:avLst/>
          </a:prstGeom>
          <a:noFill/>
        </p:spPr>
        <p:txBody>
          <a:bodyPr wrap="square" rtlCol="0">
            <a:spAutoFit/>
          </a:bodyPr>
          <a:lstStyle/>
          <a:p>
            <a:r>
              <a:rPr lang="en-US" dirty="0"/>
              <a:t>NESTED QUERY</a:t>
            </a:r>
            <a:endParaRPr lang="en-IN" dirty="0"/>
          </a:p>
        </p:txBody>
      </p:sp>
    </p:spTree>
    <p:extLst>
      <p:ext uri="{BB962C8B-B14F-4D97-AF65-F5344CB8AC3E}">
        <p14:creationId xmlns:p14="http://schemas.microsoft.com/office/powerpoint/2010/main" val="304018532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CF17B1-085D-C001-6B72-DE5E5BECE502}"/>
              </a:ext>
            </a:extLst>
          </p:cNvPr>
          <p:cNvPicPr>
            <a:picLocks noChangeAspect="1"/>
          </p:cNvPicPr>
          <p:nvPr/>
        </p:nvPicPr>
        <p:blipFill>
          <a:blip r:embed="rId2"/>
          <a:stretch>
            <a:fillRect/>
          </a:stretch>
        </p:blipFill>
        <p:spPr>
          <a:xfrm>
            <a:off x="544804" y="1857156"/>
            <a:ext cx="10412278" cy="1571844"/>
          </a:xfrm>
          <a:prstGeom prst="rect">
            <a:avLst/>
          </a:prstGeom>
        </p:spPr>
      </p:pic>
      <p:sp>
        <p:nvSpPr>
          <p:cNvPr id="2" name="TextBox 1">
            <a:extLst>
              <a:ext uri="{FF2B5EF4-FFF2-40B4-BE49-F238E27FC236}">
                <a16:creationId xmlns:a16="http://schemas.microsoft.com/office/drawing/2014/main" id="{F7A3FB75-1356-9BFF-C4EF-D427711AC5C5}"/>
              </a:ext>
            </a:extLst>
          </p:cNvPr>
          <p:cNvSpPr txBox="1"/>
          <p:nvPr/>
        </p:nvSpPr>
        <p:spPr>
          <a:xfrm>
            <a:off x="2958860" y="267419"/>
            <a:ext cx="3303917" cy="646331"/>
          </a:xfrm>
          <a:prstGeom prst="rect">
            <a:avLst/>
          </a:prstGeom>
          <a:noFill/>
        </p:spPr>
        <p:txBody>
          <a:bodyPr wrap="square" rtlCol="0">
            <a:spAutoFit/>
          </a:bodyPr>
          <a:lstStyle/>
          <a:p>
            <a:r>
              <a:rPr lang="en-US" dirty="0"/>
              <a:t>CORRELATED QUERY</a:t>
            </a:r>
          </a:p>
          <a:p>
            <a:endParaRPr lang="en-IN" dirty="0"/>
          </a:p>
        </p:txBody>
      </p:sp>
    </p:spTree>
    <p:extLst>
      <p:ext uri="{BB962C8B-B14F-4D97-AF65-F5344CB8AC3E}">
        <p14:creationId xmlns:p14="http://schemas.microsoft.com/office/powerpoint/2010/main" val="32553858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32C09E-8FC6-6FF0-945C-E99133A07F9C}"/>
              </a:ext>
            </a:extLst>
          </p:cNvPr>
          <p:cNvPicPr>
            <a:picLocks noChangeAspect="1"/>
          </p:cNvPicPr>
          <p:nvPr/>
        </p:nvPicPr>
        <p:blipFill>
          <a:blip r:embed="rId2"/>
          <a:stretch>
            <a:fillRect/>
          </a:stretch>
        </p:blipFill>
        <p:spPr>
          <a:xfrm>
            <a:off x="2165230" y="924188"/>
            <a:ext cx="7288627" cy="4825574"/>
          </a:xfrm>
          <a:prstGeom prst="rect">
            <a:avLst/>
          </a:prstGeom>
        </p:spPr>
      </p:pic>
      <p:sp>
        <p:nvSpPr>
          <p:cNvPr id="4" name="TextBox 3">
            <a:extLst>
              <a:ext uri="{FF2B5EF4-FFF2-40B4-BE49-F238E27FC236}">
                <a16:creationId xmlns:a16="http://schemas.microsoft.com/office/drawing/2014/main" id="{007CC226-1DD8-FBA7-3367-CE7399547C72}"/>
              </a:ext>
            </a:extLst>
          </p:cNvPr>
          <p:cNvSpPr txBox="1"/>
          <p:nvPr/>
        </p:nvSpPr>
        <p:spPr>
          <a:xfrm>
            <a:off x="2958860" y="267419"/>
            <a:ext cx="3303917" cy="369332"/>
          </a:xfrm>
          <a:prstGeom prst="rect">
            <a:avLst/>
          </a:prstGeom>
          <a:noFill/>
        </p:spPr>
        <p:txBody>
          <a:bodyPr wrap="square" rtlCol="0">
            <a:spAutoFit/>
          </a:bodyPr>
          <a:lstStyle/>
          <a:p>
            <a:r>
              <a:rPr lang="en-US" dirty="0"/>
              <a:t>ANY AND ALL OPERATORS</a:t>
            </a:r>
            <a:endParaRPr lang="en-IN" dirty="0"/>
          </a:p>
        </p:txBody>
      </p:sp>
    </p:spTree>
    <p:extLst>
      <p:ext uri="{BB962C8B-B14F-4D97-AF65-F5344CB8AC3E}">
        <p14:creationId xmlns:p14="http://schemas.microsoft.com/office/powerpoint/2010/main" val="376707955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4A72D0-1AB8-83C2-EC97-407B5E3A8D92}"/>
              </a:ext>
            </a:extLst>
          </p:cNvPr>
          <p:cNvSpPr txBox="1"/>
          <p:nvPr/>
        </p:nvSpPr>
        <p:spPr>
          <a:xfrm>
            <a:off x="655608" y="245702"/>
            <a:ext cx="11119449" cy="3139321"/>
          </a:xfrm>
          <a:prstGeom prst="rect">
            <a:avLst/>
          </a:prstGeom>
          <a:noFill/>
        </p:spPr>
        <p:txBody>
          <a:bodyPr wrap="square">
            <a:spAutoFit/>
          </a:bodyPr>
          <a:lstStyle/>
          <a:p>
            <a:pPr algn="l"/>
            <a:r>
              <a:rPr lang="en-US" b="0" i="0" dirty="0">
                <a:solidFill>
                  <a:srgbClr val="000000"/>
                </a:solidFill>
                <a:effectLst/>
                <a:latin typeface="Verdana" panose="020B0604030504040204" pitchFamily="34" charset="0"/>
              </a:rPr>
              <a:t>The ANY operator is used to verify if any single record of a query satisfies the required condition.</a:t>
            </a:r>
          </a:p>
          <a:p>
            <a:pPr algn="l"/>
            <a:r>
              <a:rPr lang="en-US" b="0" i="0" dirty="0">
                <a:solidFill>
                  <a:srgbClr val="000000"/>
                </a:solidFill>
                <a:effectLst/>
                <a:latin typeface="Verdana" panose="020B0604030504040204" pitchFamily="34" charset="0"/>
              </a:rPr>
              <a:t>This operator returns a TRUE, if the given condition is satisfied for any of the values in the range. If none of the values in the specified range satisfy the given condition, this operator returns false. You can also use another query (subquery) along with this operator.</a:t>
            </a:r>
          </a:p>
          <a:p>
            <a:endParaRPr lang="en-US" dirty="0">
              <a:solidFill>
                <a:srgbClr val="000000"/>
              </a:solidFill>
              <a:latin typeface="Verdana" panose="020B0604030504040204" pitchFamily="34" charset="0"/>
            </a:endParaRPr>
          </a:p>
          <a:p>
            <a:endParaRPr lang="en-US" b="0" i="0" dirty="0">
              <a:solidFill>
                <a:srgbClr val="000000"/>
              </a:solidFill>
              <a:effectLst/>
              <a:latin typeface="Verdana" panose="020B0604030504040204" pitchFamily="34" charset="0"/>
            </a:endParaRPr>
          </a:p>
          <a:p>
            <a:endParaRPr lang="en-US" dirty="0">
              <a:solidFill>
                <a:srgbClr val="000000"/>
              </a:solidFill>
              <a:latin typeface="Verdana" panose="020B0604030504040204" pitchFamily="34" charset="0"/>
            </a:endParaRPr>
          </a:p>
          <a:p>
            <a:endParaRPr lang="en-US" b="0" i="0" dirty="0">
              <a:solidFill>
                <a:srgbClr val="000000"/>
              </a:solidFill>
              <a:effectLst/>
              <a:latin typeface="Verdana" panose="020B0604030504040204" pitchFamily="34" charset="0"/>
            </a:endParaRPr>
          </a:p>
          <a:p>
            <a:r>
              <a:rPr lang="en-US" b="0" i="0" dirty="0">
                <a:solidFill>
                  <a:srgbClr val="000000"/>
                </a:solidFill>
                <a:effectLst/>
                <a:latin typeface="Verdana" panose="020B0604030504040204" pitchFamily="34" charset="0"/>
              </a:rPr>
              <a:t>let us list out the details of all the CUSTOMERS whose SALARY is </a:t>
            </a:r>
            <a:r>
              <a:rPr lang="en-US" b="1" i="0" dirty="0">
                <a:solidFill>
                  <a:srgbClr val="000000"/>
                </a:solidFill>
                <a:effectLst/>
                <a:latin typeface="Verdana" panose="020B0604030504040204" pitchFamily="34" charset="0"/>
              </a:rPr>
              <a:t>greater than</a:t>
            </a:r>
            <a:r>
              <a:rPr lang="en-US" b="0" i="0" dirty="0">
                <a:solidFill>
                  <a:srgbClr val="000000"/>
                </a:solidFill>
                <a:effectLst/>
                <a:latin typeface="Verdana" panose="020B0604030504040204" pitchFamily="34" charset="0"/>
              </a:rPr>
              <a:t> the SALARY of any customer whose AGE is 32</a:t>
            </a:r>
            <a:endParaRPr lang="en-IN" dirty="0"/>
          </a:p>
        </p:txBody>
      </p:sp>
      <p:pic>
        <p:nvPicPr>
          <p:cNvPr id="5" name="Picture 4">
            <a:extLst>
              <a:ext uri="{FF2B5EF4-FFF2-40B4-BE49-F238E27FC236}">
                <a16:creationId xmlns:a16="http://schemas.microsoft.com/office/drawing/2014/main" id="{CAB7A8DB-E38A-BFF0-DA71-C8A90F48EBAF}"/>
              </a:ext>
            </a:extLst>
          </p:cNvPr>
          <p:cNvPicPr>
            <a:picLocks noChangeAspect="1"/>
          </p:cNvPicPr>
          <p:nvPr/>
        </p:nvPicPr>
        <p:blipFill>
          <a:blip r:embed="rId2"/>
          <a:stretch>
            <a:fillRect/>
          </a:stretch>
        </p:blipFill>
        <p:spPr>
          <a:xfrm>
            <a:off x="2664567" y="3711371"/>
            <a:ext cx="6535062" cy="2057687"/>
          </a:xfrm>
          <a:prstGeom prst="rect">
            <a:avLst/>
          </a:prstGeom>
        </p:spPr>
      </p:pic>
    </p:spTree>
    <p:extLst>
      <p:ext uri="{BB962C8B-B14F-4D97-AF65-F5344CB8AC3E}">
        <p14:creationId xmlns:p14="http://schemas.microsoft.com/office/powerpoint/2010/main" val="388530863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B3CD38-8A1C-8336-EC82-B914381ECB82}"/>
              </a:ext>
            </a:extLst>
          </p:cNvPr>
          <p:cNvSpPr txBox="1"/>
          <p:nvPr/>
        </p:nvSpPr>
        <p:spPr>
          <a:xfrm>
            <a:off x="828135" y="241540"/>
            <a:ext cx="7524390" cy="2585323"/>
          </a:xfrm>
          <a:prstGeom prst="rect">
            <a:avLst/>
          </a:prstGeom>
          <a:noFill/>
        </p:spPr>
        <p:txBody>
          <a:bodyPr wrap="square">
            <a:spAutoFit/>
          </a:bodyPr>
          <a:lstStyle/>
          <a:p>
            <a:pPr algn="l"/>
            <a:r>
              <a:rPr lang="en-US" b="0" i="0" dirty="0">
                <a:solidFill>
                  <a:srgbClr val="000000"/>
                </a:solidFill>
                <a:effectLst/>
                <a:latin typeface="Verdana" panose="020B0604030504040204" pitchFamily="34" charset="0"/>
              </a:rPr>
              <a:t>The SQL ALL operator returns all the records of the SELECT statement.</a:t>
            </a:r>
          </a:p>
          <a:p>
            <a:pPr algn="l">
              <a:buFont typeface="Arial" panose="020B0604020202020204" pitchFamily="34" charset="0"/>
              <a:buChar char="•"/>
            </a:pPr>
            <a:r>
              <a:rPr lang="en-US" b="0" i="0" dirty="0">
                <a:solidFill>
                  <a:srgbClr val="000000"/>
                </a:solidFill>
                <a:effectLst/>
                <a:latin typeface="Verdana" panose="020B0604030504040204" pitchFamily="34" charset="0"/>
              </a:rPr>
              <a:t>It returns TRUE if the given condition is satisfied for ALL the values in the range.</a:t>
            </a:r>
          </a:p>
          <a:p>
            <a:pPr algn="l">
              <a:buFont typeface="Arial" panose="020B0604020202020204" pitchFamily="34" charset="0"/>
              <a:buChar char="•"/>
            </a:pPr>
            <a:r>
              <a:rPr lang="en-US" b="0" i="0" dirty="0">
                <a:solidFill>
                  <a:srgbClr val="000000"/>
                </a:solidFill>
                <a:effectLst/>
                <a:latin typeface="Verdana" panose="020B0604030504040204" pitchFamily="34" charset="0"/>
              </a:rPr>
              <a:t>It always returns a Boolean value.</a:t>
            </a:r>
          </a:p>
          <a:p>
            <a:pPr algn="l">
              <a:buFont typeface="Arial" panose="020B0604020202020204" pitchFamily="34" charset="0"/>
              <a:buChar char="•"/>
            </a:pPr>
            <a:r>
              <a:rPr lang="en-US" b="0" i="0" dirty="0">
                <a:solidFill>
                  <a:srgbClr val="000000"/>
                </a:solidFill>
                <a:effectLst/>
                <a:latin typeface="Verdana" panose="020B0604030504040204" pitchFamily="34" charset="0"/>
              </a:rPr>
              <a:t>It is used with SELECT, WHERE and HAVING statements in SQL queries.</a:t>
            </a:r>
          </a:p>
          <a:p>
            <a:pPr algn="l">
              <a:buFont typeface="Arial" panose="020B0604020202020204" pitchFamily="34" charset="0"/>
              <a:buChar char="•"/>
            </a:pPr>
            <a:r>
              <a:rPr lang="en-US" b="0" i="0" dirty="0">
                <a:solidFill>
                  <a:srgbClr val="000000"/>
                </a:solidFill>
                <a:effectLst/>
                <a:latin typeface="Verdana" panose="020B0604030504040204" pitchFamily="34" charset="0"/>
              </a:rPr>
              <a:t>The data type of the values returned from a subquery must be the same as the outer query expression data type.</a:t>
            </a:r>
          </a:p>
        </p:txBody>
      </p:sp>
      <p:pic>
        <p:nvPicPr>
          <p:cNvPr id="5" name="Picture 4">
            <a:extLst>
              <a:ext uri="{FF2B5EF4-FFF2-40B4-BE49-F238E27FC236}">
                <a16:creationId xmlns:a16="http://schemas.microsoft.com/office/drawing/2014/main" id="{F3E69D93-ADFF-BD5A-3CED-A84C17C31428}"/>
              </a:ext>
            </a:extLst>
          </p:cNvPr>
          <p:cNvPicPr>
            <a:picLocks noChangeAspect="1"/>
          </p:cNvPicPr>
          <p:nvPr/>
        </p:nvPicPr>
        <p:blipFill>
          <a:blip r:embed="rId2"/>
          <a:stretch>
            <a:fillRect/>
          </a:stretch>
        </p:blipFill>
        <p:spPr>
          <a:xfrm>
            <a:off x="3186078" y="3495229"/>
            <a:ext cx="5630061" cy="2524477"/>
          </a:xfrm>
          <a:prstGeom prst="rect">
            <a:avLst/>
          </a:prstGeom>
        </p:spPr>
      </p:pic>
    </p:spTree>
    <p:extLst>
      <p:ext uri="{BB962C8B-B14F-4D97-AF65-F5344CB8AC3E}">
        <p14:creationId xmlns:p14="http://schemas.microsoft.com/office/powerpoint/2010/main" val="84508028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F9A1C-6ABD-2596-1124-89C7277CC6E9}"/>
              </a:ext>
            </a:extLst>
          </p:cNvPr>
          <p:cNvSpPr>
            <a:spLocks noGrp="1"/>
          </p:cNvSpPr>
          <p:nvPr>
            <p:ph type="title"/>
          </p:nvPr>
        </p:nvSpPr>
        <p:spPr>
          <a:xfrm>
            <a:off x="1157664" y="2612571"/>
            <a:ext cx="9603275" cy="1049235"/>
          </a:xfrm>
        </p:spPr>
        <p:txBody>
          <a:bodyPr/>
          <a:lstStyle/>
          <a:p>
            <a:pPr algn="ctr"/>
            <a:r>
              <a:rPr lang="en-US" dirty="0"/>
              <a:t>THANK YOU </a:t>
            </a:r>
            <a:endParaRPr lang="en-IN" dirty="0"/>
          </a:p>
        </p:txBody>
      </p:sp>
    </p:spTree>
    <p:extLst>
      <p:ext uri="{BB962C8B-B14F-4D97-AF65-F5344CB8AC3E}">
        <p14:creationId xmlns:p14="http://schemas.microsoft.com/office/powerpoint/2010/main" val="30929063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1827</TotalTime>
  <Words>7538</Words>
  <Application>Microsoft Office PowerPoint</Application>
  <PresentationFormat>Widescreen</PresentationFormat>
  <Paragraphs>1031</Paragraphs>
  <Slides>97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97</vt:i4>
      </vt:variant>
    </vt:vector>
  </HeadingPairs>
  <TitlesOfParts>
    <vt:vector size="108" baseType="lpstr">
      <vt:lpstr>Arial</vt:lpstr>
      <vt:lpstr>Arial Narrow</vt:lpstr>
      <vt:lpstr>book antiqua</vt:lpstr>
      <vt:lpstr>cambria math</vt:lpstr>
      <vt:lpstr>cambria math</vt:lpstr>
      <vt:lpstr>Consolas</vt:lpstr>
      <vt:lpstr>Gill Sans MT</vt:lpstr>
      <vt:lpstr>Nunito</vt:lpstr>
      <vt:lpstr>Times New Roman</vt:lpstr>
      <vt:lpstr>Verdana</vt:lpstr>
      <vt:lpstr>Gallery</vt:lpstr>
      <vt:lpstr>Database Management Systems</vt:lpstr>
      <vt:lpstr>PowerPoint Presentation</vt:lpstr>
      <vt:lpstr>PowerPoint Presentation</vt:lpstr>
      <vt:lpstr>PowerPoint Presentation</vt:lpstr>
      <vt:lpstr>Unit 2: RELATIONAL ALGEBRA</vt:lpstr>
      <vt:lpstr>Fundamental Operators</vt:lpstr>
      <vt:lpstr>1. Selection(σ): </vt:lpstr>
      <vt:lpstr>2. Projection(π): </vt:lpstr>
      <vt:lpstr>3. Union(U):</vt:lpstr>
      <vt:lpstr>PowerPoint Presentation</vt:lpstr>
      <vt:lpstr>4. Set Difference(-):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Systems</dc:title>
  <dc:creator>neha28nandal@outlook.com</dc:creator>
  <cp:lastModifiedBy>Neha Nandal</cp:lastModifiedBy>
  <cp:revision>260</cp:revision>
  <dcterms:created xsi:type="dcterms:W3CDTF">2023-09-09T04:22:22Z</dcterms:created>
  <dcterms:modified xsi:type="dcterms:W3CDTF">2023-12-19T05:49:29Z</dcterms:modified>
</cp:coreProperties>
</file>