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RELATIONAL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• Keys • Integrity Constraints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diagram isn’t a database. Today we build the real thing.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47548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Designed A Blueprint. You Can’t Store A Row In It.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29641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2964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diagram is not a database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2286000"/>
            <a:ext cx="2011680" cy="914400"/>
          </a:xfrm>
          <a:prstGeom prst="rect">
            <a:avLst/>
          </a:prstGeom>
          <a:solidFill>
            <a:srgbClr val="1F3A5F"/>
          </a:solidFill>
          <a:ln w="1778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80560" y="23317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Ravi’s actual data live?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holds pat_id = 101, name = Ravi?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the ER diagram must become a TABLE  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4114800"/>
            <a:ext cx="164592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4114800"/>
            <a:ext cx="164592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4114800"/>
            <a:ext cx="164592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4114800"/>
            <a:ext cx="1645920" cy="457200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4114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ward_no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457200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457200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457200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2006-08-15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4572000"/>
            <a:ext cx="16459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5029200"/>
            <a:ext cx="164592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5029200"/>
            <a:ext cx="164592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92240" y="5029200"/>
            <a:ext cx="164592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2005-02-20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5029200"/>
            <a:ext cx="1645920" cy="457200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5029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database. Rows you can store, search, and update. Today: how the model works.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→ Relation: The Translation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idea, new vocabulary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8288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 (table)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0" y="18288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6974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6974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6974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/ column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26974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dob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5661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(one)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35661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TUPLE / row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35661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(101, Ravi, …)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434840"/>
            <a:ext cx="10698480" cy="749808"/>
          </a:xfrm>
          <a:prstGeom prst="roundRect">
            <a:avLst>
              <a:gd name="adj" fmla="val 14634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3484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of allowed values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443484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44348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0" y="443484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 = valid dates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= number of COLUMNS.   Cardinality = number of ROWS.  ⚠ different meaning from Unit 1!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relation is just a table with rules. Those rules are what the rest of this lecture is about.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vs Instance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vs the data inside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STRUCTURE — fixed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(pat_id, name, dob, ward_no)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names + their domains.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once, rarely changes.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— changes constantly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3063240"/>
            <a:ext cx="123444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0632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3063240"/>
            <a:ext cx="123444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30632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3063240"/>
            <a:ext cx="123444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30632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424160" y="3063240"/>
            <a:ext cx="1234440" cy="402336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0" y="306324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3465576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4655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3465576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34655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9720" y="3465576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34655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424160" y="3465576"/>
            <a:ext cx="12344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346557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3867912"/>
            <a:ext cx="123444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8679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955280" y="3867912"/>
            <a:ext cx="123444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38679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89720" y="3867912"/>
            <a:ext cx="123444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9720" y="38679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424160" y="3867912"/>
            <a:ext cx="1234440" cy="402336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0" y="386791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9224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rows, right now. New patient = new row.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schema. Millions of instances over time — like a class definition vs its objects.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— The Whole Family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97890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978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‘any unique combo’ to ‘the chosen one’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38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SUPERKEY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19568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set of columns that uniquely identifies a row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23360" y="2377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{pat_id}, {pat_id, name}, {pat_id, dob}…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81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30998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superkey — no extra columns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23360" y="3520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{pat_id}   (also {aadhaar} if we had it)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245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42428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candidate key we choose to use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23360" y="4663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pat_id  —  underlined, never null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key is a superkey. The primary key is the candidate key you crown. — Lecture 6’s underline, made real.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 — How Tables Connect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08406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relationship diamond, reborn as a column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137160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2103120"/>
            <a:ext cx="137160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137160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ward_no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542032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94560" y="2542032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66160" y="2542032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980944"/>
            <a:ext cx="137160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4560" y="2980944"/>
            <a:ext cx="137160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66160" y="2980944"/>
            <a:ext cx="137160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3419856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94560" y="3419856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66160" y="3419856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4198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381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498080" y="2103120"/>
            <a:ext cx="137160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ward_no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69680" y="2103120"/>
            <a:ext cx="1371600" cy="438912"/>
          </a:xfrm>
          <a:prstGeom prst="rect">
            <a:avLst/>
          </a:prstGeom>
          <a:solidFill>
            <a:srgbClr val="1424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2542032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869680" y="2542032"/>
            <a:ext cx="137160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25420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98080" y="2980944"/>
            <a:ext cx="137160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69680" y="2980944"/>
            <a:ext cx="1371600" cy="438912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29809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37760" y="3017520"/>
            <a:ext cx="2560320" cy="914"/>
          </a:xfrm>
          <a:prstGeom prst="line">
            <a:avLst/>
          </a:prstGeom>
          <a:noFill/>
          <a:ln w="31750">
            <a:solidFill>
              <a:srgbClr val="0F8A66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20624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ward_no in PATIENT must MATCH a ward_no in WARD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4480560"/>
            <a:ext cx="10698480" cy="1463040"/>
          </a:xfrm>
          <a:prstGeom prst="roundRect">
            <a:avLst>
              <a:gd name="adj" fmla="val 75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is a column that points to the PRIMARY KEY of another table.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how the ADMITTED relationship from Unit 1 becomes real — no diamond needed, just a shared column.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“W9” in PATIENT would be illegal — there is no ward W9. That rule has a name → next slide.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Integrity Constraints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that keep data honest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02536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0253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190195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value must come from the column’s allowed 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22951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= 200 ✗   dob = ‘hello’ 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54096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B67609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540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0" y="295351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two rows share the same primary key value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3467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patients with pat_id 101 ✗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105656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0F8A6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10565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INTEGRITY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0" y="400507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primary key can NEVER be null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43982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pat_id = NULL ✗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5157216"/>
            <a:ext cx="2468880" cy="475488"/>
          </a:xfrm>
          <a:prstGeom prst="roundRect">
            <a:avLst>
              <a:gd name="adj" fmla="val 19231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515721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INTEGRITY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0" y="505663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must match an existing PK — or be null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0" y="54498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ward_no = W9 (no such ward) ✗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Child Dies With The Parent” — For Real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529437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5294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delete a referenced row?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weak entities? If you delete WARD W3, what happens to Ravi and Ahmed, who point to W3?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5146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patients too — the child dies with the parent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74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SET NULL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47472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patients, set their ward_no to NULL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434840"/>
            <a:ext cx="10698480" cy="822960"/>
          </a:xfrm>
          <a:prstGeom prst="roundRect">
            <a:avLst>
              <a:gd name="adj" fmla="val 1333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34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8A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RESTRICT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4348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the delete while patients still point to W3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 DELETE CASCADE I promised you back in Lecture 8. We’ll write these in SQL in Unit 3.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THE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 ENROLL (roll_no, course_id, marks, semester)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can take many courses; a course has many students.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794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is the primary key? (Hint: one column isn’t enough)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4361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Is roll_no a foreign key? Pointing to which table?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4928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Which constraint stops marks = 150?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5495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Which constraint stops a NULL in the primary key?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6217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you spot the composite key?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0195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= (roll_no, course_id)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column can’t be unique — a student repeats across courses, a course repeats across students. Together they’re unique.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346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9535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roll_no is a foreign key → STUDENT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3467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course_id is a foreign key → COURSE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862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00507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constraint stops marks = 150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439826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must come from its allowed range, e.g. 0–100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9377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0566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INTEGRITY stops the NULL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54498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 of a primary key may be null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integrity constraints in the relational model with examples.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superkey, candidate key and primary key with examples.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foreign key? Explain referential integrity.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schema and instance.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degree and cardinality of a relation.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the superkey / candidate / primary distinction is the #1 asked concept in this unit.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11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Before You Go…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now have honest tables with rules.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how do we ASK them questions?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every patient in ward W3.”</a:t>
            </a:r>
            <a:endParaRPr lang="en-US" sz="2100" dirty="0"/>
          </a:p>
          <a:p>
            <a:pPr indent="0" marL="0">
              <a:buNone/>
            </a:pPr>
            <a:r>
              <a:rPr lang="en-US" sz="2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There’s a precise MATH for this — before SQL ever existed.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48920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920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THE COMMENTS 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RELATIONAL ALGEBRA — the language behind every query you’ll ever write.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2026-07-25T13:37:58Z</dcterms:created>
  <dcterms:modified xsi:type="dcterms:W3CDTF">2026-07-25T13:37:58Z</dcterms:modified>
</cp:coreProperties>
</file>