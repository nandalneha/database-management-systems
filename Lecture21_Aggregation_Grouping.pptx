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 •  LECTURE 21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GROUPING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• SUM • AVG • MIN • MAX • GROUP BY • HAVING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LIVE IN MySQL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429768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2976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ROWS → SUMMARIES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New Kind Of Question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50672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5067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about rows — about GROUPS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far:  individual rows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‘show me all students’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‘students in CSE’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‘students over 20’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you get a LIST of rows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Now:  summaries of groups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5146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‘HOW MANY students?’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‘AVERAGE age per dept?’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‘depts with &gt; 2 students?’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4480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you get ONE number per group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genuinely NEW — aggregation is the one place SQL goes beyond basic algebra.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Table — Now With Clear Groups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table, ready to summarize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0" y="1920240"/>
            <a:ext cx="914400" cy="36576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1371600" cy="36576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1188720" cy="36576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0" y="1920240"/>
            <a:ext cx="914400" cy="36576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0" y="2286000"/>
            <a:ext cx="9144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13716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2286000"/>
            <a:ext cx="118872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0" y="2286000"/>
            <a:ext cx="9144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0" y="2651760"/>
            <a:ext cx="9144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651760"/>
            <a:ext cx="13716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2651760"/>
            <a:ext cx="118872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651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32320" y="2651760"/>
            <a:ext cx="9144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3017520"/>
            <a:ext cx="9144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3017520"/>
            <a:ext cx="13716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3017520"/>
            <a:ext cx="118872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017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32320" y="3017520"/>
            <a:ext cx="9144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0" y="3383280"/>
            <a:ext cx="914400" cy="365760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0" y="3383280"/>
            <a:ext cx="1371600" cy="365760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0" y="3383280"/>
            <a:ext cx="1188720" cy="365760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32320" y="3383280"/>
            <a:ext cx="914400" cy="365760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3383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0" y="3749040"/>
            <a:ext cx="9144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0" y="3749040"/>
            <a:ext cx="13716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Kiran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0" y="3749040"/>
            <a:ext cx="118872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32320" y="3749040"/>
            <a:ext cx="9144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0" y="4114800"/>
            <a:ext cx="9144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0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0" y="4114800"/>
            <a:ext cx="13716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Divya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0" y="4114800"/>
            <a:ext cx="118872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32320" y="4114800"/>
            <a:ext cx="914400" cy="365760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0" y="4114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0" y="4480560"/>
            <a:ext cx="9144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0" y="4480560"/>
            <a:ext cx="13716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Meena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43600" y="4480560"/>
            <a:ext cx="118872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0" y="4480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132320" y="4480560"/>
            <a:ext cx="914400" cy="36576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3232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(3 students, purple)  •  ECE (3 students, teal)  •  MECH (1 student, amber)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In the .sql file — run every query with me.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Aggregate Functions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turns a column into ONE number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75104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82880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rows?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182880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B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 → 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6148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614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6151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them up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32320" y="2615184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SUM(age) → 143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401568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5478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478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401568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340156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67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AVG(age) → 20.4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33425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342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418795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32320" y="418795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MIN(age) → 18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4974336"/>
            <a:ext cx="106984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3B2E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5120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3B2E83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120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497433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32320" y="497433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MAX(age) → 23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COUNT(*), AVG(age), MAX(age) FROM student;  — all in one query!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— Watch The Variants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45516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455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 exam trap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ALL rows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0574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  (every row)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72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non-NULL depts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34670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COUNT(dept)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2461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  (skips NULLs)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2611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UNIQUE depts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453542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COUNT(DISTINCT dept)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student;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44348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  (CSE, ECE, MECH)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44068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= all rows • COUNT(col) = non-NULL values • COUNT(DISTINCT col) = unique values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— The Big Idea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groups, summarize each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‘How many students in EACH department?’ — you can’t answer with one COUNT. You need groups.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09728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51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2651760"/>
            <a:ext cx="1097280" cy="29260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651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2944368"/>
            <a:ext cx="1097280" cy="29260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2944368"/>
            <a:ext cx="1097280" cy="29260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9443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236976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369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3236976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32369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3529584"/>
            <a:ext cx="1097280" cy="29260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9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3529584"/>
            <a:ext cx="1097280" cy="29260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529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3822192"/>
            <a:ext cx="1097280" cy="292608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221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822192"/>
            <a:ext cx="1097280" cy="292608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38221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" y="4114800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14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4114800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0" y="4114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4407408"/>
            <a:ext cx="1097280" cy="29260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4074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4407408"/>
            <a:ext cx="1097280" cy="29260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44074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4400" y="4700016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4700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0" y="4700016"/>
            <a:ext cx="1097280" cy="29260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47000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83280" y="3657600"/>
            <a:ext cx="1188720" cy="0"/>
          </a:xfrm>
          <a:prstGeom prst="line">
            <a:avLst/>
          </a:prstGeom>
          <a:noFill/>
          <a:ln w="31750">
            <a:solidFill>
              <a:srgbClr val="14243A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310896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groups → 3 rows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46320" y="2651760"/>
            <a:ext cx="128016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651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26480" y="265176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2651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3035808"/>
            <a:ext cx="1280160" cy="38404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0358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3035808"/>
            <a:ext cx="1463040" cy="38404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30358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3419856"/>
            <a:ext cx="12801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4198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126480" y="3419856"/>
            <a:ext cx="146304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3419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46320" y="3803904"/>
            <a:ext cx="1280160" cy="384048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38039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3803904"/>
            <a:ext cx="1463040" cy="384048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26480" y="380390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80960" y="310896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0B1220"/>
          </a:solidFill>
          <a:ln/>
        </p:spPr>
      </p:sp>
      <p:sp>
        <p:nvSpPr>
          <p:cNvPr id="59" name="Text 57"/>
          <p:cNvSpPr/>
          <p:nvPr/>
        </p:nvSpPr>
        <p:spPr>
          <a:xfrm>
            <a:off x="7818120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per dept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863840" y="3438144"/>
            <a:ext cx="3383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dept;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collapses rows that share a value into ONE row — then the aggregate runs per group.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— In Action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98094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aggregate, per group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age per dept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937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 AVG(age)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164592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AVG(age)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2258568"/>
            <a:ext cx="1463040" cy="38404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258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0" y="2258568"/>
            <a:ext cx="1645920" cy="38404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2585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2642616"/>
            <a:ext cx="146304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426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72400" y="2642616"/>
            <a:ext cx="164592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6426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3026664"/>
            <a:ext cx="1463040" cy="384048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0266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0" y="3026664"/>
            <a:ext cx="1645920" cy="384048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0266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712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oldest per dept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986784"/>
            <a:ext cx="4937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 MAX(age)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dept;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3703320"/>
            <a:ext cx="146304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703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72400" y="3703320"/>
            <a:ext cx="1645920" cy="384048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703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MAX(age)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4087368"/>
            <a:ext cx="1463040" cy="38404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087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72400" y="4087368"/>
            <a:ext cx="1645920" cy="384048"/>
          </a:xfrm>
          <a:prstGeom prst="rect">
            <a:avLst/>
          </a:prstGeom>
          <a:solidFill>
            <a:srgbClr val="F5F2FC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087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4471416"/>
            <a:ext cx="146304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4714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0" y="4471416"/>
            <a:ext cx="164592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447141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4855464"/>
            <a:ext cx="1463040" cy="384048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85546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0" y="4855464"/>
            <a:ext cx="1645920" cy="384048"/>
          </a:xfrm>
          <a:prstGeom prst="rect">
            <a:avLst/>
          </a:prstGeom>
          <a:solidFill>
            <a:srgbClr val="FDF3E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48554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" y="544068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whatever you SELECT that isn’t inside an aggregate MUST be in the GROUP BY.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— Filtering GROUPS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19125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WHERE, but for groups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03504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depts with more than 2 students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56692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dept, COUNT(*)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 2;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2103120"/>
            <a:ext cx="137160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503920" y="2103120"/>
            <a:ext cx="1554480" cy="41148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0" y="2514600"/>
            <a:ext cx="13716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514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03920" y="2514600"/>
            <a:ext cx="155448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514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2926080"/>
            <a:ext cx="137160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03920" y="2926080"/>
            <a:ext cx="1554480" cy="411480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 (only 1) is filtered OUT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WHERE vs HAVING — THE distinction: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filters ROWS — BEFORE grouping.   HAVING filters GROUPS — AFTER grouping.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CAN’T put an aggregate in WHERE:  WHERE COUNT(*)&gt;2  ✗   →  use HAVING COUNT(*)&gt;2  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54406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(Remember NPTEL Assignment 2 — avg() can’t go in WHERE. Same rule!)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Clause Order — Memorize This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98094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sequence matters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01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7830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178308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columns / aggregates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334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D5BC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5146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25146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table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8A6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2461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324612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rows (before grouping)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09651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67609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39776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89120" y="397764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groups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31520" y="470916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280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23B3B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47091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89120" y="470916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groups (after grouping)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31520" y="544068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EEF1F4"/>
          </a:solidFill>
          <a:ln w="12700">
            <a:solidFill>
              <a:srgbClr val="3B2E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5559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3B2E83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08760" y="54406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89120" y="544068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final result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= the order MySQL actually runs them. WHERE before groups, HAVING after. That’s the key.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Together — A Real Query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71703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clause, working as a team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219456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depts (of students 19+) having &gt;1 such student, by avg 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1033272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 dept, COUNT(*), AVG(age)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 student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  age &gt;= 19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dept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  COUNT(*) &gt; 1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AVG(age) DESC;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in execution order: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1014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FROM student  →  ② WHERE age≥19 (drop younger rows)  →  ③ GROUP BY dept (make groups)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HAVING COUNT(*)&gt;1 (keep big groups)  →  ⑤ SELECT the columns  →  ⑥ ORDER BY avg age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all aggregate functions with GROUP BY examples.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WHERE and HAVING (with example).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vs COUNT(col) vs COUNT(DISTINCT col).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purpose of GROUP BY?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 aggregate go in WHERE? Why not?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WHERE vs HAVING, and the three COUNT variants. Learn them cold.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21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TRY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On The student Table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Count the total number of students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32186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Find the average age of ALL students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7856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Count students in each department (GROUP BY)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43525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Average age per department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4919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Departments having more than 2 students (HAVING)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each in Workbench and watch the summary appear. The .sql file has the table ready!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Summarize Data 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• SUM • AVG • MIN • MAX • GROUP BY • HAVING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everything so far used ONE table. What if your data is split across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tables — students in one, their courses in another?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JOINS &amp; NESTED QUERIES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combining tables with JOINs, and queries inside queries (subqueries).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Download the .sql file and run every query yourself!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2026-08-13T07:30:47Z</dcterms:created>
  <dcterms:modified xsi:type="dcterms:W3CDTF">2026-08-13T07:30:47Z</dcterms:modified>
</cp:coreProperties>
</file>