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307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0C1FB-EE34-4AEC-8038-72ED0175894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0FEED-8AC0-4F8B-AB5C-B61DC96D3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068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installe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 •  LECTURE 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BASICS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&amp; DML — Build Tables, Then Fill Them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execution in MySQL Server + MySQL Workbench.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REAL-TIME DEMO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 •  INSERT  •  SELECT  •  UPDATE  •  DELETE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Run SQL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queries — command line AND GUI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EF1F4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MySQL Server (CLI)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CREATE DATABASE college;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OK, 1 row affected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USE college;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changed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SHOW TABLES;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commands, see instant text results. What real DBAs use on servers.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65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MySQL Workbench (GUI)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37960" y="246888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2468880"/>
            <a:ext cx="4754880" cy="320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Query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2880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CREATE TABLE student(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sid INT PRIMARY KEY,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name VARCHAR(50));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3886200"/>
            <a:ext cx="4754880" cy="365760"/>
          </a:xfrm>
          <a:prstGeom prst="rect">
            <a:avLst/>
          </a:prstGeom>
          <a:solidFill>
            <a:srgbClr val="EAF7F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1 row(s) affected — 0.015 sec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⚡ to run, see results in a grid. Beginner-friendly, visual.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run every query in BOTH — so you’re comfortable wherever you land.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6815589" y="1057255"/>
            <a:ext cx="4477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hlinkClick r:id="rId3"/>
              </a:rPr>
              <a:t>https://dev.mysql.com/downloads/installer/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40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The Language Of Databases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WHAT you want (declarative)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relational calculus? ‘Describe what you want, let the system find how.’ That IS SQL.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65176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884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Definition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CREATE, ALTER, DROP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STRUCTURE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42316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65176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INSERT, SELECT, UPDATE, DELETE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3891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389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Control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7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GRANT, REVOKE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5257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16052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3891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389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Control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COMMIT, ROLLBACK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5257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/ undo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DDL (build tables) + the DML core (fill &amp; query them). This is 80% of daily SQL.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— CREATE: Build The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the database, then the table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852160" cy="329184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DDL: define the schema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make a database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college;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college;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make a table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   INT PRIMARY KEY,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VARCHAR(50) NOT NULL,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  VARCHAR(20),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  INT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piece means: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/ VARCHAR(50)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2633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 — number / 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0880" y="2999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3255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+ not null identifier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40880" y="36210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3877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column can’t be empty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0" y="42428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4498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up to 50 characters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DEMO: run this in the terminal, then again in Workbench — watch the table appear in the schema panel.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— ALTER &amp; DROP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structure, or remove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— modify structure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a column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email VARCHAR(60);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change a column type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MODIFY age SMALLINT;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874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— remove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214884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remove ONE column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 COLUMN email;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remove the WHOLE table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student;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(data is gone forever!)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DROP vs DELETE — the classic confusion: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TABLE removes the STRUCTURE (table gone).   DELETE removes ROWS (table stays, empty).   TRUNCATE empties fast.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— INSERT: Add Rows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fill the empty table with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126480" cy="3108960"/>
          </a:xfrm>
          <a:prstGeom prst="roundRect">
            <a:avLst>
              <a:gd name="adj" fmla="val 235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DML: insert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760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(sid, name, dept, age)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 'Ravi',  'CSE', 19),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(2, 'Priya', 'ECE', 20),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(3, 'Ahmed', 'CSE', 22);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in the table: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2240280"/>
            <a:ext cx="73152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2240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2240280"/>
            <a:ext cx="128016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0" y="2240280"/>
            <a:ext cx="109728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41280" y="2240280"/>
            <a:ext cx="82296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0" y="2240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2320" y="2651760"/>
            <a:ext cx="7315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651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63840" y="265176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0" y="2651760"/>
            <a:ext cx="10972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241280" y="2651760"/>
            <a:ext cx="822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2651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3063240"/>
            <a:ext cx="73152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63840" y="3063240"/>
            <a:ext cx="128016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063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0" y="3063240"/>
            <a:ext cx="109728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241280" y="3063240"/>
            <a:ext cx="82296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3063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0" y="3474720"/>
            <a:ext cx="7315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474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63840" y="347472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44000" y="3474720"/>
            <a:ext cx="10972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241280" y="3474720"/>
            <a:ext cx="822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0" y="3474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insert one row or many at once. Column list is optional if you give ALL values in order.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DEMO: run the INSERT, then SELECT to see the rows appear live.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— SELECT: Ask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most-used command in all of SQL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2011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all rows, all columns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63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 columns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dept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3246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just those two columns (π)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51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 rows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 = 'CSE';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4480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only CSE rows (σ)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86400"/>
            <a:ext cx="10698480" cy="685800"/>
          </a:xfrm>
          <a:prstGeom prst="roundRect">
            <a:avLst>
              <a:gd name="adj" fmla="val 16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4864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SELECT columns = projection (π).  WHERE = selection (σ).  You already learned this as relational algebra!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— UPDATE &amp; DELETE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55828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558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rows, or remove them — carefully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… SET … WHERE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change existing rows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age = 21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sid = 2;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Priya's age → 21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874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… WHERE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21488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remove specific rows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sid = 3;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Ahmed's row is gone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THE #1 SQL DISASTER: forgetting WHERE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 SET age=21;   — changes EVERY row's age to 21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student;   — deletes EVERY row in the table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double-check your WHERE before running UPDATE or DELETE. On a real database, there’s no undo.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Workflow — One Story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 we learned, in order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019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college;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0" y="17830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database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334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1460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(…);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5146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structure (DDL)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3649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24612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 (…);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32461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data (DML)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0965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397764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39776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back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70916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280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47091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 SET … WHERE …;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80960" y="4709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 row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544068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5595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08760" y="544068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 WHERE …;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0960" y="54406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 row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create → insert → query → modify cycle is the heartbeat of every database app.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DDL and DML commands with syntax and examples.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DROP, DELETE and TRUNCATE.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SQL to create a table with constraints, then insert rows.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DELETE and TRUNCATE?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WHERE critical in UPDATE and DELETE?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the DROP/DELETE/TRUNCATE difference table. Memorize all three.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vs DELETE vs TRUNCATE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 — guaranteed exam question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651760" cy="640080"/>
          </a:xfrm>
          <a:prstGeom prst="rect">
            <a:avLst/>
          </a:prstGeom>
          <a:solidFill>
            <a:srgbClr val="14243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51760" cy="640080"/>
          </a:xfrm>
          <a:prstGeom prst="rect">
            <a:avLst/>
          </a:prstGeom>
          <a:solidFill>
            <a:srgbClr val="14243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2697480" cy="640080"/>
          </a:xfrm>
          <a:prstGeom prst="rect">
            <a:avLst/>
          </a:prstGeom>
          <a:solidFill>
            <a:srgbClr val="14243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32520" y="1828800"/>
            <a:ext cx="2697480" cy="640080"/>
          </a:xfrm>
          <a:prstGeom prst="rect">
            <a:avLst/>
          </a:prstGeom>
          <a:solidFill>
            <a:srgbClr val="14243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505456"/>
            <a:ext cx="2651760" cy="640080"/>
          </a:xfrm>
          <a:prstGeom prst="rect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054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2505456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5054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table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505456"/>
            <a:ext cx="2697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50545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2505456"/>
            <a:ext cx="2697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50545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rows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182112"/>
            <a:ext cx="2651760" cy="640080"/>
          </a:xfrm>
          <a:prstGeom prst="rect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182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kept?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3182112"/>
            <a:ext cx="2651760" cy="640080"/>
          </a:xfrm>
          <a:prstGeom prst="rect">
            <a:avLst/>
          </a:prstGeom>
          <a:solidFill>
            <a:srgbClr val="F5F2FC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182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table gone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3182112"/>
            <a:ext cx="2697480" cy="640080"/>
          </a:xfrm>
          <a:prstGeom prst="rect">
            <a:avLst/>
          </a:prstGeom>
          <a:solidFill>
            <a:srgbClr val="F5F2FC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32520" y="3182112"/>
            <a:ext cx="2697480" cy="640080"/>
          </a:xfrm>
          <a:prstGeom prst="rect">
            <a:avLst/>
          </a:prstGeom>
          <a:solidFill>
            <a:srgbClr val="F5F2FC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3858768"/>
            <a:ext cx="2651760" cy="640080"/>
          </a:xfrm>
          <a:prstGeom prst="rect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858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allowed?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83280" y="3858768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858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3858768"/>
            <a:ext cx="2697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32520" y="3858768"/>
            <a:ext cx="2697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23960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1520" y="4535424"/>
            <a:ext cx="2651760" cy="640080"/>
          </a:xfrm>
          <a:prstGeom prst="rect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5354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383280" y="4535424"/>
            <a:ext cx="2651760" cy="640080"/>
          </a:xfrm>
          <a:prstGeom prst="rect">
            <a:avLst/>
          </a:prstGeom>
          <a:solidFill>
            <a:srgbClr val="F5F2FC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45354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035040" y="4535424"/>
            <a:ext cx="2697480" cy="640080"/>
          </a:xfrm>
          <a:prstGeom prst="rect">
            <a:avLst/>
          </a:prstGeom>
          <a:solidFill>
            <a:srgbClr val="F5F2FC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453542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732520" y="4535424"/>
            <a:ext cx="2697480" cy="640080"/>
          </a:xfrm>
          <a:prstGeom prst="rect">
            <a:avLst/>
          </a:prstGeom>
          <a:solidFill>
            <a:srgbClr val="F5F2FC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23960" y="453542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1520" y="5212080"/>
            <a:ext cx="2651760" cy="640080"/>
          </a:xfrm>
          <a:prstGeom prst="rect">
            <a:avLst/>
          </a:prstGeom>
          <a:solidFill>
            <a:srgbClr val="EEF1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5212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383280" y="521208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5212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35040" y="5212080"/>
            <a:ext cx="2697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5212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(row by row)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732520" y="5212080"/>
            <a:ext cx="2697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23960" y="5212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18 — Dr. Neha Nandal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Open Workbench!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a database called 'library'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2186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Create a table book(bid INT PRIMARY KEY, title VARCHAR(100), price INT)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7856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Insert 3 books of your choice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3525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Select only books with price &gt; 500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919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Update one book’s price, then delete another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each in MySQL Workbench and watch the results grid. The .sql file is in the description!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Build &amp; Query A Database 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→ INSERT → SELECT → UPDATE → DELETE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so far, every SELECT has been simple. What happens when your question is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— ‘students in CSE OR ECE, sorted by age, no duplicates’?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POWERFUL SELECT QUERIES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WHERE deep-dive, LIKE, ORDER BY, DISTINCT &amp; set operations.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Download today’s .sql file from the description and run it yourself!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1332</Words>
  <Application>Microsoft Office PowerPoint</Application>
  <PresentationFormat>Custom</PresentationFormat>
  <Paragraphs>262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MYPC</cp:lastModifiedBy>
  <cp:revision>3</cp:revision>
  <dcterms:created xsi:type="dcterms:W3CDTF">2026-08-07T14:01:04Z</dcterms:created>
  <dcterms:modified xsi:type="dcterms:W3CDTF">2026-08-07T16:50:10Z</dcterms:modified>
</cp:coreProperties>
</file>