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 •  LECTURE 22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JOINS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Data From Two Tables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• LEFT • RIGHT — live in MySQL.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97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LIVE DEMO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42976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5120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 ⋈  enroll  ⋈  course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Data Lives In Two Places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03250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table alone has the answer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40080" cy="347472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1965960"/>
            <a:ext cx="1188720" cy="347472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965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965960"/>
            <a:ext cx="1005840" cy="347472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965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2313432"/>
            <a:ext cx="640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134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313432"/>
            <a:ext cx="1188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3134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51760" y="2313432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3134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2960" y="2660904"/>
            <a:ext cx="640080" cy="34747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6609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63040" y="2660904"/>
            <a:ext cx="1188720" cy="34747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26609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2660904"/>
            <a:ext cx="1005840" cy="34747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6609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2960" y="3008376"/>
            <a:ext cx="640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0083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63040" y="3008376"/>
            <a:ext cx="1188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3040" y="30083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3008376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30083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296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89120" y="1965960"/>
            <a:ext cx="640080" cy="347472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1965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1965960"/>
            <a:ext cx="822960" cy="347472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1965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52160" y="1965960"/>
            <a:ext cx="1005840" cy="347472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1965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89120" y="2313432"/>
            <a:ext cx="640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23134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0" y="2313432"/>
            <a:ext cx="822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23134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52160" y="2313432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0" y="23134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89120" y="2660904"/>
            <a:ext cx="640080" cy="34747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26609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29200" y="2660904"/>
            <a:ext cx="822960" cy="34747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26609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852160" y="2660904"/>
            <a:ext cx="1005840" cy="34747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0" y="26609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389120" y="3008376"/>
            <a:ext cx="640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0" y="30083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029200" y="3008376"/>
            <a:ext cx="822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30083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852160" y="3008376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30083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38912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6338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589520" y="1965960"/>
            <a:ext cx="822960" cy="347472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9520" y="1965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412480" y="1965960"/>
            <a:ext cx="1828800" cy="347472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0" y="1965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589520" y="2313432"/>
            <a:ext cx="822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9520" y="23134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412480" y="2313432"/>
            <a:ext cx="1828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0" y="2313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589520" y="2660904"/>
            <a:ext cx="822960" cy="34747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9520" y="26609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412480" y="2660904"/>
            <a:ext cx="1828800" cy="34747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12480" y="2660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589520" y="3008376"/>
            <a:ext cx="822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89520" y="30083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C03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412480" y="3008376"/>
            <a:ext cx="1828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12480" y="3008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589520" y="3657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31520" y="420624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4400" y="4343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“Which student takes which course (by title)?”</a:t>
            </a:r>
            <a:endParaRPr lang="en-US" sz="1700" dirty="0"/>
          </a:p>
        </p:txBody>
      </p:sp>
      <p:sp>
        <p:nvSpPr>
          <p:cNvPr id="74" name="Text 72"/>
          <p:cNvSpPr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 is in student. The link is in enroll. The title is in course.</a:t>
            </a:r>
            <a:endParaRPr lang="en-US" sz="14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table can answer it — we must COMBINE them. That’s a JOIN.</a:t>
            </a:r>
            <a:endParaRPr lang="en-US" sz="1450" dirty="0"/>
          </a:p>
        </p:txBody>
      </p:sp>
      <p:sp>
        <p:nvSpPr>
          <p:cNvPr id="75" name="Text 7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22 — Dr. Neha Nandal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Joins Come From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76859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Cartesian product — every combination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joins: what if we pair EVERY student with EVERY enroll row?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640080" cy="329184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2286000"/>
            <a:ext cx="1097280" cy="329184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2860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615184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151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54480" y="2615184"/>
            <a:ext cx="1097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6151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2944368"/>
            <a:ext cx="64008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554480" y="2944368"/>
            <a:ext cx="109728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(2)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3383280" y="2286000"/>
            <a:ext cx="64008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286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23360" y="2286000"/>
            <a:ext cx="82296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2286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2615184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6151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023360" y="2615184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26151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0" y="2944368"/>
            <a:ext cx="64008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023360" y="2944368"/>
            <a:ext cx="82296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29443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8328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38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 (2)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5486400" y="2286000"/>
            <a:ext cx="822960" cy="329184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2286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s.sid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09360" y="2286000"/>
            <a:ext cx="1005840" cy="329184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2286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0" y="2286000"/>
            <a:ext cx="822960" cy="329184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2286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138160" y="2286000"/>
            <a:ext cx="822960" cy="329184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2286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0" y="2615184"/>
            <a:ext cx="82296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26151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09360" y="2615184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6151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315200" y="2615184"/>
            <a:ext cx="82296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26151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138160" y="2615184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8160" y="26151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0" y="2944368"/>
            <a:ext cx="82296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29443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09360" y="2944368"/>
            <a:ext cx="100584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2944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315200" y="2944368"/>
            <a:ext cx="82296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0" y="29443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138160" y="2944368"/>
            <a:ext cx="82296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38160" y="29443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486400" y="3273552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0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309360" y="327355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32735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315200" y="3273552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0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138160" y="3273552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38160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486400" y="3602736"/>
            <a:ext cx="82296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0" y="36027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309360" y="3602736"/>
            <a:ext cx="100584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09360" y="3602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315200" y="3602736"/>
            <a:ext cx="82296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0" y="36027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138160" y="3602736"/>
            <a:ext cx="82296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138160" y="36027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48640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2 = 4 rows (all combos)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731520" y="4389120"/>
            <a:ext cx="10698480" cy="1417320"/>
          </a:xfrm>
          <a:prstGeom prst="roundRect">
            <a:avLst>
              <a:gd name="adj" fmla="val 7742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4400" y="44988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these pairs are NONSENSE — Ravi paired with Ahmed’s enrollment!</a:t>
            </a:r>
            <a:endParaRPr lang="en-US" sz="1450" dirty="0"/>
          </a:p>
        </p:txBody>
      </p:sp>
      <p:sp>
        <p:nvSpPr>
          <p:cNvPr id="77" name="Text 75"/>
          <p:cNvSpPr/>
          <p:nvPr/>
        </p:nvSpPr>
        <p:spPr>
          <a:xfrm>
            <a:off x="914400" y="4864608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JOIN is just this product + a matching condition. The ON clause keeps ONLY the sensible pairs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(where s.sid = e.sid — the highlighted rows). Callback: ‘join = product + selection’ from Lecture 13!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22 — Dr. Neha Nandal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 — Match On The Key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2219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rows where the keys line 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student and enroll where sid matches: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2286000"/>
            <a:ext cx="640080" cy="329184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286000"/>
            <a:ext cx="1097280" cy="329184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2860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2615184"/>
            <a:ext cx="640080" cy="329184"/>
          </a:xfrm>
          <a:prstGeom prst="rect">
            <a:avLst/>
          </a:prstGeom>
          <a:solidFill>
            <a:srgbClr val="9FE3C5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151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37360" y="2615184"/>
            <a:ext cx="1097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6151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97280" y="2944368"/>
            <a:ext cx="64008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737360" y="2944368"/>
            <a:ext cx="109728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97280" y="3273552"/>
            <a:ext cx="640080" cy="329184"/>
          </a:xfrm>
          <a:prstGeom prst="rect">
            <a:avLst/>
          </a:prstGeom>
          <a:solidFill>
            <a:srgbClr val="9FE3C5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2735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737360" y="3273552"/>
            <a:ext cx="1097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32735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9728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⋈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3749040" y="2286000"/>
            <a:ext cx="64008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286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0" y="2286000"/>
            <a:ext cx="82296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2286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12080" y="2286000"/>
            <a:ext cx="91440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2860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49040" y="2615184"/>
            <a:ext cx="640080" cy="329184"/>
          </a:xfrm>
          <a:prstGeom prst="rect">
            <a:avLst/>
          </a:prstGeom>
          <a:solidFill>
            <a:srgbClr val="9FE3C5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26151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389120" y="2615184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26151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12080" y="261518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26151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749040" y="2944368"/>
            <a:ext cx="640080" cy="329184"/>
          </a:xfrm>
          <a:prstGeom prst="rect">
            <a:avLst/>
          </a:prstGeom>
          <a:solidFill>
            <a:srgbClr val="9FE3C5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89120" y="2944368"/>
            <a:ext cx="82296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0" y="29443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12080" y="2944368"/>
            <a:ext cx="91440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29443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749040" y="3273552"/>
            <a:ext cx="640080" cy="329184"/>
          </a:xfrm>
          <a:prstGeom prst="rect">
            <a:avLst/>
          </a:prstGeom>
          <a:solidFill>
            <a:srgbClr val="9FE3C5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32735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389120" y="3273552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0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212080" y="3273552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32735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74904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38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6766560" y="2286000"/>
            <a:ext cx="640080" cy="329184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2286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06640" y="2286000"/>
            <a:ext cx="1097280" cy="329184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22860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503920" y="2286000"/>
            <a:ext cx="822960" cy="329184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03920" y="2286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326880" y="2286000"/>
            <a:ext cx="822960" cy="329184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6880" y="2286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66560" y="2615184"/>
            <a:ext cx="64008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6560" y="26151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406640" y="2615184"/>
            <a:ext cx="109728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06640" y="26151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503920" y="2615184"/>
            <a:ext cx="82296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03920" y="26151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326880" y="2615184"/>
            <a:ext cx="82296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26880" y="26151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766560" y="2944368"/>
            <a:ext cx="64008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0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406640" y="2944368"/>
            <a:ext cx="109728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0664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503920" y="2944368"/>
            <a:ext cx="82296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503920" y="29443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326880" y="2944368"/>
            <a:ext cx="82296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26880" y="29443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766560" y="3273552"/>
            <a:ext cx="64008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66560" y="32735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406640" y="3273552"/>
            <a:ext cx="109728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06640" y="32735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503920" y="3273552"/>
            <a:ext cx="82296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503920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326880" y="3273552"/>
            <a:ext cx="822960" cy="329184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326880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76656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(Priya has no enrollment — dropped)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2011680" y="4206240"/>
            <a:ext cx="8138160" cy="128016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/>
        </p:spPr>
      </p:sp>
      <p:sp>
        <p:nvSpPr>
          <p:cNvPr id="84" name="Text 82"/>
          <p:cNvSpPr/>
          <p:nvPr/>
        </p:nvSpPr>
        <p:spPr>
          <a:xfrm>
            <a:off x="2148840" y="42611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— the ON says how to match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2194560" y="4535424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e.cid, e.grade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enroll e  ON s.sid = e.sid;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22 — Dr. Neha Nandal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JOIN Syntax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2219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ON form vs old WHERE form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… 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493776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modern (recommended)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e.cid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enroll 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s.sid = e.sid;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883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 + WHERE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2157984"/>
            <a:ext cx="493776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old style (still works)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e.cid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s, enroll 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s.sid = e.sid;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to notice: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4348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Table aliases: ‘student s’ lets you write s.name instead of student.name — shorter, clearer.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ON / WHERE condition is the JOIN KEY — it tells SQL which rows correspond.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Callback: this is the JOIN (⋈) from relational algebra, Lecture 13 — now in SQL!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5440680"/>
            <a:ext cx="10698480" cy="777240"/>
          </a:xfrm>
          <a:prstGeom prst="roundRect">
            <a:avLst>
              <a:gd name="adj" fmla="val 14118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FORGET the ON / WHERE and you get the full Cartesian product — every row × every row. On a big table, that’s millions of junk rows. ALWAYS include the matching condition!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22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Joining Three Tables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the joins to get the titles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583680" cy="2286000"/>
          </a:xfrm>
          <a:prstGeom prst="roundRect">
            <a:avLst>
              <a:gd name="adj" fmla="val 3200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→ enroll → course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621792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c.title, e.grade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enroll e  ON s.sid = e.sid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course c  ON e.cid = c.cid;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589520" y="1965960"/>
            <a:ext cx="109728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1965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0" y="1965960"/>
            <a:ext cx="118872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875520" y="1965960"/>
            <a:ext cx="82296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0" y="1965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2350008"/>
            <a:ext cx="109728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2350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6800" y="2350008"/>
            <a:ext cx="118872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3500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875520" y="2350008"/>
            <a:ext cx="82296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3500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89520" y="2734056"/>
            <a:ext cx="109728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7340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686800" y="2734056"/>
            <a:ext cx="118872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2734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875520" y="2734056"/>
            <a:ext cx="82296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0" y="27340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89520" y="3118104"/>
            <a:ext cx="109728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3118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686800" y="3118104"/>
            <a:ext cx="118872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31181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875520" y="3118104"/>
            <a:ext cx="82296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31181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8952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we have the real answer!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389120"/>
            <a:ext cx="10698480" cy="1280160"/>
          </a:xfrm>
          <a:prstGeom prst="roundRect">
            <a:avLst>
              <a:gd name="adj" fmla="val 8571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JOIN adds one table by matching its key. student’s sid → enroll’s sid, then enroll’s cid → course’s cid.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how normalized data gets re-assembled — ‘split to store, join to query.’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22 — Dr. Neha Nandal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JOIN — Keep The Unmatched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08406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left row survives — even with no match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 dropped Priya (no enrollment). LEFT JOIN keeps her — with NULLs.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5852160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408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— keep ALL students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15184"/>
            <a:ext cx="5486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e.cid, e.grade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enroll 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s.sid = e.sid;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2286000"/>
            <a:ext cx="109728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82296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2860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869680" y="2286000"/>
            <a:ext cx="82296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22860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26700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6700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46720" y="2670048"/>
            <a:ext cx="822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670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869680" y="2670048"/>
            <a:ext cx="822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670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49440" y="3054096"/>
            <a:ext cx="109728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0540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46720" y="3054096"/>
            <a:ext cx="82296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0540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869680" y="3054096"/>
            <a:ext cx="82296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30540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49440" y="34381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4381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46720" y="3438144"/>
            <a:ext cx="822960" cy="384048"/>
          </a:xfrm>
          <a:prstGeom prst="rect">
            <a:avLst/>
          </a:prstGeom>
          <a:solidFill>
            <a:srgbClr val="FDECE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34381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869680" y="3438144"/>
            <a:ext cx="822960" cy="384048"/>
          </a:xfrm>
          <a:prstGeom prst="rect">
            <a:avLst/>
          </a:prstGeom>
          <a:solidFill>
            <a:srgbClr val="FDECE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0" y="34381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49440" y="3822192"/>
            <a:ext cx="109728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38221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46720" y="3822192"/>
            <a:ext cx="82296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38221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869680" y="3822192"/>
            <a:ext cx="82296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0" y="38221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4944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stays — with NULL where she has no match.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31520" y="475488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 = only matches.   LEFT JOIN = all left rows + matches (NULL where none).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LEFT JOIN for ‘show everyone, even those with nothing’ — e.g. students with no enrolments.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22 — Dr. Neha Nandal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Join Family — At A Glance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08610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rows each one keeps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7393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3360" y="1737360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rows that match in BOTH tables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966960" y="189280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0" y="18928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overlap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542032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EEF1F4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5786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5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3360" y="2542032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left rows + matching right (NULL if none)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966960" y="26974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14" name="Text 12"/>
          <p:cNvSpPr/>
          <p:nvPr/>
        </p:nvSpPr>
        <p:spPr>
          <a:xfrm>
            <a:off x="9966960" y="2697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left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346704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383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76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23360" y="3346704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 rows + matching left (NULL if none)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966960" y="350215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0" y="35021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right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51376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EEF1F4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8795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OUTER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23360" y="4151376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rows from both (MySQL: UNION of LEFT+RIGHT)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966960" y="4306824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24" name="Text 22"/>
          <p:cNvSpPr/>
          <p:nvPr/>
        </p:nvSpPr>
        <p:spPr>
          <a:xfrm>
            <a:off x="9966960" y="4306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956048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99262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 JOIN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023360" y="4956048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× every row (Cartesian product, no ON)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966960" y="5111496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9966960" y="51114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pairs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has INNER, LEFT, RIGHT. There’s no FULL OUTER keyword — combine LEFT and RIGHT with UNION.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22 — Dr. Neha Nandal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+ Everything You Know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50672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506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Join, then group, then filter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201168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enrolled in 2 or more courses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103327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 s.name, COUNT(*) AS courses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  student s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    enroll e  ON s.sid = e.sid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s.name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  COUNT(*) &gt;= 2;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114800" y="4114800"/>
            <a:ext cx="1828800" cy="411480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4114800"/>
            <a:ext cx="1463040" cy="411480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4526280"/>
            <a:ext cx="182880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0" y="4526280"/>
            <a:ext cx="146304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4526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5212080"/>
            <a:ext cx="10698480" cy="777240"/>
          </a:xfrm>
          <a:prstGeom prst="roundRect">
            <a:avLst>
              <a:gd name="adj" fmla="val 14118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2120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combine with GROUP BY, HAVING, WHERE, ORDER BY — everything stacks. This is real SQL power.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22 — Dr. Neha Nandal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INNER, LEFT, RIGHT joins with examples &amp; output.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INNER JOIN and LEFT JOIN.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natural join? How does it differ from equi join?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purpose of the ON clause?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a JOIN produce NULLs?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marks: INNER vs LEFT (with the NULL behaviour). Draw the output tables.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22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vs LEFT — The Key Contrast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50672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506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data, one word different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FROM student 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enroll e 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18872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26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2926080"/>
            <a:ext cx="82296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926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2926080"/>
            <a:ext cx="82296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926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310128"/>
            <a:ext cx="118872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10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20240" y="3310128"/>
            <a:ext cx="82296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3101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0" y="3310128"/>
            <a:ext cx="82296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3101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694176"/>
            <a:ext cx="118872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6941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920240" y="3694176"/>
            <a:ext cx="82296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0" y="3694176"/>
            <a:ext cx="82296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4078224"/>
            <a:ext cx="118872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0782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920240" y="4078224"/>
            <a:ext cx="82296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40782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0" y="4078224"/>
            <a:ext cx="82296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40782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152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rows — Priya GONE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18288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18836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2157984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FROM student 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enroll e …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309360" y="2926080"/>
            <a:ext cx="1188720" cy="384048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2926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98080" y="2926080"/>
            <a:ext cx="822960" cy="384048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2926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321040" y="2926080"/>
            <a:ext cx="822960" cy="384048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2926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3310128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310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98080" y="3310128"/>
            <a:ext cx="822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33101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321040" y="3310128"/>
            <a:ext cx="822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21040" y="33101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09360" y="3694176"/>
            <a:ext cx="118872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36941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98080" y="3694176"/>
            <a:ext cx="82296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321040" y="3694176"/>
            <a:ext cx="82296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210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09360" y="4078224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40782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498080" y="4078224"/>
            <a:ext cx="822960" cy="384048"/>
          </a:xfrm>
          <a:prstGeom prst="rect">
            <a:avLst/>
          </a:prstGeom>
          <a:solidFill>
            <a:srgbClr val="FDECE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98080" y="40782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321040" y="4078224"/>
            <a:ext cx="822960" cy="384048"/>
          </a:xfrm>
          <a:prstGeom prst="rect">
            <a:avLst/>
          </a:prstGeom>
          <a:solidFill>
            <a:srgbClr val="FDECE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21040" y="40782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309360" y="4462272"/>
            <a:ext cx="118872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4462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498080" y="4462272"/>
            <a:ext cx="82296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0" y="44622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321040" y="4462272"/>
            <a:ext cx="82296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21040" y="44622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309360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rows — Priya STAYS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keyword — INNER drops the unmatched, LEFT keeps them. That’s the whole difference.</a:t>
            </a:r>
            <a:endParaRPr lang="en-US" sz="1450" dirty="0"/>
          </a:p>
        </p:txBody>
      </p:sp>
      <p:sp>
        <p:nvSpPr>
          <p:cNvPr id="68" name="Text 6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22 — Dr. Neha Nandal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TRY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— 3 Tables To Join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INNER JOIN student and enroll on sid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097280" y="32186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Show each student’s name AND course title (3-table join)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37856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LEFT JOIN to find students with NO enrolment (NULL cid)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43525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Count how many courses each student takes (JOIN + GROUP BY)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97280" y="49194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List course titles nobody is enrolled in (LEFT JOIN from course)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E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each in Workbench. The .sql file has all three tables ready to go!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Combine Tables 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• LEFT • RIGHT • multi-table joins • join + GROUP BY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sometimes you need a query INSIDE a query — ‘students older than the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average’, or ‘students NOT enrolled in anything’. The answer is a subquery.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NESTED QUERIES (SUBQUERIES)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subqueries in WHERE, IN / NOT IN, and ANY / ALL / EXISTS.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Download the .sql file (3 tables) and run every join yourself!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2026-08-17T09:43:03Z</dcterms:created>
  <dcterms:modified xsi:type="dcterms:W3CDTF">2026-08-17T09:43:03Z</dcterms:modified>
</cp:coreProperties>
</file>