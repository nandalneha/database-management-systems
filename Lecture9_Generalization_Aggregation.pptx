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1  •  LECTURE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 • Specialization • Aggregation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databases can inherit, just like Java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5720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72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SYLLABUS 2025–26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49640" y="3840480"/>
            <a:ext cx="1737360" cy="64008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3840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4480560"/>
            <a:ext cx="1005840" cy="640080"/>
          </a:xfrm>
          <a:prstGeom prst="triangle">
            <a:avLst/>
          </a:prstGeom>
          <a:solidFill>
            <a:srgbClr val="EAF7F2"/>
          </a:solidFill>
          <a:ln w="25400">
            <a:solidFill>
              <a:srgbClr val="0F8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4819802"/>
            <a:ext cx="100584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78040" y="5394960"/>
            <a:ext cx="1417320" cy="59436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5394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732520" y="5394960"/>
            <a:ext cx="1417320" cy="59436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2520" y="5394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287000" y="5394960"/>
            <a:ext cx="1554480" cy="59436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87000" y="5394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418320" y="4480560"/>
            <a:ext cx="914" cy="914"/>
          </a:xfrm>
          <a:prstGeom prst="line">
            <a:avLst/>
          </a:prstGeom>
          <a:noFill/>
          <a:ln w="25400">
            <a:solidFill>
              <a:srgbClr val="FFD5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7863840" y="5120640"/>
            <a:ext cx="1554480" cy="274320"/>
          </a:xfrm>
          <a:prstGeom prst="line">
            <a:avLst/>
          </a:prstGeom>
          <a:noFill/>
          <a:ln w="19050">
            <a:solidFill>
              <a:srgbClr val="FFD5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18320" y="5120640"/>
            <a:ext cx="914" cy="274320"/>
          </a:xfrm>
          <a:prstGeom prst="line">
            <a:avLst/>
          </a:prstGeom>
          <a:noFill/>
          <a:ln w="19050">
            <a:solidFill>
              <a:srgbClr val="FFD5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18320" y="5120640"/>
            <a:ext cx="1645920" cy="274320"/>
          </a:xfrm>
          <a:prstGeom prst="line">
            <a:avLst/>
          </a:prstGeom>
          <a:noFill/>
          <a:ln w="19050">
            <a:solidFill>
              <a:srgbClr val="FFD54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Lecture’s Question — Answered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40156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Yes. A database CAN inherit.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spotted the repetition: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2057400" cy="73152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02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 •  id  •  address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2240280"/>
            <a:ext cx="2057400" cy="73152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22402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5468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 •  id  •  address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2240280"/>
            <a:ext cx="2057400" cy="73152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2402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 •  id  •  address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520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the SAME three attributes, three times over. In Java you’d never accept that.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38160" y="2057400"/>
            <a:ext cx="3291840" cy="1965960"/>
          </a:xfrm>
          <a:prstGeom prst="roundRect">
            <a:avLst>
              <a:gd name="adj" fmla="val 5581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2402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 { ... }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 extends Person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Staff extends Person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206240"/>
            <a:ext cx="10607040" cy="1737360"/>
          </a:xfrm>
          <a:prstGeom prst="roundRect">
            <a:avLst>
              <a:gd name="adj" fmla="val 6316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343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 model has exactly this — and it comes in two directions: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4892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 (top-down)  •  GENERALIZATION (bottom-up)  •  plus AGGREGATION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9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 — Top-Down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08406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PERSON → split into special kinds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0" y="1920240"/>
            <a:ext cx="2194560" cy="82296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446020" y="2093976"/>
            <a:ext cx="1234440" cy="475488"/>
          </a:xfrm>
          <a:prstGeom prst="ellipse">
            <a:avLst/>
          </a:prstGeom>
          <a:solidFill>
            <a:srgbClr val="F5F2FC"/>
          </a:solidFill>
          <a:ln w="17780">
            <a:solidFill>
              <a:srgbClr val="6D5B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6020" y="209397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5280" y="1636776"/>
            <a:ext cx="1463040" cy="475488"/>
          </a:xfrm>
          <a:prstGeom prst="ellipse">
            <a:avLst/>
          </a:prstGeom>
          <a:solidFill>
            <a:srgbClr val="F5F2FC"/>
          </a:solidFill>
          <a:ln w="17780">
            <a:solidFill>
              <a:srgbClr val="6D5B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163677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person_id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2286000"/>
            <a:ext cx="1417320" cy="914"/>
          </a:xfrm>
          <a:prstGeom prst="line">
            <a:avLst/>
          </a:prstGeom>
          <a:noFill/>
          <a:ln w="16510">
            <a:solidFill>
              <a:srgbClr val="6D5B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7223760" y="1965960"/>
            <a:ext cx="731520" cy="228600"/>
          </a:xfrm>
          <a:prstGeom prst="line">
            <a:avLst/>
          </a:prstGeom>
          <a:noFill/>
          <a:ln w="16510">
            <a:solidFill>
              <a:srgbClr val="6D5B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2743200"/>
            <a:ext cx="914" cy="3200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3063240"/>
            <a:ext cx="1371600" cy="731520"/>
          </a:xfrm>
          <a:prstGeom prst="triangle">
            <a:avLst/>
          </a:prstGeom>
          <a:solidFill>
            <a:srgbClr val="EAF7F2"/>
          </a:solidFill>
          <a:ln w="25400">
            <a:solidFill>
              <a:srgbClr val="0F8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3450946"/>
            <a:ext cx="13716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H="1">
            <a:off x="2468880" y="3794760"/>
            <a:ext cx="3657600" cy="5486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794760"/>
            <a:ext cx="914" cy="5486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794760"/>
            <a:ext cx="3566160" cy="5486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4343400"/>
            <a:ext cx="2194560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4343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0" y="4343400"/>
            <a:ext cx="2194560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4343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95360" y="4343400"/>
            <a:ext cx="2194560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4343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828800" y="5340096"/>
            <a:ext cx="1280160" cy="475488"/>
          </a:xfrm>
          <a:prstGeom prst="ellipse">
            <a:avLst/>
          </a:prstGeom>
          <a:solidFill>
            <a:srgbClr val="F5F2FC"/>
          </a:solidFill>
          <a:ln w="17780">
            <a:solidFill>
              <a:srgbClr val="6D5B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534009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CGPA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68880" y="5120640"/>
            <a:ext cx="914" cy="228600"/>
          </a:xfrm>
          <a:prstGeom prst="line">
            <a:avLst/>
          </a:prstGeom>
          <a:noFill/>
          <a:ln w="16510">
            <a:solidFill>
              <a:srgbClr val="6D5B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5340096"/>
            <a:ext cx="1645920" cy="475488"/>
          </a:xfrm>
          <a:prstGeom prst="ellipse">
            <a:avLst/>
          </a:prstGeom>
          <a:solidFill>
            <a:srgbClr val="F5F2FC"/>
          </a:solidFill>
          <a:ln w="17780">
            <a:solidFill>
              <a:srgbClr val="6D5B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534009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5120640"/>
            <a:ext cx="914" cy="228600"/>
          </a:xfrm>
          <a:prstGeom prst="line">
            <a:avLst/>
          </a:prstGeom>
          <a:noFill/>
          <a:ln w="16510">
            <a:solidFill>
              <a:srgbClr val="6D5B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75420" y="5340096"/>
            <a:ext cx="1234440" cy="475488"/>
          </a:xfrm>
          <a:prstGeom prst="ellipse">
            <a:avLst/>
          </a:prstGeom>
          <a:solidFill>
            <a:srgbClr val="F5F2FC"/>
          </a:solidFill>
          <a:ln w="17780">
            <a:solidFill>
              <a:srgbClr val="6D5B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75420" y="534009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692640" y="5120640"/>
            <a:ext cx="914" cy="228600"/>
          </a:xfrm>
          <a:prstGeom prst="line">
            <a:avLst/>
          </a:prstGeom>
          <a:noFill/>
          <a:ln w="16510">
            <a:solidFill>
              <a:srgbClr val="6D5B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ISA triangle points UP to the parent. Children keep name &amp; person_id — and add their own.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9 — Dr. Neha Nandal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 — Bottom-Up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82219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picture. Opposite thinking.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already exists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STUDENT, STAFF…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03120" y="411480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→ DOWN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KINDS of person exist?”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965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9360" y="25146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STUDENT, STAFF already exist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common attributes into PERSON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0" y="411480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→ UP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892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do these have in COMMON?”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852160"/>
            <a:ext cx="10972800" cy="594360"/>
          </a:xfrm>
          <a:prstGeom prst="roundRect">
            <a:avLst>
              <a:gd name="adj" fmla="val 18462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8521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ALERT: both use the SAME ISA notation. The difference is only the DIRECTION of thinking.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9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 Inheritance — The Whole Point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76859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get attributes AND relationships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0" y="1965960"/>
            <a:ext cx="2194560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31920" y="2788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person_id, address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743200"/>
            <a:ext cx="914" cy="4114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177540"/>
            <a:ext cx="1280160" cy="685800"/>
          </a:xfrm>
          <a:prstGeom prst="triangle">
            <a:avLst/>
          </a:prstGeom>
          <a:solidFill>
            <a:srgbClr val="EAF7F2"/>
          </a:solidFill>
          <a:ln w="25400">
            <a:solidFill>
              <a:srgbClr val="0F8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354101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flipH="1">
            <a:off x="3108960" y="3867912"/>
            <a:ext cx="3017520" cy="47548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3867912"/>
            <a:ext cx="2926080" cy="47548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4343400"/>
            <a:ext cx="2194560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4343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55280" y="4343400"/>
            <a:ext cx="2194560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4343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88720" y="525780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52578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HAS: name, person_id, address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CGPA, branch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132320" y="525780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52578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HAS: name, person_id, address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salary, designation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1783080"/>
            <a:ext cx="10698480" cy="91"/>
          </a:xfrm>
          <a:prstGeom prst="roundRect">
            <a:avLst>
              <a:gd name="adj" fmla="val 12058022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name ONCE in the parent. Every child inherits it — exactly like extends in Java.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9 — Dr. Neha Nandal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Constraints On Every ISA Hierarchy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Examiners ask for both by name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DISJOINT  vs  OVERLAPPING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one entity belong to TWO children at once?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Disjoint → no. A vehicle is a car OR a truck.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Overlapping → yes. A teaching assistant is a STUDENT and STAFF.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9202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TOTAL  vs  PARTIAL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EVERY parent entity belong to some child?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7889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→ every person must be student/staff/prof.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→ a visitor is a PERSON and nothing else.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10972800" cy="2103120"/>
          </a:xfrm>
          <a:prstGeom prst="roundRect">
            <a:avLst>
              <a:gd name="adj" fmla="val 5217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519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combinations — and a real example of each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Disjoint + Total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0474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vehicle is exactly one of car/truck/bike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4754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Disjoint + Partial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50474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account is savings or current — or neither yet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5440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Overlapping + Total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7332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person is student, staff, or both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9360" y="5440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Overlapping + Partial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57332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may be student, staff, both, or none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9 — Dr. Neha Nandal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— First, The Problem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29437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5294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relationship that needs its OWN relationship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EMPLOYEE works on a PROJECT using certain MACHINERY. Fine — a ternary relationship.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834640"/>
            <a:ext cx="2011680" cy="82296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834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052560" y="2834640"/>
            <a:ext cx="2011680" cy="82296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0" y="2834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4937760"/>
            <a:ext cx="2194560" cy="82296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4937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514600"/>
            <a:ext cx="2377440" cy="146304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5146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WORKS-ON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17520" y="3246120"/>
            <a:ext cx="182880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3246120"/>
            <a:ext cx="182880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3977640"/>
            <a:ext cx="914" cy="9601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623560"/>
            <a:ext cx="10607040" cy="777240"/>
          </a:xfrm>
          <a:prstGeom prst="roundRect">
            <a:avLst>
              <a:gd name="adj" fmla="val 14118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6235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a MANAGER supervises that whole assignment — not the employee alone, not the project alone. But ER has NO way to connect a diamond to another diamond!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9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— The Solution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87375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box around it and call it an entity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7315200" cy="3200400"/>
          </a:xfrm>
          <a:prstGeom prst="roundRect">
            <a:avLst>
              <a:gd name="adj" fmla="val 4286"/>
            </a:avLst>
          </a:prstGeom>
          <a:solidFill>
            <a:srgbClr val="EEF1F4"/>
          </a:solidFill>
          <a:ln w="31750">
            <a:solidFill>
              <a:srgbClr val="0F8A6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43000" y="2743200"/>
            <a:ext cx="1828800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7432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2743200"/>
            <a:ext cx="1828800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27432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4114800"/>
            <a:ext cx="1920240" cy="73152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4114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2510028"/>
            <a:ext cx="1920240" cy="123444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510028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WORKS-ON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71800" y="3127248"/>
            <a:ext cx="502920" cy="914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3127248"/>
            <a:ext cx="548640" cy="914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3749040"/>
            <a:ext cx="914" cy="36576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3474720"/>
            <a:ext cx="640080" cy="914"/>
          </a:xfrm>
          <a:prstGeom prst="line">
            <a:avLst/>
          </a:prstGeom>
          <a:noFill/>
          <a:ln w="31750">
            <a:solidFill>
              <a:srgbClr val="0F8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41080" y="2880360"/>
            <a:ext cx="1645920" cy="1188720"/>
          </a:xfrm>
          <a:prstGeom prst="diamond">
            <a:avLst/>
          </a:prstGeom>
          <a:solidFill>
            <a:srgbClr val="FDF3E0"/>
          </a:solidFill>
          <a:ln w="25400">
            <a:solidFill>
              <a:srgbClr val="B676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41080" y="28803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287000" y="3474720"/>
            <a:ext cx="457200" cy="91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04120" y="4709160"/>
            <a:ext cx="1920240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04120" y="4709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64040" y="4069080"/>
            <a:ext cx="1051560" cy="6400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34924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3492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dashed box turns the ENTIRE works-on relationship into one higher-level “entity” — which the SUPERVISES diamond can now connect to. That box is AGGREGATION.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9 — Dr. Neha Nandal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— Side By Side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40156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this for revision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14243A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03320" y="182880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32120" y="182880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01000" y="182880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MEANING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4320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274320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→ down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274320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 triangle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01000" y="274320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a parent into special kinds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65760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03320" y="365760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→ 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365760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 triangle (same!)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01000" y="365760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common attributes into a parent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572000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57200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03320" y="457200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457200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box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01000" y="457200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 relationship as an entity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Trick to never forget: specialization SPLITS, generalization GATHERS, aggregation BOXES.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9 — Dr. Neha Nandal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THE VIDEO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Vehicle Registry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VEHICLE has reg_no, owner and price. Vehicles are CARs (with seat count),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TRUCKs (with load capacity), or MOTORCYCLEs (with engine cc).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vehicle must be one of these three, and never two at once.”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38862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Draw the ISA hierarchy — which shape connects them?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44531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Is this specialization or generalization? (Both are defensible — say WHY)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502005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Disjoint or overlapping?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558698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Total or partial?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Vehicle Registry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213969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Disjoint + Total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0" y="1965960"/>
            <a:ext cx="2194560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331720" y="1636776"/>
            <a:ext cx="1371600" cy="475488"/>
          </a:xfrm>
          <a:prstGeom prst="ellipse">
            <a:avLst/>
          </a:prstGeom>
          <a:solidFill>
            <a:srgbClr val="F5F2FC"/>
          </a:solidFill>
          <a:ln w="17780">
            <a:solidFill>
              <a:srgbClr val="6D5B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6367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reg_no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2057400"/>
            <a:ext cx="1463040" cy="182880"/>
          </a:xfrm>
          <a:prstGeom prst="line">
            <a:avLst/>
          </a:prstGeom>
          <a:noFill/>
          <a:ln w="16510">
            <a:solidFill>
              <a:srgbClr val="6D5B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2743200"/>
            <a:ext cx="914" cy="3200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3058668"/>
            <a:ext cx="1280160" cy="685800"/>
          </a:xfrm>
          <a:prstGeom prst="triangle">
            <a:avLst/>
          </a:prstGeom>
          <a:solidFill>
            <a:srgbClr val="EAF7F2"/>
          </a:solidFill>
          <a:ln w="25400">
            <a:solidFill>
              <a:srgbClr val="0F8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342214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flipH="1">
            <a:off x="2651760" y="3749040"/>
            <a:ext cx="3474720" cy="5486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3749040"/>
            <a:ext cx="914" cy="5486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3749040"/>
            <a:ext cx="3474720" cy="5486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4297680"/>
            <a:ext cx="2194560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4297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0" y="4297680"/>
            <a:ext cx="2194560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4297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503920" y="4297680"/>
            <a:ext cx="2377440" cy="77724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4297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MOTORCYCLE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034540" y="5202936"/>
            <a:ext cx="1234440" cy="475488"/>
          </a:xfrm>
          <a:prstGeom prst="ellipse">
            <a:avLst/>
          </a:prstGeom>
          <a:solidFill>
            <a:srgbClr val="F5F2FC"/>
          </a:solidFill>
          <a:ln w="17780">
            <a:solidFill>
              <a:srgbClr val="6D5B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34540" y="52029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51760" y="5074920"/>
            <a:ext cx="914" cy="137160"/>
          </a:xfrm>
          <a:prstGeom prst="line">
            <a:avLst/>
          </a:prstGeom>
          <a:noFill/>
          <a:ln w="16510">
            <a:solidFill>
              <a:srgbClr val="6D5B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5202936"/>
            <a:ext cx="1463040" cy="475488"/>
          </a:xfrm>
          <a:prstGeom prst="ellipse">
            <a:avLst/>
          </a:prstGeom>
          <a:solidFill>
            <a:srgbClr val="F5F2FC"/>
          </a:solidFill>
          <a:ln w="17780">
            <a:solidFill>
              <a:srgbClr val="6D5B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520293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5074920"/>
            <a:ext cx="914" cy="137160"/>
          </a:xfrm>
          <a:prstGeom prst="line">
            <a:avLst/>
          </a:prstGeom>
          <a:noFill/>
          <a:ln w="16510">
            <a:solidFill>
              <a:srgbClr val="6D5B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23960" y="5202936"/>
            <a:ext cx="1554480" cy="475488"/>
          </a:xfrm>
          <a:prstGeom prst="ellipse">
            <a:avLst/>
          </a:prstGeom>
          <a:solidFill>
            <a:srgbClr val="F5F2FC"/>
          </a:solidFill>
          <a:ln w="17780">
            <a:solidFill>
              <a:srgbClr val="6D5B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23960" y="520293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engine_cc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01200" y="5074920"/>
            <a:ext cx="914" cy="137160"/>
          </a:xfrm>
          <a:prstGeom prst="line">
            <a:avLst/>
          </a:prstGeom>
          <a:noFill/>
          <a:ln w="16510">
            <a:solidFill>
              <a:srgbClr val="6D5B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806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ISA triangle connects VEHICLE to its three sub-types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2960" y="61722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“Vehicles are cars/trucks/bikes” reads top-down → SPECIALIZATION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" y="653796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Never two at once → DISJOINT   •   must be one of the three → TOTAL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9 — Dr. Neha Nandal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Corner — What This Lecture Is Worth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45312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453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your complete ER symbol checklist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6984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01952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019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1783080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generalization and specialization with a neat ER diagram.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106984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724912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249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2606040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aggregation? Why is it needed? Explain with an example.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106984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547872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5478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3429000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 generalization and specialization.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4251960"/>
            <a:ext cx="106984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370832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3708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4251960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disjoint and overlapping constraints.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31520" y="5212080"/>
            <a:ext cx="10698480" cy="1143000"/>
          </a:xfrm>
          <a:prstGeom prst="roundRect">
            <a:avLst>
              <a:gd name="adj" fmla="val 9600"/>
            </a:avLst>
          </a:prstGeom>
          <a:solidFill>
            <a:srgbClr val="1424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KNOW EVERY ER SYMBOL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56692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 • double rectangle • ellipse • double ellipse • dashed ellipse • underline • dashed underline • diamond • double diamond • single/double line • arrow • ISA triangle • aggregation box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9 — Dr. Neha Nandal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 Toolbox Is Complete.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Entities. Attributes. Relationships. Cardinality.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entities. Inheritance. Aggregation.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here’s the real test.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42519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lecture: I give you a paragraph describing a real system —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design the ENTIRE database from scratch, live. No hints.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5577840"/>
            <a:ext cx="51206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5778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COMMENT: WHICH SYSTEM SHOULD WE DESIGN?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126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Hospital? Railway? Swiggy? You choose — top comment wins.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2026-07-23T12:49:43Z</dcterms:created>
  <dcterms:modified xsi:type="dcterms:W3CDTF">2026-07-23T12:49:43Z</dcterms:modified>
</cp:coreProperties>
</file>